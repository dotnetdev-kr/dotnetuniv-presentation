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309" r:id="rId5"/>
    <p:sldId id="298" r:id="rId6"/>
    <p:sldId id="316" r:id="rId7"/>
    <p:sldId id="317" r:id="rId8"/>
    <p:sldId id="303" r:id="rId9"/>
    <p:sldId id="311" r:id="rId10"/>
    <p:sldId id="260" r:id="rId11"/>
    <p:sldId id="261" r:id="rId12"/>
    <p:sldId id="262" r:id="rId13"/>
    <p:sldId id="304" r:id="rId14"/>
    <p:sldId id="305" r:id="rId15"/>
    <p:sldId id="306" r:id="rId16"/>
    <p:sldId id="266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307" r:id="rId25"/>
    <p:sldId id="280" r:id="rId26"/>
    <p:sldId id="276" r:id="rId27"/>
    <p:sldId id="312" r:id="rId28"/>
    <p:sldId id="277" r:id="rId29"/>
    <p:sldId id="313" r:id="rId30"/>
    <p:sldId id="314" r:id="rId31"/>
    <p:sldId id="308" r:id="rId32"/>
    <p:sldId id="285" r:id="rId33"/>
    <p:sldId id="278" r:id="rId34"/>
    <p:sldId id="315" r:id="rId35"/>
    <p:sldId id="281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5B140E-EF31-4C8F-AADD-D9FF2BF9A206}" v="73" dt="2026-04-24T01:29:34.9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 autoAdjust="0"/>
    <p:restoredTop sz="94607"/>
  </p:normalViewPr>
  <p:slideViewPr>
    <p:cSldViewPr snapToGrid="0">
      <p:cViewPr varScale="1">
        <p:scale>
          <a:sx n="118" d="100"/>
          <a:sy n="118" d="100"/>
        </p:scale>
        <p:origin x="232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E2A038-1C72-7CE7-9647-2894732DC2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25663A-509E-F066-E65F-5E6F434A82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E2EDE3-9915-CC06-6AC2-1BD0F1E82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E4D8-A2F3-48F7-B8DC-710363C26682}" type="datetimeFigureOut">
              <a:rPr lang="ko-KR" altLang="en-US" smtClean="0"/>
              <a:t>2026. 4. 25.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80B520-50EF-098B-09A6-0D61F453A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9ACBCF-79DE-5B67-83D5-C9D15C01E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EDAF-933B-4AF2-BF6E-5C92737D85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16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FC751E-F75C-87EC-039C-5EF46C50F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2EFC54-C322-5BA8-920A-B386804F4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3B06E-E7D2-4CFD-449D-D12E9D2E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E4D8-A2F3-48F7-B8DC-710363C26682}" type="datetimeFigureOut">
              <a:rPr lang="ko-KR" altLang="en-US" smtClean="0"/>
              <a:t>2026. 4. 25.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4163F4-A623-6B96-DA71-2FFE8BC5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BA0751-06B5-4D3F-56D4-CB8994816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EDAF-933B-4AF2-BF6E-5C92737D85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70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62B613-7C1C-E6CA-9736-6CAC1A585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C7BD96-4E1E-741B-A62D-67B298A09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003669-9840-CC06-3484-AA52D697F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E4D8-A2F3-48F7-B8DC-710363C26682}" type="datetimeFigureOut">
              <a:rPr lang="ko-KR" altLang="en-US" smtClean="0"/>
              <a:t>2026. 4. 25.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CFFD4C-C486-CF83-73C0-FD30FA210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D33DB0-CF35-F9C3-D554-DD72BC4D1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EDAF-933B-4AF2-BF6E-5C92737D85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743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76EEA3-80EA-DD9C-5B55-44EDE6020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94E67A-B828-C0E8-3ED0-EBAD2B701F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0CE061-AA15-D803-A5AD-174B7DB3F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03461B-2A62-F597-9DB2-DBF3017E3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E4D8-A2F3-48F7-B8DC-710363C26682}" type="datetimeFigureOut">
              <a:rPr lang="ko-KR" altLang="en-US" smtClean="0"/>
              <a:t>2026. 4. 25.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1B7B45-ADF2-34B2-2FA6-EFD9F0F54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E6436B-DFCE-80FE-4463-B6779B64F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EDAF-933B-4AF2-BF6E-5C92737D85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09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3B4337-970F-2A99-F16C-A27CD6144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3B627F-CC95-6EA3-156D-1B097BDD6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EF0D8A8-F143-F317-4986-927EF3144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02271CA-FF4A-7F4F-8E8E-0E4BAAF1FB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F35E3DE-6CAB-1AB8-41D1-D9BA200ED1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96C155D-B2DE-2B8B-8FEF-F4D8F05BE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E4D8-A2F3-48F7-B8DC-710363C26682}" type="datetimeFigureOut">
              <a:rPr lang="ko-KR" altLang="en-US" smtClean="0"/>
              <a:t>2026. 4. 25.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A30FDD8-7FCD-489A-C7F0-E927A3C1A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04D0ABB-7FE5-13A4-3A9C-377E4023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EDAF-933B-4AF2-BF6E-5C92737D85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8704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0AF040-88AA-63D6-A565-CE1F5E73B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B9BD1EA-F3C7-AAD8-9579-192173687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E4D8-A2F3-48F7-B8DC-710363C26682}" type="datetimeFigureOut">
              <a:rPr lang="ko-KR" altLang="en-US" smtClean="0"/>
              <a:t>2026. 4. 25.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1D35462-F65E-AD7B-562A-F604E86C1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F79AEB-934A-639C-C304-53F77A822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EDAF-933B-4AF2-BF6E-5C92737D85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463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E8324B3-7516-5283-DF84-F7CE73F8F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E4D8-A2F3-48F7-B8DC-710363C26682}" type="datetimeFigureOut">
              <a:rPr lang="ko-KR" altLang="en-US" smtClean="0"/>
              <a:t>2026. 4. 25.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755855-852C-CFA3-596E-02034E5BA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2948EA-2348-DABE-966C-5B6D44F1F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EDAF-933B-4AF2-BF6E-5C92737D85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29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48962D-2F8F-0BBD-1DEA-954921C99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8A89E3-EE95-025C-A88A-F51D4A981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F8C95C-78C6-481C-CE27-6ED6D8A6F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3DF42D-A2BE-3153-08B7-BD4E0FE1E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E4D8-A2F3-48F7-B8DC-710363C26682}" type="datetimeFigureOut">
              <a:rPr lang="ko-KR" altLang="en-US" smtClean="0"/>
              <a:t>2026. 4. 25.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3BA5F6-CB78-0D47-5CF2-0E8545A26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B6F81D-CD75-B3C3-B18B-57CD81C39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EDAF-933B-4AF2-BF6E-5C92737D85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90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A62303-EFE7-A00F-8F56-FF5BFBC13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570C9B-1455-4C15-2BE1-73D8866FB9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4AF857-B9C9-6FB2-362F-02B068A045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4504CF-32D1-CBD4-E941-904F93B33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E4D8-A2F3-48F7-B8DC-710363C26682}" type="datetimeFigureOut">
              <a:rPr lang="ko-KR" altLang="en-US" smtClean="0"/>
              <a:t>2026. 4. 25.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0AFE5F-402F-7D5E-965D-58E5402E3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10268B-8AB7-5CA4-5793-5A3F8D13B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EDAF-933B-4AF2-BF6E-5C92737D85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2494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792642-0A50-01EB-8038-EE234E984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FFDBD1-6389-B4BB-F316-E6F15FE6F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EB9745-2011-840F-91A2-75602AB2B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E4D8-A2F3-48F7-B8DC-710363C26682}" type="datetimeFigureOut">
              <a:rPr lang="ko-KR" altLang="en-US" smtClean="0"/>
              <a:t>2026. 4. 25.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56E6F9-7D5D-22F6-A9FC-8FBC1C055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EBE0B5-E49A-8517-0BD4-B4DCC65F1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EDAF-933B-4AF2-BF6E-5C92737D85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446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05A8B72-FAFD-918E-D40D-38C5BA7E04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FD0985-B2AD-292C-63C8-239AFC534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AB51E8-7D00-97FE-DB58-786FE9861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E4D8-A2F3-48F7-B8DC-710363C26682}" type="datetimeFigureOut">
              <a:rPr lang="ko-KR" altLang="en-US" smtClean="0"/>
              <a:t>2026. 4. 25.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F255C2-8417-A1AA-F3CB-F92E309BD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E6720C-3503-E50E-9832-1637BE1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EDAF-933B-4AF2-BF6E-5C92737D85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735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5D0B4B1-F1C0-9D83-3C5D-6F75A2C08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FCBC48-A18F-08C1-ED40-93188A523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CADB39-3DAF-3ABD-11C6-79EF50B968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FFE4D8-A2F3-48F7-B8DC-710363C26682}" type="datetimeFigureOut">
              <a:rPr lang="ko-KR" altLang="en-US" smtClean="0"/>
              <a:t>2026. 4. 25.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9B8EE0-3D44-28C1-26FB-BF52D3795C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2385D5-A41F-8BCA-BDD1-0F7CEBC73E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BBEDAF-933B-4AF2-BF6E-5C92737D851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001" name="AccentLine"/>
          <p:cNvSpPr/>
          <p:nvPr userDrawn="1"/>
        </p:nvSpPr>
        <p:spPr>
          <a:xfrm>
            <a:off x="457200" y="6324600"/>
            <a:ext cx="457200" cy="0"/>
          </a:xfrm>
          <a:prstGeom prst="line">
            <a:avLst/>
          </a:prstGeom>
          <a:ln w="19050">
            <a:solidFill>
              <a:srgbClr val="6366F1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78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0A0A0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F2937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F293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F2937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7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7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7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7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7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F2937"/>
          </a:solidFill>
          <a:latin typeface="+mn-lt"/>
          <a:ea typeface="+mn-ea"/>
          <a:cs typeface="+mn-cs"/>
        </a:defRPr>
      </a:lvl9pPr>
    </p:bodyStyle>
    <p:otherStyle>
      <a:defPPr>
        <a:defRPr lang="ko-KR">
          <a:solidFill>
            <a:srgbClr val="1F2937"/>
          </a:solidFill>
        </a:defRPr>
      </a:defPPr>
      <a:lvl1pPr marL="0" algn="l" defTabSz="914400" rtl="0" eaLnBrk="1" latinLnBrk="1" hangingPunct="1">
        <a:defRPr sz="1800" kern="1200">
          <a:solidFill>
            <a:srgbClr val="1F2937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rgbClr val="1F2937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rgbClr val="1F2937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rgbClr val="1F2937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rgbClr val="1F2937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rgbClr val="1F2937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rgbClr val="1F2937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rgbClr val="1F2937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rgbClr val="1F2937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D697884-F25B-4C66-A537-BA5895765261}"/>
              </a:ext>
            </a:extLst>
          </p:cNvPr>
          <p:cNvSpPr txBox="1"/>
          <p:nvPr/>
        </p:nvSpPr>
        <p:spPr>
          <a:xfrm>
            <a:off x="762000" y="2286000"/>
            <a:ext cx="106680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6400" b="1" dirty="0" err="1">
                <a:solidFill>
                  <a:srgbClr val="0A0A0A"/>
                </a:solidFill>
                <a:latin typeface="+mn-ea"/>
                <a:cs typeface="Pretendard"/>
              </a:rPr>
              <a:t>마이크로서비스</a:t>
            </a:r>
            <a:r>
              <a:rPr lang="en-US" altLang="ko-KR" sz="6400" b="1" dirty="0">
                <a:solidFill>
                  <a:srgbClr val="0A0A0A"/>
                </a:solidFill>
                <a:latin typeface="+mn-ea"/>
                <a:cs typeface="Pretendard"/>
              </a:rPr>
              <a:t>,
</a:t>
            </a:r>
            <a:r>
              <a:rPr lang="ko-KR" altLang="en-US" sz="6400" b="1" dirty="0">
                <a:solidFill>
                  <a:srgbClr val="0A0A0A"/>
                </a:solidFill>
                <a:latin typeface="+mn-ea"/>
                <a:cs typeface="Pretendard"/>
              </a:rPr>
              <a:t>파일 </a:t>
            </a:r>
            <a:r>
              <a:rPr lang="en-US" altLang="ko-KR" sz="6400" b="1" dirty="0">
                <a:solidFill>
                  <a:srgbClr val="0A0A0A"/>
                </a:solidFill>
                <a:latin typeface="+mn-ea"/>
                <a:cs typeface="Pretendard"/>
              </a:rPr>
              <a:t>3</a:t>
            </a:r>
            <a:r>
              <a:rPr lang="ko-KR" altLang="en-US" sz="6400" b="1" dirty="0">
                <a:solidFill>
                  <a:srgbClr val="0A0A0A"/>
                </a:solidFill>
                <a:latin typeface="+mn-ea"/>
                <a:cs typeface="Pretendard"/>
              </a:rPr>
              <a:t>개로 끝</a:t>
            </a:r>
            <a:r>
              <a:rPr lang="en-US" altLang="ko-KR" sz="6400" b="1" dirty="0">
                <a:solidFill>
                  <a:srgbClr val="0A0A0A"/>
                </a:solidFill>
                <a:latin typeface="+mn-ea"/>
                <a:cs typeface="Pretendard"/>
              </a:rPr>
              <a:t>.</a:t>
            </a:r>
            <a:endParaRPr lang="ko-KR" altLang="en-US" sz="6400" b="1" dirty="0">
              <a:solidFill>
                <a:srgbClr val="0A0A0A"/>
              </a:solidFill>
              <a:latin typeface="+mn-ea"/>
              <a:cs typeface="Pretendar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30D2B4-8A83-4EE7-81E5-39AE72980312}"/>
              </a:ext>
            </a:extLst>
          </p:cNvPr>
          <p:cNvSpPr txBox="1"/>
          <p:nvPr/>
        </p:nvSpPr>
        <p:spPr>
          <a:xfrm>
            <a:off x="762000" y="4826000"/>
            <a:ext cx="914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dirty="0">
                <a:solidFill>
                  <a:srgbClr val="64748B"/>
                </a:solidFill>
                <a:latin typeface="+mn-ea"/>
                <a:cs typeface="Pretendard"/>
              </a:rPr>
              <a:t>개발자의 언어와 시선에서 재현하는 로컬 </a:t>
            </a:r>
            <a:r>
              <a:rPr lang="en-US" altLang="ko-KR" dirty="0">
                <a:solidFill>
                  <a:srgbClr val="64748B"/>
                </a:solidFill>
                <a:latin typeface="+mn-ea"/>
                <a:cs typeface="Pretendard"/>
              </a:rPr>
              <a:t>DevOps - Aspire</a:t>
            </a:r>
            <a:endParaRPr lang="ko-KR" altLang="en-US" dirty="0">
              <a:solidFill>
                <a:srgbClr val="64748B"/>
              </a:solidFill>
              <a:latin typeface="+mn-ea"/>
              <a:cs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290E72-E2EE-48E0-B715-104017CB4C39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Universe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Busan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Edition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-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2604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D236AE-8489-7A1B-4124-23E5DCD9B86B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altLang="ko-KR" sz="1100" b="1" dirty="0">
                <a:solidFill>
                  <a:srgbClr val="6366F1"/>
                </a:solidFill>
                <a:latin typeface="+mn-ea"/>
                <a:cs typeface="Pretendard"/>
              </a:rPr>
              <a:t>FILE-BASED APP SERIES</a:t>
            </a:r>
            <a:endParaRPr lang="ko-KR" altLang="en-US" sz="1100" b="1" dirty="0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27D84D5-6A79-DA75-00C4-04BA352BAF37}"/>
              </a:ext>
            </a:extLst>
          </p:cNvPr>
          <p:cNvSpPr/>
          <p:nvPr/>
        </p:nvSpPr>
        <p:spPr>
          <a:xfrm>
            <a:off x="857250" y="89535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4B02229-1263-04BC-3EE3-FB546DDF4B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14500"/>
            <a:ext cx="4459038" cy="3429000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8C8F894-DBF2-5C52-55CA-56E4905E8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0038" y="592137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3408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4727B6-CCCA-458F-8053-B150DDF00B4D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 dirty="0">
                <a:solidFill>
                  <a:srgbClr val="6366F1"/>
                </a:solidFill>
                <a:latin typeface="+mn-ea"/>
                <a:cs typeface="Pretendard"/>
              </a:rPr>
              <a:t>THE PROBLEM</a:t>
            </a:r>
            <a:endParaRPr lang="ko-KR" altLang="en-US" sz="1100" b="1" dirty="0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46DA1-5966-4ED7-AFD2-DF0BCFA4104F}"/>
              </a:ext>
            </a:extLst>
          </p:cNvPr>
          <p:cNvSpPr/>
          <p:nvPr/>
        </p:nvSpPr>
        <p:spPr>
          <a:xfrm>
            <a:off x="857250" y="89535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2CBBD9-7051-4339-A36F-92FF3C80827B}"/>
              </a:ext>
            </a:extLst>
          </p:cNvPr>
          <p:cNvSpPr txBox="1"/>
          <p:nvPr/>
        </p:nvSpPr>
        <p:spPr>
          <a:xfrm>
            <a:off x="762000" y="1168400"/>
            <a:ext cx="10668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600" b="1">
                <a:solidFill>
                  <a:srgbClr val="0A0A0A"/>
                </a:solidFill>
                <a:latin typeface="+mn-ea"/>
                <a:cs typeface="Pretendard"/>
              </a:rPr>
              <a:t>분산 시스템</a:t>
            </a:r>
            <a:r>
              <a:rPr lang="en-US" altLang="ko-KR" sz="3600" b="1">
                <a:solidFill>
                  <a:srgbClr val="0A0A0A"/>
                </a:solidFill>
                <a:latin typeface="+mn-ea"/>
                <a:cs typeface="Pretendard"/>
              </a:rPr>
              <a:t>, </a:t>
            </a:r>
            <a:r>
              <a:rPr lang="ko-KR" altLang="en-US" sz="3600" b="1">
                <a:solidFill>
                  <a:srgbClr val="0A0A0A"/>
                </a:solidFill>
                <a:latin typeface="+mn-ea"/>
                <a:cs typeface="Pretendard"/>
              </a:rPr>
              <a:t>왜 이렇게 복잡할까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84D217-FECD-487C-A575-664387B1B3A7}"/>
              </a:ext>
            </a:extLst>
          </p:cNvPr>
          <p:cNvSpPr txBox="1"/>
          <p:nvPr/>
        </p:nvSpPr>
        <p:spPr>
          <a:xfrm>
            <a:off x="762000" y="1930400"/>
            <a:ext cx="990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64748B"/>
                </a:solidFill>
                <a:latin typeface="+mn-ea"/>
                <a:cs typeface="Pretendard"/>
              </a:rPr>
              <a:t>여러 프로세스를 띄우고</a:t>
            </a:r>
            <a:r>
              <a:rPr lang="en-US" altLang="ko-KR" sz="1400">
                <a:solidFill>
                  <a:srgbClr val="64748B"/>
                </a:solidFill>
                <a:latin typeface="+mn-ea"/>
                <a:cs typeface="Pretendard"/>
              </a:rPr>
              <a:t>, </a:t>
            </a:r>
            <a:r>
              <a:rPr lang="ko-KR" altLang="en-US" sz="1400">
                <a:solidFill>
                  <a:srgbClr val="64748B"/>
                </a:solidFill>
                <a:latin typeface="+mn-ea"/>
                <a:cs typeface="Pretendard"/>
              </a:rPr>
              <a:t>연결하고</a:t>
            </a:r>
            <a:r>
              <a:rPr lang="en-US" altLang="ko-KR" sz="1400">
                <a:solidFill>
                  <a:srgbClr val="64748B"/>
                </a:solidFill>
                <a:latin typeface="+mn-ea"/>
                <a:cs typeface="Pretendard"/>
              </a:rPr>
              <a:t>, </a:t>
            </a:r>
            <a:r>
              <a:rPr lang="ko-KR" altLang="en-US" sz="1400">
                <a:solidFill>
                  <a:srgbClr val="64748B"/>
                </a:solidFill>
                <a:latin typeface="+mn-ea"/>
                <a:cs typeface="Pretendard"/>
              </a:rPr>
              <a:t>디버깅하는 일</a:t>
            </a:r>
            <a:r>
              <a:rPr lang="en-US" altLang="ko-KR" sz="1400">
                <a:solidFill>
                  <a:srgbClr val="64748B"/>
                </a:solidFill>
                <a:latin typeface="+mn-ea"/>
                <a:cs typeface="Pretendard"/>
              </a:rPr>
              <a:t>. </a:t>
            </a:r>
            <a:r>
              <a:rPr lang="ko-KR" altLang="en-US" sz="1400">
                <a:solidFill>
                  <a:srgbClr val="64748B"/>
                </a:solidFill>
                <a:latin typeface="+mn-ea"/>
                <a:cs typeface="Pretendard"/>
              </a:rPr>
              <a:t>코드보다 주변 설정이 더 많아지는 순간 생산성은 무너진다</a:t>
            </a:r>
            <a:r>
              <a:rPr lang="en-US" altLang="ko-KR" sz="1400">
                <a:solidFill>
                  <a:srgbClr val="64748B"/>
                </a:solidFill>
                <a:latin typeface="+mn-ea"/>
                <a:cs typeface="Pretendard"/>
              </a:rPr>
              <a:t>.</a:t>
            </a:r>
            <a:endParaRPr lang="ko-KR" altLang="en-US" sz="1400">
              <a:solidFill>
                <a:srgbClr val="64748B"/>
              </a:solidFill>
              <a:latin typeface="+mn-ea"/>
              <a:cs typeface="Pretendard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3E7827F-CD48-448B-BEDF-5C3A769D3ABB}"/>
              </a:ext>
            </a:extLst>
          </p:cNvPr>
          <p:cNvSpPr/>
          <p:nvPr/>
        </p:nvSpPr>
        <p:spPr>
          <a:xfrm>
            <a:off x="762000" y="2425700"/>
            <a:ext cx="5334000" cy="1651000"/>
          </a:xfrm>
          <a:prstGeom prst="rect">
            <a:avLst/>
          </a:prstGeom>
          <a:solidFill>
            <a:srgbClr val="F5F5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2ED491-DD77-47A5-B1E5-1F791DF6F07A}"/>
              </a:ext>
            </a:extLst>
          </p:cNvPr>
          <p:cNvSpPr txBox="1"/>
          <p:nvPr/>
        </p:nvSpPr>
        <p:spPr>
          <a:xfrm>
            <a:off x="1016000" y="26543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6366F1"/>
                </a:solidFill>
                <a:latin typeface="+mn-ea"/>
                <a:cs typeface="Pretendard"/>
              </a:rPr>
              <a:t>01</a:t>
            </a:r>
            <a:endParaRPr lang="ko-KR" altLang="en-US" sz="12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D73FAE-BFD8-496D-811B-4A4F07D4A090}"/>
              </a:ext>
            </a:extLst>
          </p:cNvPr>
          <p:cNvSpPr txBox="1"/>
          <p:nvPr/>
        </p:nvSpPr>
        <p:spPr>
          <a:xfrm>
            <a:off x="1016000" y="2959100"/>
            <a:ext cx="482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0A0A0A"/>
                </a:solidFill>
                <a:latin typeface="+mn-ea"/>
                <a:cs typeface="Pretendard"/>
              </a:rPr>
              <a:t>서비스 오케스트레이션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2F38B2-F378-4920-B106-D3654F362E5A}"/>
              </a:ext>
            </a:extLst>
          </p:cNvPr>
          <p:cNvSpPr txBox="1"/>
          <p:nvPr/>
        </p:nvSpPr>
        <p:spPr>
          <a:xfrm>
            <a:off x="1016000" y="3340100"/>
            <a:ext cx="482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dirty="0">
                <a:solidFill>
                  <a:srgbClr val="475569"/>
                </a:solidFill>
                <a:latin typeface="+mn-ea"/>
                <a:cs typeface="Pretendard"/>
              </a:rPr>
              <a:t>Redis, API, Worker</a:t>
            </a:r>
            <a:r>
              <a:rPr lang="ko-KR" altLang="en-US" sz="1300" dirty="0">
                <a:solidFill>
                  <a:srgbClr val="475569"/>
                </a:solidFill>
                <a:latin typeface="+mn-ea"/>
                <a:cs typeface="Pretendard"/>
              </a:rPr>
              <a:t>를 순서대로 띄우고 연결 문자열을 전달하는 </a:t>
            </a:r>
            <a:r>
              <a:rPr lang="ko-KR" altLang="en-US" sz="1300" dirty="0" err="1">
                <a:solidFill>
                  <a:srgbClr val="475569"/>
                </a:solidFill>
                <a:latin typeface="+mn-ea"/>
                <a:cs typeface="Pretendard"/>
              </a:rPr>
              <a:t>보일러플레이트</a:t>
            </a:r>
            <a:r>
              <a:rPr lang="en-US" altLang="ko-KR" sz="1300" dirty="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300" dirty="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D16A691-55D7-40B8-A216-30800538262F}"/>
              </a:ext>
            </a:extLst>
          </p:cNvPr>
          <p:cNvSpPr/>
          <p:nvPr/>
        </p:nvSpPr>
        <p:spPr>
          <a:xfrm>
            <a:off x="6350000" y="2425700"/>
            <a:ext cx="5334000" cy="1651000"/>
          </a:xfrm>
          <a:prstGeom prst="rect">
            <a:avLst/>
          </a:prstGeom>
          <a:solidFill>
            <a:srgbClr val="F5F5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D1CEFE-94B2-4A9C-A974-E402F150B61F}"/>
              </a:ext>
            </a:extLst>
          </p:cNvPr>
          <p:cNvSpPr txBox="1"/>
          <p:nvPr/>
        </p:nvSpPr>
        <p:spPr>
          <a:xfrm>
            <a:off x="6604000" y="26543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6366F1"/>
                </a:solidFill>
                <a:latin typeface="+mn-ea"/>
                <a:cs typeface="Pretendard"/>
              </a:rPr>
              <a:t>02</a:t>
            </a:r>
            <a:endParaRPr lang="ko-KR" altLang="en-US" sz="12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359CB9-CA2C-48BB-B5A9-74FF1BCA995E}"/>
              </a:ext>
            </a:extLst>
          </p:cNvPr>
          <p:cNvSpPr txBox="1"/>
          <p:nvPr/>
        </p:nvSpPr>
        <p:spPr>
          <a:xfrm>
            <a:off x="6604000" y="2959100"/>
            <a:ext cx="482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0A0A0A"/>
                </a:solidFill>
                <a:latin typeface="+mn-ea"/>
                <a:cs typeface="Pretendard"/>
              </a:rPr>
              <a:t>관찰 가능성 구현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8A2E7C-9775-4A05-813C-9D21418A45F1}"/>
              </a:ext>
            </a:extLst>
          </p:cNvPr>
          <p:cNvSpPr txBox="1"/>
          <p:nvPr/>
        </p:nvSpPr>
        <p:spPr>
          <a:xfrm>
            <a:off x="6604000" y="3340100"/>
            <a:ext cx="482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dirty="0">
                <a:solidFill>
                  <a:srgbClr val="475569"/>
                </a:solidFill>
                <a:latin typeface="+mn-ea"/>
                <a:cs typeface="Pretendard"/>
              </a:rPr>
              <a:t>로그 </a:t>
            </a:r>
            <a:r>
              <a:rPr lang="en-US" altLang="ko-KR" sz="1300" dirty="0">
                <a:solidFill>
                  <a:srgbClr val="475569"/>
                </a:solidFill>
                <a:latin typeface="+mn-ea"/>
                <a:cs typeface="Pretendard"/>
              </a:rPr>
              <a:t>· </a:t>
            </a:r>
            <a:r>
              <a:rPr lang="ko-KR" altLang="en-US" sz="1300" dirty="0" err="1">
                <a:solidFill>
                  <a:srgbClr val="475569"/>
                </a:solidFill>
                <a:latin typeface="+mn-ea"/>
                <a:cs typeface="Pretendard"/>
              </a:rPr>
              <a:t>메트릭</a:t>
            </a:r>
            <a:r>
              <a:rPr lang="ko-KR" altLang="en-US" sz="1300" dirty="0">
                <a:solidFill>
                  <a:srgbClr val="475569"/>
                </a:solidFill>
                <a:latin typeface="+mn-ea"/>
                <a:cs typeface="Pretendard"/>
              </a:rPr>
              <a:t> </a:t>
            </a:r>
            <a:r>
              <a:rPr lang="en-US" altLang="ko-KR" sz="1300" dirty="0">
                <a:solidFill>
                  <a:srgbClr val="475569"/>
                </a:solidFill>
                <a:latin typeface="+mn-ea"/>
                <a:cs typeface="Pretendard"/>
              </a:rPr>
              <a:t>· </a:t>
            </a:r>
            <a:r>
              <a:rPr lang="ko-KR" altLang="en-US" sz="1300" dirty="0" err="1">
                <a:solidFill>
                  <a:srgbClr val="475569"/>
                </a:solidFill>
                <a:latin typeface="+mn-ea"/>
                <a:cs typeface="Pretendard"/>
              </a:rPr>
              <a:t>트레이스를</a:t>
            </a:r>
            <a:r>
              <a:rPr lang="ko-KR" altLang="en-US" sz="1300" dirty="0">
                <a:solidFill>
                  <a:srgbClr val="475569"/>
                </a:solidFill>
                <a:latin typeface="+mn-ea"/>
                <a:cs typeface="Pretendard"/>
              </a:rPr>
              <a:t> 각 서비스마다 따로 계측해야 뭔가 보인다</a:t>
            </a:r>
            <a:r>
              <a:rPr lang="en-US" altLang="ko-KR" sz="1300" dirty="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300" dirty="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D33AC9-9C69-4C09-BFF1-940ED1126CA1}"/>
              </a:ext>
            </a:extLst>
          </p:cNvPr>
          <p:cNvSpPr/>
          <p:nvPr/>
        </p:nvSpPr>
        <p:spPr>
          <a:xfrm>
            <a:off x="762000" y="4330700"/>
            <a:ext cx="5334000" cy="1651000"/>
          </a:xfrm>
          <a:prstGeom prst="rect">
            <a:avLst/>
          </a:prstGeom>
          <a:solidFill>
            <a:srgbClr val="F5F5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E5E1B4-814D-41A6-A7A6-44800B63C06B}"/>
              </a:ext>
            </a:extLst>
          </p:cNvPr>
          <p:cNvSpPr txBox="1"/>
          <p:nvPr/>
        </p:nvSpPr>
        <p:spPr>
          <a:xfrm>
            <a:off x="1016000" y="45593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6366F1"/>
                </a:solidFill>
                <a:latin typeface="+mn-ea"/>
                <a:cs typeface="Pretendard"/>
              </a:rPr>
              <a:t>03</a:t>
            </a:r>
            <a:endParaRPr lang="ko-KR" altLang="en-US" sz="12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349815-7390-41A5-81A9-16270A278B66}"/>
              </a:ext>
            </a:extLst>
          </p:cNvPr>
          <p:cNvSpPr txBox="1"/>
          <p:nvPr/>
        </p:nvSpPr>
        <p:spPr>
          <a:xfrm>
            <a:off x="1016000" y="4864100"/>
            <a:ext cx="482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0A0A0A"/>
                </a:solidFill>
                <a:latin typeface="+mn-ea"/>
                <a:cs typeface="Pretendard"/>
              </a:rPr>
              <a:t>로컬 개발 환경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980CA5-94D7-4C8B-BB4B-130D714CEF38}"/>
              </a:ext>
            </a:extLst>
          </p:cNvPr>
          <p:cNvSpPr txBox="1"/>
          <p:nvPr/>
        </p:nvSpPr>
        <p:spPr>
          <a:xfrm>
            <a:off x="1016000" y="5245100"/>
            <a:ext cx="482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dirty="0">
                <a:solidFill>
                  <a:srgbClr val="475569"/>
                </a:solidFill>
                <a:latin typeface="+mn-ea"/>
                <a:cs typeface="Pretendard"/>
              </a:rPr>
              <a:t>Docker Compose, .env, </a:t>
            </a:r>
            <a:r>
              <a:rPr lang="ko-KR" altLang="en-US" sz="1300" dirty="0">
                <a:solidFill>
                  <a:srgbClr val="475569"/>
                </a:solidFill>
                <a:latin typeface="+mn-ea"/>
                <a:cs typeface="Pretendard"/>
              </a:rPr>
              <a:t>포트 충돌 </a:t>
            </a:r>
            <a:r>
              <a:rPr lang="en-US" altLang="ko-KR" sz="1300" dirty="0">
                <a:solidFill>
                  <a:srgbClr val="475569"/>
                </a:solidFill>
                <a:latin typeface="+mn-ea"/>
                <a:cs typeface="Pretendard"/>
              </a:rPr>
              <a:t>— </a:t>
            </a:r>
            <a:r>
              <a:rPr lang="ko-KR" altLang="en-US" sz="1300" dirty="0" err="1">
                <a:solidFill>
                  <a:srgbClr val="475569"/>
                </a:solidFill>
                <a:latin typeface="+mn-ea"/>
                <a:cs typeface="Pretendard"/>
              </a:rPr>
              <a:t>온보딩</a:t>
            </a:r>
            <a:r>
              <a:rPr lang="ko-KR" altLang="en-US" sz="1300" dirty="0">
                <a:solidFill>
                  <a:srgbClr val="475569"/>
                </a:solidFill>
                <a:latin typeface="+mn-ea"/>
                <a:cs typeface="Pretendard"/>
              </a:rPr>
              <a:t> 하루는 기본</a:t>
            </a:r>
            <a:r>
              <a:rPr lang="en-US" altLang="ko-KR" sz="1300" dirty="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300" dirty="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EE0AE43-7D9B-48CD-89DC-5C0FB232ACFC}"/>
              </a:ext>
            </a:extLst>
          </p:cNvPr>
          <p:cNvSpPr/>
          <p:nvPr/>
        </p:nvSpPr>
        <p:spPr>
          <a:xfrm>
            <a:off x="6350000" y="4330700"/>
            <a:ext cx="5334000" cy="1651000"/>
          </a:xfrm>
          <a:prstGeom prst="rect">
            <a:avLst/>
          </a:prstGeom>
          <a:solidFill>
            <a:srgbClr val="F5F5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405BB8-B587-4387-B57C-85F0F3E3D2BD}"/>
              </a:ext>
            </a:extLst>
          </p:cNvPr>
          <p:cNvSpPr txBox="1"/>
          <p:nvPr/>
        </p:nvSpPr>
        <p:spPr>
          <a:xfrm>
            <a:off x="6604000" y="45593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6366F1"/>
                </a:solidFill>
                <a:latin typeface="+mn-ea"/>
                <a:cs typeface="Pretendard"/>
              </a:rPr>
              <a:t>04</a:t>
            </a:r>
            <a:endParaRPr lang="ko-KR" altLang="en-US" sz="12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526780-CF98-40AA-B822-C8C26AF4CDDC}"/>
              </a:ext>
            </a:extLst>
          </p:cNvPr>
          <p:cNvSpPr txBox="1"/>
          <p:nvPr/>
        </p:nvSpPr>
        <p:spPr>
          <a:xfrm>
            <a:off x="6604000" y="4864100"/>
            <a:ext cx="482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0A0A0A"/>
                </a:solidFill>
                <a:latin typeface="+mn-ea"/>
                <a:cs typeface="Pretendard"/>
              </a:rPr>
              <a:t>서비스 디스커버리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A6703E-69FC-40D8-A63A-69A31F27CEE5}"/>
              </a:ext>
            </a:extLst>
          </p:cNvPr>
          <p:cNvSpPr txBox="1"/>
          <p:nvPr/>
        </p:nvSpPr>
        <p:spPr>
          <a:xfrm>
            <a:off x="6604000" y="5245100"/>
            <a:ext cx="482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"localhost:5051? </a:t>
            </a:r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아니 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5151</a:t>
            </a:r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이었나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?" </a:t>
            </a:r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환경마다 다른 주소를 하드코딩한다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3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B486A8-1917-CD80-2FB3-B68638B906A8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Universe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Busan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Edition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-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2604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953715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07FC8B-DCE5-4976-861E-26F793D831FD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+mn-ea"/>
                <a:cs typeface="Pretendard"/>
              </a:rPr>
              <a:t>DEFINITION</a:t>
            </a:r>
            <a:endParaRPr lang="ko-KR" altLang="en-US" sz="11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56B305-D496-4896-BB25-EF89B5EE2382}"/>
              </a:ext>
            </a:extLst>
          </p:cNvPr>
          <p:cNvSpPr txBox="1"/>
          <p:nvPr/>
        </p:nvSpPr>
        <p:spPr>
          <a:xfrm>
            <a:off x="762000" y="1168400"/>
            <a:ext cx="10668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3600" b="1">
                <a:solidFill>
                  <a:srgbClr val="0A0A0A"/>
                </a:solidFill>
                <a:latin typeface="+mn-ea"/>
                <a:cs typeface="Pretendard"/>
              </a:rPr>
              <a:t>Aspire</a:t>
            </a:r>
            <a:r>
              <a:rPr lang="ko-KR" altLang="en-US" sz="3600" b="1">
                <a:solidFill>
                  <a:srgbClr val="0A0A0A"/>
                </a:solidFill>
                <a:latin typeface="+mn-ea"/>
                <a:cs typeface="Pretendard"/>
              </a:rPr>
              <a:t>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DB7C3F-7A80-4985-ACF2-ED522A43E588}"/>
              </a:ext>
            </a:extLst>
          </p:cNvPr>
          <p:cNvSpPr txBox="1"/>
          <p:nvPr/>
        </p:nvSpPr>
        <p:spPr>
          <a:xfrm>
            <a:off x="762000" y="2159000"/>
            <a:ext cx="10668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ko-KR" altLang="en-US" dirty="0">
                <a:solidFill>
                  <a:srgbClr val="1F2937"/>
                </a:solidFill>
                <a:latin typeface="+mn-ea"/>
                <a:cs typeface="Pretendard"/>
              </a:rPr>
              <a:t>개발자의 시선에서 개발자가 선호하는 언어로 분산 애플리케이션 환경을 정의하고</a:t>
            </a:r>
            <a:r>
              <a:rPr lang="en-US" altLang="ko-KR" dirty="0">
                <a:solidFill>
                  <a:srgbClr val="1F2937"/>
                </a:solidFill>
                <a:latin typeface="+mn-ea"/>
                <a:cs typeface="Pretendard"/>
              </a:rPr>
              <a:t>,
</a:t>
            </a:r>
            <a:r>
              <a:rPr lang="ko-KR" altLang="en-US" dirty="0">
                <a:solidFill>
                  <a:srgbClr val="1F2937"/>
                </a:solidFill>
                <a:latin typeface="+mn-ea"/>
                <a:cs typeface="Pretendard"/>
              </a:rPr>
              <a:t>로컬에서 관측성과 함께 테스트하며</a:t>
            </a:r>
            <a:r>
              <a:rPr lang="en-US" altLang="ko-KR" dirty="0">
                <a:solidFill>
                  <a:srgbClr val="1F2937"/>
                </a:solidFill>
                <a:latin typeface="+mn-ea"/>
                <a:cs typeface="Pretendard"/>
              </a:rPr>
              <a:t>, </a:t>
            </a:r>
            <a:r>
              <a:rPr lang="ko-KR" altLang="en-US" dirty="0">
                <a:solidFill>
                  <a:srgbClr val="1F2937"/>
                </a:solidFill>
                <a:latin typeface="+mn-ea"/>
                <a:cs typeface="Pretendard"/>
              </a:rPr>
              <a:t>여러 클라우드 </a:t>
            </a:r>
            <a:r>
              <a:rPr lang="en-US" altLang="ko-KR" dirty="0">
                <a:solidFill>
                  <a:srgbClr val="1F2937"/>
                </a:solidFill>
                <a:latin typeface="+mn-ea"/>
                <a:cs typeface="Pretendard"/>
              </a:rPr>
              <a:t>· </a:t>
            </a:r>
            <a:r>
              <a:rPr lang="ko-KR" altLang="en-US" dirty="0">
                <a:solidFill>
                  <a:srgbClr val="1F2937"/>
                </a:solidFill>
                <a:latin typeface="+mn-ea"/>
                <a:cs typeface="Pretendard"/>
              </a:rPr>
              <a:t>플랫폼용 배포 산출물로 컴파일해주는
</a:t>
            </a:r>
            <a:r>
              <a:rPr lang="ko-KR" altLang="en-US" dirty="0" err="1">
                <a:solidFill>
                  <a:schemeClr val="accent1"/>
                </a:solidFill>
                <a:latin typeface="+mn-ea"/>
                <a:cs typeface="Pretendard"/>
              </a:rPr>
              <a:t>폴리글랏</a:t>
            </a:r>
            <a:r>
              <a:rPr lang="en-US" altLang="ko-KR" dirty="0">
                <a:solidFill>
                  <a:schemeClr val="accent1"/>
                </a:solidFill>
                <a:latin typeface="+mn-ea"/>
                <a:cs typeface="Pretendard"/>
              </a:rPr>
              <a:t> </a:t>
            </a:r>
            <a:r>
              <a:rPr lang="ko-KR" altLang="en-US" dirty="0">
                <a:solidFill>
                  <a:schemeClr val="accent1"/>
                </a:solidFill>
                <a:latin typeface="+mn-ea"/>
                <a:cs typeface="Pretendard"/>
              </a:rPr>
              <a:t>클라우드 네이티브 개발도구</a:t>
            </a:r>
            <a:r>
              <a:rPr lang="ko-KR" altLang="en-US" dirty="0">
                <a:solidFill>
                  <a:srgbClr val="1F2937"/>
                </a:solidFill>
                <a:latin typeface="+mn-ea"/>
                <a:cs typeface="Pretendard"/>
              </a:rPr>
              <a:t> 입니다</a:t>
            </a:r>
            <a:r>
              <a:rPr lang="en-US" altLang="ko-KR" dirty="0">
                <a:solidFill>
                  <a:srgbClr val="1F2937"/>
                </a:solidFill>
                <a:latin typeface="+mn-ea"/>
                <a:cs typeface="Pretendard"/>
              </a:rPr>
              <a:t>.</a:t>
            </a:r>
            <a:endParaRPr lang="ko-KR" altLang="en-US" dirty="0">
              <a:solidFill>
                <a:schemeClr val="accent1"/>
              </a:solidFill>
              <a:latin typeface="+mn-ea"/>
              <a:cs typeface="Pretendard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6417454-4259-4A9E-8811-76E7943EDE2B}"/>
              </a:ext>
            </a:extLst>
          </p:cNvPr>
          <p:cNvSpPr/>
          <p:nvPr/>
        </p:nvSpPr>
        <p:spPr>
          <a:xfrm>
            <a:off x="762000" y="4064000"/>
            <a:ext cx="3302000" cy="508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1B4687-C96D-4F19-8309-5B6B2B50CD7D}"/>
              </a:ext>
            </a:extLst>
          </p:cNvPr>
          <p:cNvSpPr txBox="1"/>
          <p:nvPr/>
        </p:nvSpPr>
        <p:spPr>
          <a:xfrm>
            <a:off x="762000" y="4318000"/>
            <a:ext cx="330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 dirty="0">
                <a:solidFill>
                  <a:srgbClr val="0A0A0A"/>
                </a:solidFill>
                <a:latin typeface="+mn-ea"/>
                <a:cs typeface="Pretendard"/>
              </a:rPr>
              <a:t>정의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CC49F5-D203-4ABD-BBAF-4B47D72536FA}"/>
              </a:ext>
            </a:extLst>
          </p:cNvPr>
          <p:cNvSpPr txBox="1"/>
          <p:nvPr/>
        </p:nvSpPr>
        <p:spPr>
          <a:xfrm>
            <a:off x="762000" y="4800600"/>
            <a:ext cx="330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475569"/>
                </a:solidFill>
                <a:latin typeface="+mn-ea"/>
                <a:cs typeface="Pretendard"/>
              </a:rPr>
              <a:t>코드로 선언하는
분산 앱 환경</a:t>
            </a:r>
            <a:r>
              <a:rPr lang="en-US" altLang="ko-KR" sz="14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4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1482F0-54ED-41A6-88A1-13A06FE58AAB}"/>
              </a:ext>
            </a:extLst>
          </p:cNvPr>
          <p:cNvSpPr txBox="1"/>
          <p:nvPr/>
        </p:nvSpPr>
        <p:spPr>
          <a:xfrm>
            <a:off x="4064000" y="4572000"/>
            <a:ext cx="38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>
                <a:solidFill>
                  <a:srgbClr val="CBD5E1"/>
                </a:solidFill>
                <a:latin typeface="+mn-ea"/>
              </a:rPr>
              <a:t>→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B27FF6B-DBD2-4C05-BF58-9D05CC812F6E}"/>
              </a:ext>
            </a:extLst>
          </p:cNvPr>
          <p:cNvSpPr/>
          <p:nvPr/>
        </p:nvSpPr>
        <p:spPr>
          <a:xfrm>
            <a:off x="4445000" y="4064000"/>
            <a:ext cx="3302000" cy="50800"/>
          </a:xfrm>
          <a:prstGeom prst="rect">
            <a:avLst/>
          </a:prstGeom>
          <a:solidFill>
            <a:srgbClr val="EC48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6AF4D0-3822-4986-8394-AF283E146F88}"/>
              </a:ext>
            </a:extLst>
          </p:cNvPr>
          <p:cNvSpPr txBox="1"/>
          <p:nvPr/>
        </p:nvSpPr>
        <p:spPr>
          <a:xfrm>
            <a:off x="4445000" y="4318000"/>
            <a:ext cx="330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 dirty="0">
                <a:solidFill>
                  <a:srgbClr val="0A0A0A"/>
                </a:solidFill>
                <a:latin typeface="+mn-ea"/>
                <a:cs typeface="Pretendard"/>
              </a:rPr>
              <a:t>테스트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99DFB1-5B8D-4793-9727-847582F96BAF}"/>
              </a:ext>
            </a:extLst>
          </p:cNvPr>
          <p:cNvSpPr txBox="1"/>
          <p:nvPr/>
        </p:nvSpPr>
        <p:spPr>
          <a:xfrm>
            <a:off x="4445000" y="4800600"/>
            <a:ext cx="330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475569"/>
                </a:solidFill>
                <a:latin typeface="+mn-ea"/>
                <a:cs typeface="Pretendard"/>
              </a:rPr>
              <a:t>로컬에서</a:t>
            </a:r>
            <a:r>
              <a:rPr lang="en-US" altLang="ko-KR" sz="1400">
                <a:solidFill>
                  <a:srgbClr val="475569"/>
                </a:solidFill>
                <a:latin typeface="+mn-ea"/>
                <a:cs typeface="Pretendard"/>
              </a:rPr>
              <a:t>,
</a:t>
            </a:r>
            <a:r>
              <a:rPr lang="ko-KR" altLang="en-US" sz="1400">
                <a:solidFill>
                  <a:srgbClr val="475569"/>
                </a:solidFill>
                <a:latin typeface="+mn-ea"/>
                <a:cs typeface="Pretendard"/>
              </a:rPr>
              <a:t>관측성을 켠 채로</a:t>
            </a:r>
            <a:r>
              <a:rPr lang="en-US" altLang="ko-KR" sz="14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4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368E90-19E5-4F0D-8502-0218614BA2C8}"/>
              </a:ext>
            </a:extLst>
          </p:cNvPr>
          <p:cNvSpPr txBox="1"/>
          <p:nvPr/>
        </p:nvSpPr>
        <p:spPr>
          <a:xfrm>
            <a:off x="7747000" y="4572000"/>
            <a:ext cx="38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>
                <a:solidFill>
                  <a:srgbClr val="CBD5E1"/>
                </a:solidFill>
                <a:latin typeface="+mn-ea"/>
              </a:rPr>
              <a:t>→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D027331-ABE7-4687-A20D-16407964E3E3}"/>
              </a:ext>
            </a:extLst>
          </p:cNvPr>
          <p:cNvSpPr/>
          <p:nvPr/>
        </p:nvSpPr>
        <p:spPr>
          <a:xfrm>
            <a:off x="8128000" y="4064000"/>
            <a:ext cx="3302000" cy="508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288E0E-D3C4-426C-B230-216EFCACC2D5}"/>
              </a:ext>
            </a:extLst>
          </p:cNvPr>
          <p:cNvSpPr txBox="1"/>
          <p:nvPr/>
        </p:nvSpPr>
        <p:spPr>
          <a:xfrm>
            <a:off x="8128000" y="4318000"/>
            <a:ext cx="330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 dirty="0">
                <a:solidFill>
                  <a:srgbClr val="0A0A0A"/>
                </a:solidFill>
                <a:latin typeface="+mn-ea"/>
                <a:cs typeface="Pretendard"/>
              </a:rPr>
              <a:t>배포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81D457-2DD3-4A46-B77A-FF001367FD39}"/>
              </a:ext>
            </a:extLst>
          </p:cNvPr>
          <p:cNvSpPr txBox="1"/>
          <p:nvPr/>
        </p:nvSpPr>
        <p:spPr>
          <a:xfrm>
            <a:off x="8128000" y="4800600"/>
            <a:ext cx="330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475569"/>
                </a:solidFill>
                <a:latin typeface="+mn-ea"/>
                <a:cs typeface="Pretendard"/>
              </a:rPr>
              <a:t>여러 클라우드용
배포 산출물로</a:t>
            </a:r>
            <a:r>
              <a:rPr lang="en-US" altLang="ko-KR" sz="14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4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583A48-8310-9502-5A11-1E49E3B356D0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Universe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Busan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Edition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-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2604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687B3BA-D6C9-CF18-EF4F-6BB2BC2DCA1E}"/>
              </a:ext>
            </a:extLst>
          </p:cNvPr>
          <p:cNvSpPr/>
          <p:nvPr/>
        </p:nvSpPr>
        <p:spPr>
          <a:xfrm>
            <a:off x="857250" y="89535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04899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87D3306-7DEA-4D37-A26D-FE2D6C11995C}"/>
              </a:ext>
            </a:extLst>
          </p:cNvPr>
          <p:cNvSpPr/>
          <p:nvPr/>
        </p:nvSpPr>
        <p:spPr>
          <a:xfrm>
            <a:off x="863600" y="90170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FB982C-64BF-47D4-BCE5-E9CA0791283B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Pretendard"/>
                <a:ea typeface="Pretendard"/>
                <a:cs typeface="Pretendard"/>
              </a:rPr>
              <a:t>COMPARISON</a:t>
            </a:r>
            <a:endParaRPr lang="ko-KR" altLang="en-US" sz="1100" b="1">
              <a:solidFill>
                <a:srgbClr val="6366F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D64E39-A77A-4449-9B1B-C2BA817A2FB8}"/>
              </a:ext>
            </a:extLst>
          </p:cNvPr>
          <p:cNvSpPr txBox="1"/>
          <p:nvPr/>
        </p:nvSpPr>
        <p:spPr>
          <a:xfrm>
            <a:off x="762000" y="1168400"/>
            <a:ext cx="10668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6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기존 대안과의 차별점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F28651-4CB7-4EA3-B26A-BCC2BDD83C1A}"/>
              </a:ext>
            </a:extLst>
          </p:cNvPr>
          <p:cNvSpPr txBox="1"/>
          <p:nvPr/>
        </p:nvSpPr>
        <p:spPr>
          <a:xfrm>
            <a:off x="762000" y="20320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Docker Compose · Tilt · Aspire — </a:t>
            </a:r>
            <a:r>
              <a:rPr lang="ko-KR" altLang="en-US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세 도구가 해결하는 문제는 같지만</a:t>
            </a:r>
            <a:r>
              <a:rPr lang="en-US" altLang="ko-KR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접근 방식은 다릅니다</a:t>
            </a:r>
            <a:r>
              <a:rPr lang="en-US" altLang="ko-KR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400">
              <a:solidFill>
                <a:srgbClr val="47556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CCD220-8E27-435E-867D-3A74B4971270}"/>
              </a:ext>
            </a:extLst>
          </p:cNvPr>
          <p:cNvSpPr txBox="1"/>
          <p:nvPr/>
        </p:nvSpPr>
        <p:spPr>
          <a:xfrm>
            <a:off x="406400" y="64262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94A3B8"/>
                </a:solidFill>
                <a:latin typeface="Pretendard"/>
                <a:ea typeface="Pretendard"/>
                <a:cs typeface="Pretendard"/>
              </a:rPr>
              <a:t>.NET Universe Busan Edition - 2604</a:t>
            </a:r>
            <a:endParaRPr lang="ko-KR" altLang="en-US" sz="1000">
              <a:solidFill>
                <a:srgbClr val="94A3B8"/>
              </a:solidFill>
              <a:latin typeface="Pretendard"/>
              <a:ea typeface="Pretendard"/>
              <a:cs typeface="Pretendard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6AA3553-4D8B-4B2F-8B70-2DEF4EE8D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077349"/>
              </p:ext>
            </p:extLst>
          </p:nvPr>
        </p:nvGraphicFramePr>
        <p:xfrm>
          <a:off x="762000" y="2540000"/>
          <a:ext cx="10668000" cy="287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003415664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198708773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645343398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91479994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endParaRPr lang="ko-KR" altLang="en-US" sz="1400" b="1">
                        <a:solidFill>
                          <a:srgbClr val="0A0A0A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0A0A0A"/>
                          </a:solidFill>
                          <a:latin typeface="Pretendard"/>
                          <a:ea typeface="Pretendard"/>
                          <a:cs typeface="Pretendard"/>
                        </a:rPr>
                        <a:t>Docker Compose</a:t>
                      </a:r>
                    </a:p>
                  </a:txBody>
                  <a:tcPr anchor="ctr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0A0A0A"/>
                          </a:solidFill>
                          <a:latin typeface="Pretendard"/>
                          <a:ea typeface="Pretendard"/>
                          <a:cs typeface="Pretendard"/>
                        </a:rPr>
                        <a:t>Tilt</a:t>
                      </a:r>
                    </a:p>
                  </a:txBody>
                  <a:tcPr anchor="ctr"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0A0A0A"/>
                          </a:solidFill>
                          <a:latin typeface="Pretendard"/>
                          <a:ea typeface="Pretendard"/>
                          <a:cs typeface="Pretendard"/>
                        </a:rPr>
                        <a:t>Aspire</a:t>
                      </a:r>
                    </a:p>
                  </a:txBody>
                  <a:tcPr anchor="ctr">
                    <a:solidFill>
                      <a:srgbClr val="F5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66984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1">
                          <a:solidFill>
                            <a:srgbClr val="0A0A0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런타임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475569"/>
                          </a:solidFill>
                          <a:latin typeface="Pretendard"/>
                          <a:ea typeface="Pretendard"/>
                          <a:cs typeface="Pretendard"/>
                        </a:rPr>
                        <a:t>Docker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47556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외부 K8s 클러스터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6366F1"/>
                          </a:solidFill>
                          <a:latin typeface="Pretendard"/>
                          <a:ea typeface="Pretendard"/>
                          <a:cs typeface="Pretendard"/>
                        </a:rPr>
                        <a:t>로컬 프로세스 + 컨테이너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86797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1">
                          <a:solidFill>
                            <a:srgbClr val="0A0A0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설정 언어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475569"/>
                          </a:solidFill>
                          <a:latin typeface="Pretendard"/>
                          <a:ea typeface="Pretendard"/>
                          <a:cs typeface="Pretendard"/>
                        </a:rPr>
                        <a:t>YAML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475569"/>
                          </a:solidFill>
                          <a:latin typeface="Pretendard"/>
                          <a:ea typeface="Pretendard"/>
                          <a:cs typeface="Pretendard"/>
                        </a:rPr>
                        <a:t>Starlark (Tiltfile)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6366F1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애플리케이션 언어 (C#, TS…)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24974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1">
                          <a:solidFill>
                            <a:srgbClr val="0A0A0A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관찰 가능성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47556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47556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외부 도구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6366F1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내장 (OTel)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84273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1">
                          <a:solidFill>
                            <a:srgbClr val="0A0A0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디스커버리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47556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네트워크 이름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475569"/>
                          </a:solidFill>
                          <a:latin typeface="Pretendard"/>
                          <a:ea typeface="Pretendard"/>
                          <a:cs typeface="Pretendard"/>
                        </a:rPr>
                        <a:t>K8s Service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6366F1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타입 안전한 코드 참조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05147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1" dirty="0">
                          <a:solidFill>
                            <a:schemeClr val="accent6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IDE </a:t>
                      </a:r>
                      <a:r>
                        <a:rPr lang="ko-KR" altLang="en-US" sz="1400" b="1" dirty="0" err="1">
                          <a:solidFill>
                            <a:schemeClr val="accent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디버거</a:t>
                      </a:r>
                      <a:endParaRPr lang="ko-KR" altLang="en-US" sz="1400" b="1" dirty="0">
                        <a:solidFill>
                          <a:schemeClr val="accent6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47556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별도 설정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475569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별도 설정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rgbClr val="6366F1"/>
                          </a:solidFill>
                          <a:latin typeface="Pretendard"/>
                          <a:ea typeface="Pretendard"/>
                          <a:cs typeface="Pretendard"/>
                        </a:rPr>
                        <a:t>네이티브 연동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0066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2510C6E-1BBA-4642-A831-39908B9A5B78}"/>
              </a:ext>
            </a:extLst>
          </p:cNvPr>
          <p:cNvSpPr txBox="1"/>
          <p:nvPr/>
        </p:nvSpPr>
        <p:spPr>
          <a:xfrm>
            <a:off x="762000" y="59563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6366F1"/>
                </a:solidFill>
                <a:latin typeface="Pretendard"/>
                <a:ea typeface="Pretendard"/>
                <a:cs typeface="Pretendard"/>
              </a:rPr>
              <a:t>→  </a:t>
            </a:r>
            <a:r>
              <a:rPr lang="en-US" altLang="ko-KR" sz="1400" b="1" dirty="0">
                <a:solidFill>
                  <a:srgbClr val="6366F1"/>
                </a:solidFill>
                <a:latin typeface="Pretendard"/>
                <a:ea typeface="Pretendard"/>
                <a:cs typeface="Pretendard"/>
              </a:rPr>
              <a:t>IDE </a:t>
            </a:r>
            <a:r>
              <a:rPr lang="ko-KR" altLang="en-US" sz="1400" b="1" dirty="0" err="1">
                <a:solidFill>
                  <a:srgbClr val="6366F1"/>
                </a:solidFill>
                <a:latin typeface="Pretendard"/>
                <a:ea typeface="Pretendard"/>
                <a:cs typeface="Pretendard"/>
              </a:rPr>
              <a:t>디버거</a:t>
            </a:r>
            <a:r>
              <a:rPr lang="ko-KR" altLang="en-US" sz="1400" b="1" dirty="0">
                <a:solidFill>
                  <a:srgbClr val="6366F1"/>
                </a:solidFill>
                <a:latin typeface="Pretendard"/>
                <a:ea typeface="Pretendard"/>
                <a:cs typeface="Pretendard"/>
              </a:rPr>
              <a:t> 네이티브 연동이 </a:t>
            </a:r>
            <a:r>
              <a:rPr lang="en-US" altLang="ko-KR" sz="1400" b="1" dirty="0">
                <a:solidFill>
                  <a:srgbClr val="6366F1"/>
                </a:solidFill>
                <a:latin typeface="Pretendard"/>
                <a:ea typeface="Pretendard"/>
                <a:cs typeface="Pretendard"/>
              </a:rPr>
              <a:t>Aspire</a:t>
            </a:r>
            <a:r>
              <a:rPr lang="ko-KR" altLang="en-US" sz="1400" b="1" dirty="0">
                <a:solidFill>
                  <a:srgbClr val="6366F1"/>
                </a:solidFill>
                <a:latin typeface="Pretendard"/>
                <a:ea typeface="Pretendard"/>
                <a:cs typeface="Pretendard"/>
              </a:rPr>
              <a:t>의 결정적 차별점입니다</a:t>
            </a:r>
            <a:r>
              <a:rPr lang="en-US" altLang="ko-KR" sz="1400" b="1" dirty="0">
                <a:solidFill>
                  <a:srgbClr val="6366F1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400" b="1" dirty="0">
              <a:solidFill>
                <a:srgbClr val="6366F1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526598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FB6732-2A10-4186-8115-1AB7DD0C07C7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+mn-ea"/>
                <a:cs typeface="Pretendard"/>
              </a:rPr>
              <a:t>UNDER THE HOOD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39DB59-3688-485A-83F4-CF57789F5E72}"/>
              </a:ext>
            </a:extLst>
          </p:cNvPr>
          <p:cNvSpPr txBox="1"/>
          <p:nvPr/>
        </p:nvSpPr>
        <p:spPr>
          <a:xfrm>
            <a:off x="762000" y="11684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0A0A0A"/>
                </a:solidFill>
                <a:latin typeface="+mn-ea"/>
                <a:cs typeface="Pretendard"/>
              </a:rPr>
              <a:t>DCP: Aspire를 움직이는 엔진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DAA21E-42BA-42C4-BE83-F3E706E9A6D2}"/>
              </a:ext>
            </a:extLst>
          </p:cNvPr>
          <p:cNvSpPr/>
          <p:nvPr/>
        </p:nvSpPr>
        <p:spPr>
          <a:xfrm>
            <a:off x="762000" y="2032000"/>
            <a:ext cx="50800" cy="16510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A60000-C43D-401C-920F-E37CE339F713}"/>
              </a:ext>
            </a:extLst>
          </p:cNvPr>
          <p:cNvSpPr/>
          <p:nvPr/>
        </p:nvSpPr>
        <p:spPr>
          <a:xfrm>
            <a:off x="812800" y="2032000"/>
            <a:ext cx="5283200" cy="1651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7716AE-1EB8-4FBB-8F85-E7DDAD04AA09}"/>
              </a:ext>
            </a:extLst>
          </p:cNvPr>
          <p:cNvSpPr txBox="1"/>
          <p:nvPr/>
        </p:nvSpPr>
        <p:spPr>
          <a:xfrm>
            <a:off x="1066800" y="2260600"/>
            <a:ext cx="482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6366F1"/>
                </a:solidFill>
                <a:latin typeface="+mn-ea"/>
                <a:cs typeface="Pretendard"/>
              </a:rPr>
              <a:t>WHAT IS DCP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1ACC8F-20D7-4371-AA86-8189809A270A}"/>
              </a:ext>
            </a:extLst>
          </p:cNvPr>
          <p:cNvSpPr txBox="1"/>
          <p:nvPr/>
        </p:nvSpPr>
        <p:spPr>
          <a:xfrm>
            <a:off x="1066800" y="25400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 dirty="0">
                <a:solidFill>
                  <a:srgbClr val="0A0A0A"/>
                </a:solidFill>
                <a:latin typeface="+mn-ea"/>
                <a:cs typeface="Pretendard"/>
              </a:rPr>
              <a:t>Developer Control Plane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5EB1C1-CF0B-4B70-99AA-50842DEF4DAE}"/>
              </a:ext>
            </a:extLst>
          </p:cNvPr>
          <p:cNvSpPr txBox="1"/>
          <p:nvPr/>
        </p:nvSpPr>
        <p:spPr>
          <a:xfrm>
            <a:off x="1066800" y="2971800"/>
            <a:ext cx="4826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dirty="0">
                <a:solidFill>
                  <a:srgbClr val="475569"/>
                </a:solidFill>
                <a:latin typeface="+mn-ea"/>
                <a:cs typeface="Pretendard"/>
              </a:rPr>
              <a:t>Kubernetes 스타일 API를 갖는 로컬 오케스트레이터. tilt-apiserver CRD 저장소 위에 자체 리소스 모델로 로컬 프로세스·컨테이너를 관리.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AD1426-D7E2-41EE-BE06-5827E75CA2E2}"/>
              </a:ext>
            </a:extLst>
          </p:cNvPr>
          <p:cNvSpPr/>
          <p:nvPr/>
        </p:nvSpPr>
        <p:spPr>
          <a:xfrm>
            <a:off x="6350000" y="2032000"/>
            <a:ext cx="50800" cy="1651000"/>
          </a:xfrm>
          <a:prstGeom prst="rect">
            <a:avLst/>
          </a:prstGeom>
          <a:solidFill>
            <a:srgbClr val="EC48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3FC3B7-60C7-4673-89B3-9C674CF62389}"/>
              </a:ext>
            </a:extLst>
          </p:cNvPr>
          <p:cNvSpPr/>
          <p:nvPr/>
        </p:nvSpPr>
        <p:spPr>
          <a:xfrm>
            <a:off x="6400800" y="2032000"/>
            <a:ext cx="5283200" cy="1651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7CA94D-B561-4661-9DAE-C5932F5A8604}"/>
              </a:ext>
            </a:extLst>
          </p:cNvPr>
          <p:cNvSpPr txBox="1"/>
          <p:nvPr/>
        </p:nvSpPr>
        <p:spPr>
          <a:xfrm>
            <a:off x="6654800" y="2260600"/>
            <a:ext cx="482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6366F1"/>
                </a:solidFill>
                <a:latin typeface="+mn-ea"/>
                <a:cs typeface="Pretendard"/>
              </a:rPr>
              <a:t>NOW OPEN SOURCE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0F699E-D4A4-460F-9EEB-ADE7870CDC70}"/>
              </a:ext>
            </a:extLst>
          </p:cNvPr>
          <p:cNvSpPr txBox="1"/>
          <p:nvPr/>
        </p:nvSpPr>
        <p:spPr>
          <a:xfrm>
            <a:off x="6654800" y="25400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 dirty="0">
                <a:solidFill>
                  <a:srgbClr val="0A0A0A"/>
                </a:solidFill>
                <a:latin typeface="+mn-ea"/>
                <a:cs typeface="Pretendard"/>
              </a:rPr>
              <a:t>github.com/microsoft/dcp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C33AD3-DC88-47A9-B0FE-CC1CF979F851}"/>
              </a:ext>
            </a:extLst>
          </p:cNvPr>
          <p:cNvSpPr txBox="1"/>
          <p:nvPr/>
        </p:nvSpPr>
        <p:spPr>
          <a:xfrm>
            <a:off x="6654800" y="2971800"/>
            <a:ext cx="4826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dirty="0">
                <a:solidFill>
                  <a:srgbClr val="475569"/>
                </a:solidFill>
                <a:latin typeface="+mn-ea"/>
                <a:cs typeface="Pretendard"/>
              </a:rPr>
              <a:t>그동안 </a:t>
            </a:r>
            <a:r>
              <a:rPr lang="ko-KR" altLang="en-US" sz="1300" dirty="0" err="1">
                <a:solidFill>
                  <a:srgbClr val="475569"/>
                </a:solidFill>
                <a:latin typeface="+mn-ea"/>
                <a:cs typeface="Pretendard"/>
              </a:rPr>
              <a:t>클로즈드</a:t>
            </a:r>
            <a:r>
              <a:rPr lang="ko-KR" altLang="en-US" sz="1300" dirty="0">
                <a:solidFill>
                  <a:srgbClr val="475569"/>
                </a:solidFill>
                <a:latin typeface="+mn-ea"/>
                <a:cs typeface="Pretendard"/>
              </a:rPr>
              <a:t> 소스로 유지되던 </a:t>
            </a:r>
            <a:r>
              <a:rPr lang="en-US" altLang="ko-KR" sz="1300" dirty="0">
                <a:solidFill>
                  <a:srgbClr val="475569"/>
                </a:solidFill>
                <a:latin typeface="+mn-ea"/>
                <a:cs typeface="Pretendard"/>
              </a:rPr>
              <a:t>DCP</a:t>
            </a:r>
            <a:r>
              <a:rPr lang="ko-KR" altLang="en-US" sz="1300" dirty="0">
                <a:solidFill>
                  <a:srgbClr val="475569"/>
                </a:solidFill>
                <a:latin typeface="+mn-ea"/>
                <a:cs typeface="Pretendard"/>
              </a:rPr>
              <a:t>가 최근 오픈 소스로 공개. Aspire의 블랙박스가 사라짐.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63863AA-2BFD-4CF4-8E85-E0CFAC4ADE5B}"/>
              </a:ext>
            </a:extLst>
          </p:cNvPr>
          <p:cNvSpPr/>
          <p:nvPr/>
        </p:nvSpPr>
        <p:spPr>
          <a:xfrm>
            <a:off x="762000" y="3937000"/>
            <a:ext cx="50800" cy="16510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C1F8BA-F2E6-4AF9-BAD1-63BF7EFF66A1}"/>
              </a:ext>
            </a:extLst>
          </p:cNvPr>
          <p:cNvSpPr/>
          <p:nvPr/>
        </p:nvSpPr>
        <p:spPr>
          <a:xfrm>
            <a:off x="812800" y="3937000"/>
            <a:ext cx="5283200" cy="1651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FE3805-54AC-4FDF-81A5-757D9EEB6A5F}"/>
              </a:ext>
            </a:extLst>
          </p:cNvPr>
          <p:cNvSpPr txBox="1"/>
          <p:nvPr/>
        </p:nvSpPr>
        <p:spPr>
          <a:xfrm>
            <a:off x="1066800" y="4165600"/>
            <a:ext cx="482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6366F1"/>
                </a:solidFill>
                <a:latin typeface="+mn-ea"/>
                <a:cs typeface="Pretendard"/>
              </a:rPr>
              <a:t>HOW IT INTERACTS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D87443-7D81-469F-AE3B-A65AD852B31F}"/>
              </a:ext>
            </a:extLst>
          </p:cNvPr>
          <p:cNvSpPr txBox="1"/>
          <p:nvPr/>
        </p:nvSpPr>
        <p:spPr>
          <a:xfrm>
            <a:off x="1066800" y="44450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 dirty="0">
                <a:solidFill>
                  <a:srgbClr val="0A0A0A"/>
                </a:solidFill>
                <a:latin typeface="+mn-ea"/>
                <a:cs typeface="Pretendard"/>
              </a:rPr>
              <a:t>Kubernetes 스타일 API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4AA095-4BEE-4F75-A3EE-588E679AB6EB}"/>
              </a:ext>
            </a:extLst>
          </p:cNvPr>
          <p:cNvSpPr txBox="1"/>
          <p:nvPr/>
        </p:nvSpPr>
        <p:spPr>
          <a:xfrm>
            <a:off x="1066800" y="4876800"/>
            <a:ext cx="4826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dirty="0">
                <a:solidFill>
                  <a:srgbClr val="475569"/>
                </a:solidFill>
                <a:latin typeface="+mn-ea"/>
                <a:cs typeface="Pretendard"/>
              </a:rPr>
              <a:t>AppHost가 .NET Kubernetes 클라이언트로 DCP API 서버에 리소스를 선언. DcpExecutor가 Aspire 모델을 CRD로 변환.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DD19CEE-2ECC-485E-BE26-F9B6FF59E3AC}"/>
              </a:ext>
            </a:extLst>
          </p:cNvPr>
          <p:cNvSpPr/>
          <p:nvPr/>
        </p:nvSpPr>
        <p:spPr>
          <a:xfrm>
            <a:off x="6350000" y="3937000"/>
            <a:ext cx="50800" cy="16510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1704652-0A3D-4695-A7D4-636A78CC3D96}"/>
              </a:ext>
            </a:extLst>
          </p:cNvPr>
          <p:cNvSpPr/>
          <p:nvPr/>
        </p:nvSpPr>
        <p:spPr>
          <a:xfrm>
            <a:off x="6400800" y="3937000"/>
            <a:ext cx="5283200" cy="1651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7F5549-A447-46B6-9E05-97DA0588C38E}"/>
              </a:ext>
            </a:extLst>
          </p:cNvPr>
          <p:cNvSpPr txBox="1"/>
          <p:nvPr/>
        </p:nvSpPr>
        <p:spPr>
          <a:xfrm>
            <a:off x="6654800" y="4165600"/>
            <a:ext cx="482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6366F1"/>
                </a:solidFill>
                <a:latin typeface="+mn-ea"/>
                <a:cs typeface="Pretendard"/>
              </a:rPr>
              <a:t>WHAT IT PROVIDES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02EF2B-F618-4747-975A-6E47B5700B81}"/>
              </a:ext>
            </a:extLst>
          </p:cNvPr>
          <p:cNvSpPr txBox="1"/>
          <p:nvPr/>
        </p:nvSpPr>
        <p:spPr>
          <a:xfrm>
            <a:off x="6654800" y="44450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 dirty="0">
                <a:solidFill>
                  <a:srgbClr val="0A0A0A"/>
                </a:solidFill>
                <a:latin typeface="+mn-ea"/>
                <a:cs typeface="Pretendard"/>
              </a:rPr>
              <a:t>프로세스·컨테이너 수명관리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9F3764-ADC6-46F7-AB82-E7483CFE8AAD}"/>
              </a:ext>
            </a:extLst>
          </p:cNvPr>
          <p:cNvSpPr txBox="1"/>
          <p:nvPr/>
        </p:nvSpPr>
        <p:spPr>
          <a:xfrm>
            <a:off x="6654800" y="4876800"/>
            <a:ext cx="4826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dirty="0">
                <a:solidFill>
                  <a:srgbClr val="475569"/>
                </a:solidFill>
                <a:latin typeface="+mn-ea"/>
                <a:cs typeface="Pretendard"/>
              </a:rPr>
              <a:t>Executable 실행, Docker·Podman 컨테이너 기동, 엔드포인트 할당, 로그 수집, IDE 디버그 세션 연동까지 일괄 담당.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44D72D-4760-22AE-D27A-7AFB9017CD7E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 Universe Busan Edition - 2604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FF152B0-9FFB-6457-5E99-C94B268871F6}"/>
              </a:ext>
            </a:extLst>
          </p:cNvPr>
          <p:cNvSpPr/>
          <p:nvPr/>
        </p:nvSpPr>
        <p:spPr>
          <a:xfrm>
            <a:off x="857250" y="89535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91637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101"/>
          <p:cNvSpPr/>
          <p:nvPr/>
        </p:nvSpPr>
        <p:spPr>
          <a:xfrm>
            <a:off x="762000" y="812800"/>
            <a:ext cx="3048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102" name="Shape102"/>
          <p:cNvSpPr/>
          <p:nvPr/>
        </p:nvSpPr>
        <p:spPr>
          <a:xfrm>
            <a:off x="762000" y="5588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altLang="ko-KR" sz="1100" b="1" dirty="0">
                <a:solidFill>
                  <a:srgbClr val="6366F1"/>
                </a:solidFill>
                <a:latin typeface="+mn-ea"/>
                <a:cs typeface="Pretendard"/>
              </a:rPr>
              <a:t>ORCHESTRATION LINEAGE</a:t>
            </a:r>
          </a:p>
        </p:txBody>
      </p:sp>
      <p:sp>
        <p:nvSpPr>
          <p:cNvPr id="103" name="Shape103"/>
          <p:cNvSpPr/>
          <p:nvPr/>
        </p:nvSpPr>
        <p:spPr>
          <a:xfrm>
            <a:off x="762000" y="9906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altLang="en-US" sz="3200" b="1" dirty="0">
                <a:solidFill>
                  <a:srgbClr val="0A0A0A"/>
                </a:solidFill>
                <a:latin typeface="+mn-ea"/>
                <a:cs typeface="Pretendard"/>
              </a:rPr>
              <a:t>Tilt에서 Aspire까지: DCP의 계보</a:t>
            </a:r>
          </a:p>
        </p:txBody>
      </p:sp>
      <p:sp>
        <p:nvSpPr>
          <p:cNvPr id="130" name="Shape130"/>
          <p:cNvSpPr/>
          <p:nvPr/>
        </p:nvSpPr>
        <p:spPr>
          <a:xfrm>
            <a:off x="762000" y="6438900"/>
            <a:ext cx="10668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133" name="Shape133"/>
          <p:cNvSpPr/>
          <p:nvPr/>
        </p:nvSpPr>
        <p:spPr>
          <a:xfrm>
            <a:off x="7924800" y="393362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altLang="ko-KR" sz="1000" b="1" dirty="0">
                <a:solidFill>
                  <a:srgbClr val="0A0A0A"/>
                </a:solidFill>
                <a:latin typeface="+mn-ea"/>
                <a:cs typeface="Pretendard"/>
              </a:rPr>
              <a:t>2023.11 </a:t>
            </a:r>
            <a:r>
              <a:rPr lang="ko-KR" altLang="en-US" sz="1000" dirty="0">
                <a:solidFill>
                  <a:srgbClr val="64748B"/>
                </a:solidFill>
                <a:latin typeface="+mn-ea"/>
                <a:cs typeface="Pretendard"/>
              </a:rPr>
              <a:t> Aspire 출시 · DCP는 클로즈드 번들</a:t>
            </a:r>
          </a:p>
        </p:txBody>
      </p:sp>
      <p:sp>
        <p:nvSpPr>
          <p:cNvPr id="134" name="Shape134"/>
          <p:cNvSpPr/>
          <p:nvPr/>
        </p:nvSpPr>
        <p:spPr>
          <a:xfrm>
            <a:off x="7747000" y="6032500"/>
            <a:ext cx="368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en-US" altLang="ko-KR" sz="1000" b="1" dirty="0">
                <a:solidFill>
                  <a:srgbClr val="0A0A0A"/>
                </a:solidFill>
                <a:latin typeface="+mn-ea"/>
                <a:cs typeface="Pretendard"/>
              </a:rPr>
              <a:t>2026 초 </a:t>
            </a:r>
            <a:r>
              <a:rPr lang="ko-KR" altLang="en-US" sz="1000" dirty="0">
                <a:solidFill>
                  <a:srgbClr val="64748B"/>
                </a:solidFill>
                <a:latin typeface="+mn-ea"/>
                <a:cs typeface="Pretendard"/>
              </a:rPr>
              <a:t> DCP, MIT로 오픈소스 공개</a:t>
            </a:r>
          </a:p>
        </p:txBody>
      </p:sp>
      <p:sp>
        <p:nvSpPr>
          <p:cNvPr id="201" name="S201"/>
          <p:cNvSpPr/>
          <p:nvPr/>
        </p:nvSpPr>
        <p:spPr>
          <a:xfrm>
            <a:off x="762000" y="1651000"/>
            <a:ext cx="3556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altLang="ko-KR" sz="900" b="1" dirty="0">
                <a:solidFill>
                  <a:srgbClr val="F59E0B"/>
                </a:solidFill>
                <a:latin typeface="+mn-ea"/>
                <a:cs typeface="Pretendard"/>
              </a:rPr>
              <a:t>TILT LINEAGE</a:t>
            </a:r>
          </a:p>
        </p:txBody>
      </p:sp>
      <p:sp>
        <p:nvSpPr>
          <p:cNvPr id="202" name="S202"/>
          <p:cNvSpPr/>
          <p:nvPr/>
        </p:nvSpPr>
        <p:spPr>
          <a:xfrm>
            <a:off x="7874000" y="1651000"/>
            <a:ext cx="3556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altLang="ko-KR" sz="900" b="1" dirty="0">
                <a:solidFill>
                  <a:srgbClr val="6366F1"/>
                </a:solidFill>
                <a:latin typeface="+mn-ea"/>
                <a:cs typeface="Pretendard"/>
              </a:rPr>
              <a:t>MICROSOFT LINEAGE</a:t>
            </a:r>
          </a:p>
        </p:txBody>
      </p:sp>
      <p:sp>
        <p:nvSpPr>
          <p:cNvPr id="203" name="S203"/>
          <p:cNvSpPr/>
          <p:nvPr/>
        </p:nvSpPr>
        <p:spPr>
          <a:xfrm>
            <a:off x="762000" y="1905000"/>
            <a:ext cx="50800" cy="787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204" name="S204"/>
          <p:cNvSpPr/>
          <p:nvPr/>
        </p:nvSpPr>
        <p:spPr>
          <a:xfrm>
            <a:off x="812800" y="1905000"/>
            <a:ext cx="3505200" cy="7874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205" name="S205"/>
          <p:cNvSpPr/>
          <p:nvPr/>
        </p:nvSpPr>
        <p:spPr>
          <a:xfrm>
            <a:off x="965200" y="2006600"/>
            <a:ext cx="3200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altLang="ko-KR" sz="900" b="1" dirty="0">
                <a:solidFill>
                  <a:srgbClr val="F59E0B"/>
                </a:solidFill>
                <a:latin typeface="+mn-ea"/>
                <a:cs typeface="Pretendard"/>
              </a:rPr>
              <a:t>OSS · DOCKER INC.</a:t>
            </a:r>
          </a:p>
        </p:txBody>
      </p:sp>
      <p:sp>
        <p:nvSpPr>
          <p:cNvPr id="206" name="S206"/>
          <p:cNvSpPr/>
          <p:nvPr/>
        </p:nvSpPr>
        <p:spPr>
          <a:xfrm>
            <a:off x="965200" y="2209800"/>
            <a:ext cx="3200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altLang="ko-KR" sz="1600" b="1" dirty="0">
                <a:solidFill>
                  <a:srgbClr val="0A0A0A"/>
                </a:solidFill>
                <a:latin typeface="+mn-ea"/>
                <a:cs typeface="Pretendard"/>
              </a:rPr>
              <a:t>Tilt</a:t>
            </a:r>
          </a:p>
        </p:txBody>
      </p:sp>
      <p:sp>
        <p:nvSpPr>
          <p:cNvPr id="207" name="S207"/>
          <p:cNvSpPr/>
          <p:nvPr/>
        </p:nvSpPr>
        <p:spPr>
          <a:xfrm>
            <a:off x="965200" y="2489200"/>
            <a:ext cx="3200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altLang="en-US" sz="1000" dirty="0">
                <a:solidFill>
                  <a:srgbClr val="64748B"/>
                </a:solidFill>
                <a:latin typeface="+mn-ea"/>
                <a:cs typeface="Pretendard"/>
              </a:rPr>
              <a:t>K8s 개발 루프 자동화 도구</a:t>
            </a:r>
          </a:p>
        </p:txBody>
      </p:sp>
      <p:cxnSp>
        <p:nvCxnSpPr>
          <p:cNvPr id="208" name="C208"/>
          <p:cNvCxnSpPr/>
          <p:nvPr/>
        </p:nvCxnSpPr>
        <p:spPr>
          <a:xfrm>
            <a:off x="2489200" y="2743200"/>
            <a:ext cx="0" cy="304800"/>
          </a:xfrm>
          <a:prstGeom prst="straightConnector1">
            <a:avLst/>
          </a:prstGeom>
          <a:ln w="25400">
            <a:solidFill>
              <a:srgbClr val="F59E0B"/>
            </a:solidFill>
            <a:tailEnd type="triangle" w="med" len="med"/>
          </a:ln>
        </p:spPr>
      </p:cxnSp>
      <p:sp>
        <p:nvSpPr>
          <p:cNvPr id="209" name="S209"/>
          <p:cNvSpPr/>
          <p:nvPr/>
        </p:nvSpPr>
        <p:spPr>
          <a:xfrm>
            <a:off x="2540000" y="28194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ko-KR" altLang="en-US" sz="1000" b="1" dirty="0">
                <a:solidFill>
                  <a:srgbClr val="F59E0B"/>
                </a:solidFill>
                <a:latin typeface="+mn-ea"/>
                <a:cs typeface="Pretendard"/>
              </a:rPr>
              <a:t>의존</a:t>
            </a:r>
          </a:p>
        </p:txBody>
      </p:sp>
      <p:sp>
        <p:nvSpPr>
          <p:cNvPr id="210" name="S210"/>
          <p:cNvSpPr/>
          <p:nvPr/>
        </p:nvSpPr>
        <p:spPr>
          <a:xfrm>
            <a:off x="762000" y="3098800"/>
            <a:ext cx="50800" cy="787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211" name="S211"/>
          <p:cNvSpPr/>
          <p:nvPr/>
        </p:nvSpPr>
        <p:spPr>
          <a:xfrm>
            <a:off x="812800" y="3098800"/>
            <a:ext cx="3505200" cy="7874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212" name="S212"/>
          <p:cNvSpPr/>
          <p:nvPr/>
        </p:nvSpPr>
        <p:spPr>
          <a:xfrm>
            <a:off x="965200" y="3200400"/>
            <a:ext cx="3200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altLang="ko-KR" sz="900" b="1" dirty="0">
                <a:solidFill>
                  <a:srgbClr val="F59E0B"/>
                </a:solidFill>
                <a:latin typeface="+mn-ea"/>
                <a:cs typeface="Pretendard"/>
              </a:rPr>
              <a:t>LIBRARY · SPUN OUT</a:t>
            </a:r>
          </a:p>
        </p:txBody>
      </p:sp>
      <p:sp>
        <p:nvSpPr>
          <p:cNvPr id="213" name="S213"/>
          <p:cNvSpPr/>
          <p:nvPr/>
        </p:nvSpPr>
        <p:spPr>
          <a:xfrm>
            <a:off x="965200" y="3403600"/>
            <a:ext cx="3200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altLang="ko-KR" sz="1600" b="1" dirty="0">
                <a:solidFill>
                  <a:srgbClr val="0A0A0A"/>
                </a:solidFill>
                <a:latin typeface="+mn-ea"/>
                <a:cs typeface="Pretendard"/>
              </a:rPr>
              <a:t>tilt-apiserver</a:t>
            </a:r>
          </a:p>
        </p:txBody>
      </p:sp>
      <p:sp>
        <p:nvSpPr>
          <p:cNvPr id="214" name="S214"/>
          <p:cNvSpPr/>
          <p:nvPr/>
        </p:nvSpPr>
        <p:spPr>
          <a:xfrm>
            <a:off x="965200" y="3683000"/>
            <a:ext cx="3200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altLang="en-US" sz="1000" dirty="0">
                <a:solidFill>
                  <a:srgbClr val="64748B"/>
                </a:solidFill>
                <a:latin typeface="+mn-ea"/>
                <a:cs typeface="Pretendard"/>
              </a:rPr>
              <a:t>경량 임베더블 CRD 저장소</a:t>
            </a:r>
          </a:p>
        </p:txBody>
      </p:sp>
      <p:sp>
        <p:nvSpPr>
          <p:cNvPr id="215" name="S215"/>
          <p:cNvSpPr/>
          <p:nvPr/>
        </p:nvSpPr>
        <p:spPr>
          <a:xfrm>
            <a:off x="7874000" y="1905000"/>
            <a:ext cx="50800" cy="787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216" name="S216"/>
          <p:cNvSpPr/>
          <p:nvPr/>
        </p:nvSpPr>
        <p:spPr>
          <a:xfrm>
            <a:off x="7924800" y="1905000"/>
            <a:ext cx="3505200" cy="787400"/>
          </a:xfrm>
          <a:prstGeom prst="rect">
            <a:avLst/>
          </a:prstGeom>
          <a:solidFill>
            <a:srgbClr val="FAFAF9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217" name="S217"/>
          <p:cNvSpPr/>
          <p:nvPr/>
        </p:nvSpPr>
        <p:spPr>
          <a:xfrm>
            <a:off x="8077200" y="2006600"/>
            <a:ext cx="3200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altLang="ko-KR" sz="900" b="1" dirty="0">
                <a:solidFill>
                  <a:srgbClr val="94A3B8"/>
                </a:solidFill>
                <a:latin typeface="+mn-ea"/>
                <a:cs typeface="Pretendard"/>
              </a:rPr>
              <a:t>EXPERIMENT · ARCHIVED</a:t>
            </a:r>
          </a:p>
        </p:txBody>
      </p:sp>
      <p:sp>
        <p:nvSpPr>
          <p:cNvPr id="218" name="S218"/>
          <p:cNvSpPr/>
          <p:nvPr/>
        </p:nvSpPr>
        <p:spPr>
          <a:xfrm>
            <a:off x="8077200" y="2209800"/>
            <a:ext cx="3200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altLang="ko-KR" sz="1600" b="1" dirty="0">
                <a:solidFill>
                  <a:srgbClr val="64748B"/>
                </a:solidFill>
                <a:latin typeface="+mn-ea"/>
                <a:cs typeface="Pretendard"/>
              </a:rPr>
              <a:t>Project Tye</a:t>
            </a:r>
          </a:p>
        </p:txBody>
      </p:sp>
      <p:sp>
        <p:nvSpPr>
          <p:cNvPr id="219" name="S219"/>
          <p:cNvSpPr/>
          <p:nvPr/>
        </p:nvSpPr>
        <p:spPr>
          <a:xfrm>
            <a:off x="8077200" y="2489200"/>
            <a:ext cx="3200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altLang="en-US" sz="1000" dirty="0">
                <a:solidFill>
                  <a:srgbClr val="64748B"/>
                </a:solidFill>
                <a:latin typeface="+mn-ea"/>
                <a:cs typeface="Pretendard"/>
              </a:rPr>
              <a:t>Microsoft의 분산앱 실험 프로젝트</a:t>
            </a:r>
          </a:p>
        </p:txBody>
      </p:sp>
      <p:cxnSp>
        <p:nvCxnSpPr>
          <p:cNvPr id="220" name="C220"/>
          <p:cNvCxnSpPr/>
          <p:nvPr/>
        </p:nvCxnSpPr>
        <p:spPr>
          <a:xfrm>
            <a:off x="9601200" y="2743200"/>
            <a:ext cx="0" cy="304800"/>
          </a:xfrm>
          <a:prstGeom prst="straightConnector1">
            <a:avLst/>
          </a:prstGeom>
          <a:ln w="25400">
            <a:solidFill>
              <a:srgbClr val="6366F1"/>
            </a:solidFill>
            <a:prstDash val="dash"/>
            <a:tailEnd type="triangle" w="med" len="med"/>
          </a:ln>
        </p:spPr>
      </p:cxnSp>
      <p:sp>
        <p:nvSpPr>
          <p:cNvPr id="221" name="S221"/>
          <p:cNvSpPr/>
          <p:nvPr/>
        </p:nvSpPr>
        <p:spPr>
          <a:xfrm>
            <a:off x="9677400" y="2819400"/>
            <a:ext cx="1778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ko-KR" altLang="en-US" sz="900" dirty="0">
                <a:solidFill>
                  <a:srgbClr val="94A3B8"/>
                </a:solidFill>
                <a:latin typeface="+mn-ea"/>
                <a:cs typeface="Pretendard"/>
              </a:rPr>
              <a:t>후계 (점선)</a:t>
            </a:r>
          </a:p>
        </p:txBody>
      </p:sp>
      <p:sp>
        <p:nvSpPr>
          <p:cNvPr id="222" name="S222"/>
          <p:cNvSpPr/>
          <p:nvPr/>
        </p:nvSpPr>
        <p:spPr>
          <a:xfrm>
            <a:off x="7874000" y="3098800"/>
            <a:ext cx="50800" cy="787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223" name="S223"/>
          <p:cNvSpPr/>
          <p:nvPr/>
        </p:nvSpPr>
        <p:spPr>
          <a:xfrm>
            <a:off x="7924800" y="3098800"/>
            <a:ext cx="3505200" cy="7874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224" name="S224"/>
          <p:cNvSpPr/>
          <p:nvPr/>
        </p:nvSpPr>
        <p:spPr>
          <a:xfrm>
            <a:off x="8077200" y="3200400"/>
            <a:ext cx="3200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altLang="ko-KR" sz="900" b="1" dirty="0">
                <a:solidFill>
                  <a:srgbClr val="6366F1"/>
                </a:solidFill>
                <a:latin typeface="+mn-ea"/>
                <a:cs typeface="Pretendard"/>
              </a:rPr>
              <a:t>2023.11 · LAUNCH</a:t>
            </a:r>
          </a:p>
        </p:txBody>
      </p:sp>
      <p:sp>
        <p:nvSpPr>
          <p:cNvPr id="225" name="S225"/>
          <p:cNvSpPr/>
          <p:nvPr/>
        </p:nvSpPr>
        <p:spPr>
          <a:xfrm>
            <a:off x="8077200" y="3403600"/>
            <a:ext cx="3200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altLang="ko-KR" sz="1600" b="1" dirty="0">
                <a:solidFill>
                  <a:srgbClr val="0A0A0A"/>
                </a:solidFill>
                <a:latin typeface="+mn-ea"/>
                <a:cs typeface="Pretendard"/>
              </a:rPr>
              <a:t>.NET Aspire</a:t>
            </a:r>
          </a:p>
        </p:txBody>
      </p:sp>
      <p:sp>
        <p:nvSpPr>
          <p:cNvPr id="226" name="S226"/>
          <p:cNvSpPr/>
          <p:nvPr/>
        </p:nvSpPr>
        <p:spPr>
          <a:xfrm>
            <a:off x="8077200" y="3683000"/>
            <a:ext cx="3200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altLang="en-US" sz="1000" dirty="0">
                <a:solidFill>
                  <a:srgbClr val="64748B"/>
                </a:solidFill>
                <a:latin typeface="+mn-ea"/>
                <a:cs typeface="Pretendard"/>
              </a:rPr>
              <a:t>코드 퍼스트 분산앱 툴체인</a:t>
            </a:r>
          </a:p>
        </p:txBody>
      </p:sp>
      <p:sp>
        <p:nvSpPr>
          <p:cNvPr id="227" name="S227"/>
          <p:cNvSpPr/>
          <p:nvPr/>
        </p:nvSpPr>
        <p:spPr>
          <a:xfrm>
            <a:off x="4318000" y="4318000"/>
            <a:ext cx="50800" cy="787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228" name="S228"/>
          <p:cNvSpPr/>
          <p:nvPr/>
        </p:nvSpPr>
        <p:spPr>
          <a:xfrm>
            <a:off x="4368800" y="4318000"/>
            <a:ext cx="3505200" cy="7874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229" name="S229"/>
          <p:cNvSpPr/>
          <p:nvPr/>
        </p:nvSpPr>
        <p:spPr>
          <a:xfrm>
            <a:off x="4521200" y="4419600"/>
            <a:ext cx="3200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altLang="ko-KR" sz="900" b="1" dirty="0">
                <a:solidFill>
                  <a:srgbClr val="8B5CF6"/>
                </a:solidFill>
                <a:latin typeface="+mn-ea"/>
                <a:cs typeface="Pretendard"/>
              </a:rPr>
              <a:t>MIT · 2026 OPEN-SOURCED</a:t>
            </a:r>
          </a:p>
        </p:txBody>
      </p:sp>
      <p:sp>
        <p:nvSpPr>
          <p:cNvPr id="230" name="S230"/>
          <p:cNvSpPr/>
          <p:nvPr/>
        </p:nvSpPr>
        <p:spPr>
          <a:xfrm>
            <a:off x="4521200" y="4622800"/>
            <a:ext cx="3200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altLang="ko-KR" sz="1600" b="1" dirty="0">
                <a:solidFill>
                  <a:srgbClr val="0A0A0A"/>
                </a:solidFill>
                <a:latin typeface="+mn-ea"/>
                <a:cs typeface="Pretendard"/>
              </a:rPr>
              <a:t>DCP</a:t>
            </a:r>
          </a:p>
        </p:txBody>
      </p:sp>
      <p:sp>
        <p:nvSpPr>
          <p:cNvPr id="231" name="S231"/>
          <p:cNvSpPr/>
          <p:nvPr/>
        </p:nvSpPr>
        <p:spPr>
          <a:xfrm>
            <a:off x="4521200" y="4902200"/>
            <a:ext cx="3200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altLang="en-US" sz="1000" dirty="0">
                <a:solidFill>
                  <a:srgbClr val="64748B"/>
                </a:solidFill>
                <a:latin typeface="+mn-ea"/>
                <a:cs typeface="Pretendard"/>
              </a:rPr>
              <a:t>usvc-dev.developer.microsoft.com/v1</a:t>
            </a:r>
          </a:p>
        </p:txBody>
      </p:sp>
      <p:cxnSp>
        <p:nvCxnSpPr>
          <p:cNvPr id="232" name="C232"/>
          <p:cNvCxnSpPr/>
          <p:nvPr/>
        </p:nvCxnSpPr>
        <p:spPr>
          <a:xfrm>
            <a:off x="4318000" y="3492500"/>
            <a:ext cx="762000" cy="825500"/>
          </a:xfrm>
          <a:prstGeom prst="straightConnector1">
            <a:avLst/>
          </a:prstGeom>
          <a:ln w="25400">
            <a:solidFill>
              <a:srgbClr val="8B5CF6"/>
            </a:solidFill>
            <a:tailEnd type="triangle" w="med" len="med"/>
          </a:ln>
        </p:spPr>
      </p:cxnSp>
      <p:sp>
        <p:nvSpPr>
          <p:cNvPr id="233" name="S233"/>
          <p:cNvSpPr/>
          <p:nvPr/>
        </p:nvSpPr>
        <p:spPr>
          <a:xfrm rot="2700000">
            <a:off x="4229100" y="3683407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altLang="en-US" sz="1000" b="1" dirty="0">
                <a:solidFill>
                  <a:srgbClr val="8B5CF6"/>
                </a:solidFill>
                <a:latin typeface="+mn-ea"/>
                <a:cs typeface="Pretendard"/>
              </a:rPr>
              <a:t>의존</a:t>
            </a:r>
          </a:p>
        </p:txBody>
      </p:sp>
      <p:cxnSp>
        <p:nvCxnSpPr>
          <p:cNvPr id="234" name="C234"/>
          <p:cNvCxnSpPr/>
          <p:nvPr/>
        </p:nvCxnSpPr>
        <p:spPr>
          <a:xfrm flipH="1">
            <a:off x="7112000" y="3492500"/>
            <a:ext cx="762000" cy="825500"/>
          </a:xfrm>
          <a:prstGeom prst="straightConnector1">
            <a:avLst/>
          </a:prstGeom>
          <a:ln w="25400">
            <a:solidFill>
              <a:srgbClr val="8B5CF6"/>
            </a:solidFill>
            <a:tailEnd type="triangle" w="med" len="med"/>
          </a:ln>
        </p:spPr>
      </p:cxnSp>
      <p:sp>
        <p:nvSpPr>
          <p:cNvPr id="235" name="S235"/>
          <p:cNvSpPr/>
          <p:nvPr/>
        </p:nvSpPr>
        <p:spPr>
          <a:xfrm rot="18900000">
            <a:off x="7012469" y="3741461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ko-KR" altLang="en-US" sz="1000" b="1" dirty="0">
                <a:solidFill>
                  <a:srgbClr val="8B5CF6"/>
                </a:solidFill>
                <a:latin typeface="+mn-ea"/>
                <a:cs typeface="Pretendard"/>
              </a:rPr>
              <a:t>탑재</a:t>
            </a:r>
          </a:p>
        </p:txBody>
      </p:sp>
      <p:sp>
        <p:nvSpPr>
          <p:cNvPr id="236" name="S236"/>
          <p:cNvSpPr/>
          <p:nvPr/>
        </p:nvSpPr>
        <p:spPr>
          <a:xfrm>
            <a:off x="7874000" y="5197270"/>
            <a:ext cx="50800" cy="787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237" name="S237"/>
          <p:cNvSpPr/>
          <p:nvPr/>
        </p:nvSpPr>
        <p:spPr>
          <a:xfrm>
            <a:off x="7924800" y="5197270"/>
            <a:ext cx="3505200" cy="7874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238" name="S238"/>
          <p:cNvSpPr/>
          <p:nvPr/>
        </p:nvSpPr>
        <p:spPr>
          <a:xfrm>
            <a:off x="8077200" y="5298870"/>
            <a:ext cx="3200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altLang="ko-KR" sz="900" b="1" dirty="0">
                <a:solidFill>
                  <a:srgbClr val="EC4899"/>
                </a:solidFill>
                <a:latin typeface="+mn-ea"/>
                <a:cs typeface="Pretendard"/>
              </a:rPr>
              <a:t>2025+ · REBRAND</a:t>
            </a:r>
          </a:p>
        </p:txBody>
      </p:sp>
      <p:sp>
        <p:nvSpPr>
          <p:cNvPr id="239" name="S239"/>
          <p:cNvSpPr/>
          <p:nvPr/>
        </p:nvSpPr>
        <p:spPr>
          <a:xfrm>
            <a:off x="8077200" y="5502070"/>
            <a:ext cx="3200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altLang="ko-KR" sz="1600" b="1" dirty="0">
                <a:solidFill>
                  <a:srgbClr val="0A0A0A"/>
                </a:solidFill>
                <a:latin typeface="+mn-ea"/>
                <a:cs typeface="Pretendard"/>
              </a:rPr>
              <a:t>Aspire</a:t>
            </a:r>
          </a:p>
        </p:txBody>
      </p:sp>
      <p:sp>
        <p:nvSpPr>
          <p:cNvPr id="240" name="S240"/>
          <p:cNvSpPr/>
          <p:nvPr/>
        </p:nvSpPr>
        <p:spPr>
          <a:xfrm>
            <a:off x="8077200" y="5781470"/>
            <a:ext cx="32004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altLang="en-US" sz="1000" dirty="0">
                <a:solidFill>
                  <a:srgbClr val="64748B"/>
                </a:solidFill>
                <a:latin typeface="+mn-ea"/>
                <a:cs typeface="Pretendard"/>
              </a:rPr>
              <a:t>.NET 접두사 제거, 다중 언어 지원</a:t>
            </a:r>
          </a:p>
        </p:txBody>
      </p:sp>
      <p:cxnSp>
        <p:nvCxnSpPr>
          <p:cNvPr id="241" name="C241"/>
          <p:cNvCxnSpPr>
            <a:cxnSpLocks/>
          </p:cNvCxnSpPr>
          <p:nvPr/>
        </p:nvCxnSpPr>
        <p:spPr>
          <a:xfrm>
            <a:off x="11049000" y="3911600"/>
            <a:ext cx="0" cy="1285670"/>
          </a:xfrm>
          <a:prstGeom prst="straightConnector1">
            <a:avLst/>
          </a:prstGeom>
          <a:ln w="25400">
            <a:solidFill>
              <a:srgbClr val="6366F1"/>
            </a:solidFill>
            <a:tailEnd type="triangle" w="med" len="med"/>
          </a:ln>
        </p:spPr>
      </p:cxnSp>
      <p:sp>
        <p:nvSpPr>
          <p:cNvPr id="242" name="S242"/>
          <p:cNvSpPr/>
          <p:nvPr/>
        </p:nvSpPr>
        <p:spPr>
          <a:xfrm>
            <a:off x="9728200" y="4445000"/>
            <a:ext cx="127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ko-KR" altLang="en-US" sz="1000" b="1" dirty="0">
                <a:solidFill>
                  <a:srgbClr val="EC4899"/>
                </a:solidFill>
                <a:latin typeface="+mn-ea"/>
                <a:cs typeface="Pretendard"/>
              </a:rPr>
              <a:t>리브랜딩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B3DB9E-FBE8-398E-39EE-1B1106445AFB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Universe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Busan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Edition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-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2604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  <p:sp>
        <p:nvSpPr>
          <p:cNvPr id="501" name="S501"/>
          <p:cNvSpPr/>
          <p:nvPr/>
        </p:nvSpPr>
        <p:spPr>
          <a:xfrm>
            <a:off x="762000" y="5257800"/>
            <a:ext cx="3505200" cy="762000"/>
          </a:xfrm>
          <a:prstGeom prst="rect">
            <a:avLst/>
          </a:prstGeom>
          <a:solidFill>
            <a:srgbClr val="FAFAF9"/>
          </a:solidFill>
          <a:ln w="12700">
            <a:solidFill>
              <a:srgbClr val="E2E8F0"/>
            </a:solidFill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502" name="S502"/>
          <p:cNvSpPr/>
          <p:nvPr/>
        </p:nvSpPr>
        <p:spPr>
          <a:xfrm>
            <a:off x="914400" y="5359400"/>
            <a:ext cx="32004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altLang="ko-KR" sz="850" b="1" dirty="0">
                <a:solidFill>
                  <a:srgbClr val="94A3B8"/>
                </a:solidFill>
                <a:latin typeface="+mn-ea"/>
                <a:cs typeface="Pretendard"/>
              </a:rPr>
              <a:t>LEGEND</a:t>
            </a:r>
          </a:p>
        </p:txBody>
      </p:sp>
      <p:sp>
        <p:nvSpPr>
          <p:cNvPr id="503" name="S503"/>
          <p:cNvSpPr/>
          <p:nvPr/>
        </p:nvSpPr>
        <p:spPr>
          <a:xfrm>
            <a:off x="914400" y="5638800"/>
            <a:ext cx="381000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504" name="S504"/>
          <p:cNvSpPr/>
          <p:nvPr/>
        </p:nvSpPr>
        <p:spPr>
          <a:xfrm>
            <a:off x="1371600" y="55626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altLang="en-US" sz="950" b="1" dirty="0">
                <a:solidFill>
                  <a:srgbClr val="0A0A0A"/>
                </a:solidFill>
                <a:latin typeface="+mn-ea"/>
                <a:cs typeface="Pretendard"/>
              </a:rPr>
              <a:t>실선</a:t>
            </a:r>
            <a:r>
              <a:rPr lang="ko-KR" altLang="en-US" sz="950" dirty="0">
                <a:solidFill>
                  <a:srgbClr val="475569"/>
                </a:solidFill>
                <a:latin typeface="+mn-ea"/>
                <a:cs typeface="Pretendard"/>
              </a:rPr>
              <a:t>  ·  코드·라이브러리 의존</a:t>
            </a:r>
          </a:p>
        </p:txBody>
      </p:sp>
      <p:sp>
        <p:nvSpPr>
          <p:cNvPr id="505" name="S505"/>
          <p:cNvSpPr/>
          <p:nvPr/>
        </p:nvSpPr>
        <p:spPr>
          <a:xfrm>
            <a:off x="914400" y="5867400"/>
            <a:ext cx="88900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506" name="S506"/>
          <p:cNvSpPr/>
          <p:nvPr/>
        </p:nvSpPr>
        <p:spPr>
          <a:xfrm>
            <a:off x="1054100" y="5867400"/>
            <a:ext cx="88900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507" name="S507"/>
          <p:cNvSpPr/>
          <p:nvPr/>
        </p:nvSpPr>
        <p:spPr>
          <a:xfrm>
            <a:off x="1193800" y="5867400"/>
            <a:ext cx="88900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508" name="S508"/>
          <p:cNvSpPr/>
          <p:nvPr/>
        </p:nvSpPr>
        <p:spPr>
          <a:xfrm>
            <a:off x="1371600" y="57912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altLang="en-US" sz="950" b="1" dirty="0">
                <a:solidFill>
                  <a:srgbClr val="0A0A0A"/>
                </a:solidFill>
                <a:latin typeface="+mn-ea"/>
                <a:cs typeface="Pretendard"/>
              </a:rPr>
              <a:t>점선</a:t>
            </a:r>
            <a:r>
              <a:rPr lang="ko-KR" altLang="en-US" sz="950" dirty="0">
                <a:solidFill>
                  <a:srgbClr val="475569"/>
                </a:solidFill>
                <a:latin typeface="+mn-ea"/>
                <a:cs typeface="Pretendard"/>
              </a:rPr>
              <a:t>  ·  정신적 후계 · 영감</a:t>
            </a:r>
          </a:p>
        </p:txBody>
      </p:sp>
    </p:spTree>
    <p:extLst>
      <p:ext uri="{BB962C8B-B14F-4D97-AF65-F5344CB8AC3E}">
        <p14:creationId xmlns:p14="http://schemas.microsoft.com/office/powerpoint/2010/main" val="1169653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A7B03FC-24D3-483D-BB1B-EEE2763E06DE}"/>
              </a:ext>
            </a:extLst>
          </p:cNvPr>
          <p:cNvSpPr/>
          <p:nvPr/>
        </p:nvSpPr>
        <p:spPr>
          <a:xfrm>
            <a:off x="762000" y="1676400"/>
            <a:ext cx="3302000" cy="4318000"/>
          </a:xfrm>
          <a:prstGeom prst="rect">
            <a:avLst/>
          </a:prstGeom>
          <a:solidFill>
            <a:srgbClr val="EEF2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FFDD92-1039-4813-91EF-F9494E1729BC}"/>
              </a:ext>
            </a:extLst>
          </p:cNvPr>
          <p:cNvSpPr/>
          <p:nvPr/>
        </p:nvSpPr>
        <p:spPr>
          <a:xfrm>
            <a:off x="4445000" y="1676400"/>
            <a:ext cx="3302000" cy="4318000"/>
          </a:xfrm>
          <a:prstGeom prst="rect">
            <a:avLst/>
          </a:prstGeom>
          <a:solidFill>
            <a:srgbClr val="FAF5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25F57D8-22B0-4185-A2E8-5E8D6804FA76}"/>
              </a:ext>
            </a:extLst>
          </p:cNvPr>
          <p:cNvSpPr/>
          <p:nvPr/>
        </p:nvSpPr>
        <p:spPr>
          <a:xfrm>
            <a:off x="8128000" y="1676400"/>
            <a:ext cx="3302000" cy="4318000"/>
          </a:xfrm>
          <a:prstGeom prst="rect">
            <a:avLst/>
          </a:prstGeom>
          <a:solidFill>
            <a:srgbClr val="F5F5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D95692-BC30-4650-870D-861F6D41877F}"/>
              </a:ext>
            </a:extLst>
          </p:cNvPr>
          <p:cNvSpPr/>
          <p:nvPr/>
        </p:nvSpPr>
        <p:spPr>
          <a:xfrm>
            <a:off x="762000" y="1676400"/>
            <a:ext cx="3302000" cy="381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2E42724-AEC4-44D7-859B-B92A34AA57A6}"/>
              </a:ext>
            </a:extLst>
          </p:cNvPr>
          <p:cNvSpPr/>
          <p:nvPr/>
        </p:nvSpPr>
        <p:spPr>
          <a:xfrm>
            <a:off x="4445000" y="1676400"/>
            <a:ext cx="3302000" cy="38100"/>
          </a:xfrm>
          <a:prstGeom prst="rect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15A5A9B-0774-47F7-865C-49E183C2E974}"/>
              </a:ext>
            </a:extLst>
          </p:cNvPr>
          <p:cNvSpPr/>
          <p:nvPr/>
        </p:nvSpPr>
        <p:spPr>
          <a:xfrm>
            <a:off x="8128000" y="1676400"/>
            <a:ext cx="3302000" cy="38100"/>
          </a:xfrm>
          <a:prstGeom prst="rect">
            <a:avLst/>
          </a:prstGeom>
          <a:solidFill>
            <a:srgbClr val="64748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8A850A-FDE5-4850-AF46-4CFC87AAAE70}"/>
              </a:ext>
            </a:extLst>
          </p:cNvPr>
          <p:cNvSpPr txBox="1"/>
          <p:nvPr/>
        </p:nvSpPr>
        <p:spPr>
          <a:xfrm>
            <a:off x="762000" y="1778000"/>
            <a:ext cx="330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Pretendard"/>
                <a:ea typeface="Pretendard"/>
                <a:cs typeface="Pretendard"/>
              </a:rPr>
              <a:t>APPHOST</a:t>
            </a:r>
            <a:endParaRPr lang="ko-KR" altLang="en-US" sz="1100" b="1">
              <a:solidFill>
                <a:srgbClr val="6366F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FDFE4C-2EEC-4032-B9E3-964B614B4366}"/>
              </a:ext>
            </a:extLst>
          </p:cNvPr>
          <p:cNvSpPr txBox="1"/>
          <p:nvPr/>
        </p:nvSpPr>
        <p:spPr>
          <a:xfrm>
            <a:off x="4445000" y="1778000"/>
            <a:ext cx="330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8B5CF6"/>
                </a:solidFill>
                <a:latin typeface="Pretendard"/>
                <a:ea typeface="Pretendard"/>
                <a:cs typeface="Pretendard"/>
              </a:rPr>
              <a:t>DCP</a:t>
            </a:r>
            <a:endParaRPr lang="ko-KR" altLang="en-US" sz="1100" b="1">
              <a:solidFill>
                <a:srgbClr val="8B5CF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6F6541-493D-4B00-8BC3-FFC3C16BC402}"/>
              </a:ext>
            </a:extLst>
          </p:cNvPr>
          <p:cNvSpPr txBox="1"/>
          <p:nvPr/>
        </p:nvSpPr>
        <p:spPr>
          <a:xfrm>
            <a:off x="8128000" y="1778000"/>
            <a:ext cx="330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4748B"/>
                </a:solidFill>
                <a:latin typeface="Pretendard"/>
                <a:ea typeface="Pretendard"/>
                <a:cs typeface="Pretendard"/>
              </a:rPr>
              <a:t>KERNEL · </a:t>
            </a:r>
            <a:r>
              <a:rPr lang="ko-KR" altLang="en-US" sz="1100" b="1">
                <a:solidFill>
                  <a:srgbClr val="64748B"/>
                </a:solidFill>
                <a:latin typeface="Pretendard"/>
                <a:ea typeface="Pretendard"/>
                <a:cs typeface="Pretendard"/>
              </a:rPr>
              <a:t>프로세스</a:t>
            </a:r>
            <a:r>
              <a:rPr lang="en-US" altLang="ko-KR" sz="1100" b="1">
                <a:solidFill>
                  <a:srgbClr val="64748B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100" b="1">
                <a:solidFill>
                  <a:srgbClr val="64748B"/>
                </a:solidFill>
                <a:latin typeface="Pretendard"/>
                <a:ea typeface="Pretendard"/>
                <a:cs typeface="Pretendard"/>
              </a:rPr>
              <a:t>컨테이너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BF37984-BF3A-40B8-A7D7-5554D0F29DF4}"/>
              </a:ext>
            </a:extLst>
          </p:cNvPr>
          <p:cNvSpPr/>
          <p:nvPr/>
        </p:nvSpPr>
        <p:spPr>
          <a:xfrm>
            <a:off x="1016000" y="2159000"/>
            <a:ext cx="2794000" cy="762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160B091-32C3-44FD-9760-A09A5B37C670}"/>
              </a:ext>
            </a:extLst>
          </p:cNvPr>
          <p:cNvSpPr/>
          <p:nvPr/>
        </p:nvSpPr>
        <p:spPr>
          <a:xfrm>
            <a:off x="1117600" y="2260600"/>
            <a:ext cx="279400" cy="279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E081DB-E428-4B36-B7F2-6FC7848C723F}"/>
              </a:ext>
            </a:extLst>
          </p:cNvPr>
          <p:cNvSpPr txBox="1"/>
          <p:nvPr/>
        </p:nvSpPr>
        <p:spPr>
          <a:xfrm>
            <a:off x="1117600" y="2286000"/>
            <a:ext cx="279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  <a:endParaRPr lang="ko-KR" altLang="en-US" sz="12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FABA00-096E-4FA9-B8CE-8AC4583B2948}"/>
              </a:ext>
            </a:extLst>
          </p:cNvPr>
          <p:cNvSpPr txBox="1"/>
          <p:nvPr/>
        </p:nvSpPr>
        <p:spPr>
          <a:xfrm>
            <a:off x="1524000" y="2260600"/>
            <a:ext cx="215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SDK</a:t>
            </a:r>
            <a:r>
              <a:rPr lang="ko-KR" altLang="en-US" sz="12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로 모델 선언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3585B2-DE58-4AD6-9481-73DD152D4E1E}"/>
              </a:ext>
            </a:extLst>
          </p:cNvPr>
          <p:cNvSpPr txBox="1"/>
          <p:nvPr/>
        </p:nvSpPr>
        <p:spPr>
          <a:xfrm>
            <a:off x="1524000" y="2514600"/>
            <a:ext cx="215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475569"/>
                </a:solidFill>
                <a:latin typeface="Consolas"/>
                <a:ea typeface="Pretendard"/>
                <a:cs typeface="Consolas"/>
              </a:rPr>
              <a:t>builder.AddProject("api")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7BDDD02-5F4F-43BA-AD6C-4FB388FE6A18}"/>
              </a:ext>
            </a:extLst>
          </p:cNvPr>
          <p:cNvSpPr/>
          <p:nvPr/>
        </p:nvSpPr>
        <p:spPr>
          <a:xfrm>
            <a:off x="1016000" y="3048000"/>
            <a:ext cx="2794000" cy="762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1BB8EC8-5993-4A6D-B846-F4BF64569F2C}"/>
              </a:ext>
            </a:extLst>
          </p:cNvPr>
          <p:cNvSpPr/>
          <p:nvPr/>
        </p:nvSpPr>
        <p:spPr>
          <a:xfrm>
            <a:off x="1117600" y="3149600"/>
            <a:ext cx="279400" cy="279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469515-90F7-4A8B-9126-4E535A0AFC7C}"/>
              </a:ext>
            </a:extLst>
          </p:cNvPr>
          <p:cNvSpPr txBox="1"/>
          <p:nvPr/>
        </p:nvSpPr>
        <p:spPr>
          <a:xfrm>
            <a:off x="1117600" y="3175000"/>
            <a:ext cx="279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  <a:endParaRPr lang="ko-KR" altLang="en-US" sz="12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B2B66D-A15F-4817-BC90-E11C26CEC8BA}"/>
              </a:ext>
            </a:extLst>
          </p:cNvPr>
          <p:cNvSpPr txBox="1"/>
          <p:nvPr/>
        </p:nvSpPr>
        <p:spPr>
          <a:xfrm>
            <a:off x="1524000" y="3149600"/>
            <a:ext cx="215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AppHost </a:t>
            </a:r>
            <a:r>
              <a:rPr lang="ko-KR" altLang="en-US" sz="12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프로세스 구성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7B1422-D00B-42B5-B666-594263510D32}"/>
              </a:ext>
            </a:extLst>
          </p:cNvPr>
          <p:cNvSpPr txBox="1"/>
          <p:nvPr/>
        </p:nvSpPr>
        <p:spPr>
          <a:xfrm>
            <a:off x="1524000" y="3403600"/>
            <a:ext cx="215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0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언어 </a:t>
            </a:r>
            <a:r>
              <a:rPr lang="en-US" altLang="ko-KR" sz="10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SDK</a:t>
            </a:r>
            <a:r>
              <a:rPr lang="ko-KR" altLang="en-US" sz="10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로 </a:t>
            </a:r>
            <a:r>
              <a:rPr lang="en-US" altLang="ko-KR" sz="10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in-memory </a:t>
            </a:r>
            <a:r>
              <a:rPr lang="ko-KR" altLang="en-US" sz="10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모델 빌드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816B89B-1259-4003-AC6D-D82BB4303FAB}"/>
              </a:ext>
            </a:extLst>
          </p:cNvPr>
          <p:cNvSpPr/>
          <p:nvPr/>
        </p:nvSpPr>
        <p:spPr>
          <a:xfrm>
            <a:off x="4699000" y="2159000"/>
            <a:ext cx="2794000" cy="762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270C51D-554D-4E6B-9830-962C81CC35B7}"/>
              </a:ext>
            </a:extLst>
          </p:cNvPr>
          <p:cNvSpPr/>
          <p:nvPr/>
        </p:nvSpPr>
        <p:spPr>
          <a:xfrm>
            <a:off x="4800600" y="2260600"/>
            <a:ext cx="279400" cy="279400"/>
          </a:xfrm>
          <a:prstGeom prst="rect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3BB358-F8F5-4753-BFD4-878718F33DDB}"/>
              </a:ext>
            </a:extLst>
          </p:cNvPr>
          <p:cNvSpPr txBox="1"/>
          <p:nvPr/>
        </p:nvSpPr>
        <p:spPr>
          <a:xfrm>
            <a:off x="4800600" y="2286000"/>
            <a:ext cx="279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  <a:endParaRPr lang="ko-KR" altLang="en-US" sz="12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CA6F3F-DC95-4F8C-A745-15D3E0B4E83A}"/>
              </a:ext>
            </a:extLst>
          </p:cNvPr>
          <p:cNvSpPr txBox="1"/>
          <p:nvPr/>
        </p:nvSpPr>
        <p:spPr>
          <a:xfrm>
            <a:off x="5207000" y="2260600"/>
            <a:ext cx="215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DCP</a:t>
            </a:r>
            <a:r>
              <a:rPr lang="ko-KR" altLang="en-US" sz="12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를 자식 프로세스로 기동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11CBF1-E081-4074-ABCD-7DD5012FE2D2}"/>
              </a:ext>
            </a:extLst>
          </p:cNvPr>
          <p:cNvSpPr txBox="1"/>
          <p:nvPr/>
        </p:nvSpPr>
        <p:spPr>
          <a:xfrm>
            <a:off x="5207000" y="2514600"/>
            <a:ext cx="215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dcp start-apiserver · kubeconfig </a:t>
            </a:r>
            <a:r>
              <a:rPr lang="ko-KR" altLang="en-US" sz="10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핸드셰이크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194C1A8-F0E3-414D-8B36-625D7C013084}"/>
              </a:ext>
            </a:extLst>
          </p:cNvPr>
          <p:cNvSpPr/>
          <p:nvPr/>
        </p:nvSpPr>
        <p:spPr>
          <a:xfrm>
            <a:off x="1016000" y="3937000"/>
            <a:ext cx="2794000" cy="762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8ABC12E-C628-4644-A0FF-AC453FF18FB1}"/>
              </a:ext>
            </a:extLst>
          </p:cNvPr>
          <p:cNvSpPr/>
          <p:nvPr/>
        </p:nvSpPr>
        <p:spPr>
          <a:xfrm>
            <a:off x="1117600" y="4038600"/>
            <a:ext cx="279400" cy="279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AF1EA3-0BBD-4C89-8931-86CF350A317D}"/>
              </a:ext>
            </a:extLst>
          </p:cNvPr>
          <p:cNvSpPr txBox="1"/>
          <p:nvPr/>
        </p:nvSpPr>
        <p:spPr>
          <a:xfrm>
            <a:off x="1117600" y="4064000"/>
            <a:ext cx="279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  <a:endParaRPr lang="ko-KR" altLang="en-US" sz="12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D176D4-1B82-4DD0-918B-455E1FE7121D}"/>
              </a:ext>
            </a:extLst>
          </p:cNvPr>
          <p:cNvSpPr txBox="1"/>
          <p:nvPr/>
        </p:nvSpPr>
        <p:spPr>
          <a:xfrm>
            <a:off x="1524000" y="4038600"/>
            <a:ext cx="215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모델 → </a:t>
            </a:r>
            <a:r>
              <a:rPr lang="en-US" altLang="ko-KR" sz="12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CRD </a:t>
            </a:r>
            <a:r>
              <a:rPr lang="ko-KR" altLang="en-US" sz="12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변환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E59073-EA58-4F5A-BEF6-514DDF0CB91B}"/>
              </a:ext>
            </a:extLst>
          </p:cNvPr>
          <p:cNvSpPr txBox="1"/>
          <p:nvPr/>
        </p:nvSpPr>
        <p:spPr>
          <a:xfrm>
            <a:off x="1524000" y="4292600"/>
            <a:ext cx="215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language-agnostic </a:t>
            </a:r>
            <a:r>
              <a:rPr lang="ko-KR" altLang="en-US" sz="10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리소스 모델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C4BD3DF-1DF5-4C10-903E-74D4764C630B}"/>
              </a:ext>
            </a:extLst>
          </p:cNvPr>
          <p:cNvSpPr/>
          <p:nvPr/>
        </p:nvSpPr>
        <p:spPr>
          <a:xfrm>
            <a:off x="4699000" y="3048000"/>
            <a:ext cx="2794000" cy="762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188A65A-D284-4914-B2F1-C6DB2D284BD3}"/>
              </a:ext>
            </a:extLst>
          </p:cNvPr>
          <p:cNvSpPr/>
          <p:nvPr/>
        </p:nvSpPr>
        <p:spPr>
          <a:xfrm>
            <a:off x="4800600" y="3149600"/>
            <a:ext cx="279400" cy="279400"/>
          </a:xfrm>
          <a:prstGeom prst="rect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59B3D8-2B91-46BF-9165-EEE1F694DA89}"/>
              </a:ext>
            </a:extLst>
          </p:cNvPr>
          <p:cNvSpPr txBox="1"/>
          <p:nvPr/>
        </p:nvSpPr>
        <p:spPr>
          <a:xfrm>
            <a:off x="4800600" y="3175000"/>
            <a:ext cx="279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  <a:endParaRPr lang="ko-KR" altLang="en-US" sz="12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27D273E-784F-4867-80AD-F11F54F064CA}"/>
              </a:ext>
            </a:extLst>
          </p:cNvPr>
          <p:cNvSpPr txBox="1"/>
          <p:nvPr/>
        </p:nvSpPr>
        <p:spPr>
          <a:xfrm>
            <a:off x="5207000" y="3149600"/>
            <a:ext cx="215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CRD POST (kubectl </a:t>
            </a:r>
            <a:r>
              <a:rPr lang="ko-KR" altLang="en-US" sz="12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호환</a:t>
            </a:r>
            <a:r>
              <a:rPr lang="en-US" altLang="ko-KR" sz="12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)</a:t>
            </a:r>
            <a:endParaRPr lang="ko-KR" altLang="en-US" sz="1200" b="1">
              <a:solidFill>
                <a:srgbClr val="0A0A0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51FCFDF-31D2-4EF8-8BCA-B94AACAC5260}"/>
              </a:ext>
            </a:extLst>
          </p:cNvPr>
          <p:cNvSpPr txBox="1"/>
          <p:nvPr/>
        </p:nvSpPr>
        <p:spPr>
          <a:xfrm>
            <a:off x="5207000" y="3403600"/>
            <a:ext cx="215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REST API</a:t>
            </a:r>
            <a:r>
              <a:rPr lang="ko-KR" altLang="en-US" sz="10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로 리소스 선언 전달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967ED58-387C-4B1C-99D7-35E96958F4E7}"/>
              </a:ext>
            </a:extLst>
          </p:cNvPr>
          <p:cNvSpPr/>
          <p:nvPr/>
        </p:nvSpPr>
        <p:spPr>
          <a:xfrm>
            <a:off x="8382000" y="3048000"/>
            <a:ext cx="2794000" cy="762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8B44C9C-1D63-4C73-A795-829BCA06FE43}"/>
              </a:ext>
            </a:extLst>
          </p:cNvPr>
          <p:cNvSpPr/>
          <p:nvPr/>
        </p:nvSpPr>
        <p:spPr>
          <a:xfrm>
            <a:off x="8483600" y="3149600"/>
            <a:ext cx="279400" cy="279400"/>
          </a:xfrm>
          <a:prstGeom prst="rect">
            <a:avLst/>
          </a:prstGeom>
          <a:solidFill>
            <a:srgbClr val="64748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0B755C-E765-4EC7-B62B-991283ED9C52}"/>
              </a:ext>
            </a:extLst>
          </p:cNvPr>
          <p:cNvSpPr txBox="1"/>
          <p:nvPr/>
        </p:nvSpPr>
        <p:spPr>
          <a:xfrm>
            <a:off x="8483600" y="3175000"/>
            <a:ext cx="279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  <a:endParaRPr lang="ko-KR" altLang="en-US" sz="12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0C2ED4D-51F1-4E32-B7A2-BA2B94AB3631}"/>
              </a:ext>
            </a:extLst>
          </p:cNvPr>
          <p:cNvSpPr txBox="1"/>
          <p:nvPr/>
        </p:nvSpPr>
        <p:spPr>
          <a:xfrm>
            <a:off x="8890000" y="3149600"/>
            <a:ext cx="215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리소스 실체화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E8BB25-C148-4B54-AF4D-DDBF6FE0F152}"/>
              </a:ext>
            </a:extLst>
          </p:cNvPr>
          <p:cNvSpPr txBox="1"/>
          <p:nvPr/>
        </p:nvSpPr>
        <p:spPr>
          <a:xfrm>
            <a:off x="8890000" y="3403600"/>
            <a:ext cx="215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0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프로세스</a:t>
            </a:r>
            <a:r>
              <a:rPr lang="en-US" altLang="ko-KR" sz="10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10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컨테이너 기동</a:t>
            </a:r>
            <a:r>
              <a:rPr lang="en-US" altLang="ko-KR" sz="10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0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프록시 설정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6CEDCE5-0DF1-4AAE-B6F9-832275FADC10}"/>
              </a:ext>
            </a:extLst>
          </p:cNvPr>
          <p:cNvSpPr/>
          <p:nvPr/>
        </p:nvSpPr>
        <p:spPr>
          <a:xfrm>
            <a:off x="4699000" y="3937000"/>
            <a:ext cx="2794000" cy="762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240339D-41FF-4777-9078-BF70863895CD}"/>
              </a:ext>
            </a:extLst>
          </p:cNvPr>
          <p:cNvSpPr/>
          <p:nvPr/>
        </p:nvSpPr>
        <p:spPr>
          <a:xfrm>
            <a:off x="4800600" y="4038600"/>
            <a:ext cx="279400" cy="279400"/>
          </a:xfrm>
          <a:prstGeom prst="rect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3EA6CA-8EEB-4CA2-8942-43F490F7AF73}"/>
              </a:ext>
            </a:extLst>
          </p:cNvPr>
          <p:cNvSpPr txBox="1"/>
          <p:nvPr/>
        </p:nvSpPr>
        <p:spPr>
          <a:xfrm>
            <a:off x="4800600" y="4064000"/>
            <a:ext cx="279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  <a:endParaRPr lang="ko-KR" altLang="en-US" sz="12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3EAF75-B419-44FB-831C-17A4217CAFB8}"/>
              </a:ext>
            </a:extLst>
          </p:cNvPr>
          <p:cNvSpPr txBox="1"/>
          <p:nvPr/>
        </p:nvSpPr>
        <p:spPr>
          <a:xfrm>
            <a:off x="5207000" y="4038600"/>
            <a:ext cx="215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watch API</a:t>
            </a:r>
            <a:r>
              <a:rPr lang="ko-KR" altLang="en-US" sz="12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로 상태 구독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4F8B7B2-3334-4E3A-8311-B391AF06219E}"/>
              </a:ext>
            </a:extLst>
          </p:cNvPr>
          <p:cNvSpPr txBox="1"/>
          <p:nvPr/>
        </p:nvSpPr>
        <p:spPr>
          <a:xfrm>
            <a:off x="5207000" y="4292600"/>
            <a:ext cx="215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0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lang="en-US" altLang="ko-KR" sz="10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Dashboard</a:t>
            </a:r>
            <a:r>
              <a:rPr lang="ko-KR" altLang="en-US" sz="10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로 실시간 전파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C5F2109-6472-4C5A-8BE9-6BAAD7306F3F}"/>
              </a:ext>
            </a:extLst>
          </p:cNvPr>
          <p:cNvSpPr/>
          <p:nvPr/>
        </p:nvSpPr>
        <p:spPr>
          <a:xfrm>
            <a:off x="3810000" y="3416300"/>
            <a:ext cx="4445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191AB78-47DD-420B-994B-D3255413708F}"/>
              </a:ext>
            </a:extLst>
          </p:cNvPr>
          <p:cNvSpPr/>
          <p:nvPr/>
        </p:nvSpPr>
        <p:spPr>
          <a:xfrm>
            <a:off x="4241800" y="2540000"/>
            <a:ext cx="25400" cy="8890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09097B0-0978-478F-B4A2-1786D7366CC7}"/>
              </a:ext>
            </a:extLst>
          </p:cNvPr>
          <p:cNvSpPr/>
          <p:nvPr/>
        </p:nvSpPr>
        <p:spPr>
          <a:xfrm>
            <a:off x="4254500" y="2527300"/>
            <a:ext cx="4445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3" name="직각 삼각형 52">
            <a:extLst>
              <a:ext uri="{FF2B5EF4-FFF2-40B4-BE49-F238E27FC236}">
                <a16:creationId xmlns:a16="http://schemas.microsoft.com/office/drawing/2014/main" id="{E57FCDFB-61ED-4718-8AE0-46E6C2CB5D33}"/>
              </a:ext>
            </a:extLst>
          </p:cNvPr>
          <p:cNvSpPr/>
          <p:nvPr/>
        </p:nvSpPr>
        <p:spPr>
          <a:xfrm rot="5400000">
            <a:off x="4597400" y="2476500"/>
            <a:ext cx="127000" cy="127000"/>
          </a:xfrm>
          <a:prstGeom prst="rtTriangle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B518F74-CEC4-42D9-91EF-6EF6E2A86A46}"/>
              </a:ext>
            </a:extLst>
          </p:cNvPr>
          <p:cNvSpPr/>
          <p:nvPr/>
        </p:nvSpPr>
        <p:spPr>
          <a:xfrm>
            <a:off x="3810000" y="4305300"/>
            <a:ext cx="4445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497EA15-D5B4-4B64-9A2C-9CA044EA539F}"/>
              </a:ext>
            </a:extLst>
          </p:cNvPr>
          <p:cNvSpPr/>
          <p:nvPr/>
        </p:nvSpPr>
        <p:spPr>
          <a:xfrm>
            <a:off x="4241800" y="3429000"/>
            <a:ext cx="25400" cy="8890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53CE7F6-EB44-4794-A130-10B63A998C05}"/>
              </a:ext>
            </a:extLst>
          </p:cNvPr>
          <p:cNvSpPr/>
          <p:nvPr/>
        </p:nvSpPr>
        <p:spPr>
          <a:xfrm>
            <a:off x="4254500" y="3416300"/>
            <a:ext cx="4445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8" name="직각 삼각형 57">
            <a:extLst>
              <a:ext uri="{FF2B5EF4-FFF2-40B4-BE49-F238E27FC236}">
                <a16:creationId xmlns:a16="http://schemas.microsoft.com/office/drawing/2014/main" id="{184A2CE5-3376-4284-9238-71E1DBCF8646}"/>
              </a:ext>
            </a:extLst>
          </p:cNvPr>
          <p:cNvSpPr/>
          <p:nvPr/>
        </p:nvSpPr>
        <p:spPr>
          <a:xfrm rot="5400000">
            <a:off x="4597400" y="3365500"/>
            <a:ext cx="127000" cy="127000"/>
          </a:xfrm>
          <a:prstGeom prst="rtTriangle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71FB848-C1FD-4868-9D58-B8AC793331B0}"/>
              </a:ext>
            </a:extLst>
          </p:cNvPr>
          <p:cNvSpPr/>
          <p:nvPr/>
        </p:nvSpPr>
        <p:spPr>
          <a:xfrm>
            <a:off x="7493000" y="3416300"/>
            <a:ext cx="444500" cy="25400"/>
          </a:xfrm>
          <a:prstGeom prst="rect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356F0FC-4ADA-4905-AF98-56CF8FB8D644}"/>
              </a:ext>
            </a:extLst>
          </p:cNvPr>
          <p:cNvSpPr/>
          <p:nvPr/>
        </p:nvSpPr>
        <p:spPr>
          <a:xfrm>
            <a:off x="7924800" y="3429000"/>
            <a:ext cx="25400" cy="914400"/>
          </a:xfrm>
          <a:prstGeom prst="rect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AD27B2C-D548-4CE3-AC99-5CD94A2F6ACC}"/>
              </a:ext>
            </a:extLst>
          </p:cNvPr>
          <p:cNvSpPr/>
          <p:nvPr/>
        </p:nvSpPr>
        <p:spPr>
          <a:xfrm>
            <a:off x="7937500" y="3416300"/>
            <a:ext cx="444500" cy="25400"/>
          </a:xfrm>
          <a:prstGeom prst="rect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3" name="직각 삼각형 62">
            <a:extLst>
              <a:ext uri="{FF2B5EF4-FFF2-40B4-BE49-F238E27FC236}">
                <a16:creationId xmlns:a16="http://schemas.microsoft.com/office/drawing/2014/main" id="{89C01C1A-826A-45DF-B4AC-9573AB228AA4}"/>
              </a:ext>
            </a:extLst>
          </p:cNvPr>
          <p:cNvSpPr/>
          <p:nvPr/>
        </p:nvSpPr>
        <p:spPr>
          <a:xfrm rot="5400000">
            <a:off x="8280400" y="3365500"/>
            <a:ext cx="127000" cy="127000"/>
          </a:xfrm>
          <a:prstGeom prst="rtTriangle">
            <a:avLst/>
          </a:prstGeom>
          <a:solidFill>
            <a:srgbClr val="8B5C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928510D4-5D10-4CBB-A5C5-AE90603B7EE2}"/>
              </a:ext>
            </a:extLst>
          </p:cNvPr>
          <p:cNvSpPr/>
          <p:nvPr/>
        </p:nvSpPr>
        <p:spPr>
          <a:xfrm>
            <a:off x="7937500" y="3924300"/>
            <a:ext cx="444500" cy="25400"/>
          </a:xfrm>
          <a:prstGeom prst="rect">
            <a:avLst/>
          </a:prstGeom>
          <a:solidFill>
            <a:srgbClr val="64748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8" name="직사각형 257">
            <a:extLst>
              <a:ext uri="{FF2B5EF4-FFF2-40B4-BE49-F238E27FC236}">
                <a16:creationId xmlns:a16="http://schemas.microsoft.com/office/drawing/2014/main" id="{E35B659C-075C-49C3-A496-EBB8C0FAE09F}"/>
              </a:ext>
            </a:extLst>
          </p:cNvPr>
          <p:cNvSpPr/>
          <p:nvPr/>
        </p:nvSpPr>
        <p:spPr>
          <a:xfrm>
            <a:off x="7924800" y="3937000"/>
            <a:ext cx="25400" cy="381000"/>
          </a:xfrm>
          <a:prstGeom prst="rect">
            <a:avLst/>
          </a:prstGeom>
          <a:solidFill>
            <a:srgbClr val="64748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9A8B51CF-4707-4436-8251-9AB3C680A9C6}"/>
              </a:ext>
            </a:extLst>
          </p:cNvPr>
          <p:cNvSpPr/>
          <p:nvPr/>
        </p:nvSpPr>
        <p:spPr>
          <a:xfrm>
            <a:off x="7493000" y="4305300"/>
            <a:ext cx="444500" cy="25400"/>
          </a:xfrm>
          <a:prstGeom prst="rect">
            <a:avLst/>
          </a:prstGeom>
          <a:solidFill>
            <a:srgbClr val="64748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0" name="직각 삼각형 259">
            <a:extLst>
              <a:ext uri="{FF2B5EF4-FFF2-40B4-BE49-F238E27FC236}">
                <a16:creationId xmlns:a16="http://schemas.microsoft.com/office/drawing/2014/main" id="{956265C9-9913-44B4-8DDB-AF3CC92E221C}"/>
              </a:ext>
            </a:extLst>
          </p:cNvPr>
          <p:cNvSpPr/>
          <p:nvPr/>
        </p:nvSpPr>
        <p:spPr>
          <a:xfrm rot="5400000">
            <a:off x="7391400" y="4254500"/>
            <a:ext cx="127000" cy="127000"/>
          </a:xfrm>
          <a:prstGeom prst="rtTriangle">
            <a:avLst/>
          </a:prstGeom>
          <a:solidFill>
            <a:srgbClr val="64748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4" name="직사각형 263">
            <a:extLst>
              <a:ext uri="{FF2B5EF4-FFF2-40B4-BE49-F238E27FC236}">
                <a16:creationId xmlns:a16="http://schemas.microsoft.com/office/drawing/2014/main" id="{864BE175-111A-4045-BCDC-BBBF04299681}"/>
              </a:ext>
            </a:extLst>
          </p:cNvPr>
          <p:cNvSpPr/>
          <p:nvPr/>
        </p:nvSpPr>
        <p:spPr>
          <a:xfrm>
            <a:off x="863600" y="90170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BAE0D456-9D6F-4848-AAE0-195DA15FC754}"/>
              </a:ext>
            </a:extLst>
          </p:cNvPr>
          <p:cNvSpPr txBox="1"/>
          <p:nvPr/>
        </p:nvSpPr>
        <p:spPr>
          <a:xfrm>
            <a:off x="762000" y="5588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Pretendard"/>
                <a:ea typeface="Pretendard"/>
                <a:cs typeface="Pretendard"/>
              </a:rPr>
              <a:t>CONTROL PIPELINE</a:t>
            </a:r>
            <a:endParaRPr lang="ko-KR" altLang="en-US" sz="1100" b="1">
              <a:solidFill>
                <a:srgbClr val="6366F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1CF3AA06-779F-4960-B05E-091995AFCDB6}"/>
              </a:ext>
            </a:extLst>
          </p:cNvPr>
          <p:cNvSpPr txBox="1"/>
          <p:nvPr/>
        </p:nvSpPr>
        <p:spPr>
          <a:xfrm>
            <a:off x="762000" y="990600"/>
            <a:ext cx="10668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32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AppHost</a:t>
            </a:r>
            <a:r>
              <a:rPr lang="ko-KR" altLang="en-US" sz="32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는 </a:t>
            </a:r>
            <a:r>
              <a:rPr lang="en-US" altLang="ko-KR" sz="32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DCP</a:t>
            </a:r>
            <a:r>
              <a:rPr lang="ko-KR" altLang="en-US" sz="32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의 클라이언트다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AEA7C63F-6CA3-4B9A-8099-11A2D6E0BD4F}"/>
              </a:ext>
            </a:extLst>
          </p:cNvPr>
          <p:cNvSpPr txBox="1"/>
          <p:nvPr/>
        </p:nvSpPr>
        <p:spPr>
          <a:xfrm>
            <a:off x="406400" y="64262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900">
                <a:solidFill>
                  <a:srgbClr val="94A3B8"/>
                </a:solidFill>
                <a:latin typeface="Pretendard"/>
                <a:ea typeface="Pretendard"/>
                <a:cs typeface="Pretendard"/>
              </a:rPr>
              <a:t>.NET Universe Busan Edition - 2604</a:t>
            </a:r>
            <a:endParaRPr lang="ko-KR" altLang="en-US" sz="900">
              <a:solidFill>
                <a:srgbClr val="94A3B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68" name="직사각형 267">
            <a:extLst>
              <a:ext uri="{FF2B5EF4-FFF2-40B4-BE49-F238E27FC236}">
                <a16:creationId xmlns:a16="http://schemas.microsoft.com/office/drawing/2014/main" id="{ADC9CD28-563D-4365-A94F-BC8AF79359D1}"/>
              </a:ext>
            </a:extLst>
          </p:cNvPr>
          <p:cNvSpPr/>
          <p:nvPr/>
        </p:nvSpPr>
        <p:spPr>
          <a:xfrm>
            <a:off x="8382000" y="4064000"/>
            <a:ext cx="2794000" cy="1524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F98177D1-19EF-4796-8CF2-FB3DC50E95EC}"/>
              </a:ext>
            </a:extLst>
          </p:cNvPr>
          <p:cNvSpPr txBox="1"/>
          <p:nvPr/>
        </p:nvSpPr>
        <p:spPr>
          <a:xfrm>
            <a:off x="8534400" y="41910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000" b="1">
                <a:solidFill>
                  <a:srgbClr val="64748B"/>
                </a:solidFill>
                <a:latin typeface="Pretendard"/>
                <a:ea typeface="Pretendard"/>
                <a:cs typeface="Pretendard"/>
              </a:rPr>
              <a:t>실행되는 것들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5A27E38-C72E-4688-9046-EA1A6B9C96B5}"/>
              </a:ext>
            </a:extLst>
          </p:cNvPr>
          <p:cNvSpPr/>
          <p:nvPr/>
        </p:nvSpPr>
        <p:spPr>
          <a:xfrm>
            <a:off x="3848100" y="2514600"/>
            <a:ext cx="812800" cy="228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6C53F9-0A39-4A52-B62D-685D64B70F22}"/>
              </a:ext>
            </a:extLst>
          </p:cNvPr>
          <p:cNvSpPr/>
          <p:nvPr/>
        </p:nvSpPr>
        <p:spPr>
          <a:xfrm>
            <a:off x="3848100" y="3403600"/>
            <a:ext cx="812800" cy="228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42886DD-7D90-4C54-B5EF-A5A5FC672206}"/>
              </a:ext>
            </a:extLst>
          </p:cNvPr>
          <p:cNvSpPr/>
          <p:nvPr/>
        </p:nvSpPr>
        <p:spPr>
          <a:xfrm>
            <a:off x="7569200" y="3187700"/>
            <a:ext cx="812800" cy="228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2CB5EC-3BC9-4612-83BB-921CE1F80DBD}"/>
              </a:ext>
            </a:extLst>
          </p:cNvPr>
          <p:cNvSpPr/>
          <p:nvPr/>
        </p:nvSpPr>
        <p:spPr>
          <a:xfrm>
            <a:off x="7569200" y="4076700"/>
            <a:ext cx="812800" cy="228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957D6A02-2B33-49F3-B07D-E66149218029}"/>
              </a:ext>
            </a:extLst>
          </p:cNvPr>
          <p:cNvSpPr txBox="1"/>
          <p:nvPr/>
        </p:nvSpPr>
        <p:spPr>
          <a:xfrm>
            <a:off x="8534400" y="4470400"/>
            <a:ext cx="25400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• Executable </a:t>
            </a:r>
            <a:r>
              <a:rPr lang="ko-KR" altLang="en-US" sz="10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프로세스
</a:t>
            </a:r>
            <a:r>
              <a:rPr lang="en-US" altLang="ko-KR" sz="10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• Docker·Podman </a:t>
            </a:r>
            <a:r>
              <a:rPr lang="ko-KR" altLang="en-US" sz="10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컨테이너
</a:t>
            </a:r>
            <a:r>
              <a:rPr lang="en-US" altLang="ko-KR" sz="10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• Endpoint · Service </a:t>
            </a:r>
            <a:r>
              <a:rPr lang="ko-KR" altLang="en-US" sz="10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프록시
</a:t>
            </a:r>
            <a:r>
              <a:rPr lang="en-US" altLang="ko-KR" sz="10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• IDE </a:t>
            </a:r>
            <a:r>
              <a:rPr lang="ko-KR" altLang="en-US" sz="10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디버그 세션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474B98B-BFB6-4F0F-98B0-E2115806931C}"/>
              </a:ext>
            </a:extLst>
          </p:cNvPr>
          <p:cNvSpPr txBox="1"/>
          <p:nvPr/>
        </p:nvSpPr>
        <p:spPr>
          <a:xfrm>
            <a:off x="3873500" y="2540000"/>
            <a:ext cx="762000" cy="177800"/>
          </a:xfrm>
          <a:prstGeom prst="rect">
            <a:avLst/>
          </a:prstGeom>
          <a:noFill/>
          <a:ln>
            <a:solidFill>
              <a:schemeClr val="tx1">
                <a:lumMod val="10000"/>
                <a:lumOff val="90000"/>
              </a:schemeClr>
            </a:solidFill>
          </a:ln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altLang="ko-KR" sz="900" i="1" dirty="0">
                <a:solidFill>
                  <a:srgbClr val="64748B"/>
                </a:solidFill>
                <a:latin typeface="Pretendard"/>
                <a:ea typeface="Pretendard"/>
                <a:cs typeface="Pretendard"/>
              </a:rPr>
              <a:t>spawn</a:t>
            </a:r>
            <a:endParaRPr lang="ko-KR" altLang="en-US" sz="900" i="1" dirty="0">
              <a:solidFill>
                <a:srgbClr val="64748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E11EE26-BE4F-4FC5-956D-CD359EDC2E82}"/>
              </a:ext>
            </a:extLst>
          </p:cNvPr>
          <p:cNvSpPr txBox="1"/>
          <p:nvPr/>
        </p:nvSpPr>
        <p:spPr>
          <a:xfrm>
            <a:off x="3873500" y="3429000"/>
            <a:ext cx="762000" cy="177800"/>
          </a:xfrm>
          <a:prstGeom prst="rect">
            <a:avLst/>
          </a:prstGeom>
          <a:noFill/>
          <a:ln>
            <a:solidFill>
              <a:schemeClr val="tx1">
                <a:lumMod val="10000"/>
                <a:lumOff val="90000"/>
              </a:schemeClr>
            </a:solidFill>
          </a:ln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altLang="ko-KR" sz="900" i="1">
                <a:solidFill>
                  <a:srgbClr val="64748B"/>
                </a:solidFill>
                <a:latin typeface="Pretendard"/>
                <a:ea typeface="Pretendard"/>
                <a:cs typeface="Pretendard"/>
              </a:rPr>
              <a:t>POST</a:t>
            </a:r>
            <a:endParaRPr lang="ko-KR" altLang="en-US" sz="900" i="1">
              <a:solidFill>
                <a:srgbClr val="64748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ED1DAA71-FF99-43E5-A684-20140769E7EF}"/>
              </a:ext>
            </a:extLst>
          </p:cNvPr>
          <p:cNvSpPr txBox="1"/>
          <p:nvPr/>
        </p:nvSpPr>
        <p:spPr>
          <a:xfrm>
            <a:off x="7594600" y="3213100"/>
            <a:ext cx="762000" cy="177800"/>
          </a:xfrm>
          <a:prstGeom prst="rect">
            <a:avLst/>
          </a:prstGeom>
          <a:noFill/>
          <a:ln>
            <a:solidFill>
              <a:schemeClr val="tx1">
                <a:lumMod val="10000"/>
                <a:lumOff val="90000"/>
              </a:schemeClr>
            </a:solidFill>
          </a:ln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altLang="ko-KR" sz="900" i="1">
                <a:solidFill>
                  <a:srgbClr val="64748B"/>
                </a:solidFill>
                <a:latin typeface="Pretendard"/>
                <a:ea typeface="Pretendard"/>
                <a:cs typeface="Pretendard"/>
              </a:rPr>
              <a:t>exec</a:t>
            </a:r>
            <a:endParaRPr lang="ko-KR" altLang="en-US" sz="900" i="1">
              <a:solidFill>
                <a:srgbClr val="64748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E81410DD-FB65-4075-8BED-DA2D62BB794D}"/>
              </a:ext>
            </a:extLst>
          </p:cNvPr>
          <p:cNvSpPr txBox="1"/>
          <p:nvPr/>
        </p:nvSpPr>
        <p:spPr>
          <a:xfrm>
            <a:off x="7594600" y="4102100"/>
            <a:ext cx="762000" cy="177800"/>
          </a:xfrm>
          <a:prstGeom prst="rect">
            <a:avLst/>
          </a:prstGeom>
          <a:noFill/>
          <a:ln>
            <a:solidFill>
              <a:schemeClr val="tx1">
                <a:lumMod val="10000"/>
                <a:lumOff val="90000"/>
              </a:schemeClr>
            </a:solidFill>
          </a:ln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altLang="ko-KR" sz="900" i="1">
                <a:solidFill>
                  <a:srgbClr val="64748B"/>
                </a:solidFill>
                <a:latin typeface="Pretendard"/>
                <a:ea typeface="Pretendard"/>
                <a:cs typeface="Pretendard"/>
              </a:rPr>
              <a:t>watch</a:t>
            </a:r>
            <a:endParaRPr lang="ko-KR" altLang="en-US" sz="900" i="1">
              <a:solidFill>
                <a:srgbClr val="64748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429BB789-D0DE-4306-B65C-ABD6473F17D9}"/>
              </a:ext>
            </a:extLst>
          </p:cNvPr>
          <p:cNvSpPr txBox="1"/>
          <p:nvPr/>
        </p:nvSpPr>
        <p:spPr>
          <a:xfrm>
            <a:off x="762000" y="6070600"/>
            <a:ext cx="10668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i="1">
                <a:solidFill>
                  <a:srgbClr val="64748B"/>
                </a:solidFill>
                <a:latin typeface="Pretendard"/>
                <a:ea typeface="Pretendard"/>
                <a:cs typeface="Pretendard"/>
              </a:rPr>
              <a:t>AppHost</a:t>
            </a:r>
            <a:r>
              <a:rPr lang="ko-KR" altLang="en-US" sz="1100" i="1">
                <a:solidFill>
                  <a:srgbClr val="64748B"/>
                </a:solidFill>
                <a:latin typeface="Pretendard"/>
                <a:ea typeface="Pretendard"/>
                <a:cs typeface="Pretendard"/>
              </a:rPr>
              <a:t>가 선언 → </a:t>
            </a:r>
            <a:r>
              <a:rPr lang="en-US" altLang="ko-KR" sz="1100" i="1">
                <a:solidFill>
                  <a:srgbClr val="64748B"/>
                </a:solidFill>
                <a:latin typeface="Pretendard"/>
                <a:ea typeface="Pretendard"/>
                <a:cs typeface="Pretendard"/>
              </a:rPr>
              <a:t>DCP</a:t>
            </a:r>
            <a:r>
              <a:rPr lang="ko-KR" altLang="en-US" sz="1100" i="1">
                <a:solidFill>
                  <a:srgbClr val="64748B"/>
                </a:solidFill>
                <a:latin typeface="Pretendard"/>
                <a:ea typeface="Pretendard"/>
                <a:cs typeface="Pretendard"/>
              </a:rPr>
              <a:t>가 중개 → 커널이 실체화</a:t>
            </a:r>
            <a:r>
              <a:rPr lang="en-US" altLang="ko-KR" sz="1100" i="1">
                <a:solidFill>
                  <a:srgbClr val="64748B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lang="ko-KR" altLang="en-US" sz="1100" i="1">
                <a:solidFill>
                  <a:srgbClr val="64748B"/>
                </a:solidFill>
                <a:latin typeface="Pretendard"/>
                <a:ea typeface="Pretendard"/>
                <a:cs typeface="Pretendard"/>
              </a:rPr>
              <a:t>세 레인 사이를 화살표가 건너는 것이 이 프로토콜의 전부다</a:t>
            </a:r>
            <a:r>
              <a:rPr lang="en-US" altLang="ko-KR" sz="1100" i="1">
                <a:solidFill>
                  <a:srgbClr val="64748B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100" i="1">
              <a:solidFill>
                <a:srgbClr val="64748B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353284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S401"/>
          <p:cNvSpPr/>
          <p:nvPr/>
        </p:nvSpPr>
        <p:spPr>
          <a:xfrm>
            <a:off x="762000" y="812800"/>
            <a:ext cx="304800" cy="25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402" name="S402"/>
          <p:cNvSpPr/>
          <p:nvPr/>
        </p:nvSpPr>
        <p:spPr>
          <a:xfrm>
            <a:off x="762000" y="5588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altLang="ko-KR" sz="1100" b="1" dirty="0">
                <a:solidFill>
                  <a:srgbClr val="6366F1"/>
                </a:solidFill>
                <a:latin typeface="+mn-ea"/>
                <a:cs typeface="Pretendard"/>
              </a:rPr>
              <a:t>POLYGLOT FOUNDATION</a:t>
            </a:r>
          </a:p>
        </p:txBody>
      </p:sp>
      <p:sp>
        <p:nvSpPr>
          <p:cNvPr id="403" name="S403"/>
          <p:cNvSpPr/>
          <p:nvPr/>
        </p:nvSpPr>
        <p:spPr>
          <a:xfrm>
            <a:off x="762000" y="9906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altLang="en-US" sz="3200" b="1" dirty="0">
                <a:solidFill>
                  <a:srgbClr val="0A0A0A"/>
                </a:solidFill>
                <a:latin typeface="+mn-ea"/>
                <a:cs typeface="Pretendard"/>
              </a:rPr>
              <a:t>언어는 다르지만, 프로토콜은 하나다</a:t>
            </a:r>
          </a:p>
        </p:txBody>
      </p:sp>
      <p:sp>
        <p:nvSpPr>
          <p:cNvPr id="404" name="S404"/>
          <p:cNvSpPr/>
          <p:nvPr/>
        </p:nvSpPr>
        <p:spPr>
          <a:xfrm>
            <a:off x="1143000" y="1619250"/>
            <a:ext cx="304800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405" name="S405"/>
          <p:cNvSpPr/>
          <p:nvPr/>
        </p:nvSpPr>
        <p:spPr>
          <a:xfrm>
            <a:off x="1346200" y="1746250"/>
            <a:ext cx="2641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altLang="ko-KR" sz="1500" b="1" dirty="0">
                <a:solidFill>
                  <a:srgbClr val="4338CA"/>
                </a:solidFill>
                <a:latin typeface="+mn-ea"/>
                <a:cs typeface="Pretendard"/>
              </a:rPr>
              <a:t>C# AppHost</a:t>
            </a:r>
          </a:p>
        </p:txBody>
      </p:sp>
      <p:sp>
        <p:nvSpPr>
          <p:cNvPr id="406" name="S406"/>
          <p:cNvSpPr/>
          <p:nvPr/>
        </p:nvSpPr>
        <p:spPr>
          <a:xfrm>
            <a:off x="1346200" y="2025650"/>
            <a:ext cx="2641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altLang="ko-KR" sz="950" dirty="0">
                <a:solidFill>
                  <a:srgbClr val="6366F1"/>
                </a:solidFill>
                <a:latin typeface="Consolas"/>
                <a:cs typeface="Consolas"/>
              </a:rPr>
              <a:t>Aspire.Hosting</a:t>
            </a:r>
          </a:p>
        </p:txBody>
      </p:sp>
      <p:sp>
        <p:nvSpPr>
          <p:cNvPr id="407" name="S407"/>
          <p:cNvSpPr/>
          <p:nvPr/>
        </p:nvSpPr>
        <p:spPr>
          <a:xfrm>
            <a:off x="4572000" y="1619250"/>
            <a:ext cx="304800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408" name="S408"/>
          <p:cNvSpPr/>
          <p:nvPr/>
        </p:nvSpPr>
        <p:spPr>
          <a:xfrm>
            <a:off x="4775200" y="1746250"/>
            <a:ext cx="2641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altLang="ko-KR" sz="1500" b="1" dirty="0">
                <a:solidFill>
                  <a:srgbClr val="4338CA"/>
                </a:solidFill>
                <a:latin typeface="+mn-ea"/>
                <a:cs typeface="Pretendard"/>
              </a:rPr>
              <a:t>TypeScript AppHost</a:t>
            </a:r>
            <a:r>
              <a:rPr lang="ko-KR" altLang="en-US" sz="900" b="1" dirty="0">
                <a:solidFill>
                  <a:srgbClr val="94A3B8"/>
                </a:solidFill>
                <a:latin typeface="+mn-ea"/>
                <a:cs typeface="Pretendard"/>
              </a:rPr>
              <a:t>  초기 지원</a:t>
            </a:r>
          </a:p>
        </p:txBody>
      </p:sp>
      <p:sp>
        <p:nvSpPr>
          <p:cNvPr id="409" name="S409"/>
          <p:cNvSpPr/>
          <p:nvPr/>
        </p:nvSpPr>
        <p:spPr>
          <a:xfrm>
            <a:off x="4775200" y="2025650"/>
            <a:ext cx="2641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altLang="ko-KR" sz="950" dirty="0">
                <a:solidFill>
                  <a:srgbClr val="6366F1"/>
                </a:solidFill>
                <a:latin typeface="Consolas"/>
                <a:cs typeface="Consolas"/>
              </a:rPr>
              <a:t>@aspire/hosting</a:t>
            </a:r>
          </a:p>
        </p:txBody>
      </p:sp>
      <p:sp>
        <p:nvSpPr>
          <p:cNvPr id="410" name="S410"/>
          <p:cNvSpPr/>
          <p:nvPr/>
        </p:nvSpPr>
        <p:spPr>
          <a:xfrm>
            <a:off x="8001000" y="1619250"/>
            <a:ext cx="3048000" cy="685800"/>
          </a:xfrm>
          <a:prstGeom prst="rect">
            <a:avLst/>
          </a:prstGeom>
          <a:solidFill>
            <a:srgbClr val="FAFAF9"/>
          </a:solidFill>
          <a:ln w="12700">
            <a:solidFill>
              <a:srgbClr val="E2E8F0"/>
            </a:solidFill>
            <a:prstDash val="dash"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411" name="S411"/>
          <p:cNvSpPr/>
          <p:nvPr/>
        </p:nvSpPr>
        <p:spPr>
          <a:xfrm>
            <a:off x="8204200" y="1746250"/>
            <a:ext cx="2641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altLang="ko-KR" sz="1500" b="1" dirty="0">
                <a:solidFill>
                  <a:srgbClr val="64748B"/>
                </a:solidFill>
                <a:latin typeface="+mn-ea"/>
                <a:cs typeface="Pretendard"/>
              </a:rPr>
              <a:t>... AppHost</a:t>
            </a:r>
          </a:p>
        </p:txBody>
      </p:sp>
      <p:sp>
        <p:nvSpPr>
          <p:cNvPr id="412" name="S412"/>
          <p:cNvSpPr/>
          <p:nvPr/>
        </p:nvSpPr>
        <p:spPr>
          <a:xfrm>
            <a:off x="8204200" y="2025650"/>
            <a:ext cx="2641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altLang="ko-KR" sz="950" dirty="0">
                <a:solidFill>
                  <a:srgbClr val="94A3B8"/>
                </a:solidFill>
                <a:latin typeface="Consolas"/>
                <a:cs typeface="Consolas"/>
              </a:rPr>
              <a:t>future languages</a:t>
            </a:r>
          </a:p>
        </p:txBody>
      </p:sp>
      <p:sp>
        <p:nvSpPr>
          <p:cNvPr id="413" name="S413"/>
          <p:cNvSpPr/>
          <p:nvPr/>
        </p:nvSpPr>
        <p:spPr>
          <a:xfrm>
            <a:off x="2654300" y="2330450"/>
            <a:ext cx="25400" cy="177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414" name="S414"/>
          <p:cNvSpPr/>
          <p:nvPr/>
        </p:nvSpPr>
        <p:spPr>
          <a:xfrm>
            <a:off x="2603500" y="2482850"/>
            <a:ext cx="127000" cy="76200"/>
          </a:xfrm>
          <a:prstGeom prst="triangle">
            <a:avLst/>
          </a:prstGeom>
          <a:solidFill>
            <a:srgbClr val="CBD5E1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415" name="S415"/>
          <p:cNvSpPr/>
          <p:nvPr/>
        </p:nvSpPr>
        <p:spPr>
          <a:xfrm>
            <a:off x="6083300" y="2330450"/>
            <a:ext cx="25400" cy="177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416" name="S416"/>
          <p:cNvSpPr/>
          <p:nvPr/>
        </p:nvSpPr>
        <p:spPr>
          <a:xfrm>
            <a:off x="6032500" y="2482850"/>
            <a:ext cx="127000" cy="76200"/>
          </a:xfrm>
          <a:prstGeom prst="triangle">
            <a:avLst/>
          </a:prstGeom>
          <a:solidFill>
            <a:srgbClr val="CBD5E1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417" name="S417"/>
          <p:cNvSpPr/>
          <p:nvPr/>
        </p:nvSpPr>
        <p:spPr>
          <a:xfrm>
            <a:off x="9512300" y="2330450"/>
            <a:ext cx="25400" cy="177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418" name="S418"/>
          <p:cNvSpPr/>
          <p:nvPr/>
        </p:nvSpPr>
        <p:spPr>
          <a:xfrm>
            <a:off x="9461500" y="2482850"/>
            <a:ext cx="127000" cy="76200"/>
          </a:xfrm>
          <a:prstGeom prst="triangle">
            <a:avLst/>
          </a:prstGeom>
          <a:solidFill>
            <a:srgbClr val="CBD5E1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419" name="S419"/>
          <p:cNvSpPr/>
          <p:nvPr/>
        </p:nvSpPr>
        <p:spPr>
          <a:xfrm>
            <a:off x="762000" y="2578100"/>
            <a:ext cx="10668000" cy="50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420" name="S420"/>
          <p:cNvSpPr/>
          <p:nvPr/>
        </p:nvSpPr>
        <p:spPr>
          <a:xfrm>
            <a:off x="762000" y="2679700"/>
            <a:ext cx="10668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altLang="ko-KR" sz="1000" b="1" dirty="0">
                <a:solidFill>
                  <a:srgbClr val="C7D2FE"/>
                </a:solidFill>
                <a:latin typeface="+mn-ea"/>
                <a:cs typeface="Pretendard"/>
              </a:rPr>
              <a:t>SHARED DCP PROTOCOL LAYER</a:t>
            </a:r>
          </a:p>
        </p:txBody>
      </p:sp>
      <p:sp>
        <p:nvSpPr>
          <p:cNvPr id="421" name="S421"/>
          <p:cNvSpPr/>
          <p:nvPr/>
        </p:nvSpPr>
        <p:spPr>
          <a:xfrm>
            <a:off x="762000" y="2857500"/>
            <a:ext cx="10668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altLang="ko-KR" sz="1100" b="1" dirty="0">
                <a:solidFill>
                  <a:srgbClr val="FFFFFF"/>
                </a:solidFill>
                <a:latin typeface="Consolas"/>
                <a:cs typeface="Consolas"/>
              </a:rPr>
              <a:t>usvc-dev.developer.microsoft.com/v1</a:t>
            </a:r>
            <a:r>
              <a:rPr lang="en-US" altLang="ko-KR" sz="1000" dirty="0">
                <a:solidFill>
                  <a:srgbClr val="E0E7FF"/>
                </a:solidFill>
                <a:latin typeface="+mn-ea"/>
                <a:cs typeface="Pretendard"/>
              </a:rPr>
              <a:t>   ·   Executable · Container · Service · Endpoint</a:t>
            </a:r>
          </a:p>
        </p:txBody>
      </p:sp>
      <p:sp>
        <p:nvSpPr>
          <p:cNvPr id="422" name="S422"/>
          <p:cNvSpPr/>
          <p:nvPr/>
        </p:nvSpPr>
        <p:spPr>
          <a:xfrm>
            <a:off x="6083300" y="3111500"/>
            <a:ext cx="25400" cy="177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423" name="S423"/>
          <p:cNvSpPr/>
          <p:nvPr/>
        </p:nvSpPr>
        <p:spPr>
          <a:xfrm>
            <a:off x="6032500" y="3263900"/>
            <a:ext cx="127000" cy="76200"/>
          </a:xfrm>
          <a:prstGeom prst="triangle">
            <a:avLst/>
          </a:prstGeom>
          <a:solidFill>
            <a:srgbClr val="6366F1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424" name="S424"/>
          <p:cNvSpPr/>
          <p:nvPr/>
        </p:nvSpPr>
        <p:spPr>
          <a:xfrm>
            <a:off x="4826000" y="33655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altLang="ko-KR" sz="1100" b="1" dirty="0">
                <a:solidFill>
                  <a:srgbClr val="6366F1"/>
                </a:solidFill>
                <a:latin typeface="+mn-ea"/>
                <a:cs typeface="Pretendard"/>
              </a:rPr>
              <a:t>DCP API Server</a:t>
            </a:r>
          </a:p>
        </p:txBody>
      </p:sp>
      <p:sp>
        <p:nvSpPr>
          <p:cNvPr id="425" name="S425"/>
          <p:cNvSpPr/>
          <p:nvPr/>
        </p:nvSpPr>
        <p:spPr>
          <a:xfrm>
            <a:off x="762000" y="3606800"/>
            <a:ext cx="5207000" cy="106045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426" name="S426"/>
          <p:cNvSpPr/>
          <p:nvPr/>
        </p:nvSpPr>
        <p:spPr>
          <a:xfrm>
            <a:off x="990600" y="37338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altLang="ko-KR" sz="2000" b="1" dirty="0">
                <a:solidFill>
                  <a:srgbClr val="C7D2FE"/>
                </a:solidFill>
                <a:latin typeface="+mn-ea"/>
                <a:cs typeface="Pretendard"/>
              </a:rPr>
              <a:t>01</a:t>
            </a:r>
          </a:p>
        </p:txBody>
      </p:sp>
      <p:sp>
        <p:nvSpPr>
          <p:cNvPr id="427" name="S427"/>
          <p:cNvSpPr/>
          <p:nvPr/>
        </p:nvSpPr>
        <p:spPr>
          <a:xfrm>
            <a:off x="1778000" y="3784600"/>
            <a:ext cx="393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altLang="en-US" sz="1600" b="1" dirty="0">
                <a:solidFill>
                  <a:srgbClr val="0A0A0A"/>
                </a:solidFill>
                <a:latin typeface="+mn-ea"/>
                <a:cs typeface="Pretendard"/>
              </a:rPr>
              <a:t>언어 관용적 DSL</a:t>
            </a:r>
          </a:p>
        </p:txBody>
      </p:sp>
      <p:sp>
        <p:nvSpPr>
          <p:cNvPr id="428" name="S428"/>
          <p:cNvSpPr/>
          <p:nvPr/>
        </p:nvSpPr>
        <p:spPr>
          <a:xfrm>
            <a:off x="1778000" y="4140200"/>
            <a:ext cx="3937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altLang="en-US" sz="1200" dirty="0">
                <a:solidFill>
                  <a:srgbClr val="475569"/>
                </a:solidFill>
                <a:latin typeface="+mn-ea"/>
                <a:cs typeface="Pretendard"/>
              </a:rPr>
              <a:t>해당 언어의 문법·타입 시스템에 어울리는 방식으로 리소스 모델링 API 제공</a:t>
            </a:r>
          </a:p>
        </p:txBody>
      </p:sp>
      <p:sp>
        <p:nvSpPr>
          <p:cNvPr id="429" name="S429"/>
          <p:cNvSpPr/>
          <p:nvPr/>
        </p:nvSpPr>
        <p:spPr>
          <a:xfrm>
            <a:off x="6223000" y="3606800"/>
            <a:ext cx="5207000" cy="106045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430" name="S430"/>
          <p:cNvSpPr/>
          <p:nvPr/>
        </p:nvSpPr>
        <p:spPr>
          <a:xfrm>
            <a:off x="6451600" y="37338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altLang="ko-KR" sz="2000" b="1" dirty="0">
                <a:solidFill>
                  <a:srgbClr val="C7D2FE"/>
                </a:solidFill>
                <a:latin typeface="+mn-ea"/>
                <a:cs typeface="Pretendard"/>
              </a:rPr>
              <a:t>02</a:t>
            </a:r>
          </a:p>
        </p:txBody>
      </p:sp>
      <p:sp>
        <p:nvSpPr>
          <p:cNvPr id="431" name="S431"/>
          <p:cNvSpPr/>
          <p:nvPr/>
        </p:nvSpPr>
        <p:spPr>
          <a:xfrm>
            <a:off x="7239000" y="3784600"/>
            <a:ext cx="393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altLang="en-US" sz="1600" b="1" dirty="0">
                <a:solidFill>
                  <a:srgbClr val="0A0A0A"/>
                </a:solidFill>
                <a:latin typeface="+mn-ea"/>
                <a:cs typeface="Pretendard"/>
              </a:rPr>
              <a:t>모델 → CRD 변환</a:t>
            </a:r>
          </a:p>
        </p:txBody>
      </p:sp>
      <p:sp>
        <p:nvSpPr>
          <p:cNvPr id="432" name="S432"/>
          <p:cNvSpPr/>
          <p:nvPr/>
        </p:nvSpPr>
        <p:spPr>
          <a:xfrm>
            <a:off x="7239000" y="4140200"/>
            <a:ext cx="3937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altLang="en-US" sz="1200" dirty="0">
                <a:solidFill>
                  <a:srgbClr val="475569"/>
                </a:solidFill>
                <a:latin typeface="+mn-ea"/>
                <a:cs typeface="Pretendard"/>
              </a:rPr>
              <a:t>사용자 모델을 Executable·Container·Service 등 CRD 객체로 직렬화</a:t>
            </a:r>
          </a:p>
        </p:txBody>
      </p:sp>
      <p:sp>
        <p:nvSpPr>
          <p:cNvPr id="433" name="S433"/>
          <p:cNvSpPr/>
          <p:nvPr/>
        </p:nvSpPr>
        <p:spPr>
          <a:xfrm>
            <a:off x="762000" y="4762500"/>
            <a:ext cx="5207000" cy="106045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434" name="S434"/>
          <p:cNvSpPr/>
          <p:nvPr/>
        </p:nvSpPr>
        <p:spPr>
          <a:xfrm>
            <a:off x="990600" y="48895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altLang="ko-KR" sz="2000" b="1" dirty="0">
                <a:solidFill>
                  <a:srgbClr val="C7D2FE"/>
                </a:solidFill>
                <a:latin typeface="+mn-ea"/>
                <a:cs typeface="Pretendard"/>
              </a:rPr>
              <a:t>03</a:t>
            </a:r>
          </a:p>
        </p:txBody>
      </p:sp>
      <p:sp>
        <p:nvSpPr>
          <p:cNvPr id="435" name="S435"/>
          <p:cNvSpPr/>
          <p:nvPr/>
        </p:nvSpPr>
        <p:spPr>
          <a:xfrm>
            <a:off x="1778000" y="4940300"/>
            <a:ext cx="393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altLang="en-US" sz="1600" b="1" dirty="0">
                <a:solidFill>
                  <a:srgbClr val="0A0A0A"/>
                </a:solidFill>
                <a:latin typeface="+mn-ea"/>
                <a:cs typeface="Pretendard"/>
              </a:rPr>
              <a:t>DCP API 클라이언트</a:t>
            </a:r>
          </a:p>
        </p:txBody>
      </p:sp>
      <p:sp>
        <p:nvSpPr>
          <p:cNvPr id="436" name="S436"/>
          <p:cNvSpPr/>
          <p:nvPr/>
        </p:nvSpPr>
        <p:spPr>
          <a:xfrm>
            <a:off x="1778000" y="5295900"/>
            <a:ext cx="3937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altLang="en-US" sz="1200" dirty="0">
                <a:solidFill>
                  <a:srgbClr val="475569"/>
                </a:solidFill>
                <a:latin typeface="+mn-ea"/>
                <a:cs typeface="Pretendard"/>
              </a:rPr>
              <a:t>kubeconfig로 접속해 CRD를 apply·watch하는 kubectl 호환 호출</a:t>
            </a:r>
          </a:p>
        </p:txBody>
      </p:sp>
      <p:sp>
        <p:nvSpPr>
          <p:cNvPr id="437" name="S437"/>
          <p:cNvSpPr/>
          <p:nvPr/>
        </p:nvSpPr>
        <p:spPr>
          <a:xfrm>
            <a:off x="6223000" y="4762500"/>
            <a:ext cx="5207000" cy="106045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438" name="S438"/>
          <p:cNvSpPr/>
          <p:nvPr/>
        </p:nvSpPr>
        <p:spPr>
          <a:xfrm>
            <a:off x="6451600" y="48895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altLang="ko-KR" sz="2000" b="1" dirty="0">
                <a:solidFill>
                  <a:srgbClr val="C7D2FE"/>
                </a:solidFill>
                <a:latin typeface="+mn-ea"/>
                <a:cs typeface="Pretendard"/>
              </a:rPr>
              <a:t>04</a:t>
            </a:r>
          </a:p>
        </p:txBody>
      </p:sp>
      <p:sp>
        <p:nvSpPr>
          <p:cNvPr id="439" name="S439"/>
          <p:cNvSpPr/>
          <p:nvPr/>
        </p:nvSpPr>
        <p:spPr>
          <a:xfrm>
            <a:off x="7239000" y="4940300"/>
            <a:ext cx="3937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altLang="en-US" sz="1600" b="1" dirty="0">
                <a:solidFill>
                  <a:srgbClr val="0A0A0A"/>
                </a:solidFill>
                <a:latin typeface="+mn-ea"/>
                <a:cs typeface="Pretendard"/>
              </a:rPr>
              <a:t>IDE 디버거 프로토콜</a:t>
            </a:r>
          </a:p>
        </p:txBody>
      </p:sp>
      <p:sp>
        <p:nvSpPr>
          <p:cNvPr id="440" name="S440"/>
          <p:cNvSpPr/>
          <p:nvPr/>
        </p:nvSpPr>
        <p:spPr>
          <a:xfrm>
            <a:off x="7239000" y="5295900"/>
            <a:ext cx="3937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altLang="en-US" sz="1200" dirty="0">
                <a:solidFill>
                  <a:srgbClr val="475569"/>
                </a:solidFill>
                <a:latin typeface="+mn-ea"/>
                <a:cs typeface="Pretendard"/>
              </a:rPr>
              <a:t>DEBUG_SESSION_PORT / TOKEN과 run-session 엔드포인트로 IDE 기동 연동</a:t>
            </a:r>
          </a:p>
        </p:txBody>
      </p:sp>
      <p:sp>
        <p:nvSpPr>
          <p:cNvPr id="441" name="S441"/>
          <p:cNvSpPr/>
          <p:nvPr/>
        </p:nvSpPr>
        <p:spPr>
          <a:xfrm>
            <a:off x="762000" y="5943600"/>
            <a:ext cx="10668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lIns="76200" tIns="50800" rIns="76200" bIns="50800" anchor="ctr"/>
          <a:lstStyle/>
          <a:p>
            <a:endParaRPr/>
          </a:p>
        </p:txBody>
      </p:sp>
      <p:sp>
        <p:nvSpPr>
          <p:cNvPr id="442" name="S442"/>
          <p:cNvSpPr/>
          <p:nvPr/>
        </p:nvSpPr>
        <p:spPr>
          <a:xfrm>
            <a:off x="762000" y="60452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ko-KR" altLang="en-US" sz="1000" dirty="0">
                <a:solidFill>
                  <a:srgbClr val="64748B"/>
                </a:solidFill>
                <a:latin typeface="+mn-ea"/>
                <a:cs typeface="Pretendard"/>
              </a:rPr>
              <a:t>(1)은 언어마다 다르지만 </a:t>
            </a:r>
            <a:r>
              <a:rPr lang="ko-KR" altLang="en-US" sz="1000" b="1" dirty="0">
                <a:solidFill>
                  <a:srgbClr val="0A0A0A"/>
                </a:solidFill>
                <a:latin typeface="+mn-ea"/>
                <a:cs typeface="Pretendard"/>
              </a:rPr>
              <a:t>(2)(3)(4)는 모든 AppHost가 공유</a:t>
            </a:r>
            <a:r>
              <a:rPr lang="ko-KR" altLang="en-US" sz="1000" dirty="0">
                <a:solidFill>
                  <a:srgbClr val="64748B"/>
                </a:solidFill>
                <a:latin typeface="+mn-ea"/>
                <a:cs typeface="Pretendard"/>
              </a:rPr>
              <a:t> — Aspire 폴리글랏 전환이 기술적으로 성립하는 이유.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71AAB3-28A0-3AC2-EBE2-E6CC29E3FAC1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Universe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Busan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Edition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-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2604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073308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C8A1484-BE89-4C65-BC7F-BDFE08DF340B}"/>
              </a:ext>
            </a:extLst>
          </p:cNvPr>
          <p:cNvSpPr/>
          <p:nvPr/>
        </p:nvSpPr>
        <p:spPr>
          <a:xfrm>
            <a:off x="863600" y="90170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175B98-0780-4534-AF37-68C864044CBB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Pretendard"/>
                <a:ea typeface="Pretendard"/>
                <a:cs typeface="Pretendard"/>
              </a:rPr>
              <a:t>IN PRACTICE</a:t>
            </a:r>
            <a:endParaRPr lang="ko-KR" altLang="en-US" sz="1100" b="1">
              <a:solidFill>
                <a:srgbClr val="6366F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0F0922-45D0-488F-8766-A7C853CC4803}"/>
              </a:ext>
            </a:extLst>
          </p:cNvPr>
          <p:cNvSpPr txBox="1"/>
          <p:nvPr/>
        </p:nvSpPr>
        <p:spPr>
          <a:xfrm>
            <a:off x="762000" y="1168400"/>
            <a:ext cx="10668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36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Isolated Mode — </a:t>
            </a:r>
            <a:r>
              <a:rPr lang="ko-KR" altLang="en-US" sz="36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병렬 개발 시나리오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295A71-DFC6-4A4C-8B79-96F715C6AB60}"/>
              </a:ext>
            </a:extLst>
          </p:cNvPr>
          <p:cNvSpPr txBox="1"/>
          <p:nvPr/>
        </p:nvSpPr>
        <p:spPr>
          <a:xfrm>
            <a:off x="762000" y="20320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같은 저장소의 세 워크트리에서 </a:t>
            </a:r>
            <a:r>
              <a:rPr lang="en-US" altLang="ko-KR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AI </a:t>
            </a:r>
            <a:r>
              <a:rPr lang="ko-KR" altLang="en-US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에이전트가 동시에 기능을 개발합니다</a:t>
            </a:r>
            <a:r>
              <a:rPr lang="en-US" altLang="ko-KR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400">
              <a:solidFill>
                <a:srgbClr val="47556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CC5EB1-6392-4556-9A9B-B782907F43C0}"/>
              </a:ext>
            </a:extLst>
          </p:cNvPr>
          <p:cNvSpPr/>
          <p:nvPr/>
        </p:nvSpPr>
        <p:spPr>
          <a:xfrm>
            <a:off x="762000" y="2540000"/>
            <a:ext cx="10668000" cy="2286000"/>
          </a:xfrm>
          <a:prstGeom prst="rect">
            <a:avLst/>
          </a:prstGeom>
          <a:solidFill>
            <a:srgbClr val="0A0A0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4B953C-9E64-467F-9127-5AD555E7312F}"/>
              </a:ext>
            </a:extLst>
          </p:cNvPr>
          <p:cNvSpPr txBox="1"/>
          <p:nvPr/>
        </p:nvSpPr>
        <p:spPr>
          <a:xfrm>
            <a:off x="1016000" y="2768600"/>
            <a:ext cx="101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 b="1">
                <a:solidFill>
                  <a:srgbClr val="94A3B8"/>
                </a:solidFill>
                <a:latin typeface="Pretendard"/>
                <a:ea typeface="Pretendard"/>
                <a:cs typeface="Pretendard"/>
              </a:rPr>
              <a:t>터미널 </a:t>
            </a:r>
            <a:r>
              <a:rPr lang="en-US" altLang="ko-KR" sz="1200" b="1">
                <a:solidFill>
                  <a:srgbClr val="94A3B8"/>
                </a:solidFill>
                <a:latin typeface="Pretendard"/>
                <a:ea typeface="Pretendard"/>
                <a:cs typeface="Pretendard"/>
              </a:rPr>
              <a:t>1</a:t>
            </a:r>
            <a:endParaRPr lang="ko-KR" altLang="en-US" sz="1200" b="1">
              <a:solidFill>
                <a:srgbClr val="94A3B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C443E7-CDA2-4CC6-BA54-0155F2A16F43}"/>
              </a:ext>
            </a:extLst>
          </p:cNvPr>
          <p:cNvSpPr txBox="1"/>
          <p:nvPr/>
        </p:nvSpPr>
        <p:spPr>
          <a:xfrm>
            <a:off x="2159000" y="2768600"/>
            <a:ext cx="660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FFFFF"/>
                </a:solidFill>
                <a:latin typeface="Consolas"/>
              </a:rPr>
              <a:t>~/repo-worktree-feature-a $ aspire run</a:t>
            </a:r>
            <a:endParaRPr lang="ko-KR" altLang="en-US" sz="130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3244B6-5426-45D4-AC94-F391E2EDB2F6}"/>
              </a:ext>
            </a:extLst>
          </p:cNvPr>
          <p:cNvSpPr txBox="1"/>
          <p:nvPr/>
        </p:nvSpPr>
        <p:spPr>
          <a:xfrm>
            <a:off x="8890000" y="2768600"/>
            <a:ext cx="228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b="1">
                <a:solidFill>
                  <a:srgbClr val="10B981"/>
                </a:solidFill>
                <a:latin typeface="Consolas"/>
              </a:rPr>
              <a:t>→ 포트 </a:t>
            </a:r>
            <a:r>
              <a:rPr lang="en-US" altLang="ko-KR" sz="1300" b="1">
                <a:solidFill>
                  <a:srgbClr val="10B981"/>
                </a:solidFill>
                <a:latin typeface="Consolas"/>
              </a:rPr>
              <a:t>15888</a:t>
            </a:r>
            <a:endParaRPr lang="ko-KR" altLang="en-US" sz="1300" b="1">
              <a:solidFill>
                <a:srgbClr val="10B981"/>
              </a:solidFill>
              <a:latin typeface="Consola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1C0E6F-05CD-471F-A9DA-AAEA67EDBAAE}"/>
              </a:ext>
            </a:extLst>
          </p:cNvPr>
          <p:cNvSpPr txBox="1"/>
          <p:nvPr/>
        </p:nvSpPr>
        <p:spPr>
          <a:xfrm>
            <a:off x="1016000" y="3276600"/>
            <a:ext cx="101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 b="1">
                <a:solidFill>
                  <a:srgbClr val="94A3B8"/>
                </a:solidFill>
                <a:latin typeface="Pretendard"/>
                <a:ea typeface="Pretendard"/>
                <a:cs typeface="Pretendard"/>
              </a:rPr>
              <a:t>터미널 </a:t>
            </a:r>
            <a:r>
              <a:rPr lang="en-US" altLang="ko-KR" sz="1200" b="1">
                <a:solidFill>
                  <a:srgbClr val="94A3B8"/>
                </a:solidFill>
                <a:latin typeface="Pretendard"/>
                <a:ea typeface="Pretendard"/>
                <a:cs typeface="Pretendard"/>
              </a:rPr>
              <a:t>2</a:t>
            </a:r>
            <a:endParaRPr lang="ko-KR" altLang="en-US" sz="1200" b="1">
              <a:solidFill>
                <a:srgbClr val="94A3B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71061C-A7E8-42F5-95B1-F2B72FEF6B0E}"/>
              </a:ext>
            </a:extLst>
          </p:cNvPr>
          <p:cNvSpPr txBox="1"/>
          <p:nvPr/>
        </p:nvSpPr>
        <p:spPr>
          <a:xfrm>
            <a:off x="2159000" y="3276600"/>
            <a:ext cx="660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FFFFF"/>
                </a:solidFill>
                <a:latin typeface="Consolas"/>
              </a:rPr>
              <a:t>~/repo-worktree-feature-b $ aspire run</a:t>
            </a:r>
            <a:endParaRPr lang="ko-KR" altLang="en-US" sz="130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ADA4AB-B4CF-4164-B090-D4427D224664}"/>
              </a:ext>
            </a:extLst>
          </p:cNvPr>
          <p:cNvSpPr txBox="1"/>
          <p:nvPr/>
        </p:nvSpPr>
        <p:spPr>
          <a:xfrm>
            <a:off x="8890000" y="3276600"/>
            <a:ext cx="228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b="1">
                <a:solidFill>
                  <a:srgbClr val="10B981"/>
                </a:solidFill>
                <a:latin typeface="Consolas"/>
              </a:rPr>
              <a:t>→ 포트 </a:t>
            </a:r>
            <a:r>
              <a:rPr lang="en-US" altLang="ko-KR" sz="1300" b="1">
                <a:solidFill>
                  <a:srgbClr val="10B981"/>
                </a:solidFill>
                <a:latin typeface="Consolas"/>
              </a:rPr>
              <a:t>15889</a:t>
            </a:r>
            <a:endParaRPr lang="ko-KR" altLang="en-US" sz="1300" b="1">
              <a:solidFill>
                <a:srgbClr val="10B981"/>
              </a:solidFill>
              <a:latin typeface="Consola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3EDAB9-4A7B-43BD-950E-D2005B7D1521}"/>
              </a:ext>
            </a:extLst>
          </p:cNvPr>
          <p:cNvSpPr txBox="1"/>
          <p:nvPr/>
        </p:nvSpPr>
        <p:spPr>
          <a:xfrm>
            <a:off x="1016000" y="3784600"/>
            <a:ext cx="101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 b="1">
                <a:solidFill>
                  <a:srgbClr val="94A3B8"/>
                </a:solidFill>
                <a:latin typeface="Pretendard"/>
                <a:ea typeface="Pretendard"/>
                <a:cs typeface="Pretendard"/>
              </a:rPr>
              <a:t>터미널 </a:t>
            </a:r>
            <a:r>
              <a:rPr lang="en-US" altLang="ko-KR" sz="1200" b="1">
                <a:solidFill>
                  <a:srgbClr val="94A3B8"/>
                </a:solidFill>
                <a:latin typeface="Pretendard"/>
                <a:ea typeface="Pretendard"/>
                <a:cs typeface="Pretendard"/>
              </a:rPr>
              <a:t>3</a:t>
            </a:r>
            <a:endParaRPr lang="ko-KR" altLang="en-US" sz="1200" b="1">
              <a:solidFill>
                <a:srgbClr val="94A3B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13EF07-2758-42D4-B7C2-EDF110F60810}"/>
              </a:ext>
            </a:extLst>
          </p:cNvPr>
          <p:cNvSpPr txBox="1"/>
          <p:nvPr/>
        </p:nvSpPr>
        <p:spPr>
          <a:xfrm>
            <a:off x="2159000" y="3784600"/>
            <a:ext cx="660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FFFFFF"/>
                </a:solidFill>
                <a:latin typeface="Consolas"/>
              </a:rPr>
              <a:t>~/repo-worktree-feature-c $ aspire run</a:t>
            </a:r>
            <a:endParaRPr lang="ko-KR" altLang="en-US" sz="130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4BFD00-1701-469E-BA97-50109D569202}"/>
              </a:ext>
            </a:extLst>
          </p:cNvPr>
          <p:cNvSpPr txBox="1"/>
          <p:nvPr/>
        </p:nvSpPr>
        <p:spPr>
          <a:xfrm>
            <a:off x="8890000" y="3784600"/>
            <a:ext cx="228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b="1">
                <a:solidFill>
                  <a:srgbClr val="10B981"/>
                </a:solidFill>
                <a:latin typeface="Consolas"/>
              </a:rPr>
              <a:t>→ 포트 </a:t>
            </a:r>
            <a:r>
              <a:rPr lang="en-US" altLang="ko-KR" sz="1300" b="1">
                <a:solidFill>
                  <a:srgbClr val="10B981"/>
                </a:solidFill>
                <a:latin typeface="Consolas"/>
              </a:rPr>
              <a:t>15890</a:t>
            </a:r>
            <a:endParaRPr lang="ko-KR" altLang="en-US" sz="1300" b="1">
              <a:solidFill>
                <a:srgbClr val="10B981"/>
              </a:solidFill>
              <a:latin typeface="Consola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86F3B6-4367-43A5-816C-45D5053650A0}"/>
              </a:ext>
            </a:extLst>
          </p:cNvPr>
          <p:cNvSpPr txBox="1"/>
          <p:nvPr/>
        </p:nvSpPr>
        <p:spPr>
          <a:xfrm>
            <a:off x="762000" y="4953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ko-KR" altLang="en-US" b="1" dirty="0">
                <a:solidFill>
                  <a:srgbClr val="94A3B8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DDD51C9-AE01-4565-9E4E-F0B686ACBA45}"/>
              </a:ext>
            </a:extLst>
          </p:cNvPr>
          <p:cNvSpPr/>
          <p:nvPr/>
        </p:nvSpPr>
        <p:spPr>
          <a:xfrm>
            <a:off x="762000" y="5334000"/>
            <a:ext cx="10668000" cy="762000"/>
          </a:xfrm>
          <a:prstGeom prst="rect">
            <a:avLst/>
          </a:prstGeom>
          <a:solidFill>
            <a:srgbClr val="EEF2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62A613-FD44-4F08-8E0A-946E624901A2}"/>
              </a:ext>
            </a:extLst>
          </p:cNvPr>
          <p:cNvSpPr txBox="1"/>
          <p:nvPr/>
        </p:nvSpPr>
        <p:spPr>
          <a:xfrm>
            <a:off x="1016000" y="54610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 b="1">
                <a:solidFill>
                  <a:srgbClr val="6366F1"/>
                </a:solidFill>
                <a:latin typeface="Pretendard"/>
                <a:ea typeface="Pretendard"/>
                <a:cs typeface="Pretendard"/>
              </a:rPr>
              <a:t>Claude Code</a:t>
            </a:r>
            <a:r>
              <a:rPr lang="ko-KR" altLang="en-US" sz="1500" b="1">
                <a:solidFill>
                  <a:srgbClr val="6366F1"/>
                </a:solidFill>
                <a:latin typeface="Pretendard"/>
                <a:ea typeface="Pretendard"/>
                <a:cs typeface="Pretendard"/>
              </a:rPr>
              <a:t>가 세 워크트리에서 병렬로 기능 개발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87000E-B292-46F3-998B-C7A61AE395FE}"/>
              </a:ext>
            </a:extLst>
          </p:cNvPr>
          <p:cNvSpPr txBox="1"/>
          <p:nvPr/>
        </p:nvSpPr>
        <p:spPr>
          <a:xfrm>
            <a:off x="1016000" y="57658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포트 </a:t>
            </a:r>
            <a:r>
              <a:rPr lang="en-US" altLang="ko-KR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리소스 이름 </a:t>
            </a:r>
            <a:r>
              <a:rPr lang="en-US" altLang="ko-KR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시크릿이 자동으로 격리되어 서로 간섭하지 않습니다</a:t>
            </a:r>
            <a:r>
              <a:rPr lang="en-US" altLang="ko-KR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300">
              <a:solidFill>
                <a:srgbClr val="47556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F90914-7CAE-4548-AC03-590A994CB983}"/>
              </a:ext>
            </a:extLst>
          </p:cNvPr>
          <p:cNvSpPr txBox="1"/>
          <p:nvPr/>
        </p:nvSpPr>
        <p:spPr>
          <a:xfrm>
            <a:off x="406400" y="64262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94A3B8"/>
                </a:solidFill>
                <a:latin typeface="Pretendard"/>
                <a:ea typeface="Pretendard"/>
                <a:cs typeface="Pretendard"/>
              </a:rPr>
              <a:t>.NET Universe Busan Edition - 2604</a:t>
            </a:r>
            <a:endParaRPr lang="ko-KR" altLang="en-US" sz="1000">
              <a:solidFill>
                <a:srgbClr val="94A3B8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60727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35BE94-8658-4335-AC63-8C48367C1D5A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+mn-ea"/>
                <a:cs typeface="Pretendard"/>
              </a:rPr>
              <a:t>POLYGLOT · ISOLATED</a:t>
            </a:r>
            <a:endParaRPr lang="ko-KR" altLang="en-US" sz="11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8084C4-E691-4F4A-B7EE-07E824701968}"/>
              </a:ext>
            </a:extLst>
          </p:cNvPr>
          <p:cNvSpPr txBox="1"/>
          <p:nvPr/>
        </p:nvSpPr>
        <p:spPr>
          <a:xfrm>
            <a:off x="762000" y="11684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 dirty="0">
                <a:solidFill>
                  <a:srgbClr val="0A0A0A"/>
                </a:solidFill>
                <a:latin typeface="+mn-ea"/>
                <a:cs typeface="Pretendard"/>
              </a:rPr>
              <a:t>원하는 언어로 멀티 </a:t>
            </a:r>
            <a:r>
              <a:rPr lang="en-US" altLang="ko-KR" sz="3200" b="1" dirty="0">
                <a:solidFill>
                  <a:srgbClr val="0A0A0A"/>
                </a:solidFill>
                <a:latin typeface="+mn-ea"/>
                <a:cs typeface="Pretendard"/>
              </a:rPr>
              <a:t>AI </a:t>
            </a:r>
            <a:r>
              <a:rPr lang="ko-KR" altLang="en-US" sz="3200" b="1" dirty="0">
                <a:solidFill>
                  <a:srgbClr val="0A0A0A"/>
                </a:solidFill>
                <a:latin typeface="+mn-ea"/>
                <a:cs typeface="Pretendard"/>
              </a:rPr>
              <a:t>에이전트 활용하기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758A71-105D-42D3-8C04-845585B678FE}"/>
              </a:ext>
            </a:extLst>
          </p:cNvPr>
          <p:cNvSpPr txBox="1"/>
          <p:nvPr/>
        </p:nvSpPr>
        <p:spPr>
          <a:xfrm>
            <a:off x="762000" y="24765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6366F1"/>
                </a:solidFill>
                <a:latin typeface="+mn-ea"/>
                <a:cs typeface="Pretendard"/>
              </a:rPr>
              <a:t>APPHOST LANGUAGE</a:t>
            </a:r>
            <a:endParaRPr lang="ko-KR" altLang="en-US" sz="10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9398CAA-0C3F-4C2E-9A81-69EF365DA441}"/>
              </a:ext>
            </a:extLst>
          </p:cNvPr>
          <p:cNvSpPr/>
          <p:nvPr/>
        </p:nvSpPr>
        <p:spPr>
          <a:xfrm>
            <a:off x="762000" y="3060700"/>
            <a:ext cx="127000" cy="127000"/>
          </a:xfrm>
          <a:prstGeom prst="ellipse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52E268-9019-450B-9C59-025F08E7BAC8}"/>
              </a:ext>
            </a:extLst>
          </p:cNvPr>
          <p:cNvSpPr txBox="1"/>
          <p:nvPr/>
        </p:nvSpPr>
        <p:spPr>
          <a:xfrm>
            <a:off x="1041400" y="2857500"/>
            <a:ext cx="457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b="1">
                <a:solidFill>
                  <a:srgbClr val="0A0A0A"/>
                </a:solidFill>
                <a:latin typeface="+mn-ea"/>
                <a:cs typeface="Pretendard"/>
              </a:rPr>
              <a:t>C#</a:t>
            </a:r>
            <a:endParaRPr lang="ko-KR" altLang="en-US" b="1">
              <a:solidFill>
                <a:srgbClr val="0A0A0A"/>
              </a:solidFill>
              <a:latin typeface="+mn-ea"/>
              <a:cs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11D52-CFB7-4B06-B3D1-5291E6972BE9}"/>
              </a:ext>
            </a:extLst>
          </p:cNvPr>
          <p:cNvSpPr txBox="1"/>
          <p:nvPr/>
        </p:nvSpPr>
        <p:spPr>
          <a:xfrm>
            <a:off x="1041400" y="32131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dirty="0">
                <a:solidFill>
                  <a:srgbClr val="64748B"/>
                </a:solidFill>
                <a:latin typeface="+mn-ea"/>
                <a:cs typeface="Pretendard"/>
              </a:rPr>
              <a:t>Aspire</a:t>
            </a:r>
            <a:r>
              <a:rPr lang="ko-KR" altLang="en-US" sz="1300" dirty="0">
                <a:solidFill>
                  <a:srgbClr val="64748B"/>
                </a:solidFill>
                <a:latin typeface="+mn-ea"/>
                <a:cs typeface="Pretendard"/>
              </a:rPr>
              <a:t> 초기 부터 지원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6AC158B-D52E-4A46-B268-18C33541CD2A}"/>
              </a:ext>
            </a:extLst>
          </p:cNvPr>
          <p:cNvSpPr/>
          <p:nvPr/>
        </p:nvSpPr>
        <p:spPr>
          <a:xfrm>
            <a:off x="762000" y="3949700"/>
            <a:ext cx="127000" cy="127000"/>
          </a:xfrm>
          <a:prstGeom prst="ellipse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5D1819-41B8-4F71-A403-71AF6DC411EC}"/>
              </a:ext>
            </a:extLst>
          </p:cNvPr>
          <p:cNvSpPr txBox="1"/>
          <p:nvPr/>
        </p:nvSpPr>
        <p:spPr>
          <a:xfrm>
            <a:off x="1041400" y="3746500"/>
            <a:ext cx="457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b="1">
                <a:solidFill>
                  <a:srgbClr val="0A0A0A"/>
                </a:solidFill>
                <a:latin typeface="+mn-ea"/>
                <a:cs typeface="Pretendard"/>
              </a:rPr>
              <a:t>TypeScript</a:t>
            </a:r>
            <a:endParaRPr lang="ko-KR" altLang="en-US" b="1">
              <a:solidFill>
                <a:srgbClr val="0A0A0A"/>
              </a:solidFill>
              <a:latin typeface="+mn-ea"/>
              <a:cs typeface="Pretendar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29C88A-BADA-490F-BA99-61F0EB66D3B5}"/>
              </a:ext>
            </a:extLst>
          </p:cNvPr>
          <p:cNvSpPr txBox="1"/>
          <p:nvPr/>
        </p:nvSpPr>
        <p:spPr>
          <a:xfrm>
            <a:off x="1041400" y="41021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dirty="0">
                <a:solidFill>
                  <a:srgbClr val="64748B"/>
                </a:solidFill>
                <a:latin typeface="+mn-ea"/>
                <a:cs typeface="Pretendard"/>
              </a:rPr>
              <a:t>Aspire 13 </a:t>
            </a:r>
            <a:r>
              <a:rPr lang="ko-KR" altLang="en-US" sz="1300" dirty="0">
                <a:solidFill>
                  <a:srgbClr val="64748B"/>
                </a:solidFill>
                <a:latin typeface="+mn-ea"/>
                <a:cs typeface="Pretendard"/>
              </a:rPr>
              <a:t>이후 베타 버전 지원 시작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9A842B8-43EE-41B4-9C77-4B451A144F20}"/>
              </a:ext>
            </a:extLst>
          </p:cNvPr>
          <p:cNvSpPr/>
          <p:nvPr/>
        </p:nvSpPr>
        <p:spPr>
          <a:xfrm>
            <a:off x="762000" y="4838700"/>
            <a:ext cx="127000" cy="127000"/>
          </a:xfrm>
          <a:prstGeom prst="ellipse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0F1DB6-5AC2-4C5D-AC2C-7FFAF4FA4DC1}"/>
              </a:ext>
            </a:extLst>
          </p:cNvPr>
          <p:cNvSpPr txBox="1"/>
          <p:nvPr/>
        </p:nvSpPr>
        <p:spPr>
          <a:xfrm>
            <a:off x="1041400" y="4635500"/>
            <a:ext cx="457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b="1">
                <a:solidFill>
                  <a:srgbClr val="0A0A0A"/>
                </a:solidFill>
                <a:latin typeface="+mn-ea"/>
                <a:cs typeface="Pretendard"/>
              </a:rPr>
              <a:t>Java · Go · Rust</a:t>
            </a:r>
            <a:endParaRPr lang="ko-KR" altLang="en-US" b="1">
              <a:solidFill>
                <a:srgbClr val="0A0A0A"/>
              </a:solidFill>
              <a:latin typeface="+mn-ea"/>
              <a:cs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6F0512-82CC-4199-8F52-BBD4164758B8}"/>
              </a:ext>
            </a:extLst>
          </p:cNvPr>
          <p:cNvSpPr txBox="1"/>
          <p:nvPr/>
        </p:nvSpPr>
        <p:spPr>
          <a:xfrm>
            <a:off x="1041400" y="4991100"/>
            <a:ext cx="457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dirty="0">
                <a:solidFill>
                  <a:srgbClr val="64748B"/>
                </a:solidFill>
                <a:latin typeface="+mn-ea"/>
                <a:cs typeface="Pretendard"/>
              </a:rPr>
              <a:t>향후 지원 예정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349A4BD-7DE2-4275-842F-305CA38D4894}"/>
              </a:ext>
            </a:extLst>
          </p:cNvPr>
          <p:cNvSpPr/>
          <p:nvPr/>
        </p:nvSpPr>
        <p:spPr>
          <a:xfrm>
            <a:off x="6096000" y="2476500"/>
            <a:ext cx="12700" cy="35560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4F7585-F26E-44F3-99D0-1CF3C9E1786C}"/>
              </a:ext>
            </a:extLst>
          </p:cNvPr>
          <p:cNvSpPr txBox="1"/>
          <p:nvPr/>
        </p:nvSpPr>
        <p:spPr>
          <a:xfrm>
            <a:off x="6477000" y="24765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6366F1"/>
                </a:solidFill>
                <a:latin typeface="+mn-ea"/>
                <a:cs typeface="Pretendard"/>
              </a:rPr>
              <a:t>ISOLATED MODE</a:t>
            </a:r>
            <a:endParaRPr lang="ko-KR" altLang="en-US" sz="10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3F925C-264E-48DB-ACF1-DF1FF34F0889}"/>
              </a:ext>
            </a:extLst>
          </p:cNvPr>
          <p:cNvSpPr txBox="1"/>
          <p:nvPr/>
        </p:nvSpPr>
        <p:spPr>
          <a:xfrm>
            <a:off x="6477000" y="28575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 dirty="0">
                <a:solidFill>
                  <a:srgbClr val="0A0A0A"/>
                </a:solidFill>
                <a:latin typeface="+mn-ea"/>
                <a:cs typeface="Pretendard"/>
              </a:rPr>
              <a:t>여러 </a:t>
            </a:r>
            <a:r>
              <a:rPr lang="en-US" altLang="ko-KR" sz="2000" b="1" dirty="0" err="1">
                <a:solidFill>
                  <a:srgbClr val="0A0A0A"/>
                </a:solidFill>
                <a:latin typeface="+mn-ea"/>
                <a:cs typeface="Pretendard"/>
              </a:rPr>
              <a:t>AppHost</a:t>
            </a:r>
            <a:r>
              <a:rPr lang="ko-KR" altLang="en-US" sz="2000" b="1" dirty="0">
                <a:solidFill>
                  <a:srgbClr val="0A0A0A"/>
                </a:solidFill>
                <a:latin typeface="+mn-ea"/>
                <a:cs typeface="Pretendard"/>
              </a:rPr>
              <a:t>를 나란히</a:t>
            </a:r>
            <a:r>
              <a:rPr lang="en-US" altLang="ko-KR" sz="2000" b="1" dirty="0">
                <a:solidFill>
                  <a:srgbClr val="0A0A0A"/>
                </a:solidFill>
                <a:latin typeface="+mn-ea"/>
                <a:cs typeface="Pretendard"/>
              </a:rPr>
              <a:t> </a:t>
            </a:r>
            <a:r>
              <a:rPr lang="ko-KR" altLang="en-US" sz="2000" b="1" dirty="0">
                <a:solidFill>
                  <a:srgbClr val="0A0A0A"/>
                </a:solidFill>
                <a:latin typeface="+mn-ea"/>
                <a:cs typeface="Pretendard"/>
              </a:rPr>
              <a:t>실행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1C5C1A-DABE-4526-ADC9-EE060C346B14}"/>
              </a:ext>
            </a:extLst>
          </p:cNvPr>
          <p:cNvSpPr txBox="1"/>
          <p:nvPr/>
        </p:nvSpPr>
        <p:spPr>
          <a:xfrm>
            <a:off x="6477000" y="34290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EC4899"/>
                </a:solidFill>
                <a:latin typeface="+mn-ea"/>
                <a:cs typeface="Pretendard"/>
              </a:rPr>
              <a:t>→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7595BD-5B36-4BCD-BF3B-6F179288A39C}"/>
              </a:ext>
            </a:extLst>
          </p:cNvPr>
          <p:cNvSpPr txBox="1"/>
          <p:nvPr/>
        </p:nvSpPr>
        <p:spPr>
          <a:xfrm>
            <a:off x="6781800" y="3429000"/>
            <a:ext cx="4648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1F2937"/>
                </a:solidFill>
                <a:latin typeface="+mn-ea"/>
                <a:cs typeface="Pretendard"/>
              </a:rPr>
              <a:t>AI </a:t>
            </a:r>
            <a:r>
              <a:rPr lang="ko-KR" altLang="en-US" sz="1300">
                <a:solidFill>
                  <a:srgbClr val="1F2937"/>
                </a:solidFill>
                <a:latin typeface="+mn-ea"/>
                <a:cs typeface="Pretendard"/>
              </a:rPr>
              <a:t>에이전트가 동일 </a:t>
            </a:r>
            <a:r>
              <a:rPr lang="en-US" altLang="ko-KR" sz="1300">
                <a:solidFill>
                  <a:srgbClr val="1F2937"/>
                </a:solidFill>
                <a:latin typeface="+mn-ea"/>
                <a:cs typeface="Pretendard"/>
              </a:rPr>
              <a:t>AppHost</a:t>
            </a:r>
            <a:r>
              <a:rPr lang="ko-KR" altLang="en-US" sz="1300">
                <a:solidFill>
                  <a:srgbClr val="1F2937"/>
                </a:solidFill>
                <a:latin typeface="+mn-ea"/>
                <a:cs typeface="Pretendard"/>
              </a:rPr>
              <a:t>를 병렬로 기동해도 안전</a:t>
            </a:r>
            <a:r>
              <a:rPr lang="en-US" altLang="ko-KR" sz="1300">
                <a:solidFill>
                  <a:srgbClr val="1F2937"/>
                </a:solidFill>
                <a:latin typeface="+mn-ea"/>
                <a:cs typeface="Pretendard"/>
              </a:rPr>
              <a:t>.</a:t>
            </a:r>
            <a:endParaRPr lang="ko-KR" altLang="en-US" sz="1300">
              <a:solidFill>
                <a:srgbClr val="1F2937"/>
              </a:solidFill>
              <a:latin typeface="+mn-ea"/>
              <a:cs typeface="Pretendar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37B567-FD56-4982-9B1C-A5D5E3D2FBD5}"/>
              </a:ext>
            </a:extLst>
          </p:cNvPr>
          <p:cNvSpPr txBox="1"/>
          <p:nvPr/>
        </p:nvSpPr>
        <p:spPr>
          <a:xfrm>
            <a:off x="6477000" y="40386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EC4899"/>
                </a:solidFill>
                <a:latin typeface="+mn-ea"/>
                <a:cs typeface="Pretendard"/>
              </a:rPr>
              <a:t>→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2DD8B2-B38B-4AB7-B911-CEDA76C6A30B}"/>
              </a:ext>
            </a:extLst>
          </p:cNvPr>
          <p:cNvSpPr txBox="1"/>
          <p:nvPr/>
        </p:nvSpPr>
        <p:spPr>
          <a:xfrm>
            <a:off x="6781800" y="4038600"/>
            <a:ext cx="4648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dirty="0">
                <a:solidFill>
                  <a:srgbClr val="1F2937"/>
                </a:solidFill>
                <a:latin typeface="+mn-ea"/>
                <a:cs typeface="Pretendard"/>
              </a:rPr>
              <a:t>git </a:t>
            </a:r>
            <a:r>
              <a:rPr lang="en-US" altLang="ko-KR" sz="1300" dirty="0" err="1">
                <a:solidFill>
                  <a:srgbClr val="1F2937"/>
                </a:solidFill>
                <a:latin typeface="+mn-ea"/>
                <a:cs typeface="Pretendard"/>
              </a:rPr>
              <a:t>worktree</a:t>
            </a:r>
            <a:r>
              <a:rPr lang="ko-KR" altLang="en-US" sz="1300" dirty="0">
                <a:solidFill>
                  <a:srgbClr val="1F2937"/>
                </a:solidFill>
                <a:latin typeface="+mn-ea"/>
                <a:cs typeface="Pretendard"/>
              </a:rPr>
              <a:t>마다 독립된 환경을 띄울 수 있다</a:t>
            </a:r>
            <a:r>
              <a:rPr lang="en-US" altLang="ko-KR" sz="1300" dirty="0">
                <a:solidFill>
                  <a:srgbClr val="1F2937"/>
                </a:solidFill>
                <a:latin typeface="+mn-ea"/>
                <a:cs typeface="Pretendard"/>
              </a:rPr>
              <a:t>.</a:t>
            </a:r>
            <a:endParaRPr lang="ko-KR" altLang="en-US" sz="1300" dirty="0">
              <a:solidFill>
                <a:srgbClr val="1F2937"/>
              </a:solidFill>
              <a:latin typeface="+mn-ea"/>
              <a:cs typeface="Pretendar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140456-8CED-4557-AD6A-EA91D515827A}"/>
              </a:ext>
            </a:extLst>
          </p:cNvPr>
          <p:cNvSpPr txBox="1"/>
          <p:nvPr/>
        </p:nvSpPr>
        <p:spPr>
          <a:xfrm>
            <a:off x="6477000" y="4648200"/>
            <a:ext cx="25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EC4899"/>
                </a:solidFill>
                <a:latin typeface="+mn-ea"/>
                <a:cs typeface="Pretendard"/>
              </a:rPr>
              <a:t>→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EAA692-551A-488F-9EFE-EA2E3212DA58}"/>
              </a:ext>
            </a:extLst>
          </p:cNvPr>
          <p:cNvSpPr txBox="1"/>
          <p:nvPr/>
        </p:nvSpPr>
        <p:spPr>
          <a:xfrm>
            <a:off x="6781800" y="4648200"/>
            <a:ext cx="4648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1F2937"/>
                </a:solidFill>
                <a:latin typeface="+mn-ea"/>
                <a:cs typeface="Pretendard"/>
              </a:rPr>
              <a:t>포트 </a:t>
            </a:r>
            <a:r>
              <a:rPr lang="en-US" altLang="ko-KR" sz="1300">
                <a:solidFill>
                  <a:srgbClr val="1F2937"/>
                </a:solidFill>
                <a:latin typeface="+mn-ea"/>
                <a:cs typeface="Pretendard"/>
              </a:rPr>
              <a:t>· </a:t>
            </a:r>
            <a:r>
              <a:rPr lang="ko-KR" altLang="en-US" sz="1300">
                <a:solidFill>
                  <a:srgbClr val="1F2937"/>
                </a:solidFill>
                <a:latin typeface="+mn-ea"/>
                <a:cs typeface="Pretendard"/>
              </a:rPr>
              <a:t>시크릿 </a:t>
            </a:r>
            <a:r>
              <a:rPr lang="en-US" altLang="ko-KR" sz="1300">
                <a:solidFill>
                  <a:srgbClr val="1F2937"/>
                </a:solidFill>
                <a:latin typeface="+mn-ea"/>
                <a:cs typeface="Pretendard"/>
              </a:rPr>
              <a:t>· </a:t>
            </a:r>
            <a:r>
              <a:rPr lang="ko-KR" altLang="en-US" sz="1300">
                <a:solidFill>
                  <a:srgbClr val="1F2937"/>
                </a:solidFill>
                <a:latin typeface="+mn-ea"/>
                <a:cs typeface="Pretendard"/>
              </a:rPr>
              <a:t>리소스 이름이 충돌하지 않는다</a:t>
            </a:r>
            <a:r>
              <a:rPr lang="en-US" altLang="ko-KR" sz="1300">
                <a:solidFill>
                  <a:srgbClr val="1F2937"/>
                </a:solidFill>
                <a:latin typeface="+mn-ea"/>
                <a:cs typeface="Pretendard"/>
              </a:rPr>
              <a:t>.</a:t>
            </a:r>
            <a:endParaRPr lang="ko-KR" altLang="en-US" sz="1300">
              <a:solidFill>
                <a:srgbClr val="1F2937"/>
              </a:solidFill>
              <a:latin typeface="+mn-ea"/>
              <a:cs typeface="Pretendar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0460B1-8A27-09EA-CD75-343B79F1E7E7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Universe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Busan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Edition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-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2604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53CB735-370B-2B6A-18F4-4CB9CBA9B33B}"/>
              </a:ext>
            </a:extLst>
          </p:cNvPr>
          <p:cNvSpPr/>
          <p:nvPr/>
        </p:nvSpPr>
        <p:spPr>
          <a:xfrm>
            <a:off x="857250" y="89535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34007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0FE8F8-89CB-469D-85F7-27B2462384AE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+mn-ea"/>
                <a:cs typeface="Pretendard"/>
              </a:rPr>
              <a:t>ARCHITECTURE</a:t>
            </a:r>
            <a:endParaRPr lang="ko-KR" altLang="en-US" sz="11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420937-5162-47E2-B3E9-A3F459ABDABC}"/>
              </a:ext>
            </a:extLst>
          </p:cNvPr>
          <p:cNvSpPr txBox="1"/>
          <p:nvPr/>
        </p:nvSpPr>
        <p:spPr>
          <a:xfrm>
            <a:off x="762000" y="11684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 dirty="0">
                <a:solidFill>
                  <a:srgbClr val="0A0A0A"/>
                </a:solidFill>
                <a:latin typeface="+mn-ea"/>
                <a:cs typeface="Pretendard"/>
              </a:rPr>
              <a:t>세 개의 서비스</a:t>
            </a:r>
            <a:r>
              <a:rPr lang="en-US" altLang="ko-KR" sz="3200" b="1" dirty="0">
                <a:solidFill>
                  <a:srgbClr val="0A0A0A"/>
                </a:solidFill>
                <a:latin typeface="+mn-ea"/>
                <a:cs typeface="Pretendard"/>
              </a:rPr>
              <a:t>, </a:t>
            </a:r>
            <a:r>
              <a:rPr lang="ko-KR" altLang="en-US" sz="3200" b="1" dirty="0">
                <a:solidFill>
                  <a:srgbClr val="0A0A0A"/>
                </a:solidFill>
                <a:latin typeface="+mn-ea"/>
                <a:cs typeface="Pretendard"/>
              </a:rPr>
              <a:t>하나의 캐시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BF4ECB-43B4-460B-8EA6-EE30F1996CA0}"/>
              </a:ext>
            </a:extLst>
          </p:cNvPr>
          <p:cNvSpPr/>
          <p:nvPr/>
        </p:nvSpPr>
        <p:spPr>
          <a:xfrm>
            <a:off x="762000" y="2667000"/>
            <a:ext cx="3048000" cy="508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19A8A66-9357-425D-8D19-4F1A9D8D7AC9}"/>
              </a:ext>
            </a:extLst>
          </p:cNvPr>
          <p:cNvSpPr/>
          <p:nvPr/>
        </p:nvSpPr>
        <p:spPr>
          <a:xfrm>
            <a:off x="762000" y="2717800"/>
            <a:ext cx="3048000" cy="27432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CAA3BA-67DA-43B4-8D0F-A26C6F38ED5A}"/>
              </a:ext>
            </a:extLst>
          </p:cNvPr>
          <p:cNvSpPr txBox="1"/>
          <p:nvPr/>
        </p:nvSpPr>
        <p:spPr>
          <a:xfrm>
            <a:off x="1016000" y="29210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6366F1"/>
                </a:solidFill>
                <a:latin typeface="+mn-ea"/>
                <a:cs typeface="Pretendard"/>
              </a:rPr>
              <a:t>WEB API</a:t>
            </a:r>
            <a:endParaRPr lang="ko-KR" altLang="en-US" sz="10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CAC8B7-2524-414F-B82E-18A5DDA24CE1}"/>
              </a:ext>
            </a:extLst>
          </p:cNvPr>
          <p:cNvSpPr txBox="1"/>
          <p:nvPr/>
        </p:nvSpPr>
        <p:spPr>
          <a:xfrm>
            <a:off x="1016000" y="3200400"/>
            <a:ext cx="2540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400" b="1" dirty="0" err="1">
                <a:solidFill>
                  <a:srgbClr val="0A0A0A"/>
                </a:solidFill>
                <a:latin typeface="+mn-ea"/>
                <a:cs typeface="Pretendard"/>
              </a:rPr>
              <a:t>WebApi</a:t>
            </a:r>
            <a:endParaRPr lang="ko-KR" altLang="en-US" sz="2400" b="1" dirty="0">
              <a:solidFill>
                <a:srgbClr val="0A0A0A"/>
              </a:solidFill>
              <a:latin typeface="+mn-ea"/>
              <a:cs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2AE484-8F92-4F57-B138-6992085D08C5}"/>
              </a:ext>
            </a:extLst>
          </p:cNvPr>
          <p:cNvSpPr txBox="1"/>
          <p:nvPr/>
        </p:nvSpPr>
        <p:spPr>
          <a:xfrm>
            <a:off x="1016000" y="3708400"/>
            <a:ext cx="2540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HTTP </a:t>
            </a:r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요청을 받아 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Redis</a:t>
            </a:r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에 조회수를 올리고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,
</a:t>
            </a:r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현재 값을 응답한다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3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E5E89D-94DB-41B7-88BA-CDA2C1EA0D58}"/>
              </a:ext>
            </a:extLst>
          </p:cNvPr>
          <p:cNvSpPr/>
          <p:nvPr/>
        </p:nvSpPr>
        <p:spPr>
          <a:xfrm>
            <a:off x="1016000" y="4826000"/>
            <a:ext cx="2540000" cy="4064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FE6B18-3517-495B-BD55-4E0E0F21CAAA}"/>
              </a:ext>
            </a:extLst>
          </p:cNvPr>
          <p:cNvSpPr txBox="1"/>
          <p:nvPr/>
        </p:nvSpPr>
        <p:spPr>
          <a:xfrm>
            <a:off x="1117600" y="4902200"/>
            <a:ext cx="2336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A5B4FC"/>
                </a:solidFill>
                <a:latin typeface="+mn-ea"/>
              </a:rPr>
              <a:t>POST /visit · GET /count</a:t>
            </a:r>
            <a:endParaRPr lang="ko-KR" altLang="en-US" sz="1100">
              <a:solidFill>
                <a:srgbClr val="A5B4FC"/>
              </a:solidFill>
              <a:latin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D73D701-B038-4F45-9DAB-A9998F325812}"/>
              </a:ext>
            </a:extLst>
          </p:cNvPr>
          <p:cNvSpPr/>
          <p:nvPr/>
        </p:nvSpPr>
        <p:spPr>
          <a:xfrm>
            <a:off x="4572000" y="2667000"/>
            <a:ext cx="3048000" cy="50800"/>
          </a:xfrm>
          <a:prstGeom prst="rect">
            <a:avLst/>
          </a:prstGeom>
          <a:solidFill>
            <a:srgbClr val="EC48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5DFD201-094E-4734-9F4E-6662AD375BA9}"/>
              </a:ext>
            </a:extLst>
          </p:cNvPr>
          <p:cNvSpPr/>
          <p:nvPr/>
        </p:nvSpPr>
        <p:spPr>
          <a:xfrm>
            <a:off x="4572000" y="2717800"/>
            <a:ext cx="3048000" cy="27432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89661D-F853-4BF2-95E6-2417ED9F357A}"/>
              </a:ext>
            </a:extLst>
          </p:cNvPr>
          <p:cNvSpPr txBox="1"/>
          <p:nvPr/>
        </p:nvSpPr>
        <p:spPr>
          <a:xfrm>
            <a:off x="4826000" y="29210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EC4899"/>
                </a:solidFill>
                <a:latin typeface="+mn-ea"/>
                <a:cs typeface="Pretendard"/>
              </a:rPr>
              <a:t>CACHE</a:t>
            </a:r>
            <a:endParaRPr lang="ko-KR" altLang="en-US" sz="1000" b="1">
              <a:solidFill>
                <a:srgbClr val="EC4899"/>
              </a:solidFill>
              <a:latin typeface="+mn-ea"/>
              <a:cs typeface="Pretendar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4C3078-E806-4656-8E79-6CAFC69BFB71}"/>
              </a:ext>
            </a:extLst>
          </p:cNvPr>
          <p:cNvSpPr txBox="1"/>
          <p:nvPr/>
        </p:nvSpPr>
        <p:spPr>
          <a:xfrm>
            <a:off x="4826000" y="3200400"/>
            <a:ext cx="2540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400" b="1">
                <a:solidFill>
                  <a:srgbClr val="0A0A0A"/>
                </a:solidFill>
                <a:latin typeface="+mn-ea"/>
                <a:cs typeface="Pretendard"/>
              </a:rPr>
              <a:t>Redis</a:t>
            </a:r>
            <a:endParaRPr lang="ko-KR" altLang="en-US" sz="2400" b="1">
              <a:solidFill>
                <a:srgbClr val="0A0A0A"/>
              </a:solidFill>
              <a:latin typeface="+mn-ea"/>
              <a:cs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E3EB42-ECB4-47DD-B882-E1A73AECD450}"/>
              </a:ext>
            </a:extLst>
          </p:cNvPr>
          <p:cNvSpPr txBox="1"/>
          <p:nvPr/>
        </p:nvSpPr>
        <p:spPr>
          <a:xfrm>
            <a:off x="4826000" y="3708400"/>
            <a:ext cx="2540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공유 상태 저장소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.
Aspire</a:t>
            </a:r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가 컨테이너로 자동 기동한다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3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B2CFDF5-499B-407F-A1A9-2898295A0ED1}"/>
              </a:ext>
            </a:extLst>
          </p:cNvPr>
          <p:cNvSpPr/>
          <p:nvPr/>
        </p:nvSpPr>
        <p:spPr>
          <a:xfrm>
            <a:off x="4826000" y="4826000"/>
            <a:ext cx="2540000" cy="4064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0D8BF0-9571-4E28-8195-9DD6DFA14E93}"/>
              </a:ext>
            </a:extLst>
          </p:cNvPr>
          <p:cNvSpPr txBox="1"/>
          <p:nvPr/>
        </p:nvSpPr>
        <p:spPr>
          <a:xfrm>
            <a:off x="4927600" y="4902200"/>
            <a:ext cx="2336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A5B4FC"/>
                </a:solidFill>
                <a:latin typeface="+mn-ea"/>
              </a:rPr>
              <a:t>key: visits / events</a:t>
            </a:r>
            <a:endParaRPr lang="ko-KR" altLang="en-US" sz="1100">
              <a:solidFill>
                <a:srgbClr val="A5B4FC"/>
              </a:solidFill>
              <a:latin typeface="+mn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F402497-0901-4D24-959C-515FA257710F}"/>
              </a:ext>
            </a:extLst>
          </p:cNvPr>
          <p:cNvSpPr/>
          <p:nvPr/>
        </p:nvSpPr>
        <p:spPr>
          <a:xfrm>
            <a:off x="8382000" y="2667000"/>
            <a:ext cx="3048000" cy="508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AD33A15-8E28-480E-B1CA-13E458CF222D}"/>
              </a:ext>
            </a:extLst>
          </p:cNvPr>
          <p:cNvSpPr/>
          <p:nvPr/>
        </p:nvSpPr>
        <p:spPr>
          <a:xfrm>
            <a:off x="8382000" y="2717800"/>
            <a:ext cx="3048000" cy="27432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1B046B-19C6-4000-B19E-C06C022ECC8F}"/>
              </a:ext>
            </a:extLst>
          </p:cNvPr>
          <p:cNvSpPr txBox="1"/>
          <p:nvPr/>
        </p:nvSpPr>
        <p:spPr>
          <a:xfrm>
            <a:off x="8636000" y="29210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10B981"/>
                </a:solidFill>
                <a:latin typeface="+mn-ea"/>
                <a:cs typeface="Pretendard"/>
              </a:rPr>
              <a:t>WORKER</a:t>
            </a:r>
            <a:endParaRPr lang="ko-KR" altLang="en-US" sz="1000" b="1">
              <a:solidFill>
                <a:srgbClr val="10B981"/>
              </a:solidFill>
              <a:latin typeface="+mn-ea"/>
              <a:cs typeface="Pretendar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BBC174-C794-4946-92E8-B1FEC66532D9}"/>
              </a:ext>
            </a:extLst>
          </p:cNvPr>
          <p:cNvSpPr txBox="1"/>
          <p:nvPr/>
        </p:nvSpPr>
        <p:spPr>
          <a:xfrm>
            <a:off x="8636000" y="3200400"/>
            <a:ext cx="2540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400" b="1">
                <a:solidFill>
                  <a:srgbClr val="0A0A0A"/>
                </a:solidFill>
                <a:latin typeface="+mn-ea"/>
                <a:cs typeface="Pretendard"/>
              </a:rPr>
              <a:t>Worker</a:t>
            </a:r>
            <a:endParaRPr lang="ko-KR" altLang="en-US" sz="2400" b="1">
              <a:solidFill>
                <a:srgbClr val="0A0A0A"/>
              </a:solidFill>
              <a:latin typeface="+mn-ea"/>
              <a:cs typeface="Pretendar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1DB58D-8B80-40CF-AE29-442E72AAD906}"/>
              </a:ext>
            </a:extLst>
          </p:cNvPr>
          <p:cNvSpPr txBox="1"/>
          <p:nvPr/>
        </p:nvSpPr>
        <p:spPr>
          <a:xfrm>
            <a:off x="8636000" y="3708400"/>
            <a:ext cx="2540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백그라운드 루프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. </a:t>
            </a:r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큐를 꺼내
집계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·</a:t>
            </a:r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가공한 뒤 다시 저장한다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3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05067AD-8F7F-4804-A31F-9E99DF2B00DD}"/>
              </a:ext>
            </a:extLst>
          </p:cNvPr>
          <p:cNvSpPr/>
          <p:nvPr/>
        </p:nvSpPr>
        <p:spPr>
          <a:xfrm>
            <a:off x="8636000" y="4826000"/>
            <a:ext cx="2540000" cy="4064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FF3DB2-858D-4008-AC58-571A28C7BD6F}"/>
              </a:ext>
            </a:extLst>
          </p:cNvPr>
          <p:cNvSpPr txBox="1"/>
          <p:nvPr/>
        </p:nvSpPr>
        <p:spPr>
          <a:xfrm>
            <a:off x="8737600" y="4902200"/>
            <a:ext cx="2336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A5B4FC"/>
                </a:solidFill>
                <a:latin typeface="+mn-ea"/>
              </a:rPr>
              <a:t>every 2s · aggregate()</a:t>
            </a:r>
            <a:endParaRPr lang="ko-KR" altLang="en-US" sz="1100">
              <a:solidFill>
                <a:srgbClr val="A5B4FC"/>
              </a:solidFill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463637-A019-485E-9D52-A595191ECDDC}"/>
              </a:ext>
            </a:extLst>
          </p:cNvPr>
          <p:cNvSpPr txBox="1"/>
          <p:nvPr/>
        </p:nvSpPr>
        <p:spPr>
          <a:xfrm>
            <a:off x="3810000" y="39370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>
                <a:solidFill>
                  <a:srgbClr val="CBD5E1"/>
                </a:solidFill>
                <a:latin typeface="+mn-ea"/>
              </a:rPr>
              <a:t>⟷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13A837-3287-4976-98A0-A833CB4314CD}"/>
              </a:ext>
            </a:extLst>
          </p:cNvPr>
          <p:cNvSpPr txBox="1"/>
          <p:nvPr/>
        </p:nvSpPr>
        <p:spPr>
          <a:xfrm>
            <a:off x="7620000" y="3937000"/>
            <a:ext cx="76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>
                <a:solidFill>
                  <a:srgbClr val="CBD5E1"/>
                </a:solidFill>
                <a:latin typeface="+mn-ea"/>
              </a:rPr>
              <a:t>⟷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3F0C95-EFC4-4DDC-BCD7-3075427B1E47}"/>
              </a:ext>
            </a:extLst>
          </p:cNvPr>
          <p:cNvSpPr txBox="1"/>
          <p:nvPr/>
        </p:nvSpPr>
        <p:spPr>
          <a:xfrm>
            <a:off x="762000" y="5778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i="1">
                <a:solidFill>
                  <a:srgbClr val="64748B"/>
                </a:solidFill>
                <a:latin typeface="+mn-ea"/>
                <a:cs typeface="Pretendard"/>
              </a:rPr>
              <a:t>모든 연결 </a:t>
            </a:r>
            <a:r>
              <a:rPr lang="en-US" altLang="ko-KR" sz="1300" i="1">
                <a:solidFill>
                  <a:srgbClr val="64748B"/>
                </a:solidFill>
                <a:latin typeface="+mn-ea"/>
                <a:cs typeface="Pretendard"/>
              </a:rPr>
              <a:t>· </a:t>
            </a:r>
            <a:r>
              <a:rPr lang="ko-KR" altLang="en-US" sz="1300" i="1">
                <a:solidFill>
                  <a:srgbClr val="64748B"/>
                </a:solidFill>
                <a:latin typeface="+mn-ea"/>
                <a:cs typeface="Pretendard"/>
              </a:rPr>
              <a:t>수명주기 </a:t>
            </a:r>
            <a:r>
              <a:rPr lang="en-US" altLang="ko-KR" sz="1300" i="1">
                <a:solidFill>
                  <a:srgbClr val="64748B"/>
                </a:solidFill>
                <a:latin typeface="+mn-ea"/>
                <a:cs typeface="Pretendard"/>
              </a:rPr>
              <a:t>· </a:t>
            </a:r>
            <a:r>
              <a:rPr lang="ko-KR" altLang="en-US" sz="1300" i="1">
                <a:solidFill>
                  <a:srgbClr val="64748B"/>
                </a:solidFill>
                <a:latin typeface="+mn-ea"/>
                <a:cs typeface="Pretendard"/>
              </a:rPr>
              <a:t>관찰 가능성은 </a:t>
            </a:r>
            <a:r>
              <a:rPr lang="en-US" altLang="ko-KR" sz="1300" i="1">
                <a:solidFill>
                  <a:srgbClr val="64748B"/>
                </a:solidFill>
                <a:latin typeface="+mn-ea"/>
                <a:cs typeface="Pretendard"/>
              </a:rPr>
              <a:t>AppHost.cs </a:t>
            </a:r>
            <a:r>
              <a:rPr lang="ko-KR" altLang="en-US" sz="1300" i="1">
                <a:solidFill>
                  <a:srgbClr val="64748B"/>
                </a:solidFill>
                <a:latin typeface="+mn-ea"/>
                <a:cs typeface="Pretendard"/>
              </a:rPr>
              <a:t>한 파일에서 선언한다</a:t>
            </a:r>
            <a:r>
              <a:rPr lang="en-US" altLang="ko-KR" sz="1300" i="1">
                <a:solidFill>
                  <a:srgbClr val="64748B"/>
                </a:solidFill>
                <a:latin typeface="+mn-ea"/>
                <a:cs typeface="Pretendard"/>
              </a:rPr>
              <a:t>.</a:t>
            </a:r>
            <a:endParaRPr lang="ko-KR" altLang="en-US" sz="1300" i="1">
              <a:solidFill>
                <a:srgbClr val="64748B"/>
              </a:solidFill>
              <a:latin typeface="+mn-ea"/>
              <a:cs typeface="Pretendard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169E2D-3050-DE95-0AD5-AA3817B36E79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Universe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Busan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Edition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-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2604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772CE44-9F56-105B-2306-317C8C02699D}"/>
              </a:ext>
            </a:extLst>
          </p:cNvPr>
          <p:cNvSpPr/>
          <p:nvPr/>
        </p:nvSpPr>
        <p:spPr>
          <a:xfrm>
            <a:off x="857250" y="89535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5810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4A25CF-2379-4C60-8484-3740DDAD158E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+mn-ea"/>
                <a:cs typeface="Pretendard"/>
              </a:rPr>
              <a:t>HANDS-ON</a:t>
            </a:r>
            <a:endParaRPr lang="ko-KR" altLang="en-US" sz="11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12FB5F7-443E-462F-9F98-4195CA2556A5}"/>
              </a:ext>
            </a:extLst>
          </p:cNvPr>
          <p:cNvSpPr/>
          <p:nvPr/>
        </p:nvSpPr>
        <p:spPr>
          <a:xfrm>
            <a:off x="3982616" y="1587500"/>
            <a:ext cx="68073" cy="11430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1D96EE5-A21D-463F-A2FC-5124813A1008}"/>
              </a:ext>
            </a:extLst>
          </p:cNvPr>
          <p:cNvSpPr/>
          <p:nvPr/>
        </p:nvSpPr>
        <p:spPr>
          <a:xfrm>
            <a:off x="4050689" y="1587500"/>
            <a:ext cx="6998311" cy="1143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86E9A82-1F74-49E0-AF0F-FB2C610CC9A2}"/>
              </a:ext>
            </a:extLst>
          </p:cNvPr>
          <p:cNvSpPr/>
          <p:nvPr/>
        </p:nvSpPr>
        <p:spPr>
          <a:xfrm>
            <a:off x="3982616" y="2857500"/>
            <a:ext cx="68073" cy="11430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9207855-A843-40EF-AA65-C0ACCB59C117}"/>
              </a:ext>
            </a:extLst>
          </p:cNvPr>
          <p:cNvSpPr/>
          <p:nvPr/>
        </p:nvSpPr>
        <p:spPr>
          <a:xfrm>
            <a:off x="4050689" y="2857500"/>
            <a:ext cx="6998311" cy="1143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C2491A6-C2EB-4A24-A4E3-45740E902244}"/>
              </a:ext>
            </a:extLst>
          </p:cNvPr>
          <p:cNvSpPr/>
          <p:nvPr/>
        </p:nvSpPr>
        <p:spPr>
          <a:xfrm>
            <a:off x="3982616" y="4127500"/>
            <a:ext cx="68073" cy="11430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D08FA9C-4460-4FE5-93CD-D2EB3279C164}"/>
              </a:ext>
            </a:extLst>
          </p:cNvPr>
          <p:cNvSpPr/>
          <p:nvPr/>
        </p:nvSpPr>
        <p:spPr>
          <a:xfrm>
            <a:off x="4050689" y="4127500"/>
            <a:ext cx="6998311" cy="1143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900CEC-A5D2-45C3-9751-4284952A0CC5}"/>
              </a:ext>
            </a:extLst>
          </p:cNvPr>
          <p:cNvSpPr txBox="1"/>
          <p:nvPr/>
        </p:nvSpPr>
        <p:spPr>
          <a:xfrm>
            <a:off x="1143000" y="1587500"/>
            <a:ext cx="2540000" cy="3048000"/>
          </a:xfrm>
          <a:prstGeom prst="rect">
            <a:avLst/>
          </a:prstGeom>
          <a:noFill/>
        </p:spPr>
        <p:txBody>
          <a:bodyPr vertOverflow="overflow" vert="horz" wrap="square" rtlCol="0" anchor="ctr">
            <a:noAutofit/>
          </a:bodyPr>
          <a:lstStyle/>
          <a:p>
            <a:pPr algn="ctr"/>
            <a:r>
              <a:rPr lang="en-US" altLang="ko-KR" sz="22000" b="1" dirty="0">
                <a:solidFill>
                  <a:srgbClr val="6366F1"/>
                </a:solidFill>
                <a:latin typeface="+mn-ea"/>
                <a:cs typeface="Pretendard"/>
              </a:rPr>
              <a:t>3</a:t>
            </a:r>
            <a:endParaRPr lang="ko-KR" altLang="en-US" sz="22000" b="1" dirty="0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EC556-DCC0-4542-9D36-EDDE4587E427}"/>
              </a:ext>
            </a:extLst>
          </p:cNvPr>
          <p:cNvSpPr txBox="1"/>
          <p:nvPr/>
        </p:nvSpPr>
        <p:spPr>
          <a:xfrm>
            <a:off x="1143000" y="4559300"/>
            <a:ext cx="2540000" cy="711200"/>
          </a:xfrm>
          <a:prstGeom prst="rect">
            <a:avLst/>
          </a:prstGeom>
          <a:noFill/>
        </p:spPr>
        <p:txBody>
          <a:bodyPr vertOverflow="overflow" vert="horz" wrap="square" rtlCol="0" anchor="ctr">
            <a:noAutofit/>
          </a:bodyPr>
          <a:lstStyle/>
          <a:p>
            <a:pPr algn="ctr"/>
            <a:r>
              <a:rPr lang="ko-KR" altLang="en-US" sz="1600" dirty="0">
                <a:solidFill>
                  <a:srgbClr val="1F2937"/>
                </a:solidFill>
                <a:latin typeface="+mn-ea"/>
                <a:cs typeface="Pretendard"/>
              </a:rPr>
              <a:t>파일 세 개로 구성하는
분산 시스템</a:t>
            </a:r>
            <a:r>
              <a:rPr lang="en-US" altLang="ko-KR" sz="1600" dirty="0">
                <a:solidFill>
                  <a:srgbClr val="1F2937"/>
                </a:solidFill>
                <a:latin typeface="+mn-ea"/>
                <a:cs typeface="Pretendard"/>
              </a:rPr>
              <a:t>.</a:t>
            </a:r>
            <a:endParaRPr lang="ko-KR" altLang="en-US" sz="1600" dirty="0">
              <a:solidFill>
                <a:srgbClr val="1F2937"/>
              </a:solidFill>
              <a:latin typeface="+mn-ea"/>
              <a:cs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732790-3197-433E-BE25-47F611A624B9}"/>
              </a:ext>
            </a:extLst>
          </p:cNvPr>
          <p:cNvSpPr txBox="1"/>
          <p:nvPr/>
        </p:nvSpPr>
        <p:spPr>
          <a:xfrm>
            <a:off x="4445000" y="1790700"/>
            <a:ext cx="50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+mn-ea"/>
                <a:cs typeface="Pretendard"/>
              </a:rPr>
              <a:t>01</a:t>
            </a:r>
            <a:endParaRPr lang="ko-KR" altLang="en-US" sz="11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8F5FC9-CAD8-420E-8F2F-2039A4A8203C}"/>
              </a:ext>
            </a:extLst>
          </p:cNvPr>
          <p:cNvSpPr txBox="1"/>
          <p:nvPr/>
        </p:nvSpPr>
        <p:spPr>
          <a:xfrm>
            <a:off x="4445000" y="20447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200" b="1">
                <a:solidFill>
                  <a:srgbClr val="0A0A0A"/>
                </a:solidFill>
                <a:latin typeface="+mn-ea"/>
              </a:rPr>
              <a:t>AppHost.cs</a:t>
            </a:r>
            <a:endParaRPr lang="ko-KR" altLang="en-US" sz="2200" b="1">
              <a:solidFill>
                <a:srgbClr val="0A0A0A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48DF66-5E16-43F1-AB24-EBAB1D0780A6}"/>
              </a:ext>
            </a:extLst>
          </p:cNvPr>
          <p:cNvSpPr txBox="1"/>
          <p:nvPr/>
        </p:nvSpPr>
        <p:spPr>
          <a:xfrm>
            <a:off x="7747000" y="2120900"/>
            <a:ext cx="203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dirty="0" err="1">
                <a:solidFill>
                  <a:srgbClr val="64748B"/>
                </a:solidFill>
                <a:latin typeface="+mn-ea"/>
                <a:cs typeface="Pretendard"/>
              </a:rPr>
              <a:t>오케스트레이터</a:t>
            </a:r>
            <a:endParaRPr lang="ko-KR" altLang="en-US" sz="1300" dirty="0">
              <a:solidFill>
                <a:srgbClr val="64748B"/>
              </a:solidFill>
              <a:latin typeface="+mn-ea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00D92A-0DF4-4A1A-8540-949E481568CE}"/>
              </a:ext>
            </a:extLst>
          </p:cNvPr>
          <p:cNvSpPr txBox="1"/>
          <p:nvPr/>
        </p:nvSpPr>
        <p:spPr>
          <a:xfrm>
            <a:off x="4445000" y="3060700"/>
            <a:ext cx="50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+mn-ea"/>
                <a:cs typeface="Pretendard"/>
              </a:rPr>
              <a:t>02</a:t>
            </a:r>
            <a:endParaRPr lang="ko-KR" altLang="en-US" sz="11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0F75CF-5D2F-47DA-B8F9-564CB7CEB984}"/>
              </a:ext>
            </a:extLst>
          </p:cNvPr>
          <p:cNvSpPr txBox="1"/>
          <p:nvPr/>
        </p:nvSpPr>
        <p:spPr>
          <a:xfrm>
            <a:off x="4445000" y="33147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200" b="1">
                <a:solidFill>
                  <a:srgbClr val="0A0A0A"/>
                </a:solidFill>
                <a:latin typeface="+mn-ea"/>
              </a:rPr>
              <a:t>WebApi.cs</a:t>
            </a:r>
            <a:endParaRPr lang="ko-KR" altLang="en-US" sz="2200" b="1">
              <a:solidFill>
                <a:srgbClr val="0A0A0A"/>
              </a:solidFill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060FC7-F7E4-4C9A-816E-F421EB8BEBFC}"/>
              </a:ext>
            </a:extLst>
          </p:cNvPr>
          <p:cNvSpPr txBox="1"/>
          <p:nvPr/>
        </p:nvSpPr>
        <p:spPr>
          <a:xfrm>
            <a:off x="7747000" y="3390900"/>
            <a:ext cx="203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HTTP 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서버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B65B6B-F1FF-4FEF-A768-9F28E7FEE59E}"/>
              </a:ext>
            </a:extLst>
          </p:cNvPr>
          <p:cNvSpPr txBox="1"/>
          <p:nvPr/>
        </p:nvSpPr>
        <p:spPr>
          <a:xfrm>
            <a:off x="4445000" y="4330700"/>
            <a:ext cx="50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+mn-ea"/>
                <a:cs typeface="Pretendard"/>
              </a:rPr>
              <a:t>03</a:t>
            </a:r>
            <a:endParaRPr lang="ko-KR" altLang="en-US" sz="11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010E43-6C14-4A84-9130-6271857E9ADB}"/>
              </a:ext>
            </a:extLst>
          </p:cNvPr>
          <p:cNvSpPr txBox="1"/>
          <p:nvPr/>
        </p:nvSpPr>
        <p:spPr>
          <a:xfrm>
            <a:off x="4445000" y="45847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200" b="1" dirty="0" err="1">
                <a:solidFill>
                  <a:srgbClr val="0A0A0A"/>
                </a:solidFill>
                <a:latin typeface="+mn-ea"/>
              </a:rPr>
              <a:t>Worker.cs</a:t>
            </a:r>
            <a:endParaRPr lang="ko-KR" altLang="en-US" sz="2200" b="1" dirty="0">
              <a:solidFill>
                <a:srgbClr val="0A0A0A"/>
              </a:solidFill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7A8240-2408-42C9-8C31-6201A2B73499}"/>
              </a:ext>
            </a:extLst>
          </p:cNvPr>
          <p:cNvSpPr txBox="1"/>
          <p:nvPr/>
        </p:nvSpPr>
        <p:spPr>
          <a:xfrm>
            <a:off x="7747000" y="4660900"/>
            <a:ext cx="203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백그라운드 루프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689C48-DE55-4F56-AD75-7248AE181AE2}"/>
              </a:ext>
            </a:extLst>
          </p:cNvPr>
          <p:cNvSpPr txBox="1"/>
          <p:nvPr/>
        </p:nvSpPr>
        <p:spPr>
          <a:xfrm>
            <a:off x="10668000" y="64770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06 / 2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349598-7413-6D80-6113-C1EA10D59154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Universe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Busan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Edition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-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2604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6900A97-27E9-A0A8-A3DC-055FE04CD627}"/>
              </a:ext>
            </a:extLst>
          </p:cNvPr>
          <p:cNvSpPr/>
          <p:nvPr/>
        </p:nvSpPr>
        <p:spPr>
          <a:xfrm>
            <a:off x="857250" y="89535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956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6BB928-7292-45F2-935E-6ADF18CF72B1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 dirty="0">
                <a:solidFill>
                  <a:srgbClr val="6366F1"/>
                </a:solidFill>
                <a:latin typeface="+mn-ea"/>
                <a:cs typeface="Pretendard"/>
              </a:rPr>
              <a:t>WHY FILE-BASED APP</a:t>
            </a:r>
            <a:endParaRPr lang="ko-KR" altLang="en-US" sz="1100" b="1" dirty="0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2869C6-8B0A-4FE8-8495-EBCC743E9661}"/>
              </a:ext>
            </a:extLst>
          </p:cNvPr>
          <p:cNvSpPr txBox="1"/>
          <p:nvPr/>
        </p:nvSpPr>
        <p:spPr>
          <a:xfrm>
            <a:off x="762000" y="11684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 dirty="0">
                <a:solidFill>
                  <a:srgbClr val="0A0A0A"/>
                </a:solidFill>
                <a:latin typeface="+mn-ea"/>
                <a:cs typeface="Pretendard"/>
              </a:rPr>
              <a:t>코드 에디터만 있으면 충분합니다</a:t>
            </a:r>
            <a:r>
              <a:rPr lang="en-US" altLang="ko-KR" sz="3200" b="1" dirty="0">
                <a:solidFill>
                  <a:srgbClr val="0A0A0A"/>
                </a:solidFill>
                <a:latin typeface="+mn-ea"/>
                <a:cs typeface="Pretendard"/>
              </a:rPr>
              <a:t>.</a:t>
            </a:r>
            <a:endParaRPr lang="ko-KR" altLang="en-US" sz="3200" b="1" dirty="0">
              <a:solidFill>
                <a:srgbClr val="0A0A0A"/>
              </a:solidFill>
              <a:latin typeface="+mn-ea"/>
              <a:cs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796A4-C4B4-4F93-93C9-74EC49AC8CBC}"/>
              </a:ext>
            </a:extLst>
          </p:cNvPr>
          <p:cNvSpPr txBox="1"/>
          <p:nvPr/>
        </p:nvSpPr>
        <p:spPr>
          <a:xfrm>
            <a:off x="762000" y="1828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dirty="0">
                <a:solidFill>
                  <a:srgbClr val="64748B"/>
                </a:solidFill>
                <a:latin typeface="+mn-ea"/>
                <a:cs typeface="Pretendard"/>
              </a:rPr>
              <a:t>.NET 10</a:t>
            </a:r>
            <a:r>
              <a:rPr lang="ko-KR" altLang="en-US" sz="1300" dirty="0">
                <a:solidFill>
                  <a:srgbClr val="64748B"/>
                </a:solidFill>
                <a:latin typeface="+mn-ea"/>
                <a:cs typeface="Pretendard"/>
              </a:rPr>
              <a:t>부터 </a:t>
            </a:r>
            <a:r>
              <a:rPr lang="en-US" altLang="ko-KR" sz="1300" dirty="0">
                <a:solidFill>
                  <a:srgbClr val="64748B"/>
                </a:solidFill>
                <a:latin typeface="+mn-ea"/>
                <a:cs typeface="Pretendard"/>
              </a:rPr>
              <a:t>dotnet run app.cs</a:t>
            </a:r>
            <a:r>
              <a:rPr lang="ko-KR" altLang="en-US" sz="1300" dirty="0">
                <a:solidFill>
                  <a:srgbClr val="64748B"/>
                </a:solidFill>
                <a:latin typeface="+mn-ea"/>
                <a:cs typeface="Pretendard"/>
              </a:rPr>
              <a:t> — "3개 파일"이 문자 그대로가 된다. </a:t>
            </a:r>
            <a:r>
              <a:rPr lang="ko-KR" altLang="en-US" sz="1100" b="1" dirty="0">
                <a:solidFill>
                  <a:srgbClr val="6366F1"/>
                </a:solidFill>
                <a:latin typeface="+mn-ea"/>
                <a:cs typeface="Pretendard"/>
              </a:rPr>
              <a:t>※ .NET 10 GA 이후에만 동작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7D6CC-AB5F-4990-B809-29A3B95B4DFF}"/>
              </a:ext>
            </a:extLst>
          </p:cNvPr>
          <p:cNvSpPr txBox="1"/>
          <p:nvPr/>
        </p:nvSpPr>
        <p:spPr>
          <a:xfrm>
            <a:off x="762000" y="2413000"/>
            <a:ext cx="508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 dirty="0">
                <a:solidFill>
                  <a:srgbClr val="94A3B8"/>
                </a:solidFill>
                <a:latin typeface="+mn-ea"/>
                <a:cs typeface="Pretendard"/>
              </a:rPr>
              <a:t>TRADITIONAL · CSPROJ-BASED</a:t>
            </a:r>
            <a:endParaRPr lang="ko-KR" altLang="en-US" sz="1000" b="1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0CB22BE-A469-4288-AEB9-C270F6C0DE6A}"/>
              </a:ext>
            </a:extLst>
          </p:cNvPr>
          <p:cNvSpPr/>
          <p:nvPr/>
        </p:nvSpPr>
        <p:spPr>
          <a:xfrm>
            <a:off x="762000" y="2730500"/>
            <a:ext cx="4978400" cy="2540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49E79E-7F15-4D2E-9F32-F47B2E414742}"/>
              </a:ext>
            </a:extLst>
          </p:cNvPr>
          <p:cNvSpPr txBox="1"/>
          <p:nvPr/>
        </p:nvSpPr>
        <p:spPr>
          <a:xfrm>
            <a:off x="990600" y="2857500"/>
            <a:ext cx="47498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50" dirty="0" err="1">
                <a:solidFill>
                  <a:srgbClr val="475569"/>
                </a:solidFill>
                <a:latin typeface="Lucida Console" panose="020B0609040504020204" pitchFamily="49" charset="0"/>
              </a:rPr>
              <a:t>MyAspireApp</a:t>
            </a:r>
            <a:r>
              <a:rPr lang="en-US" altLang="ko-KR" sz="1050" dirty="0">
                <a:solidFill>
                  <a:srgbClr val="475569"/>
                </a:solidFill>
                <a:latin typeface="Lucida Console" panose="020B0609040504020204" pitchFamily="49" charset="0"/>
              </a:rPr>
              <a:t>/
├─ </a:t>
            </a:r>
            <a:r>
              <a:rPr lang="en-US" altLang="ko-KR" sz="1050" dirty="0" err="1">
                <a:solidFill>
                  <a:srgbClr val="475569"/>
                </a:solidFill>
                <a:latin typeface="Lucida Console" panose="020B0609040504020204" pitchFamily="49" charset="0"/>
              </a:rPr>
              <a:t>MyAspireApp.slnx</a:t>
            </a:r>
            <a:r>
              <a:rPr lang="en-US" altLang="ko-KR" sz="1050" dirty="0">
                <a:solidFill>
                  <a:srgbClr val="475569"/>
                </a:solidFill>
                <a:latin typeface="Lucida Console" panose="020B0609040504020204" pitchFamily="49" charset="0"/>
              </a:rPr>
              <a:t>
├─ </a:t>
            </a:r>
            <a:r>
              <a:rPr lang="en-US" altLang="ko-KR" sz="1050" dirty="0" err="1">
                <a:solidFill>
                  <a:srgbClr val="475569"/>
                </a:solidFill>
                <a:latin typeface="Lucida Console" panose="020B0609040504020204" pitchFamily="49" charset="0"/>
              </a:rPr>
              <a:t>AppHost</a:t>
            </a:r>
            <a:r>
              <a:rPr lang="en-US" altLang="ko-KR" sz="1050" dirty="0">
                <a:solidFill>
                  <a:srgbClr val="475569"/>
                </a:solidFill>
                <a:latin typeface="Lucida Console" panose="020B0609040504020204" pitchFamily="49" charset="0"/>
              </a:rPr>
              <a:t>/
│  ├─ </a:t>
            </a:r>
            <a:r>
              <a:rPr lang="en-US" altLang="ko-KR" sz="1050" dirty="0" err="1">
                <a:solidFill>
                  <a:srgbClr val="475569"/>
                </a:solidFill>
                <a:latin typeface="Lucida Console" panose="020B0609040504020204" pitchFamily="49" charset="0"/>
              </a:rPr>
              <a:t>AppHost.csproj</a:t>
            </a:r>
            <a:r>
              <a:rPr lang="en-US" altLang="ko-KR" sz="1050" dirty="0">
                <a:solidFill>
                  <a:srgbClr val="475569"/>
                </a:solidFill>
                <a:latin typeface="Lucida Console" panose="020B0609040504020204" pitchFamily="49" charset="0"/>
              </a:rPr>
              <a:t>
│  ├─ </a:t>
            </a:r>
            <a:r>
              <a:rPr lang="en-US" altLang="ko-KR" sz="1050" dirty="0" err="1">
                <a:solidFill>
                  <a:srgbClr val="475569"/>
                </a:solidFill>
                <a:latin typeface="Lucida Console" panose="020B0609040504020204" pitchFamily="49" charset="0"/>
              </a:rPr>
              <a:t>Program.cs</a:t>
            </a:r>
            <a:r>
              <a:rPr lang="en-US" altLang="ko-KR" sz="1050" dirty="0">
                <a:solidFill>
                  <a:srgbClr val="475569"/>
                </a:solidFill>
                <a:latin typeface="Lucida Console" panose="020B0609040504020204" pitchFamily="49" charset="0"/>
              </a:rPr>
              <a:t>
│  └─ Properties/</a:t>
            </a:r>
            <a:r>
              <a:rPr lang="en-US" altLang="ko-KR" sz="1050" dirty="0" err="1">
                <a:solidFill>
                  <a:srgbClr val="475569"/>
                </a:solidFill>
                <a:latin typeface="Lucida Console" panose="020B0609040504020204" pitchFamily="49" charset="0"/>
              </a:rPr>
              <a:t>launchSettings.json</a:t>
            </a:r>
            <a:r>
              <a:rPr lang="en-US" altLang="ko-KR" sz="1050" dirty="0">
                <a:solidFill>
                  <a:srgbClr val="475569"/>
                </a:solidFill>
                <a:latin typeface="Lucida Console" panose="020B0609040504020204" pitchFamily="49" charset="0"/>
              </a:rPr>
              <a:t>
├─ </a:t>
            </a:r>
            <a:r>
              <a:rPr lang="en-US" altLang="ko-KR" sz="1050" dirty="0" err="1">
                <a:solidFill>
                  <a:srgbClr val="475569"/>
                </a:solidFill>
                <a:latin typeface="Lucida Console" panose="020B0609040504020204" pitchFamily="49" charset="0"/>
              </a:rPr>
              <a:t>WebApi</a:t>
            </a:r>
            <a:r>
              <a:rPr lang="en-US" altLang="ko-KR" sz="1050" dirty="0">
                <a:solidFill>
                  <a:srgbClr val="475569"/>
                </a:solidFill>
                <a:latin typeface="Lucida Console" panose="020B0609040504020204" pitchFamily="49" charset="0"/>
              </a:rPr>
              <a:t>/
│  ├─ </a:t>
            </a:r>
            <a:r>
              <a:rPr lang="en-US" altLang="ko-KR" sz="1050" dirty="0" err="1">
                <a:solidFill>
                  <a:srgbClr val="475569"/>
                </a:solidFill>
                <a:latin typeface="Lucida Console" panose="020B0609040504020204" pitchFamily="49" charset="0"/>
              </a:rPr>
              <a:t>WebApi.csproj</a:t>
            </a:r>
            <a:r>
              <a:rPr lang="en-US" altLang="ko-KR" sz="1050" dirty="0">
                <a:solidFill>
                  <a:srgbClr val="475569"/>
                </a:solidFill>
                <a:latin typeface="Lucida Console" panose="020B0609040504020204" pitchFamily="49" charset="0"/>
              </a:rPr>
              <a:t>
│  ├─ </a:t>
            </a:r>
            <a:r>
              <a:rPr lang="en-US" altLang="ko-KR" sz="1050" dirty="0" err="1">
                <a:solidFill>
                  <a:srgbClr val="475569"/>
                </a:solidFill>
                <a:latin typeface="Lucida Console" panose="020B0609040504020204" pitchFamily="49" charset="0"/>
              </a:rPr>
              <a:t>Program.cs</a:t>
            </a:r>
            <a:r>
              <a:rPr lang="en-US" altLang="ko-KR" sz="1050" dirty="0">
                <a:solidFill>
                  <a:srgbClr val="475569"/>
                </a:solidFill>
                <a:latin typeface="Lucida Console" panose="020B0609040504020204" pitchFamily="49" charset="0"/>
              </a:rPr>
              <a:t>
│  └─ </a:t>
            </a:r>
            <a:r>
              <a:rPr lang="en-US" altLang="ko-KR" sz="1050" dirty="0" err="1">
                <a:solidFill>
                  <a:srgbClr val="475569"/>
                </a:solidFill>
                <a:latin typeface="Lucida Console" panose="020B0609040504020204" pitchFamily="49" charset="0"/>
              </a:rPr>
              <a:t>appsettings.json</a:t>
            </a:r>
            <a:r>
              <a:rPr lang="en-US" altLang="ko-KR" sz="1050" dirty="0">
                <a:solidFill>
                  <a:srgbClr val="475569"/>
                </a:solidFill>
                <a:latin typeface="Lucida Console" panose="020B0609040504020204" pitchFamily="49" charset="0"/>
              </a:rPr>
              <a:t>
└─ Worker/
   ├─ </a:t>
            </a:r>
            <a:r>
              <a:rPr lang="en-US" altLang="ko-KR" sz="1050" dirty="0" err="1">
                <a:solidFill>
                  <a:srgbClr val="475569"/>
                </a:solidFill>
                <a:latin typeface="Lucida Console" panose="020B0609040504020204" pitchFamily="49" charset="0"/>
              </a:rPr>
              <a:t>Worker.csproj</a:t>
            </a:r>
            <a:r>
              <a:rPr lang="en-US" altLang="ko-KR" sz="1050" dirty="0">
                <a:solidFill>
                  <a:srgbClr val="475569"/>
                </a:solidFill>
                <a:latin typeface="Lucida Console" panose="020B0609040504020204" pitchFamily="49" charset="0"/>
              </a:rPr>
              <a:t>
   └─ </a:t>
            </a:r>
            <a:r>
              <a:rPr lang="en-US" altLang="ko-KR" sz="1050" dirty="0" err="1">
                <a:solidFill>
                  <a:srgbClr val="475569"/>
                </a:solidFill>
                <a:latin typeface="Lucida Console" panose="020B0609040504020204" pitchFamily="49" charset="0"/>
              </a:rPr>
              <a:t>Program.cs</a:t>
            </a:r>
            <a:endParaRPr lang="ko-KR" altLang="en-US" sz="1050" dirty="0">
              <a:solidFill>
                <a:srgbClr val="475569"/>
              </a:solidFill>
              <a:latin typeface="Lucida Console" panose="020B060904050402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620124-8E59-4F8E-BDC5-AC1F16E8BB8A}"/>
              </a:ext>
            </a:extLst>
          </p:cNvPr>
          <p:cNvSpPr txBox="1"/>
          <p:nvPr/>
        </p:nvSpPr>
        <p:spPr>
          <a:xfrm>
            <a:off x="762000" y="5359400"/>
            <a:ext cx="520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dirty="0">
                <a:solidFill>
                  <a:srgbClr val="94A3B8"/>
                </a:solidFill>
                <a:latin typeface="+mn-ea"/>
                <a:cs typeface="Pretendard"/>
              </a:rPr>
              <a:t>3 </a:t>
            </a:r>
            <a:r>
              <a:rPr lang="ko-KR" altLang="en-US" sz="1100" dirty="0">
                <a:solidFill>
                  <a:srgbClr val="94A3B8"/>
                </a:solidFill>
                <a:latin typeface="+mn-ea"/>
                <a:cs typeface="Pretendard"/>
              </a:rPr>
              <a:t>프로젝트 </a:t>
            </a:r>
            <a:r>
              <a:rPr lang="en-US" altLang="ko-KR" sz="1100" dirty="0">
                <a:solidFill>
                  <a:srgbClr val="94A3B8"/>
                </a:solidFill>
                <a:latin typeface="+mn-ea"/>
                <a:cs typeface="Pretendard"/>
              </a:rPr>
              <a:t>· 1 </a:t>
            </a:r>
            <a:r>
              <a:rPr lang="ko-KR" altLang="en-US" sz="1100" dirty="0">
                <a:solidFill>
                  <a:srgbClr val="94A3B8"/>
                </a:solidFill>
                <a:latin typeface="+mn-ea"/>
                <a:cs typeface="Pretendard"/>
              </a:rPr>
              <a:t>솔루션 </a:t>
            </a:r>
            <a:r>
              <a:rPr lang="en-US" altLang="ko-KR" sz="1100" dirty="0">
                <a:solidFill>
                  <a:srgbClr val="94A3B8"/>
                </a:solidFill>
                <a:latin typeface="+mn-ea"/>
                <a:cs typeface="Pretendard"/>
              </a:rPr>
              <a:t>· 10+ </a:t>
            </a:r>
            <a:r>
              <a:rPr lang="ko-KR" altLang="en-US" sz="1100" dirty="0">
                <a:solidFill>
                  <a:srgbClr val="94A3B8"/>
                </a:solidFill>
                <a:latin typeface="+mn-ea"/>
                <a:cs typeface="Pretendard"/>
              </a:rPr>
              <a:t>파일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A1E183-6A61-4958-A7B6-C25097D10F7E}"/>
              </a:ext>
            </a:extLst>
          </p:cNvPr>
          <p:cNvSpPr txBox="1"/>
          <p:nvPr/>
        </p:nvSpPr>
        <p:spPr>
          <a:xfrm>
            <a:off x="5740400" y="3746500"/>
            <a:ext cx="25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400" b="1" dirty="0">
                <a:solidFill>
                  <a:srgbClr val="6366F1"/>
                </a:solidFill>
                <a:latin typeface="+mn-ea"/>
              </a:rPr>
              <a:t>→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3C8E9E-57CE-4D82-ABEC-E248246AB6B9}"/>
              </a:ext>
            </a:extLst>
          </p:cNvPr>
          <p:cNvSpPr txBox="1"/>
          <p:nvPr/>
        </p:nvSpPr>
        <p:spPr>
          <a:xfrm>
            <a:off x="6223000" y="2413000"/>
            <a:ext cx="5207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6366F1"/>
                </a:solidFill>
                <a:latin typeface="+mn-ea"/>
                <a:cs typeface="Pretendard"/>
              </a:rPr>
              <a:t>FILE-BASED · .NET 10+</a:t>
            </a:r>
            <a:endParaRPr lang="ko-KR" altLang="en-US" sz="10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6C0300F-1B97-47CA-99B2-F3E06BD6E5EC}"/>
              </a:ext>
            </a:extLst>
          </p:cNvPr>
          <p:cNvSpPr/>
          <p:nvPr/>
        </p:nvSpPr>
        <p:spPr>
          <a:xfrm>
            <a:off x="6223000" y="2730500"/>
            <a:ext cx="5207000" cy="2540000"/>
          </a:xfrm>
          <a:prstGeom prst="rect">
            <a:avLst/>
          </a:prstGeom>
          <a:solidFill>
            <a:srgbClr val="EEF2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178C02-84B4-4C4A-BC9A-39E56181EBCC}"/>
              </a:ext>
            </a:extLst>
          </p:cNvPr>
          <p:cNvSpPr txBox="1"/>
          <p:nvPr/>
        </p:nvSpPr>
        <p:spPr>
          <a:xfrm>
            <a:off x="6451600" y="2984500"/>
            <a:ext cx="4749800" cy="215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dirty="0">
                <a:solidFill>
                  <a:srgbClr val="1E1B4B"/>
                </a:solidFill>
                <a:latin typeface="Lucida Console" panose="020B0609040504020204" pitchFamily="49" charset="0"/>
              </a:rPr>
              <a:t>hands-on/
├─ </a:t>
            </a:r>
            <a:r>
              <a:rPr lang="en-US" altLang="ko-KR" sz="1300" dirty="0" err="1">
                <a:solidFill>
                  <a:srgbClr val="1E1B4B"/>
                </a:solidFill>
                <a:latin typeface="Lucida Console" panose="020B0609040504020204" pitchFamily="49" charset="0"/>
              </a:rPr>
              <a:t>apphost.cs</a:t>
            </a:r>
            <a:r>
              <a:rPr lang="en-US" altLang="ko-KR" sz="1300" dirty="0">
                <a:solidFill>
                  <a:srgbClr val="1E1B4B"/>
                </a:solidFill>
                <a:latin typeface="Lucida Console" panose="020B0609040504020204" pitchFamily="49" charset="0"/>
              </a:rPr>
              <a:t>
├─ </a:t>
            </a:r>
            <a:r>
              <a:rPr lang="en-US" altLang="ko-KR" sz="1300" dirty="0" err="1">
                <a:solidFill>
                  <a:srgbClr val="1E1B4B"/>
                </a:solidFill>
                <a:latin typeface="Lucida Console" panose="020B0609040504020204" pitchFamily="49" charset="0"/>
              </a:rPr>
              <a:t>webapi.cs</a:t>
            </a:r>
            <a:r>
              <a:rPr lang="en-US" altLang="ko-KR" sz="1300" dirty="0">
                <a:solidFill>
                  <a:srgbClr val="1E1B4B"/>
                </a:solidFill>
                <a:latin typeface="Lucida Console" panose="020B0609040504020204" pitchFamily="49" charset="0"/>
              </a:rPr>
              <a:t>
└─ </a:t>
            </a:r>
            <a:r>
              <a:rPr lang="en-US" altLang="ko-KR" sz="1300" dirty="0" err="1">
                <a:solidFill>
                  <a:srgbClr val="1E1B4B"/>
                </a:solidFill>
                <a:latin typeface="Lucida Console" panose="020B0609040504020204" pitchFamily="49" charset="0"/>
              </a:rPr>
              <a:t>worker.cs</a:t>
            </a:r>
            <a:r>
              <a:rPr lang="en-US" altLang="ko-KR" sz="1300" dirty="0">
                <a:solidFill>
                  <a:srgbClr val="1E1B4B"/>
                </a:solidFill>
                <a:latin typeface="Lucida Console" panose="020B0609040504020204" pitchFamily="49" charset="0"/>
              </a:rPr>
              <a:t>
# </a:t>
            </a:r>
            <a:r>
              <a:rPr lang="ko-KR" altLang="en-US" sz="1300" dirty="0">
                <a:solidFill>
                  <a:srgbClr val="1E1B4B"/>
                </a:solidFill>
                <a:latin typeface="Lucida Console" panose="020B0609040504020204" pitchFamily="49" charset="0"/>
              </a:rPr>
              <a:t>실행
</a:t>
            </a:r>
            <a:r>
              <a:rPr lang="en-US" altLang="ko-KR" sz="1300" dirty="0">
                <a:solidFill>
                  <a:srgbClr val="1E1B4B"/>
                </a:solidFill>
                <a:latin typeface="Lucida Console" panose="020B0609040504020204" pitchFamily="49" charset="0"/>
              </a:rPr>
              <a:t>$ dotnet run </a:t>
            </a:r>
            <a:r>
              <a:rPr lang="en-US" altLang="ko-KR" sz="1300" dirty="0" err="1">
                <a:solidFill>
                  <a:srgbClr val="1E1B4B"/>
                </a:solidFill>
                <a:latin typeface="Lucida Console" panose="020B0609040504020204" pitchFamily="49" charset="0"/>
              </a:rPr>
              <a:t>apphost.cs</a:t>
            </a:r>
            <a:endParaRPr lang="ko-KR" altLang="en-US" sz="1300" dirty="0">
              <a:solidFill>
                <a:srgbClr val="1E1B4B"/>
              </a:solidFill>
              <a:latin typeface="Lucida Console" panose="020B060904050402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4B7360-B0FD-4115-8D92-A3C3AEFD77AB}"/>
              </a:ext>
            </a:extLst>
          </p:cNvPr>
          <p:cNvSpPr txBox="1"/>
          <p:nvPr/>
        </p:nvSpPr>
        <p:spPr>
          <a:xfrm>
            <a:off x="6223000" y="5359400"/>
            <a:ext cx="520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 dirty="0">
                <a:solidFill>
                  <a:srgbClr val="6366F1"/>
                </a:solidFill>
                <a:latin typeface="+mn-ea"/>
                <a:cs typeface="Pretendard"/>
              </a:rPr>
              <a:t>3 </a:t>
            </a:r>
            <a:r>
              <a:rPr lang="ko-KR" altLang="en-US" sz="1100" b="1" dirty="0">
                <a:solidFill>
                  <a:srgbClr val="6366F1"/>
                </a:solidFill>
                <a:latin typeface="+mn-ea"/>
                <a:cs typeface="Pretendard"/>
              </a:rPr>
              <a:t>파일 </a:t>
            </a:r>
            <a:r>
              <a:rPr lang="en-US" altLang="ko-KR" sz="1100" b="1" dirty="0">
                <a:solidFill>
                  <a:srgbClr val="6366F1"/>
                </a:solidFill>
                <a:latin typeface="+mn-ea"/>
                <a:cs typeface="Pretendard"/>
              </a:rPr>
              <a:t>· 0 </a:t>
            </a:r>
            <a:r>
              <a:rPr lang="ko-KR" altLang="en-US" sz="1100" b="1" dirty="0">
                <a:solidFill>
                  <a:srgbClr val="6366F1"/>
                </a:solidFill>
                <a:latin typeface="+mn-ea"/>
                <a:cs typeface="Pretendard"/>
              </a:rPr>
              <a:t>솔루션 </a:t>
            </a:r>
            <a:r>
              <a:rPr lang="en-US" altLang="ko-KR" sz="1100" b="1" dirty="0">
                <a:solidFill>
                  <a:srgbClr val="6366F1"/>
                </a:solidFill>
                <a:latin typeface="+mn-ea"/>
                <a:cs typeface="Pretendard"/>
              </a:rPr>
              <a:t>· 0 </a:t>
            </a:r>
            <a:r>
              <a:rPr lang="ko-KR" altLang="en-US" sz="1100" b="1" dirty="0">
                <a:solidFill>
                  <a:srgbClr val="6366F1"/>
                </a:solidFill>
                <a:latin typeface="+mn-ea"/>
                <a:cs typeface="Pretendard"/>
              </a:rPr>
              <a:t>프로젝트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9F92CD-E6D7-4FCA-B096-A8252C104C95}"/>
              </a:ext>
            </a:extLst>
          </p:cNvPr>
          <p:cNvSpPr txBox="1"/>
          <p:nvPr/>
        </p:nvSpPr>
        <p:spPr>
          <a:xfrm>
            <a:off x="762000" y="5842000"/>
            <a:ext cx="381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6366F1"/>
                </a:solidFill>
                <a:latin typeface="+mn-ea"/>
                <a:cs typeface="Pretendard"/>
              </a:rPr>
              <a:t>01</a:t>
            </a:r>
            <a:endParaRPr lang="ko-KR" altLang="en-US" sz="10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BBCDF3-3318-4B57-AAF5-115AC9F483F0}"/>
              </a:ext>
            </a:extLst>
          </p:cNvPr>
          <p:cNvSpPr txBox="1"/>
          <p:nvPr/>
        </p:nvSpPr>
        <p:spPr>
          <a:xfrm>
            <a:off x="1193800" y="5842000"/>
            <a:ext cx="304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 dirty="0" err="1">
                <a:solidFill>
                  <a:srgbClr val="1F2937"/>
                </a:solidFill>
                <a:latin typeface="+mn-ea"/>
                <a:cs typeface="Pretendard"/>
              </a:rPr>
              <a:t>스캐폴딩</a:t>
            </a:r>
            <a:r>
              <a:rPr lang="ko-KR" altLang="en-US" sz="1100" dirty="0">
                <a:solidFill>
                  <a:srgbClr val="1F2937"/>
                </a:solidFill>
                <a:latin typeface="+mn-ea"/>
                <a:cs typeface="Pretendard"/>
              </a:rPr>
              <a:t> 제로</a:t>
            </a:r>
            <a:r>
              <a:rPr lang="en-US" altLang="ko-KR" sz="1100" dirty="0">
                <a:solidFill>
                  <a:srgbClr val="1F2937"/>
                </a:solidFill>
                <a:latin typeface="+mn-ea"/>
                <a:cs typeface="Pretendard"/>
              </a:rPr>
              <a:t>. </a:t>
            </a:r>
            <a:r>
              <a:rPr lang="en-US" altLang="ko-KR" sz="1100" dirty="0" err="1">
                <a:solidFill>
                  <a:srgbClr val="1F2937"/>
                </a:solidFill>
                <a:latin typeface="+mn-ea"/>
                <a:cs typeface="Pretendard"/>
              </a:rPr>
              <a:t>slnx·csproj</a:t>
            </a:r>
            <a:r>
              <a:rPr lang="en-US" altLang="ko-KR" sz="1100" dirty="0">
                <a:solidFill>
                  <a:srgbClr val="1F2937"/>
                </a:solidFill>
                <a:latin typeface="+mn-ea"/>
                <a:cs typeface="Pretendard"/>
              </a:rPr>
              <a:t> </a:t>
            </a:r>
            <a:r>
              <a:rPr lang="ko-KR" altLang="en-US" sz="1100" dirty="0">
                <a:solidFill>
                  <a:srgbClr val="1F2937"/>
                </a:solidFill>
                <a:latin typeface="+mn-ea"/>
                <a:cs typeface="Pretendard"/>
              </a:rPr>
              <a:t>없이 바로 시작</a:t>
            </a:r>
            <a:r>
              <a:rPr lang="en-US" altLang="ko-KR" sz="1100" dirty="0">
                <a:solidFill>
                  <a:srgbClr val="1F2937"/>
                </a:solidFill>
                <a:latin typeface="+mn-ea"/>
                <a:cs typeface="Pretendard"/>
              </a:rPr>
              <a:t>.</a:t>
            </a:r>
            <a:endParaRPr lang="ko-KR" altLang="en-US" sz="1100" dirty="0">
              <a:solidFill>
                <a:srgbClr val="1F2937"/>
              </a:solidFill>
              <a:latin typeface="+mn-ea"/>
              <a:cs typeface="Pretendar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2F82E3-F4A0-40D6-9F94-B8C53BAA427C}"/>
              </a:ext>
            </a:extLst>
          </p:cNvPr>
          <p:cNvSpPr txBox="1"/>
          <p:nvPr/>
        </p:nvSpPr>
        <p:spPr>
          <a:xfrm>
            <a:off x="4318000" y="5842000"/>
            <a:ext cx="381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6366F1"/>
                </a:solidFill>
                <a:latin typeface="+mn-ea"/>
                <a:cs typeface="Pretendard"/>
              </a:rPr>
              <a:t>02</a:t>
            </a:r>
            <a:endParaRPr lang="ko-KR" altLang="en-US" sz="10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5FDC4C-59C7-4994-AB71-F152BE50B11D}"/>
              </a:ext>
            </a:extLst>
          </p:cNvPr>
          <p:cNvSpPr txBox="1"/>
          <p:nvPr/>
        </p:nvSpPr>
        <p:spPr>
          <a:xfrm>
            <a:off x="4749800" y="5842000"/>
            <a:ext cx="304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1F2937"/>
                </a:solidFill>
                <a:latin typeface="+mn-ea"/>
                <a:cs typeface="Pretendard"/>
              </a:rPr>
              <a:t>파일 </a:t>
            </a:r>
            <a:r>
              <a:rPr lang="en-US" altLang="ko-KR" sz="1100">
                <a:solidFill>
                  <a:srgbClr val="1F2937"/>
                </a:solidFill>
                <a:latin typeface="+mn-ea"/>
                <a:cs typeface="Pretendard"/>
              </a:rPr>
              <a:t>= </a:t>
            </a:r>
            <a:r>
              <a:rPr lang="ko-KR" altLang="en-US" sz="1100">
                <a:solidFill>
                  <a:srgbClr val="1F2937"/>
                </a:solidFill>
                <a:latin typeface="+mn-ea"/>
                <a:cs typeface="Pretendard"/>
              </a:rPr>
              <a:t>서비스</a:t>
            </a:r>
            <a:r>
              <a:rPr lang="en-US" altLang="ko-KR" sz="1100">
                <a:solidFill>
                  <a:srgbClr val="1F2937"/>
                </a:solidFill>
                <a:latin typeface="+mn-ea"/>
                <a:cs typeface="Pretendard"/>
              </a:rPr>
              <a:t>. </a:t>
            </a:r>
            <a:r>
              <a:rPr lang="ko-KR" altLang="en-US" sz="1100">
                <a:solidFill>
                  <a:srgbClr val="1F2937"/>
                </a:solidFill>
                <a:latin typeface="+mn-ea"/>
                <a:cs typeface="Pretendard"/>
              </a:rPr>
              <a:t>한 파일이 한 개념</a:t>
            </a:r>
            <a:r>
              <a:rPr lang="en-US" altLang="ko-KR" sz="1100">
                <a:solidFill>
                  <a:srgbClr val="1F2937"/>
                </a:solidFill>
                <a:latin typeface="+mn-ea"/>
                <a:cs typeface="Pretendard"/>
              </a:rPr>
              <a:t>.</a:t>
            </a:r>
            <a:endParaRPr lang="ko-KR" altLang="en-US" sz="1100">
              <a:solidFill>
                <a:srgbClr val="1F2937"/>
              </a:solidFill>
              <a:latin typeface="+mn-ea"/>
              <a:cs typeface="Pretenda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8426EC-385C-4A18-9E7F-8A69B80C3F6D}"/>
              </a:ext>
            </a:extLst>
          </p:cNvPr>
          <p:cNvSpPr txBox="1"/>
          <p:nvPr/>
        </p:nvSpPr>
        <p:spPr>
          <a:xfrm>
            <a:off x="7874000" y="5842000"/>
            <a:ext cx="381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6366F1"/>
                </a:solidFill>
                <a:latin typeface="+mn-ea"/>
                <a:cs typeface="Pretendard"/>
              </a:rPr>
              <a:t>03</a:t>
            </a:r>
            <a:endParaRPr lang="ko-KR" altLang="en-US" sz="10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D54865-8B57-4E8F-9553-429B1775A546}"/>
              </a:ext>
            </a:extLst>
          </p:cNvPr>
          <p:cNvSpPr txBox="1"/>
          <p:nvPr/>
        </p:nvSpPr>
        <p:spPr>
          <a:xfrm>
            <a:off x="8305800" y="5842000"/>
            <a:ext cx="304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1F2937"/>
                </a:solidFill>
                <a:latin typeface="+mn-ea"/>
                <a:cs typeface="Pretendard"/>
              </a:rPr>
              <a:t>워크숍 친화적</a:t>
            </a:r>
            <a:r>
              <a:rPr lang="en-US" altLang="ko-KR" sz="1100">
                <a:solidFill>
                  <a:srgbClr val="1F2937"/>
                </a:solidFill>
                <a:latin typeface="+mn-ea"/>
                <a:cs typeface="Pretendard"/>
              </a:rPr>
              <a:t>. </a:t>
            </a:r>
            <a:r>
              <a:rPr lang="ko-KR" altLang="en-US" sz="1100">
                <a:solidFill>
                  <a:srgbClr val="1F2937"/>
                </a:solidFill>
                <a:latin typeface="+mn-ea"/>
                <a:cs typeface="Pretendard"/>
              </a:rPr>
              <a:t>구조가 아닌 코드에 집중한다</a:t>
            </a:r>
            <a:r>
              <a:rPr lang="en-US" altLang="ko-KR" sz="1100">
                <a:solidFill>
                  <a:srgbClr val="1F2937"/>
                </a:solidFill>
                <a:latin typeface="+mn-ea"/>
                <a:cs typeface="Pretendard"/>
              </a:rPr>
              <a:t>.</a:t>
            </a:r>
            <a:endParaRPr lang="ko-KR" altLang="en-US" sz="1100">
              <a:solidFill>
                <a:srgbClr val="1F2937"/>
              </a:solidFill>
              <a:latin typeface="+mn-ea"/>
              <a:cs typeface="Pretendar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E7AC0C-CE5F-0047-8187-59DAE623F251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Universe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Busan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Edition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-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2604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4B3C3E3-BD03-10ED-49F0-6D2003B3EBE0}"/>
              </a:ext>
            </a:extLst>
          </p:cNvPr>
          <p:cNvSpPr/>
          <p:nvPr/>
        </p:nvSpPr>
        <p:spPr>
          <a:xfrm>
            <a:off x="857250" y="89535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4498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297050-AA60-4D13-82FE-539935FD09BA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+mn-ea"/>
                <a:cs typeface="Pretendard"/>
              </a:rPr>
              <a:t>APPHOST.CS · PART 1</a:t>
            </a:r>
            <a:endParaRPr lang="ko-KR" altLang="en-US" sz="11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73CA1F-921B-4566-AA79-75C59544C56E}"/>
              </a:ext>
            </a:extLst>
          </p:cNvPr>
          <p:cNvSpPr txBox="1"/>
          <p:nvPr/>
        </p:nvSpPr>
        <p:spPr>
          <a:xfrm>
            <a:off x="762000" y="11684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[</a:t>
            </a:r>
            <a:r>
              <a:rPr lang="en-US" altLang="ko-KR" sz="2800" b="1" dirty="0" err="1">
                <a:solidFill>
                  <a:srgbClr val="0A0A0A"/>
                </a:solidFill>
                <a:latin typeface="+mn-ea"/>
                <a:cs typeface="Pretendard"/>
              </a:rPr>
              <a:t>AppHost</a:t>
            </a:r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]</a:t>
            </a:r>
            <a:r>
              <a:rPr lang="ko-KR" altLang="en-US" sz="2800" b="1" dirty="0">
                <a:solidFill>
                  <a:srgbClr val="0A0A0A"/>
                </a:solidFill>
                <a:latin typeface="+mn-ea"/>
                <a:cs typeface="Pretendard"/>
              </a:rPr>
              <a:t> 파일 기반 지시어 </a:t>
            </a:r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+ Configuration </a:t>
            </a:r>
            <a:r>
              <a:rPr lang="ko-KR" altLang="en-US" sz="2800" b="1" dirty="0" err="1">
                <a:solidFill>
                  <a:srgbClr val="0A0A0A"/>
                </a:solidFill>
                <a:latin typeface="+mn-ea"/>
                <a:cs typeface="Pretendard"/>
              </a:rPr>
              <a:t>체이닝</a:t>
            </a:r>
            <a:endParaRPr lang="ko-KR" altLang="en-US" sz="2800" b="1" dirty="0">
              <a:solidFill>
                <a:srgbClr val="0A0A0A"/>
              </a:solidFill>
              <a:latin typeface="+mn-ea"/>
              <a:cs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280C16-C286-4642-8B22-6DE72117D40A}"/>
              </a:ext>
            </a:extLst>
          </p:cNvPr>
          <p:cNvSpPr txBox="1"/>
          <p:nvPr/>
        </p:nvSpPr>
        <p:spPr>
          <a:xfrm>
            <a:off x="762000" y="17526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프로젝트 없이 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.cs 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하나로 실행 가능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. 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구성 소스는 체인으로 덮어쓴다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.</a:t>
            </a:r>
            <a:endParaRPr lang="ko-KR" altLang="en-US" sz="1300">
              <a:solidFill>
                <a:srgbClr val="64748B"/>
              </a:solidFill>
              <a:latin typeface="+mn-ea"/>
              <a:cs typeface="Pretendard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72B605-DABE-4629-B551-BBB2DF505CF1}"/>
              </a:ext>
            </a:extLst>
          </p:cNvPr>
          <p:cNvSpPr/>
          <p:nvPr/>
        </p:nvSpPr>
        <p:spPr>
          <a:xfrm>
            <a:off x="762000" y="2286000"/>
            <a:ext cx="2794000" cy="3048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0F933-7C22-4544-ADEB-EA8BB958BA10}"/>
              </a:ext>
            </a:extLst>
          </p:cNvPr>
          <p:cNvSpPr txBox="1"/>
          <p:nvPr/>
        </p:nvSpPr>
        <p:spPr>
          <a:xfrm>
            <a:off x="914400" y="23241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A5B4FC"/>
                </a:solidFill>
                <a:latin typeface="+mn-ea"/>
              </a:rPr>
              <a:t>apphost.cs  ·  C# · file-based</a:t>
            </a:r>
            <a:endParaRPr lang="ko-KR" altLang="en-US" sz="1000">
              <a:solidFill>
                <a:srgbClr val="A5B4FC"/>
              </a:solidFill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2315E7D-3884-49B1-A18C-4672721885B0}"/>
              </a:ext>
            </a:extLst>
          </p:cNvPr>
          <p:cNvSpPr/>
          <p:nvPr/>
        </p:nvSpPr>
        <p:spPr>
          <a:xfrm>
            <a:off x="762000" y="2590800"/>
            <a:ext cx="6350000" cy="34544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3F16BF-A544-4DE0-B183-84BC70451530}"/>
              </a:ext>
            </a:extLst>
          </p:cNvPr>
          <p:cNvSpPr txBox="1"/>
          <p:nvPr/>
        </p:nvSpPr>
        <p:spPr>
          <a:xfrm>
            <a:off x="965200" y="2743200"/>
            <a:ext cx="5943600" cy="345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#!/usr/bin/env dotnet</a:t>
            </a:r>
          </a:p>
          <a:p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#:sdk Aspire.AppHost.Sdk@13.2.0
#:package Aspire.Hosting.Garnet@13.*</a:t>
            </a:r>
            <a:r>
              <a:rPr lang="ko-KR" altLang="en-US" sz="1100" b="1" dirty="0">
                <a:solidFill>
                  <a:srgbClr val="EC4899"/>
                </a:solidFill>
                <a:latin typeface="+mn-ea"/>
                <a:cs typeface="Pretendard"/>
              </a:rPr>
              <a:t> ① 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
#pragma warning disable ASPIRECSHARPAPPS001  // AddCSharpApp이 experimental이므로 경고 억제
using 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Microsoft.Extensions.Configuration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;
var builder = 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DistributedApplication.CreateBuilder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(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);
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builder.Configuration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
    .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AddJsonFile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("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apphost.json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")
    .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AddUserSecrets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("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apphosttest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")
    .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AddEnvironmentVariables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();</a:t>
            </a:r>
            <a:r>
              <a:rPr lang="ko-KR" altLang="en-US" sz="1100" b="1" dirty="0">
                <a:solidFill>
                  <a:srgbClr val="EC4899"/>
                </a:solidFill>
                <a:latin typeface="+mn-ea"/>
                <a:cs typeface="Pretendard"/>
              </a:rPr>
              <a:t> ② 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
// … </a:t>
            </a:r>
            <a:r>
              <a:rPr lang="ko-KR" altLang="en-US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이후 리소스 선언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40B6E4-8DCC-4B1F-8260-6DE3DC248EA3}"/>
              </a:ext>
            </a:extLst>
          </p:cNvPr>
          <p:cNvSpPr txBox="1"/>
          <p:nvPr/>
        </p:nvSpPr>
        <p:spPr>
          <a:xfrm>
            <a:off x="7620000" y="22860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EC4899"/>
                </a:solidFill>
                <a:latin typeface="+mn-ea"/>
                <a:cs typeface="Pretendard"/>
              </a:rPr>
              <a:t>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65B789-A183-4928-8F33-126E203E6EF2}"/>
              </a:ext>
            </a:extLst>
          </p:cNvPr>
          <p:cNvSpPr txBox="1"/>
          <p:nvPr/>
        </p:nvSpPr>
        <p:spPr>
          <a:xfrm>
            <a:off x="8026400" y="22860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A0A0A"/>
                </a:solidFill>
                <a:latin typeface="+mn-ea"/>
                <a:cs typeface="Pretendard"/>
              </a:rPr>
              <a:t>파일</a:t>
            </a:r>
            <a:r>
              <a:rPr lang="en-US" altLang="ko-KR" sz="1400" b="1">
                <a:solidFill>
                  <a:srgbClr val="0A0A0A"/>
                </a:solidFill>
                <a:latin typeface="+mn-ea"/>
                <a:cs typeface="Pretendard"/>
              </a:rPr>
              <a:t>-</a:t>
            </a:r>
            <a:r>
              <a:rPr lang="ko-KR" altLang="en-US" sz="1400" b="1">
                <a:solidFill>
                  <a:srgbClr val="0A0A0A"/>
                </a:solidFill>
                <a:latin typeface="+mn-ea"/>
                <a:cs typeface="Pretendard"/>
              </a:rPr>
              <a:t>기반 앱 지시어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E40A4D-E0E9-4606-995D-9C1048A1F8D5}"/>
              </a:ext>
            </a:extLst>
          </p:cNvPr>
          <p:cNvSpPr txBox="1"/>
          <p:nvPr/>
        </p:nvSpPr>
        <p:spPr>
          <a:xfrm>
            <a:off x="8026400" y="2590800"/>
            <a:ext cx="34036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>
                <a:solidFill>
                  <a:srgbClr val="475569"/>
                </a:solidFill>
                <a:latin typeface="+mn-ea"/>
                <a:cs typeface="Pretendard"/>
              </a:rPr>
              <a:t>#:sdk · #:package </a:t>
            </a:r>
            <a:r>
              <a:rPr lang="ko-KR" altLang="en-US" sz="1200">
                <a:solidFill>
                  <a:srgbClr val="475569"/>
                </a:solidFill>
                <a:latin typeface="+mn-ea"/>
                <a:cs typeface="Pretendard"/>
              </a:rPr>
              <a:t>한 줄로 </a:t>
            </a:r>
            <a:r>
              <a:rPr lang="en-US" altLang="ko-KR" sz="1200">
                <a:solidFill>
                  <a:srgbClr val="475569"/>
                </a:solidFill>
                <a:latin typeface="+mn-ea"/>
                <a:cs typeface="Pretendard"/>
              </a:rPr>
              <a:t>SDK</a:t>
            </a:r>
            <a:r>
              <a:rPr lang="ko-KR" altLang="en-US" sz="1200">
                <a:solidFill>
                  <a:srgbClr val="475569"/>
                </a:solidFill>
                <a:latin typeface="+mn-ea"/>
                <a:cs typeface="Pretendard"/>
              </a:rPr>
              <a:t>와 </a:t>
            </a:r>
            <a:r>
              <a:rPr lang="en-US" altLang="ko-KR" sz="1200">
                <a:solidFill>
                  <a:srgbClr val="475569"/>
                </a:solidFill>
                <a:latin typeface="+mn-ea"/>
                <a:cs typeface="Pretendard"/>
              </a:rPr>
              <a:t>NuGet </a:t>
            </a:r>
            <a:r>
              <a:rPr lang="ko-KR" altLang="en-US" sz="1200">
                <a:solidFill>
                  <a:srgbClr val="475569"/>
                </a:solidFill>
                <a:latin typeface="+mn-ea"/>
                <a:cs typeface="Pretendard"/>
              </a:rPr>
              <a:t>패키지 의존성을 선언</a:t>
            </a:r>
            <a:r>
              <a:rPr lang="en-US" altLang="ko-KR" sz="1200">
                <a:solidFill>
                  <a:srgbClr val="475569"/>
                </a:solidFill>
                <a:latin typeface="+mn-ea"/>
                <a:cs typeface="Pretendard"/>
              </a:rPr>
              <a:t>. .csproj </a:t>
            </a:r>
            <a:r>
              <a:rPr lang="ko-KR" altLang="en-US" sz="1200">
                <a:solidFill>
                  <a:srgbClr val="475569"/>
                </a:solidFill>
                <a:latin typeface="+mn-ea"/>
                <a:cs typeface="Pretendard"/>
              </a:rPr>
              <a:t>없이 </a:t>
            </a:r>
            <a:r>
              <a:rPr lang="en-US" altLang="ko-KR" sz="1200">
                <a:solidFill>
                  <a:srgbClr val="475569"/>
                </a:solidFill>
                <a:latin typeface="+mn-ea"/>
                <a:cs typeface="Pretendard"/>
              </a:rPr>
              <a:t>.cs </a:t>
            </a:r>
            <a:r>
              <a:rPr lang="ko-KR" altLang="en-US" sz="1200">
                <a:solidFill>
                  <a:srgbClr val="475569"/>
                </a:solidFill>
                <a:latin typeface="+mn-ea"/>
                <a:cs typeface="Pretendard"/>
              </a:rPr>
              <a:t>하나로 실행 가능</a:t>
            </a:r>
            <a:r>
              <a:rPr lang="en-US" altLang="ko-KR" sz="12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2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35F115-A30B-4781-9107-64F9410583A7}"/>
              </a:ext>
            </a:extLst>
          </p:cNvPr>
          <p:cNvSpPr txBox="1"/>
          <p:nvPr/>
        </p:nvSpPr>
        <p:spPr>
          <a:xfrm>
            <a:off x="7620000" y="43180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EC4899"/>
                </a:solidFill>
                <a:latin typeface="+mn-ea"/>
                <a:cs typeface="Pretendard"/>
              </a:rPr>
              <a:t>②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659172-7EC4-4F47-AEC8-5891E5F48F44}"/>
              </a:ext>
            </a:extLst>
          </p:cNvPr>
          <p:cNvSpPr txBox="1"/>
          <p:nvPr/>
        </p:nvSpPr>
        <p:spPr>
          <a:xfrm>
            <a:off x="8026400" y="43180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0A0A0A"/>
                </a:solidFill>
                <a:latin typeface="+mn-ea"/>
                <a:cs typeface="Pretendard"/>
              </a:rPr>
              <a:t>Configuration </a:t>
            </a:r>
            <a:r>
              <a:rPr lang="ko-KR" altLang="en-US" sz="1400" b="1">
                <a:solidFill>
                  <a:srgbClr val="0A0A0A"/>
                </a:solidFill>
                <a:latin typeface="+mn-ea"/>
                <a:cs typeface="Pretendard"/>
              </a:rPr>
              <a:t>체이닝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A64F52-7AF9-43D6-9E31-F185ABBB9E8D}"/>
              </a:ext>
            </a:extLst>
          </p:cNvPr>
          <p:cNvSpPr txBox="1"/>
          <p:nvPr/>
        </p:nvSpPr>
        <p:spPr>
          <a:xfrm>
            <a:off x="8026400" y="4622800"/>
            <a:ext cx="3403600" cy="157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>
                <a:solidFill>
                  <a:srgbClr val="475569"/>
                </a:solidFill>
                <a:latin typeface="+mn-ea"/>
                <a:cs typeface="Pretendard"/>
              </a:rPr>
              <a:t>JSON → UserSecrets → Environment </a:t>
            </a:r>
            <a:r>
              <a:rPr lang="ko-KR" altLang="en-US" sz="1200">
                <a:solidFill>
                  <a:srgbClr val="475569"/>
                </a:solidFill>
                <a:latin typeface="+mn-ea"/>
                <a:cs typeface="Pretendard"/>
              </a:rPr>
              <a:t>순으로 덮어쓰기</a:t>
            </a:r>
            <a:r>
              <a:rPr lang="en-US" altLang="ko-KR" sz="1200">
                <a:solidFill>
                  <a:srgbClr val="475569"/>
                </a:solidFill>
                <a:latin typeface="+mn-ea"/>
                <a:cs typeface="Pretendard"/>
              </a:rPr>
              <a:t>. </a:t>
            </a:r>
            <a:r>
              <a:rPr lang="ko-KR" altLang="en-US" sz="1200">
                <a:solidFill>
                  <a:srgbClr val="475569"/>
                </a:solidFill>
                <a:latin typeface="+mn-ea"/>
                <a:cs typeface="Pretendard"/>
              </a:rPr>
              <a:t>나중 소스가 이김 </a:t>
            </a:r>
            <a:r>
              <a:rPr lang="en-US" altLang="ko-KR" sz="1200">
                <a:solidFill>
                  <a:srgbClr val="475569"/>
                </a:solidFill>
                <a:latin typeface="+mn-ea"/>
                <a:cs typeface="Pretendard"/>
              </a:rPr>
              <a:t>— </a:t>
            </a:r>
            <a:r>
              <a:rPr lang="ko-KR" altLang="en-US" sz="1200">
                <a:solidFill>
                  <a:srgbClr val="475569"/>
                </a:solidFill>
                <a:latin typeface="+mn-ea"/>
                <a:cs typeface="Pretendard"/>
              </a:rPr>
              <a:t>운영 시 환경변수로 오버라이드</a:t>
            </a:r>
            <a:r>
              <a:rPr lang="en-US" altLang="ko-KR" sz="12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2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5E8A47-3BF4-2F14-49D7-0DDDA3D205BB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Universe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Busan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Edition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-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2604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D9B05A9-42A3-86B2-D3D9-C63592595F23}"/>
              </a:ext>
            </a:extLst>
          </p:cNvPr>
          <p:cNvSpPr/>
          <p:nvPr/>
        </p:nvSpPr>
        <p:spPr>
          <a:xfrm>
            <a:off x="857250" y="89535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59151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F4A3C7-EB28-4F3B-8825-578A2FEAAAD2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+mn-ea"/>
                <a:cs typeface="Pretendard"/>
              </a:rPr>
              <a:t>APPHOST.CS · PART 2</a:t>
            </a:r>
            <a:endParaRPr lang="ko-KR" altLang="en-US" sz="11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5D12C6-4388-4E03-BBC9-CB1BA5B8CCE5}"/>
              </a:ext>
            </a:extLst>
          </p:cNvPr>
          <p:cNvSpPr txBox="1"/>
          <p:nvPr/>
        </p:nvSpPr>
        <p:spPr>
          <a:xfrm>
            <a:off x="762000" y="11684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[</a:t>
            </a:r>
            <a:r>
              <a:rPr lang="en-US" altLang="ko-KR" sz="2800" b="1" dirty="0" err="1">
                <a:solidFill>
                  <a:srgbClr val="0A0A0A"/>
                </a:solidFill>
                <a:latin typeface="+mn-ea"/>
                <a:cs typeface="Pretendard"/>
              </a:rPr>
              <a:t>AppHost</a:t>
            </a:r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] </a:t>
            </a:r>
            <a:r>
              <a:rPr lang="ko-KR" altLang="en-US" sz="2800" b="1" dirty="0">
                <a:solidFill>
                  <a:srgbClr val="0A0A0A"/>
                </a:solidFill>
                <a:latin typeface="+mn-ea"/>
                <a:cs typeface="Pretendard"/>
              </a:rPr>
              <a:t>리소스 선언 </a:t>
            </a:r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— Garnet + </a:t>
            </a:r>
            <a:r>
              <a:rPr lang="en-US" altLang="ko-KR" sz="2800" b="1" dirty="0" err="1">
                <a:solidFill>
                  <a:srgbClr val="0A0A0A"/>
                </a:solidFill>
                <a:latin typeface="+mn-ea"/>
                <a:cs typeface="Pretendard"/>
              </a:rPr>
              <a:t>CSharpApp</a:t>
            </a:r>
            <a:endParaRPr lang="ko-KR" altLang="en-US" sz="2800" b="1" dirty="0">
              <a:solidFill>
                <a:srgbClr val="0A0A0A"/>
              </a:solidFill>
              <a:latin typeface="+mn-ea"/>
              <a:cs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7CD2CD-4A44-494A-B1D0-3B3D3D3471BC}"/>
              </a:ext>
            </a:extLst>
          </p:cNvPr>
          <p:cNvSpPr txBox="1"/>
          <p:nvPr/>
        </p:nvSpPr>
        <p:spPr>
          <a:xfrm>
            <a:off x="762000" y="17526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캐시 컨테이너를 자동 기동하고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, .cs 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파일을 리소스로 추가한다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.</a:t>
            </a:r>
            <a:endParaRPr lang="ko-KR" altLang="en-US" sz="1300">
              <a:solidFill>
                <a:srgbClr val="64748B"/>
              </a:solidFill>
              <a:latin typeface="+mn-ea"/>
              <a:cs typeface="Pretendard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4132DF-1160-4C05-B882-8E1AFA885D2F}"/>
              </a:ext>
            </a:extLst>
          </p:cNvPr>
          <p:cNvSpPr/>
          <p:nvPr/>
        </p:nvSpPr>
        <p:spPr>
          <a:xfrm>
            <a:off x="762000" y="2286000"/>
            <a:ext cx="2794000" cy="3048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6D5BFD-BC36-40F0-98DF-B526DEBC1A0C}"/>
              </a:ext>
            </a:extLst>
          </p:cNvPr>
          <p:cNvSpPr txBox="1"/>
          <p:nvPr/>
        </p:nvSpPr>
        <p:spPr>
          <a:xfrm>
            <a:off x="914400" y="23241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A5B4FC"/>
                </a:solidFill>
                <a:latin typeface="+mn-ea"/>
              </a:rPr>
              <a:t>apphost.cs  ·  C# · file-based</a:t>
            </a:r>
            <a:endParaRPr lang="ko-KR" altLang="en-US" sz="1000">
              <a:solidFill>
                <a:srgbClr val="A5B4FC"/>
              </a:solidFill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9B2FDA-3AAE-4B20-9D92-70BCBAFCE2B9}"/>
              </a:ext>
            </a:extLst>
          </p:cNvPr>
          <p:cNvSpPr/>
          <p:nvPr/>
        </p:nvSpPr>
        <p:spPr>
          <a:xfrm>
            <a:off x="762000" y="2590800"/>
            <a:ext cx="6350000" cy="36322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55F592-A5A0-4653-B7ED-24DD4B259FEA}"/>
              </a:ext>
            </a:extLst>
          </p:cNvPr>
          <p:cNvSpPr txBox="1"/>
          <p:nvPr/>
        </p:nvSpPr>
        <p:spPr>
          <a:xfrm>
            <a:off x="965200" y="2743200"/>
            <a:ext cx="5943600" cy="3327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// … 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builder.Configuration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 </a:t>
            </a:r>
            <a:r>
              <a:rPr lang="ko-KR" altLang="en-US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체이닝</a:t>
            </a:r>
            <a:r>
              <a:rPr lang="ko-KR" altLang="en-US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
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var garnet = 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builder.AddGarnet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("cache"); </a:t>
            </a:r>
            <a:r>
              <a:rPr lang="ko-KR" altLang="en-US" sz="1100" b="1" dirty="0">
                <a:solidFill>
                  <a:srgbClr val="EC4899"/>
                </a:solidFill>
                <a:latin typeface="+mn-ea"/>
                <a:cs typeface="Pretendard"/>
              </a:rPr>
              <a:t>③ 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
_ = 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builder.AddCSharpApp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("worker", "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worker.cs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")
    .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WithReference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(garnet)
    .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WaitFor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(garnet);</a:t>
            </a:r>
            <a:r>
              <a:rPr lang="ko-KR" altLang="en-US" sz="1100" b="1" dirty="0">
                <a:solidFill>
                  <a:srgbClr val="EC4899"/>
                </a:solidFill>
                <a:latin typeface="+mn-ea"/>
                <a:cs typeface="Pretendard"/>
              </a:rPr>
              <a:t> ④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
_ = 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builder.AddCSharpApp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("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minapi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", "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minapi.cs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")
    .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WithReference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(garnet)
    .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WaitFor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(garnet)
    .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WithHttpsEndpoint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()
    .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WithHttpEndpoint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();</a:t>
            </a:r>
            <a:r>
              <a:rPr lang="ko-KR" altLang="en-US" sz="1100" b="1" dirty="0">
                <a:solidFill>
                  <a:srgbClr val="EC4899"/>
                </a:solidFill>
                <a:latin typeface="+mn-ea"/>
                <a:cs typeface="Pretendard"/>
              </a:rPr>
              <a:t> ④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
//</a:t>
            </a:r>
          </a:p>
          <a:p>
            <a:endParaRPr lang="en-US" altLang="ko-KR" sz="1100" dirty="0">
              <a:solidFill>
                <a:srgbClr val="E2E8F0"/>
              </a:solidFill>
              <a:latin typeface="Lucida Console" panose="020B0609040504020204" pitchFamily="49" charset="0"/>
            </a:endParaRPr>
          </a:p>
          <a:p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…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builder.Build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().Run()</a:t>
            </a:r>
            <a:endParaRPr lang="ko-KR" altLang="en-US" sz="1100" dirty="0">
              <a:solidFill>
                <a:srgbClr val="E2E8F0"/>
              </a:solidFill>
              <a:latin typeface="Lucida Console" panose="020B06090405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0ED150-E08B-4B4E-9F56-733ADA7AA3AF}"/>
              </a:ext>
            </a:extLst>
          </p:cNvPr>
          <p:cNvSpPr txBox="1"/>
          <p:nvPr/>
        </p:nvSpPr>
        <p:spPr>
          <a:xfrm>
            <a:off x="7620000" y="22860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EC4899"/>
                </a:solidFill>
                <a:latin typeface="+mn-ea"/>
                <a:cs typeface="Pretendard"/>
              </a:rPr>
              <a:t>③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F373C7-FD59-45E1-B48E-1DC661FD4260}"/>
              </a:ext>
            </a:extLst>
          </p:cNvPr>
          <p:cNvSpPr txBox="1"/>
          <p:nvPr/>
        </p:nvSpPr>
        <p:spPr>
          <a:xfrm>
            <a:off x="8026400" y="22860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0A0A0A"/>
                </a:solidFill>
                <a:latin typeface="+mn-ea"/>
                <a:cs typeface="Pretendard"/>
              </a:rPr>
              <a:t>AddGarnet("cache")</a:t>
            </a:r>
            <a:endParaRPr lang="ko-KR" altLang="en-US" sz="1300" b="1">
              <a:solidFill>
                <a:srgbClr val="0A0A0A"/>
              </a:solidFill>
              <a:latin typeface="+mn-ea"/>
              <a:cs typeface="Pretendar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8449E6-0987-430B-8DBF-A18F7C81C760}"/>
              </a:ext>
            </a:extLst>
          </p:cNvPr>
          <p:cNvSpPr txBox="1"/>
          <p:nvPr/>
        </p:nvSpPr>
        <p:spPr>
          <a:xfrm>
            <a:off x="8026400" y="2590800"/>
            <a:ext cx="34036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Microsoft가 오픈소스로 공개한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Redis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프로토콜 호환 고성능 캐시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(MSR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에서 태동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)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. 이름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"cache"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가 다른 리소스에서 주입될 연결 문자열 키.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06013C-51FF-4763-8BA1-13BF9B3E58ED}"/>
              </a:ext>
            </a:extLst>
          </p:cNvPr>
          <p:cNvSpPr txBox="1"/>
          <p:nvPr/>
        </p:nvSpPr>
        <p:spPr>
          <a:xfrm>
            <a:off x="7620000" y="43180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EC4899"/>
                </a:solidFill>
                <a:latin typeface="+mn-ea"/>
                <a:cs typeface="Pretendard"/>
              </a:rPr>
              <a:t>④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88EEB6-39A9-4632-AE05-ADC349938ADC}"/>
              </a:ext>
            </a:extLst>
          </p:cNvPr>
          <p:cNvSpPr txBox="1"/>
          <p:nvPr/>
        </p:nvSpPr>
        <p:spPr>
          <a:xfrm>
            <a:off x="8026400" y="43180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0A0A0A"/>
                </a:solidFill>
                <a:latin typeface="+mn-ea"/>
                <a:cs typeface="Pretendard"/>
              </a:rPr>
              <a:t>AddCSharpApp</a:t>
            </a:r>
            <a:endParaRPr lang="ko-KR" altLang="en-US" sz="1300" b="1">
              <a:solidFill>
                <a:srgbClr val="0A0A0A"/>
              </a:solidFill>
              <a:latin typeface="+mn-ea"/>
              <a:cs typeface="Pretendar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EA2838-6D47-4C04-852E-C13E5D0D915D}"/>
              </a:ext>
            </a:extLst>
          </p:cNvPr>
          <p:cNvSpPr txBox="1"/>
          <p:nvPr/>
        </p:nvSpPr>
        <p:spPr>
          <a:xfrm>
            <a:off x="8026400" y="4622800"/>
            <a:ext cx="3403600" cy="157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worker.cs · minapi.cs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파일 자체를 리소스로 추가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 .csproj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필요 없음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—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파일이 곧 서비스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1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F3C052-60E5-22A9-0100-D81C22900EAF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Universe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Busan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Edition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-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2604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0F2195B-205B-8920-19A0-AE09BA0B997A}"/>
              </a:ext>
            </a:extLst>
          </p:cNvPr>
          <p:cNvSpPr/>
          <p:nvPr/>
        </p:nvSpPr>
        <p:spPr>
          <a:xfrm>
            <a:off x="857250" y="89535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91435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3D0466-CA5A-4BD2-A31B-9A4464B019A1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+mn-ea"/>
                <a:cs typeface="Pretendard"/>
              </a:rPr>
              <a:t>APPHOST.JSON · CONFIGURATION FILE</a:t>
            </a:r>
            <a:endParaRPr lang="ko-KR" altLang="en-US" sz="11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E31289-E178-402C-8310-F5528B27D23E}"/>
              </a:ext>
            </a:extLst>
          </p:cNvPr>
          <p:cNvSpPr txBox="1"/>
          <p:nvPr/>
        </p:nvSpPr>
        <p:spPr>
          <a:xfrm>
            <a:off x="762000" y="11684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[</a:t>
            </a:r>
            <a:r>
              <a:rPr lang="en-US" altLang="ko-KR" sz="2800" b="1" dirty="0" err="1">
                <a:solidFill>
                  <a:srgbClr val="0A0A0A"/>
                </a:solidFill>
                <a:latin typeface="+mn-ea"/>
                <a:cs typeface="Pretendard"/>
              </a:rPr>
              <a:t>AppHost</a:t>
            </a:r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] </a:t>
            </a:r>
            <a:r>
              <a:rPr lang="en-US" altLang="ko-KR" sz="2800" b="1" dirty="0" err="1">
                <a:solidFill>
                  <a:srgbClr val="0A0A0A"/>
                </a:solidFill>
                <a:latin typeface="+mn-ea"/>
                <a:cs typeface="Pretendard"/>
              </a:rPr>
              <a:t>apphost.json</a:t>
            </a:r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 — </a:t>
            </a:r>
            <a:r>
              <a:rPr lang="ko-KR" altLang="en-US" sz="2800" b="1" dirty="0">
                <a:solidFill>
                  <a:srgbClr val="0A0A0A"/>
                </a:solidFill>
                <a:latin typeface="+mn-ea"/>
                <a:cs typeface="Pretendard"/>
              </a:rPr>
              <a:t>환경 설정의 뿌리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6EE8A7-6879-40DD-B98F-43E654A34418}"/>
              </a:ext>
            </a:extLst>
          </p:cNvPr>
          <p:cNvSpPr txBox="1"/>
          <p:nvPr/>
        </p:nvSpPr>
        <p:spPr>
          <a:xfrm>
            <a:off x="762000" y="17526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대시보드 포트 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· OTLP 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엔드포인트 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· 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컨테이너 런타임을 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JSON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으로 지정한다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.</a:t>
            </a:r>
            <a:endParaRPr lang="ko-KR" altLang="en-US" sz="1300">
              <a:solidFill>
                <a:srgbClr val="64748B"/>
              </a:solidFill>
              <a:latin typeface="+mn-ea"/>
              <a:cs typeface="Pretendard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66CB724-9530-43C7-B6BA-6A53474236D7}"/>
              </a:ext>
            </a:extLst>
          </p:cNvPr>
          <p:cNvSpPr/>
          <p:nvPr/>
        </p:nvSpPr>
        <p:spPr>
          <a:xfrm>
            <a:off x="762000" y="2286000"/>
            <a:ext cx="2794000" cy="3048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049DAB-C4F9-4537-A08F-1092ABB76364}"/>
              </a:ext>
            </a:extLst>
          </p:cNvPr>
          <p:cNvSpPr txBox="1"/>
          <p:nvPr/>
        </p:nvSpPr>
        <p:spPr>
          <a:xfrm>
            <a:off x="914400" y="23241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A5B4FC"/>
                </a:solidFill>
                <a:latin typeface="+mn-ea"/>
              </a:rPr>
              <a:t>apphost.json  ·  JSON</a:t>
            </a:r>
            <a:endParaRPr lang="ko-KR" altLang="en-US" sz="1000">
              <a:solidFill>
                <a:srgbClr val="A5B4FC"/>
              </a:solidFill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EEA5C7E-F941-4805-9AC2-7F84A47B822B}"/>
              </a:ext>
            </a:extLst>
          </p:cNvPr>
          <p:cNvSpPr/>
          <p:nvPr/>
        </p:nvSpPr>
        <p:spPr>
          <a:xfrm>
            <a:off x="762000" y="2590800"/>
            <a:ext cx="6350000" cy="26162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73CAC4-5273-4009-BCC7-5EE8F190E9EB}"/>
              </a:ext>
            </a:extLst>
          </p:cNvPr>
          <p:cNvSpPr txBox="1"/>
          <p:nvPr/>
        </p:nvSpPr>
        <p:spPr>
          <a:xfrm>
            <a:off x="965200" y="2743200"/>
            <a:ext cx="5943600" cy="2311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{
  "ASPNETCORE_URLS": "http://localhost:18888", </a:t>
            </a:r>
            <a:r>
              <a:rPr lang="ko-KR" altLang="en-US" sz="1100" b="1" dirty="0">
                <a:solidFill>
                  <a:srgbClr val="EC4899"/>
                </a:solidFill>
                <a:latin typeface="+mn-ea"/>
                <a:cs typeface="Pretendard"/>
              </a:rPr>
              <a:t>①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
  "ASPIRE_DASHBOARD_OTLP_ENDPOINT_URL":
      "http://localhost:18889",</a:t>
            </a:r>
            <a:r>
              <a:rPr lang="ko-KR" altLang="en-US" sz="1100" b="1" dirty="0">
                <a:solidFill>
                  <a:srgbClr val="EC4899"/>
                </a:solidFill>
                <a:latin typeface="+mn-ea"/>
                <a:cs typeface="Pretendard"/>
              </a:rPr>
              <a:t> ②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
  "ASPIRE_DASHBOARD_OTLP_HTTP_ENDPOINT_URL":
      "http://localhost:18890",</a:t>
            </a:r>
            <a:r>
              <a:rPr lang="ko-KR" altLang="en-US" sz="1100" b="1" dirty="0">
                <a:solidFill>
                  <a:srgbClr val="EC4899"/>
                </a:solidFill>
                <a:latin typeface="+mn-ea"/>
                <a:cs typeface="Pretendard"/>
              </a:rPr>
              <a:t> ②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
  "ASPIRE_ALLOW_UNSECURED_TRANSPORT": "true",
  "ASPIRE_CONTAINER_RUNTIME": "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podman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"</a:t>
            </a:r>
            <a:r>
              <a:rPr lang="ko-KR" altLang="en-US" sz="1100" b="1" dirty="0">
                <a:solidFill>
                  <a:srgbClr val="EC4899"/>
                </a:solidFill>
                <a:latin typeface="+mn-ea"/>
                <a:cs typeface="Pretendard"/>
              </a:rPr>
              <a:t>③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
}</a:t>
            </a:r>
            <a:endParaRPr lang="ko-KR" altLang="en-US" sz="1100" dirty="0">
              <a:solidFill>
                <a:srgbClr val="E2E8F0"/>
              </a:solidFill>
              <a:latin typeface="Lucida Console" panose="020B06090405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537967-0D7F-4F8D-BCC5-621DC1C134E3}"/>
              </a:ext>
            </a:extLst>
          </p:cNvPr>
          <p:cNvSpPr txBox="1"/>
          <p:nvPr/>
        </p:nvSpPr>
        <p:spPr>
          <a:xfrm>
            <a:off x="7620000" y="22860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EC4899"/>
                </a:solidFill>
                <a:latin typeface="+mn-ea"/>
                <a:cs typeface="Pretendard"/>
              </a:rPr>
              <a:t>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0A770D-A822-4FDD-8FAB-632217B8EF9A}"/>
              </a:ext>
            </a:extLst>
          </p:cNvPr>
          <p:cNvSpPr txBox="1"/>
          <p:nvPr/>
        </p:nvSpPr>
        <p:spPr>
          <a:xfrm>
            <a:off x="8026400" y="22860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b="1">
                <a:solidFill>
                  <a:srgbClr val="0A0A0A"/>
                </a:solidFill>
                <a:latin typeface="+mn-ea"/>
                <a:cs typeface="Pretendard"/>
              </a:rPr>
              <a:t>대시보드 포트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4A0D34-C175-4882-AA4C-C92103924AF2}"/>
              </a:ext>
            </a:extLst>
          </p:cNvPr>
          <p:cNvSpPr txBox="1"/>
          <p:nvPr/>
        </p:nvSpPr>
        <p:spPr>
          <a:xfrm>
            <a:off x="8026400" y="2590800"/>
            <a:ext cx="3403600" cy="749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ASPNETCORE_URLS.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기본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15888,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여기서는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18888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로 변경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1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BE60AA-E918-4E60-8C7D-69F590C3433A}"/>
              </a:ext>
            </a:extLst>
          </p:cNvPr>
          <p:cNvSpPr txBox="1"/>
          <p:nvPr/>
        </p:nvSpPr>
        <p:spPr>
          <a:xfrm>
            <a:off x="7620000" y="35560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EC4899"/>
                </a:solidFill>
                <a:latin typeface="+mn-ea"/>
                <a:cs typeface="Pretendard"/>
              </a:rPr>
              <a:t>②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B008ED-B7D9-4EC4-A133-55776F66D21E}"/>
              </a:ext>
            </a:extLst>
          </p:cNvPr>
          <p:cNvSpPr txBox="1"/>
          <p:nvPr/>
        </p:nvSpPr>
        <p:spPr>
          <a:xfrm>
            <a:off x="8026400" y="35560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0A0A0A"/>
                </a:solidFill>
                <a:latin typeface="+mn-ea"/>
                <a:cs typeface="Pretendard"/>
              </a:rPr>
              <a:t>OTLP </a:t>
            </a:r>
            <a:r>
              <a:rPr lang="ko-KR" altLang="en-US" sz="1300" b="1">
                <a:solidFill>
                  <a:srgbClr val="0A0A0A"/>
                </a:solidFill>
                <a:latin typeface="+mn-ea"/>
                <a:cs typeface="Pretendard"/>
              </a:rPr>
              <a:t>엔드포인트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1FC960-7A8C-4119-B663-716CACFCF9B4}"/>
              </a:ext>
            </a:extLst>
          </p:cNvPr>
          <p:cNvSpPr txBox="1"/>
          <p:nvPr/>
        </p:nvSpPr>
        <p:spPr>
          <a:xfrm>
            <a:off x="8026400" y="3860800"/>
            <a:ext cx="3403600" cy="749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OpenTelemetry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수집기 엔드포인트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서비스 텔레메트리가 여기로 전송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1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7FE136-A1F2-49C7-B19A-22BB4EF47FAC}"/>
              </a:ext>
            </a:extLst>
          </p:cNvPr>
          <p:cNvSpPr txBox="1"/>
          <p:nvPr/>
        </p:nvSpPr>
        <p:spPr>
          <a:xfrm>
            <a:off x="7620000" y="48260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EC4899"/>
                </a:solidFill>
                <a:latin typeface="+mn-ea"/>
                <a:cs typeface="Pretendard"/>
              </a:rPr>
              <a:t>③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C381F9-0DA4-4726-8AF0-1C8616558827}"/>
              </a:ext>
            </a:extLst>
          </p:cNvPr>
          <p:cNvSpPr txBox="1"/>
          <p:nvPr/>
        </p:nvSpPr>
        <p:spPr>
          <a:xfrm>
            <a:off x="8026400" y="48260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b="1">
                <a:solidFill>
                  <a:srgbClr val="0A0A0A"/>
                </a:solidFill>
                <a:latin typeface="+mn-ea"/>
                <a:cs typeface="Pretendard"/>
              </a:rPr>
              <a:t>컨테이너 런타임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8A680B-AD39-4D1B-B350-89088AF425BA}"/>
              </a:ext>
            </a:extLst>
          </p:cNvPr>
          <p:cNvSpPr txBox="1"/>
          <p:nvPr/>
        </p:nvSpPr>
        <p:spPr>
          <a:xfrm>
            <a:off x="8026400" y="5130800"/>
            <a:ext cx="34036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dirty="0">
                <a:solidFill>
                  <a:srgbClr val="475569"/>
                </a:solidFill>
                <a:latin typeface="+mn-ea"/>
                <a:cs typeface="Pretendard"/>
              </a:rPr>
              <a:t>Docker Desktop</a:t>
            </a:r>
            <a:r>
              <a:rPr lang="ko-KR" altLang="en-US" sz="1100" dirty="0">
                <a:solidFill>
                  <a:srgbClr val="475569"/>
                </a:solidFill>
                <a:latin typeface="+mn-ea"/>
                <a:cs typeface="Pretendard"/>
              </a:rPr>
              <a:t>을 구매하지 않았다면</a:t>
            </a:r>
            <a:r>
              <a:rPr lang="en-US" altLang="ko-KR" sz="1100" dirty="0">
                <a:solidFill>
                  <a:srgbClr val="475569"/>
                </a:solidFill>
                <a:latin typeface="+mn-ea"/>
                <a:cs typeface="Pretendard"/>
              </a:rPr>
              <a:t>, Docker Desktop </a:t>
            </a:r>
            <a:r>
              <a:rPr lang="ko-KR" altLang="en-US" sz="1100" dirty="0">
                <a:solidFill>
                  <a:srgbClr val="475569"/>
                </a:solidFill>
                <a:latin typeface="+mn-ea"/>
                <a:cs typeface="Pretendard"/>
              </a:rPr>
              <a:t>대신 </a:t>
            </a:r>
            <a:r>
              <a:rPr lang="en-US" altLang="ko-KR" sz="1100" dirty="0" err="1">
                <a:solidFill>
                  <a:srgbClr val="475569"/>
                </a:solidFill>
                <a:latin typeface="+mn-ea"/>
                <a:cs typeface="Pretendard"/>
              </a:rPr>
              <a:t>Podman</a:t>
            </a:r>
            <a:r>
              <a:rPr lang="en-US" altLang="ko-KR" sz="1100" dirty="0">
                <a:solidFill>
                  <a:srgbClr val="475569"/>
                </a:solidFill>
                <a:latin typeface="+mn-ea"/>
                <a:cs typeface="Pretendard"/>
              </a:rPr>
              <a:t> Desktop </a:t>
            </a:r>
            <a:r>
              <a:rPr lang="ko-KR" altLang="en-US" sz="1100" dirty="0">
                <a:solidFill>
                  <a:srgbClr val="475569"/>
                </a:solidFill>
                <a:latin typeface="+mn-ea"/>
                <a:cs typeface="Pretendard"/>
              </a:rPr>
              <a:t>사용 가능</a:t>
            </a:r>
            <a:r>
              <a:rPr lang="en-US" altLang="ko-KR" sz="1100" dirty="0">
                <a:solidFill>
                  <a:srgbClr val="475569"/>
                </a:solidFill>
                <a:latin typeface="+mn-ea"/>
                <a:cs typeface="Pretendard"/>
              </a:rPr>
              <a:t>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AEA4FC-CC78-4200-C95E-CA5CD1B38439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Universe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Busan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Edition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-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2604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3028AB9-00D3-5337-6F7E-F2747180005B}"/>
              </a:ext>
            </a:extLst>
          </p:cNvPr>
          <p:cNvSpPr/>
          <p:nvPr/>
        </p:nvSpPr>
        <p:spPr>
          <a:xfrm>
            <a:off x="857250" y="89535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10631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A28944-15B0-4F29-9019-16D0D5C27E44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+mn-ea"/>
                <a:cs typeface="Pretendard"/>
              </a:rPr>
              <a:t>APPHOST.CS · PART 3</a:t>
            </a:r>
            <a:endParaRPr lang="ko-KR" altLang="en-US" sz="11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59CE59-7B79-4B0B-B769-94997AE3CC34}"/>
              </a:ext>
            </a:extLst>
          </p:cNvPr>
          <p:cNvSpPr txBox="1"/>
          <p:nvPr/>
        </p:nvSpPr>
        <p:spPr>
          <a:xfrm>
            <a:off x="762000" y="11684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[</a:t>
            </a:r>
            <a:r>
              <a:rPr lang="en-US" altLang="ko-KR" sz="2800" b="1" dirty="0" err="1">
                <a:solidFill>
                  <a:srgbClr val="0A0A0A"/>
                </a:solidFill>
                <a:latin typeface="+mn-ea"/>
                <a:cs typeface="Pretendard"/>
              </a:rPr>
              <a:t>AppHost</a:t>
            </a:r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] </a:t>
            </a:r>
            <a:r>
              <a:rPr lang="ko-KR" altLang="en-US" sz="2800" b="1" dirty="0">
                <a:solidFill>
                  <a:srgbClr val="0A0A0A"/>
                </a:solidFill>
                <a:latin typeface="+mn-ea"/>
                <a:cs typeface="Pretendard"/>
              </a:rPr>
              <a:t>의존성 주입 </a:t>
            </a:r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+ </a:t>
            </a:r>
            <a:r>
              <a:rPr lang="ko-KR" altLang="en-US" sz="2800" b="1" dirty="0">
                <a:solidFill>
                  <a:srgbClr val="0A0A0A"/>
                </a:solidFill>
                <a:latin typeface="+mn-ea"/>
                <a:cs typeface="Pretendard"/>
              </a:rPr>
              <a:t>시작 순서 </a:t>
            </a:r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+ </a:t>
            </a:r>
            <a:r>
              <a:rPr lang="ko-KR" altLang="en-US" sz="2800" b="1" dirty="0" err="1">
                <a:solidFill>
                  <a:srgbClr val="0A0A0A"/>
                </a:solidFill>
                <a:latin typeface="+mn-ea"/>
                <a:cs typeface="Pretendard"/>
              </a:rPr>
              <a:t>엔드포인트</a:t>
            </a:r>
            <a:endParaRPr lang="ko-KR" altLang="en-US" sz="2800" b="1" dirty="0">
              <a:solidFill>
                <a:srgbClr val="0A0A0A"/>
              </a:solidFill>
              <a:latin typeface="+mn-ea"/>
              <a:cs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4F0088-BEFA-4CCB-9DAA-5990DADD1BAC}"/>
              </a:ext>
            </a:extLst>
          </p:cNvPr>
          <p:cNvSpPr txBox="1"/>
          <p:nvPr/>
        </p:nvSpPr>
        <p:spPr>
          <a:xfrm>
            <a:off x="762000" y="17526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WithReference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로 연결 주입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, WaitFor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로 순서 보장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, 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엔드포인트 노출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.</a:t>
            </a:r>
            <a:endParaRPr lang="ko-KR" altLang="en-US" sz="1300">
              <a:solidFill>
                <a:srgbClr val="64748B"/>
              </a:solidFill>
              <a:latin typeface="+mn-ea"/>
              <a:cs typeface="Pretendard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DFCC3DB-BD8B-4F3B-95D9-52C10143B784}"/>
              </a:ext>
            </a:extLst>
          </p:cNvPr>
          <p:cNvSpPr/>
          <p:nvPr/>
        </p:nvSpPr>
        <p:spPr>
          <a:xfrm>
            <a:off x="762000" y="2286000"/>
            <a:ext cx="2794000" cy="3048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576671-2DE9-4DEE-84F7-503CA4646A76}"/>
              </a:ext>
            </a:extLst>
          </p:cNvPr>
          <p:cNvSpPr txBox="1"/>
          <p:nvPr/>
        </p:nvSpPr>
        <p:spPr>
          <a:xfrm>
            <a:off x="914400" y="23241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A5B4FC"/>
                </a:solidFill>
                <a:latin typeface="+mn-ea"/>
              </a:rPr>
              <a:t>apphost.cs  ·  C# · file-based</a:t>
            </a:r>
            <a:endParaRPr lang="ko-KR" altLang="en-US" sz="1000">
              <a:solidFill>
                <a:srgbClr val="A5B4FC"/>
              </a:solidFill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18C36D4-BC53-4FD7-A55A-3576B0DA0C67}"/>
              </a:ext>
            </a:extLst>
          </p:cNvPr>
          <p:cNvSpPr/>
          <p:nvPr/>
        </p:nvSpPr>
        <p:spPr>
          <a:xfrm>
            <a:off x="762000" y="2590800"/>
            <a:ext cx="6350000" cy="36322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653DD9-02BA-465C-8FF1-AA2D6282CF84}"/>
              </a:ext>
            </a:extLst>
          </p:cNvPr>
          <p:cNvSpPr txBox="1"/>
          <p:nvPr/>
        </p:nvSpPr>
        <p:spPr>
          <a:xfrm>
            <a:off x="965200" y="2743200"/>
            <a:ext cx="5943600" cy="3327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var garnet = 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builder.AddGarnet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("cache");
_ = 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builder.AddCSharpApp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("worker", "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worker.cs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")
    .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WithReference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(garnet)
    .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WaitFor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(garnet);
_ = 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builder.AddCSharpApp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(“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webapi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", “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webapi.cs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")
    .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WithReference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(garnet)
    .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WaitFor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(garnet)
    .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WithHttpsEndpoint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()
    .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WithHttpEndpoint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();
using var app = 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builder.Build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();
</a:t>
            </a:r>
            <a:r>
              <a:rPr lang="en-US" altLang="ko-KR" sz="11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app.Run</a:t>
            </a:r>
            <a:r>
              <a:rPr lang="en-US" altLang="ko-KR" sz="1100" dirty="0">
                <a:solidFill>
                  <a:srgbClr val="E2E8F0"/>
                </a:solidFill>
                <a:latin typeface="Lucida Console" panose="020B0609040504020204" pitchFamily="49" charset="0"/>
              </a:rPr>
              <a:t>();</a:t>
            </a:r>
            <a:endParaRPr lang="ko-KR" altLang="en-US" sz="1100" dirty="0">
              <a:solidFill>
                <a:srgbClr val="E2E8F0"/>
              </a:solidFill>
              <a:latin typeface="Lucida Console" panose="020B06090405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EA4C78-D1AB-4FB5-A3B8-40E3D9D0A960}"/>
              </a:ext>
            </a:extLst>
          </p:cNvPr>
          <p:cNvSpPr txBox="1"/>
          <p:nvPr/>
        </p:nvSpPr>
        <p:spPr>
          <a:xfrm>
            <a:off x="7620000" y="22860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EC4899"/>
                </a:solidFill>
                <a:latin typeface="+mn-ea"/>
                <a:cs typeface="Pretendard"/>
              </a:rPr>
              <a:t>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B3A104-B131-4A1E-9052-9BD6D60FCFB5}"/>
              </a:ext>
            </a:extLst>
          </p:cNvPr>
          <p:cNvSpPr txBox="1"/>
          <p:nvPr/>
        </p:nvSpPr>
        <p:spPr>
          <a:xfrm>
            <a:off x="8026400" y="22860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0A0A0A"/>
                </a:solidFill>
                <a:latin typeface="+mn-ea"/>
                <a:cs typeface="Pretendard"/>
              </a:rPr>
              <a:t>WithReference</a:t>
            </a:r>
            <a:endParaRPr lang="ko-KR" altLang="en-US" sz="1300" b="1">
              <a:solidFill>
                <a:srgbClr val="0A0A0A"/>
              </a:solidFill>
              <a:latin typeface="+mn-ea"/>
              <a:cs typeface="Pretendar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FA2C50-D697-45F0-8186-0AA31C14B6EB}"/>
              </a:ext>
            </a:extLst>
          </p:cNvPr>
          <p:cNvSpPr txBox="1"/>
          <p:nvPr/>
        </p:nvSpPr>
        <p:spPr>
          <a:xfrm>
            <a:off x="8026400" y="2590800"/>
            <a:ext cx="3403600" cy="876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연결 문자열 자동 주입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 "cache"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로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garnet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을 참조하면 환경변수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ConnectionStrings__cache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가 들어간다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1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B0CE43-CF59-4824-B956-E0E460F7C981}"/>
              </a:ext>
            </a:extLst>
          </p:cNvPr>
          <p:cNvSpPr txBox="1"/>
          <p:nvPr/>
        </p:nvSpPr>
        <p:spPr>
          <a:xfrm>
            <a:off x="7620000" y="36195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EC4899"/>
                </a:solidFill>
                <a:latin typeface="+mn-ea"/>
                <a:cs typeface="Pretendard"/>
              </a:rPr>
              <a:t>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E78636-0E14-42BC-B47F-30DBE24BDE64}"/>
              </a:ext>
            </a:extLst>
          </p:cNvPr>
          <p:cNvSpPr txBox="1"/>
          <p:nvPr/>
        </p:nvSpPr>
        <p:spPr>
          <a:xfrm>
            <a:off x="8026400" y="36195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0A0A0A"/>
                </a:solidFill>
                <a:latin typeface="+mn-ea"/>
                <a:cs typeface="Pretendard"/>
              </a:rPr>
              <a:t>WaitFor</a:t>
            </a:r>
            <a:endParaRPr lang="ko-KR" altLang="en-US" sz="1300" b="1">
              <a:solidFill>
                <a:srgbClr val="0A0A0A"/>
              </a:solidFill>
              <a:latin typeface="+mn-ea"/>
              <a:cs typeface="Pretendar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FCB489-72FD-45DB-9920-BCCEF8D6CB69}"/>
              </a:ext>
            </a:extLst>
          </p:cNvPr>
          <p:cNvSpPr txBox="1"/>
          <p:nvPr/>
        </p:nvSpPr>
        <p:spPr>
          <a:xfrm>
            <a:off x="8026400" y="3924300"/>
            <a:ext cx="3403600" cy="876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 dirty="0">
                <a:solidFill>
                  <a:srgbClr val="475569"/>
                </a:solidFill>
                <a:latin typeface="+mn-ea"/>
                <a:cs typeface="Pretendard"/>
              </a:rPr>
              <a:t>의존 리소스가 </a:t>
            </a:r>
            <a:r>
              <a:rPr lang="en-US" altLang="ko-KR" sz="1100" dirty="0">
                <a:solidFill>
                  <a:srgbClr val="475569"/>
                </a:solidFill>
                <a:latin typeface="+mn-ea"/>
                <a:cs typeface="Pretendard"/>
              </a:rPr>
              <a:t>Healthy </a:t>
            </a:r>
            <a:r>
              <a:rPr lang="ko-KR" altLang="en-US" sz="1100" dirty="0">
                <a:solidFill>
                  <a:srgbClr val="475569"/>
                </a:solidFill>
                <a:latin typeface="+mn-ea"/>
                <a:cs typeface="Pretendard"/>
              </a:rPr>
              <a:t>될 때까지 대기</a:t>
            </a:r>
            <a:r>
              <a:rPr lang="en-US" altLang="ko-KR" sz="1100" dirty="0">
                <a:solidFill>
                  <a:srgbClr val="475569"/>
                </a:solidFill>
                <a:latin typeface="+mn-ea"/>
                <a:cs typeface="Pretendard"/>
              </a:rPr>
              <a:t>. garnet</a:t>
            </a:r>
            <a:r>
              <a:rPr lang="ko-KR" altLang="en-US" sz="1100" dirty="0">
                <a:solidFill>
                  <a:srgbClr val="475569"/>
                </a:solidFill>
                <a:latin typeface="+mn-ea"/>
                <a:cs typeface="Pretendard"/>
              </a:rPr>
              <a:t>이 준비되기 전에는 </a:t>
            </a:r>
            <a:r>
              <a:rPr lang="en-US" altLang="ko-KR" sz="1100" dirty="0">
                <a:solidFill>
                  <a:srgbClr val="475569"/>
                </a:solidFill>
                <a:latin typeface="+mn-ea"/>
                <a:cs typeface="Pretendard"/>
              </a:rPr>
              <a:t>worker/</a:t>
            </a:r>
            <a:r>
              <a:rPr lang="en-US" altLang="ko-KR" sz="1100" dirty="0" err="1">
                <a:solidFill>
                  <a:srgbClr val="475569"/>
                </a:solidFill>
                <a:latin typeface="+mn-ea"/>
                <a:cs typeface="Pretendard"/>
              </a:rPr>
              <a:t>webapi</a:t>
            </a:r>
            <a:r>
              <a:rPr lang="ko-KR" altLang="en-US" sz="1100" dirty="0">
                <a:solidFill>
                  <a:srgbClr val="475569"/>
                </a:solidFill>
                <a:latin typeface="+mn-ea"/>
                <a:cs typeface="Pretendard"/>
              </a:rPr>
              <a:t>가 시작하지 않는다</a:t>
            </a:r>
            <a:r>
              <a:rPr lang="en-US" altLang="ko-KR" sz="1100" dirty="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100" dirty="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B9EE9E-F9BC-43FB-B5E6-CFC1FBF4122E}"/>
              </a:ext>
            </a:extLst>
          </p:cNvPr>
          <p:cNvSpPr txBox="1"/>
          <p:nvPr/>
        </p:nvSpPr>
        <p:spPr>
          <a:xfrm>
            <a:off x="7620000" y="49530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EC4899"/>
                </a:solidFill>
                <a:latin typeface="+mn-ea"/>
                <a:cs typeface="Pretendard"/>
              </a:rPr>
              <a:t>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6D6411-9D2F-42DC-A42B-AB506A311D8C}"/>
              </a:ext>
            </a:extLst>
          </p:cNvPr>
          <p:cNvSpPr txBox="1"/>
          <p:nvPr/>
        </p:nvSpPr>
        <p:spPr>
          <a:xfrm>
            <a:off x="8026400" y="49530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b="1">
                <a:solidFill>
                  <a:srgbClr val="0A0A0A"/>
                </a:solidFill>
                <a:latin typeface="+mn-ea"/>
                <a:cs typeface="Pretendard"/>
              </a:rPr>
              <a:t>엔드포인트 노출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9340E5-35D2-4A65-A584-7B5910D3982C}"/>
              </a:ext>
            </a:extLst>
          </p:cNvPr>
          <p:cNvSpPr txBox="1"/>
          <p:nvPr/>
        </p:nvSpPr>
        <p:spPr>
          <a:xfrm>
            <a:off x="8026400" y="5257800"/>
            <a:ext cx="34036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WithHttpsEndpoint() · WithHttpEndpoint()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포트 자동 할당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—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대시보드에 바로 링크로 표시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1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7C106D-7F45-7C44-2287-AA081075817E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Universe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Busan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Edition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-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2604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3AB9977-2207-F40B-7AF2-26BBA10494F3}"/>
              </a:ext>
            </a:extLst>
          </p:cNvPr>
          <p:cNvSpPr/>
          <p:nvPr/>
        </p:nvSpPr>
        <p:spPr>
          <a:xfrm>
            <a:off x="857250" y="89535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4283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EC6BDA-2565-4A15-A077-0767AD99F530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+mn-ea"/>
                <a:cs typeface="Pretendard"/>
              </a:rPr>
              <a:t>WEBAPI.CS · PART 1</a:t>
            </a:r>
            <a:endParaRPr lang="ko-KR" altLang="en-US" sz="11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E9ED82-409D-4072-8196-D69D9528B9C3}"/>
              </a:ext>
            </a:extLst>
          </p:cNvPr>
          <p:cNvSpPr txBox="1"/>
          <p:nvPr/>
        </p:nvSpPr>
        <p:spPr>
          <a:xfrm>
            <a:off x="762000" y="11684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[</a:t>
            </a:r>
            <a:r>
              <a:rPr lang="en-US" altLang="ko-KR" sz="2800" b="1" dirty="0" err="1">
                <a:solidFill>
                  <a:srgbClr val="0A0A0A"/>
                </a:solidFill>
                <a:latin typeface="+mn-ea"/>
                <a:cs typeface="Pretendard"/>
              </a:rPr>
              <a:t>WebApi</a:t>
            </a:r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] </a:t>
            </a:r>
            <a:r>
              <a:rPr lang="ko-KR" altLang="en-US" sz="2800" b="1" dirty="0">
                <a:solidFill>
                  <a:srgbClr val="0A0A0A"/>
                </a:solidFill>
                <a:latin typeface="+mn-ea"/>
                <a:cs typeface="Pretendard"/>
              </a:rPr>
              <a:t>파일 기반 지시어 </a:t>
            </a:r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+ Redis </a:t>
            </a:r>
            <a:r>
              <a:rPr lang="ko-KR" altLang="en-US" sz="2800" b="1" dirty="0">
                <a:solidFill>
                  <a:srgbClr val="0A0A0A"/>
                </a:solidFill>
                <a:latin typeface="+mn-ea"/>
                <a:cs typeface="Pretendard"/>
              </a:rPr>
              <a:t>클라이언트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865162-9901-41FE-B4CF-3422A3842708}"/>
              </a:ext>
            </a:extLst>
          </p:cNvPr>
          <p:cNvSpPr txBox="1"/>
          <p:nvPr/>
        </p:nvSpPr>
        <p:spPr>
          <a:xfrm>
            <a:off x="762000" y="17526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Web SDK 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선언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, 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필요한 패키지 나열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, Redis 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연결 주입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.</a:t>
            </a:r>
            <a:endParaRPr lang="ko-KR" altLang="en-US" sz="1300">
              <a:solidFill>
                <a:srgbClr val="64748B"/>
              </a:solidFill>
              <a:latin typeface="+mn-ea"/>
              <a:cs typeface="Pretendard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05BFC0D-2E50-45E7-839B-F5DF20016D11}"/>
              </a:ext>
            </a:extLst>
          </p:cNvPr>
          <p:cNvSpPr/>
          <p:nvPr/>
        </p:nvSpPr>
        <p:spPr>
          <a:xfrm>
            <a:off x="762000" y="2286000"/>
            <a:ext cx="2794000" cy="3048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B048BD-EAD5-48BA-88EE-BD4BDBA3E20D}"/>
              </a:ext>
            </a:extLst>
          </p:cNvPr>
          <p:cNvSpPr txBox="1"/>
          <p:nvPr/>
        </p:nvSpPr>
        <p:spPr>
          <a:xfrm>
            <a:off x="914400" y="23241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A5B4FC"/>
                </a:solidFill>
                <a:latin typeface="+mn-ea"/>
              </a:rPr>
              <a:t>webapi.cs  ·  C# · file-based</a:t>
            </a:r>
            <a:endParaRPr lang="ko-KR" altLang="en-US" sz="1000">
              <a:solidFill>
                <a:srgbClr val="A5B4FC"/>
              </a:solidFill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DEECBF3-9086-48DC-8FF6-339199BA0A86}"/>
              </a:ext>
            </a:extLst>
          </p:cNvPr>
          <p:cNvSpPr/>
          <p:nvPr/>
        </p:nvSpPr>
        <p:spPr>
          <a:xfrm>
            <a:off x="762000" y="2590800"/>
            <a:ext cx="6350000" cy="36322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F99739-5FAC-46BE-84A3-27443AAE4732}"/>
              </a:ext>
            </a:extLst>
          </p:cNvPr>
          <p:cNvSpPr txBox="1"/>
          <p:nvPr/>
        </p:nvSpPr>
        <p:spPr>
          <a:xfrm>
            <a:off x="965200" y="2743200"/>
            <a:ext cx="5943600" cy="3327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#!/usr/bin/env dotnet
#:sdk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Microsoft.NET.Sdk.Web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 </a:t>
            </a:r>
            <a:r>
              <a:rPr lang="ko-KR" altLang="en-US" sz="1000" b="1" dirty="0">
                <a:solidFill>
                  <a:srgbClr val="EC4899"/>
                </a:solidFill>
                <a:latin typeface="+mn-ea"/>
                <a:cs typeface="Pretendard"/>
              </a:rPr>
              <a:t>①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
#:property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PublishAot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=false
</a:t>
            </a:r>
          </a:p>
          <a:p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#:package Aspire.StackExchange.Redis@13.*
#:package OpenTelemetry.Exporter.OpenTelemetryProtocol@1.*
#:package OpenTelemetry.Extensions.Hosting@1.*
#:package OpenTelemetry.Instrumentation.AspNetCore@1.*
#:package OpenTelemetry.Instrumentation.Http@1.*
#:package OpenTelemetry.Instrumentation.Runtime@1.*
using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Microsoft.AspNetCore.Mvc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;
using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OpenTelemetry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;
using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StackExchange.Redis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;
var builder =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WebApplication.CreateBuilder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);
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builder.AddRedisClient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("cache"); </a:t>
            </a:r>
            <a:r>
              <a:rPr lang="ko-KR" altLang="en-US" sz="1000" b="1" dirty="0">
                <a:solidFill>
                  <a:srgbClr val="EC4899"/>
                </a:solidFill>
                <a:latin typeface="+mn-ea"/>
                <a:cs typeface="Pretendard"/>
              </a:rPr>
              <a:t>②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
// …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OpenTelemetry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 </a:t>
            </a:r>
            <a:r>
              <a:rPr lang="ko-KR" altLang="en-US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설정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8BC6E2-FCB4-41F7-A473-A95D0FF49F8A}"/>
              </a:ext>
            </a:extLst>
          </p:cNvPr>
          <p:cNvSpPr txBox="1"/>
          <p:nvPr/>
        </p:nvSpPr>
        <p:spPr>
          <a:xfrm>
            <a:off x="7620000" y="22860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EC4899"/>
                </a:solidFill>
                <a:latin typeface="+mn-ea"/>
                <a:cs typeface="Pretendard"/>
              </a:rPr>
              <a:t>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0578D7-8D0E-464A-8097-1B10E9EB47C5}"/>
              </a:ext>
            </a:extLst>
          </p:cNvPr>
          <p:cNvSpPr txBox="1"/>
          <p:nvPr/>
        </p:nvSpPr>
        <p:spPr>
          <a:xfrm>
            <a:off x="8026400" y="22860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0A0A0A"/>
                </a:solidFill>
                <a:latin typeface="+mn-ea"/>
                <a:cs typeface="Pretendard"/>
              </a:rPr>
              <a:t>Web SDK + </a:t>
            </a:r>
            <a:r>
              <a:rPr lang="ko-KR" altLang="en-US" sz="1300" b="1">
                <a:solidFill>
                  <a:srgbClr val="0A0A0A"/>
                </a:solidFill>
                <a:latin typeface="+mn-ea"/>
                <a:cs typeface="Pretendard"/>
              </a:rPr>
              <a:t>패키지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74E7D4-F6F4-4975-8F79-1AFCE8FEE141}"/>
              </a:ext>
            </a:extLst>
          </p:cNvPr>
          <p:cNvSpPr txBox="1"/>
          <p:nvPr/>
        </p:nvSpPr>
        <p:spPr>
          <a:xfrm>
            <a:off x="8026400" y="2590800"/>
            <a:ext cx="34036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#:sdk Microsoft.NET.Sdk.Web — ASP.NET Core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웹 앱용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SDK.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이후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6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개 패키지는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Redis + OpenTelemetry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계측 라이브러리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1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9C3618-FFDF-4196-9825-D7844E6A194F}"/>
              </a:ext>
            </a:extLst>
          </p:cNvPr>
          <p:cNvSpPr txBox="1"/>
          <p:nvPr/>
        </p:nvSpPr>
        <p:spPr>
          <a:xfrm>
            <a:off x="7620000" y="43180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EC4899"/>
                </a:solidFill>
                <a:latin typeface="+mn-ea"/>
                <a:cs typeface="Pretendard"/>
              </a:rPr>
              <a:t>②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E0EED7-0D6B-4468-9246-FB611AB5AE34}"/>
              </a:ext>
            </a:extLst>
          </p:cNvPr>
          <p:cNvSpPr txBox="1"/>
          <p:nvPr/>
        </p:nvSpPr>
        <p:spPr>
          <a:xfrm>
            <a:off x="8026400" y="43180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0A0A0A"/>
                </a:solidFill>
                <a:latin typeface="+mn-ea"/>
                <a:cs typeface="Pretendard"/>
              </a:rPr>
              <a:t>AddRedisClient("cache")</a:t>
            </a:r>
            <a:endParaRPr lang="ko-KR" altLang="en-US" sz="1300" b="1">
              <a:solidFill>
                <a:srgbClr val="0A0A0A"/>
              </a:solidFill>
              <a:latin typeface="+mn-ea"/>
              <a:cs typeface="Pretendar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517C33-965D-44CF-B09E-8C77FBA153F4}"/>
              </a:ext>
            </a:extLst>
          </p:cNvPr>
          <p:cNvSpPr txBox="1"/>
          <p:nvPr/>
        </p:nvSpPr>
        <p:spPr>
          <a:xfrm>
            <a:off x="8026400" y="4622800"/>
            <a:ext cx="3403600" cy="157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AppHost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에서 선언한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"cache"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이름으로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Redis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클라이언트 주입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연결 문자열은 자동으로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Configuration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에서 읽힌다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1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7B598A-2375-9169-2490-2DD3D22F7989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Universe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Busan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Edition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-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2604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59F840C-E6F2-CA06-7B87-BAF4D9C5A4FB}"/>
              </a:ext>
            </a:extLst>
          </p:cNvPr>
          <p:cNvSpPr/>
          <p:nvPr/>
        </p:nvSpPr>
        <p:spPr>
          <a:xfrm>
            <a:off x="857250" y="89535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59069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CD6799-5DF9-4EF6-922B-97A20B0B9B27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+mn-ea"/>
                <a:cs typeface="Pretendard"/>
              </a:rPr>
              <a:t>WEBAPI.CS · PART 2</a:t>
            </a:r>
            <a:endParaRPr lang="ko-KR" altLang="en-US" sz="11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A0CDE-4AFA-49A5-A162-05304DE72857}"/>
              </a:ext>
            </a:extLst>
          </p:cNvPr>
          <p:cNvSpPr txBox="1"/>
          <p:nvPr/>
        </p:nvSpPr>
        <p:spPr>
          <a:xfrm>
            <a:off x="762000" y="11684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[</a:t>
            </a:r>
            <a:r>
              <a:rPr lang="en-US" altLang="ko-KR" sz="2800" b="1" dirty="0" err="1">
                <a:solidFill>
                  <a:srgbClr val="0A0A0A"/>
                </a:solidFill>
                <a:latin typeface="+mn-ea"/>
                <a:cs typeface="Pretendard"/>
              </a:rPr>
              <a:t>WebApi</a:t>
            </a:r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] </a:t>
            </a:r>
            <a:r>
              <a:rPr lang="en-US" altLang="ko-KR" sz="2800" b="1" dirty="0" err="1">
                <a:solidFill>
                  <a:srgbClr val="0A0A0A"/>
                </a:solidFill>
                <a:latin typeface="+mn-ea"/>
                <a:cs typeface="Pretendard"/>
              </a:rPr>
              <a:t>OpenTelemetry</a:t>
            </a:r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 — Logging · Metrics · Tracing</a:t>
            </a:r>
            <a:endParaRPr lang="ko-KR" altLang="en-US" sz="2800" b="1" dirty="0">
              <a:solidFill>
                <a:srgbClr val="0A0A0A"/>
              </a:solidFill>
              <a:latin typeface="+mn-ea"/>
              <a:cs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868BF4-BB80-4EB6-A720-A54EA043B3FD}"/>
              </a:ext>
            </a:extLst>
          </p:cNvPr>
          <p:cNvSpPr txBox="1"/>
          <p:nvPr/>
        </p:nvSpPr>
        <p:spPr>
          <a:xfrm>
            <a:off x="762000" y="17526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관찰 가능성 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3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대 축을 한 곳에 설정한다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.</a:t>
            </a:r>
            <a:endParaRPr lang="ko-KR" altLang="en-US" sz="1300">
              <a:solidFill>
                <a:srgbClr val="64748B"/>
              </a:solidFill>
              <a:latin typeface="+mn-ea"/>
              <a:cs typeface="Pretendard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1E4C50-F16D-426C-8AF0-D754EB11B70C}"/>
              </a:ext>
            </a:extLst>
          </p:cNvPr>
          <p:cNvSpPr/>
          <p:nvPr/>
        </p:nvSpPr>
        <p:spPr>
          <a:xfrm>
            <a:off x="762000" y="2286000"/>
            <a:ext cx="2794000" cy="3048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3F22DC-7CE3-4034-AAA3-BEEFC8E8DBBC}"/>
              </a:ext>
            </a:extLst>
          </p:cNvPr>
          <p:cNvSpPr txBox="1"/>
          <p:nvPr/>
        </p:nvSpPr>
        <p:spPr>
          <a:xfrm>
            <a:off x="914400" y="23241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A5B4FC"/>
                </a:solidFill>
                <a:latin typeface="+mn-ea"/>
              </a:rPr>
              <a:t>webapi.cs  ·  C# · file-based</a:t>
            </a:r>
            <a:endParaRPr lang="ko-KR" altLang="en-US" sz="1000">
              <a:solidFill>
                <a:srgbClr val="A5B4FC"/>
              </a:solidFill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82E85BE-2C1F-4332-8994-7D025312B527}"/>
              </a:ext>
            </a:extLst>
          </p:cNvPr>
          <p:cNvSpPr/>
          <p:nvPr/>
        </p:nvSpPr>
        <p:spPr>
          <a:xfrm>
            <a:off x="762000" y="2590800"/>
            <a:ext cx="6350000" cy="36322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330A02-9D16-49F7-98D9-A87250B1A0D8}"/>
              </a:ext>
            </a:extLst>
          </p:cNvPr>
          <p:cNvSpPr txBox="1"/>
          <p:nvPr/>
        </p:nvSpPr>
        <p:spPr>
          <a:xfrm>
            <a:off x="965200" y="2743200"/>
            <a:ext cx="5943600" cy="3327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builder.Logging.AddOpenTelemetry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(l =&gt;
{
   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l.IncludeFormattedMessage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 = true;
   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l.IncludeScopes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 = true;
});</a:t>
            </a:r>
            <a:r>
              <a:rPr lang="ko-KR" altLang="en-US" sz="1000" b="1" dirty="0">
                <a:solidFill>
                  <a:srgbClr val="EC4899"/>
                </a:solidFill>
                <a:latin typeface="+mn-ea"/>
                <a:cs typeface="Pretendard"/>
              </a:rPr>
              <a:t> ③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
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builder.Services.AddOpenTelemetry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()
    .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WithMetrics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(m =&gt; m
        .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AddAspNetCoreInstrumentation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()
        .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AddHttpClientInstrumentation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()
        .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AddRuntimeInstrumentation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())</a:t>
            </a:r>
            <a:r>
              <a:rPr lang="ko-KR" altLang="en-US" sz="1000" b="1" dirty="0">
                <a:solidFill>
                  <a:srgbClr val="EC4899"/>
                </a:solidFill>
                <a:latin typeface="+mn-ea"/>
                <a:cs typeface="Pretendard"/>
              </a:rPr>
              <a:t> ④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
    .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WithTracing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(t =&gt; t
        .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AddSource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builder.Environment.ApplicationName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)
        .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AddAspNetCoreInstrumentation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()
        .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AddHttpClientInstrumentation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())
    .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UseOtlpExporter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();</a:t>
            </a:r>
            <a:r>
              <a:rPr lang="ko-KR" altLang="en-US" sz="1000" b="1" dirty="0">
                <a:solidFill>
                  <a:srgbClr val="EC4899"/>
                </a:solidFill>
                <a:latin typeface="+mn-ea"/>
                <a:cs typeface="Pretendard"/>
              </a:rPr>
              <a:t> ⑤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
// …</a:t>
            </a:r>
          </a:p>
          <a:p>
            <a:endParaRPr lang="en-US" altLang="ko-KR" sz="1000" dirty="0">
              <a:solidFill>
                <a:srgbClr val="E2E8F0"/>
              </a:solidFill>
              <a:latin typeface="Lucida Console" panose="020B0609040504020204" pitchFamily="49" charset="0"/>
            </a:endParaRPr>
          </a:p>
          <a:p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using var app =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builder.Build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()</a:t>
            </a:r>
            <a:endParaRPr lang="ko-KR" altLang="en-US" sz="1000" dirty="0">
              <a:solidFill>
                <a:srgbClr val="E2E8F0"/>
              </a:solidFill>
              <a:latin typeface="Lucida Console" panose="020B06090405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1494A-99B5-4913-A046-1E7B46264C45}"/>
              </a:ext>
            </a:extLst>
          </p:cNvPr>
          <p:cNvSpPr txBox="1"/>
          <p:nvPr/>
        </p:nvSpPr>
        <p:spPr>
          <a:xfrm>
            <a:off x="7620000" y="22860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EC4899"/>
                </a:solidFill>
                <a:latin typeface="+mn-ea"/>
                <a:cs typeface="Pretendard"/>
              </a:rPr>
              <a:t>③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DC7B53-EE0B-4828-89EF-38830F585FA8}"/>
              </a:ext>
            </a:extLst>
          </p:cNvPr>
          <p:cNvSpPr txBox="1"/>
          <p:nvPr/>
        </p:nvSpPr>
        <p:spPr>
          <a:xfrm>
            <a:off x="8026400" y="22860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0A0A0A"/>
                </a:solidFill>
                <a:latin typeface="+mn-ea"/>
                <a:cs typeface="Pretendard"/>
              </a:rPr>
              <a:t>Logging</a:t>
            </a:r>
            <a:endParaRPr lang="ko-KR" altLang="en-US" sz="1300" b="1">
              <a:solidFill>
                <a:srgbClr val="0A0A0A"/>
              </a:solidFill>
              <a:latin typeface="+mn-ea"/>
              <a:cs typeface="Pretendar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E37904-F15D-4C8C-97C3-7C5405488C1B}"/>
              </a:ext>
            </a:extLst>
          </p:cNvPr>
          <p:cNvSpPr txBox="1"/>
          <p:nvPr/>
        </p:nvSpPr>
        <p:spPr>
          <a:xfrm>
            <a:off x="8026400" y="2590800"/>
            <a:ext cx="3403600" cy="876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구조화된 로그를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OTLP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로 전송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 IncludeFormattedMessage · IncludeScopes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로 디버깅 정보 포함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1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53C612-7AE3-47EC-ABC4-43D07C2B049E}"/>
              </a:ext>
            </a:extLst>
          </p:cNvPr>
          <p:cNvSpPr txBox="1"/>
          <p:nvPr/>
        </p:nvSpPr>
        <p:spPr>
          <a:xfrm>
            <a:off x="7620000" y="36195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EC4899"/>
                </a:solidFill>
                <a:latin typeface="+mn-ea"/>
                <a:cs typeface="Pretendard"/>
              </a:rPr>
              <a:t>④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0A1243-377E-4D06-B124-B81BEAC6E327}"/>
              </a:ext>
            </a:extLst>
          </p:cNvPr>
          <p:cNvSpPr txBox="1"/>
          <p:nvPr/>
        </p:nvSpPr>
        <p:spPr>
          <a:xfrm>
            <a:off x="8026400" y="36195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0A0A0A"/>
                </a:solidFill>
                <a:latin typeface="+mn-ea"/>
                <a:cs typeface="Pretendard"/>
              </a:rPr>
              <a:t>Metrics</a:t>
            </a:r>
            <a:endParaRPr lang="ko-KR" altLang="en-US" sz="1300" b="1">
              <a:solidFill>
                <a:srgbClr val="0A0A0A"/>
              </a:solidFill>
              <a:latin typeface="+mn-ea"/>
              <a:cs typeface="Pretendar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F947D3-39A2-4D5A-80A2-6EBDF0B2FA1E}"/>
              </a:ext>
            </a:extLst>
          </p:cNvPr>
          <p:cNvSpPr txBox="1"/>
          <p:nvPr/>
        </p:nvSpPr>
        <p:spPr>
          <a:xfrm>
            <a:off x="8026400" y="3924300"/>
            <a:ext cx="3403600" cy="876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ASP.NET Core · HttpClient · Runtime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메트릭을 자동 수집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요청 수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·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지연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· GC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횟수 등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1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716438-FBE8-4A26-9EFB-A954CBE9E4CC}"/>
              </a:ext>
            </a:extLst>
          </p:cNvPr>
          <p:cNvSpPr txBox="1"/>
          <p:nvPr/>
        </p:nvSpPr>
        <p:spPr>
          <a:xfrm>
            <a:off x="7620000" y="49530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EC4899"/>
                </a:solidFill>
                <a:latin typeface="+mn-ea"/>
                <a:cs typeface="Pretendard"/>
              </a:rPr>
              <a:t>⑤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E0182E-F892-4A2D-B4E0-45432079F7B2}"/>
              </a:ext>
            </a:extLst>
          </p:cNvPr>
          <p:cNvSpPr txBox="1"/>
          <p:nvPr/>
        </p:nvSpPr>
        <p:spPr>
          <a:xfrm>
            <a:off x="8026400" y="49530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0A0A0A"/>
                </a:solidFill>
                <a:latin typeface="+mn-ea"/>
                <a:cs typeface="Pretendard"/>
              </a:rPr>
              <a:t>Tracing + OTLP</a:t>
            </a:r>
            <a:endParaRPr lang="ko-KR" altLang="en-US" sz="1300" b="1">
              <a:solidFill>
                <a:srgbClr val="0A0A0A"/>
              </a:solidFill>
              <a:latin typeface="+mn-ea"/>
              <a:cs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042161-25CD-4596-9EDD-9E255201294C}"/>
              </a:ext>
            </a:extLst>
          </p:cNvPr>
          <p:cNvSpPr txBox="1"/>
          <p:nvPr/>
        </p:nvSpPr>
        <p:spPr>
          <a:xfrm>
            <a:off x="8026400" y="5257800"/>
            <a:ext cx="34036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분산 트레이스를 대시보드로 전송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 UseOtlpExporter()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가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apphost.json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의 엔드포인트 사용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1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F9C4CB-241C-B1D0-E44A-44F1B77F6561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Universe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Busan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Edition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-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2604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BD66311-6C30-1F2C-F2FF-C86DBE4C7871}"/>
              </a:ext>
            </a:extLst>
          </p:cNvPr>
          <p:cNvSpPr/>
          <p:nvPr/>
        </p:nvSpPr>
        <p:spPr>
          <a:xfrm>
            <a:off x="857250" y="89535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454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178700-7D59-4E98-A2CC-EDDBAE991A0B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+mn-ea"/>
                <a:cs typeface="Pretendard"/>
              </a:rPr>
              <a:t>WEBAPI.CS · PART 3</a:t>
            </a:r>
            <a:endParaRPr lang="ko-KR" altLang="en-US" sz="11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FFAB17-57C0-440A-8862-BA9E25D2D49E}"/>
              </a:ext>
            </a:extLst>
          </p:cNvPr>
          <p:cNvSpPr txBox="1"/>
          <p:nvPr/>
        </p:nvSpPr>
        <p:spPr>
          <a:xfrm>
            <a:off x="762000" y="11684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[</a:t>
            </a:r>
            <a:r>
              <a:rPr lang="en-US" altLang="ko-KR" sz="2800" b="1" dirty="0" err="1">
                <a:solidFill>
                  <a:srgbClr val="0A0A0A"/>
                </a:solidFill>
                <a:latin typeface="+mn-ea"/>
                <a:cs typeface="Pretendard"/>
              </a:rPr>
              <a:t>WebApi</a:t>
            </a:r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] </a:t>
            </a:r>
            <a:r>
              <a:rPr lang="ko-KR" altLang="en-US" sz="2800" b="1" dirty="0" err="1">
                <a:solidFill>
                  <a:srgbClr val="0A0A0A"/>
                </a:solidFill>
                <a:latin typeface="+mn-ea"/>
                <a:cs typeface="Pretendard"/>
              </a:rPr>
              <a:t>엔드포인트</a:t>
            </a:r>
            <a:r>
              <a:rPr lang="ko-KR" altLang="en-US" sz="2800" b="1" dirty="0">
                <a:solidFill>
                  <a:srgbClr val="0A0A0A"/>
                </a:solidFill>
                <a:latin typeface="+mn-ea"/>
                <a:cs typeface="Pretendard"/>
              </a:rPr>
              <a:t> 매핑 </a:t>
            </a:r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— GET / </a:t>
            </a:r>
            <a:r>
              <a:rPr lang="ko-KR" altLang="en-US" sz="2800" b="1" dirty="0">
                <a:solidFill>
                  <a:srgbClr val="0A0A0A"/>
                </a:solidFill>
                <a:latin typeface="+mn-ea"/>
                <a:cs typeface="Pretendard"/>
              </a:rPr>
              <a:t>구현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08CC96-3A94-483C-9204-D567BCCD7E47}"/>
              </a:ext>
            </a:extLst>
          </p:cNvPr>
          <p:cNvSpPr txBox="1"/>
          <p:nvPr/>
        </p:nvSpPr>
        <p:spPr>
          <a:xfrm>
            <a:off x="762000" y="17526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Redis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에서 메시지와 타임스탬프를 읽어 반환한다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.</a:t>
            </a:r>
            <a:endParaRPr lang="ko-KR" altLang="en-US" sz="1300">
              <a:solidFill>
                <a:srgbClr val="64748B"/>
              </a:solidFill>
              <a:latin typeface="+mn-ea"/>
              <a:cs typeface="Pretendard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80DDCE5-539D-4CCB-B765-353999D72C55}"/>
              </a:ext>
            </a:extLst>
          </p:cNvPr>
          <p:cNvSpPr/>
          <p:nvPr/>
        </p:nvSpPr>
        <p:spPr>
          <a:xfrm>
            <a:off x="762000" y="2286000"/>
            <a:ext cx="2794000" cy="3048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AFB723-DEA9-4A0F-8EE5-3CB70647105C}"/>
              </a:ext>
            </a:extLst>
          </p:cNvPr>
          <p:cNvSpPr txBox="1"/>
          <p:nvPr/>
        </p:nvSpPr>
        <p:spPr>
          <a:xfrm>
            <a:off x="914400" y="23241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A5B4FC"/>
                </a:solidFill>
                <a:latin typeface="+mn-ea"/>
              </a:rPr>
              <a:t>webapi.cs  ·  C# · file-based</a:t>
            </a:r>
            <a:endParaRPr lang="ko-KR" altLang="en-US" sz="1000">
              <a:solidFill>
                <a:srgbClr val="A5B4FC"/>
              </a:solidFill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963EE6-1658-46B8-8EF6-26221A0C8F65}"/>
              </a:ext>
            </a:extLst>
          </p:cNvPr>
          <p:cNvSpPr/>
          <p:nvPr/>
        </p:nvSpPr>
        <p:spPr>
          <a:xfrm>
            <a:off x="762000" y="2590800"/>
            <a:ext cx="6350000" cy="36322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02A14-C2AB-4066-AD35-42CF1CEFE020}"/>
              </a:ext>
            </a:extLst>
          </p:cNvPr>
          <p:cNvSpPr txBox="1"/>
          <p:nvPr/>
        </p:nvSpPr>
        <p:spPr>
          <a:xfrm>
            <a:off x="965200" y="2743200"/>
            <a:ext cx="5943600" cy="3327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using var app =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builder.Build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();
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app.MapGet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("/", async (
    [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FromServices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]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IConnectionMultiplexer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 cache </a:t>
            </a:r>
            <a:r>
              <a:rPr lang="ko-KR" altLang="en-US" sz="1000" b="1" dirty="0">
                <a:solidFill>
                  <a:srgbClr val="EC4899"/>
                </a:solidFill>
                <a:latin typeface="+mn-ea"/>
                <a:cs typeface="Pretendard"/>
              </a:rPr>
              <a:t>⑥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) =&gt;
{
    var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db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 =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cache.GetDatabase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();
    var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msgKey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 = new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RedisKey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("Message");
    var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updKey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 = new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RedisKey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("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LastUpdated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");
    if (!await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db.KeyExistsAsync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msgKey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))
        await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db.StringSetAsync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msgKey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,
            new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RedisValue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("Hello, World!"));
    var msg = (await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db.StringGetAsync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msgKey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)).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ToString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();
    if (await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db.KeyExistsAsync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updKey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))
        msg += " / " + (await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db.StringGetAsync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updKey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))
            .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ToString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();
    return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Results.Ok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(msg);
});</a:t>
            </a:r>
            <a:r>
              <a:rPr lang="ko-KR" altLang="en-US" sz="1000" b="1" dirty="0">
                <a:solidFill>
                  <a:srgbClr val="EC4899"/>
                </a:solidFill>
                <a:latin typeface="+mn-ea"/>
                <a:cs typeface="Pretendard"/>
              </a:rPr>
              <a:t> ⑦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
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app.Run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();</a:t>
            </a:r>
            <a:endParaRPr lang="ko-KR" altLang="en-US" sz="1000" dirty="0">
              <a:solidFill>
                <a:srgbClr val="E2E8F0"/>
              </a:solidFill>
              <a:latin typeface="Lucida Console" panose="020B06090405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488533-CA38-4BD5-BF8E-A5C40C270B13}"/>
              </a:ext>
            </a:extLst>
          </p:cNvPr>
          <p:cNvSpPr txBox="1"/>
          <p:nvPr/>
        </p:nvSpPr>
        <p:spPr>
          <a:xfrm>
            <a:off x="7620000" y="22860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EC4899"/>
                </a:solidFill>
                <a:latin typeface="+mn-ea"/>
                <a:cs typeface="Pretendard"/>
              </a:rPr>
              <a:t>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A62B67-7C44-4F88-B408-76B68CFDFCE9}"/>
              </a:ext>
            </a:extLst>
          </p:cNvPr>
          <p:cNvSpPr txBox="1"/>
          <p:nvPr/>
        </p:nvSpPr>
        <p:spPr>
          <a:xfrm>
            <a:off x="8026400" y="22860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0A0A0A"/>
                </a:solidFill>
                <a:latin typeface="+mn-ea"/>
                <a:cs typeface="Pretendard"/>
              </a:rPr>
              <a:t>Redis </a:t>
            </a:r>
            <a:r>
              <a:rPr lang="ko-KR" altLang="en-US" sz="1300" b="1">
                <a:solidFill>
                  <a:srgbClr val="0A0A0A"/>
                </a:solidFill>
                <a:latin typeface="+mn-ea"/>
                <a:cs typeface="Pretendard"/>
              </a:rPr>
              <a:t>클라이언트 주입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D5D685-6BDD-442C-91A8-E36F72CF7DC9}"/>
              </a:ext>
            </a:extLst>
          </p:cNvPr>
          <p:cNvSpPr txBox="1"/>
          <p:nvPr/>
        </p:nvSpPr>
        <p:spPr>
          <a:xfrm>
            <a:off x="8026400" y="2590800"/>
            <a:ext cx="34036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IConnectionMultiplexer — AddRedisClient("cache")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로 등록한 인스턴스가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DI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를 통해 자동 주입된다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1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682C72-4C9E-45D9-ABC4-58F7F51627C3}"/>
              </a:ext>
            </a:extLst>
          </p:cNvPr>
          <p:cNvSpPr txBox="1"/>
          <p:nvPr/>
        </p:nvSpPr>
        <p:spPr>
          <a:xfrm>
            <a:off x="7620000" y="43180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EC4899"/>
                </a:solidFill>
                <a:latin typeface="+mn-ea"/>
                <a:cs typeface="Pretendard"/>
              </a:rPr>
              <a:t>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4A67D2-31B6-47E1-8DD5-5251375B1188}"/>
              </a:ext>
            </a:extLst>
          </p:cNvPr>
          <p:cNvSpPr txBox="1"/>
          <p:nvPr/>
        </p:nvSpPr>
        <p:spPr>
          <a:xfrm>
            <a:off x="8026400" y="43180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0A0A0A"/>
                </a:solidFill>
                <a:latin typeface="+mn-ea"/>
                <a:cs typeface="Pretendard"/>
              </a:rPr>
              <a:t>GET / </a:t>
            </a:r>
            <a:r>
              <a:rPr lang="ko-KR" altLang="en-US" sz="1300" b="1">
                <a:solidFill>
                  <a:srgbClr val="0A0A0A"/>
                </a:solidFill>
                <a:latin typeface="+mn-ea"/>
                <a:cs typeface="Pretendard"/>
              </a:rPr>
              <a:t>로직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3AC2BE-126B-4707-874F-F943AF29B1C8}"/>
              </a:ext>
            </a:extLst>
          </p:cNvPr>
          <p:cNvSpPr txBox="1"/>
          <p:nvPr/>
        </p:nvSpPr>
        <p:spPr>
          <a:xfrm>
            <a:off x="8026400" y="4622800"/>
            <a:ext cx="3403600" cy="157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"Message"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키가 없으면 초기값 설정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 "LastUpdated"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키가 있으면 메시지 뒤에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append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해서 반환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1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2FEE84-751F-F628-E75A-F75651738874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Universe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Busan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Edition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-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2604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19307A3-1F85-7343-158C-3D321C768020}"/>
              </a:ext>
            </a:extLst>
          </p:cNvPr>
          <p:cNvSpPr/>
          <p:nvPr/>
        </p:nvSpPr>
        <p:spPr>
          <a:xfrm>
            <a:off x="857250" y="89535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43044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3E2ABA-B657-4377-BC0A-AB5A9B7BD3B6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+mn-ea"/>
                <a:cs typeface="Pretendard"/>
              </a:rPr>
              <a:t>WORKER.CS · PART 1</a:t>
            </a:r>
            <a:endParaRPr lang="ko-KR" altLang="en-US" sz="11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0A01D4-80AA-4C3D-BBFE-EF86B3406479}"/>
              </a:ext>
            </a:extLst>
          </p:cNvPr>
          <p:cNvSpPr txBox="1"/>
          <p:nvPr/>
        </p:nvSpPr>
        <p:spPr>
          <a:xfrm>
            <a:off x="762000" y="11684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[Worker] </a:t>
            </a:r>
            <a:r>
              <a:rPr lang="ko-KR" altLang="en-US" sz="2800" b="1" dirty="0">
                <a:solidFill>
                  <a:srgbClr val="0A0A0A"/>
                </a:solidFill>
                <a:latin typeface="+mn-ea"/>
                <a:cs typeface="Pretendard"/>
              </a:rPr>
              <a:t>파일 기반 지시어 </a:t>
            </a:r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+ </a:t>
            </a:r>
            <a:r>
              <a:rPr lang="en-US" altLang="ko-KR" sz="2800" b="1" dirty="0" err="1">
                <a:solidFill>
                  <a:srgbClr val="0A0A0A"/>
                </a:solidFill>
                <a:latin typeface="+mn-ea"/>
                <a:cs typeface="Pretendard"/>
              </a:rPr>
              <a:t>BackgroundService</a:t>
            </a:r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 </a:t>
            </a:r>
            <a:r>
              <a:rPr lang="ko-KR" altLang="en-US" sz="2800" b="1" dirty="0">
                <a:solidFill>
                  <a:srgbClr val="0A0A0A"/>
                </a:solidFill>
                <a:latin typeface="+mn-ea"/>
                <a:cs typeface="Pretendard"/>
              </a:rPr>
              <a:t>등록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B1AF50-1656-4924-AC6A-ECE926D7C630}"/>
              </a:ext>
            </a:extLst>
          </p:cNvPr>
          <p:cNvSpPr txBox="1"/>
          <p:nvPr/>
        </p:nvSpPr>
        <p:spPr>
          <a:xfrm>
            <a:off x="762000" y="17526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Worker SDK 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선언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, Redis 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클라이언트 주입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, HostedService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로 등록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.</a:t>
            </a:r>
            <a:endParaRPr lang="ko-KR" altLang="en-US" sz="1300">
              <a:solidFill>
                <a:srgbClr val="64748B"/>
              </a:solidFill>
              <a:latin typeface="+mn-ea"/>
              <a:cs typeface="Pretendard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27AAE3E-DADF-4A69-BF89-63B34ABADCCB}"/>
              </a:ext>
            </a:extLst>
          </p:cNvPr>
          <p:cNvSpPr/>
          <p:nvPr/>
        </p:nvSpPr>
        <p:spPr>
          <a:xfrm>
            <a:off x="762000" y="2286000"/>
            <a:ext cx="2794000" cy="3048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5D0E5D-B38B-4FE4-809E-A3A7F45FB9E9}"/>
              </a:ext>
            </a:extLst>
          </p:cNvPr>
          <p:cNvSpPr txBox="1"/>
          <p:nvPr/>
        </p:nvSpPr>
        <p:spPr>
          <a:xfrm>
            <a:off x="914400" y="23241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A5B4FC"/>
                </a:solidFill>
                <a:latin typeface="+mn-ea"/>
              </a:rPr>
              <a:t>worker.cs  ·  C# · file-based</a:t>
            </a:r>
            <a:endParaRPr lang="ko-KR" altLang="en-US" sz="1000">
              <a:solidFill>
                <a:srgbClr val="A5B4FC"/>
              </a:solidFill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28B86CF-D167-47B0-8D11-72117E9056E4}"/>
              </a:ext>
            </a:extLst>
          </p:cNvPr>
          <p:cNvSpPr/>
          <p:nvPr/>
        </p:nvSpPr>
        <p:spPr>
          <a:xfrm>
            <a:off x="762000" y="2590800"/>
            <a:ext cx="6350000" cy="36322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02EB4C-2A02-47A1-BBA9-83490FC4C6DB}"/>
              </a:ext>
            </a:extLst>
          </p:cNvPr>
          <p:cNvSpPr txBox="1"/>
          <p:nvPr/>
        </p:nvSpPr>
        <p:spPr>
          <a:xfrm>
            <a:off x="965200" y="2743200"/>
            <a:ext cx="5943600" cy="3327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#!/usr/bin/env dotnet
#:sdk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Microsoft.NET.Sdk.Worker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 </a:t>
            </a:r>
            <a:r>
              <a:rPr lang="ko-KR" altLang="en-US" sz="1000" b="1" dirty="0">
                <a:solidFill>
                  <a:srgbClr val="EC4899"/>
                </a:solidFill>
                <a:latin typeface="+mn-ea"/>
                <a:cs typeface="Pretendard"/>
              </a:rPr>
              <a:t>①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
#:property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PublishAot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=false
</a:t>
            </a:r>
          </a:p>
          <a:p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#:package Microsoft.Extensions.Hosting@10.*
#:package Aspire.StackExchange.Redis@13.*
#:package OpenTelemetry.Exporter.OpenTelemetryProtocol@1.*
#:package OpenTelemetry.Extensions.Hosting@1.*
#:package OpenTelemetry.Instrumentation.Http@1.*
#:package OpenTelemetry.Instrumentation.Runtime@1.*
using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OpenTelemetry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;
using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StackExchange.Redis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;
var builder =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Host.CreateApplicationBuilder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);
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builder.Services.AddHostedService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&lt;Worker&gt;();</a:t>
            </a:r>
            <a:r>
              <a:rPr lang="ko-KR" altLang="en-US" sz="1000" b="1" dirty="0">
                <a:solidFill>
                  <a:srgbClr val="EC4899"/>
                </a:solidFill>
                <a:latin typeface="+mn-ea"/>
                <a:cs typeface="Pretendard"/>
              </a:rPr>
              <a:t> ②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
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builder.AddRedisClient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("cache");
// …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OpenTelemetry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 </a:t>
            </a:r>
            <a:r>
              <a:rPr lang="ko-KR" altLang="en-US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설정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FC3517-4FBD-4B3F-B112-0AD9DB773EBE}"/>
              </a:ext>
            </a:extLst>
          </p:cNvPr>
          <p:cNvSpPr txBox="1"/>
          <p:nvPr/>
        </p:nvSpPr>
        <p:spPr>
          <a:xfrm>
            <a:off x="7620000" y="22860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EC4899"/>
                </a:solidFill>
                <a:latin typeface="+mn-ea"/>
                <a:cs typeface="Pretendard"/>
              </a:rPr>
              <a:t>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D9B041-18D7-42CA-AB5B-2BA4844C9943}"/>
              </a:ext>
            </a:extLst>
          </p:cNvPr>
          <p:cNvSpPr txBox="1"/>
          <p:nvPr/>
        </p:nvSpPr>
        <p:spPr>
          <a:xfrm>
            <a:off x="8026400" y="22860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0A0A0A"/>
                </a:solidFill>
                <a:latin typeface="+mn-ea"/>
                <a:cs typeface="Pretendard"/>
              </a:rPr>
              <a:t>Worker SDK + </a:t>
            </a:r>
            <a:r>
              <a:rPr lang="ko-KR" altLang="en-US" sz="1300" b="1">
                <a:solidFill>
                  <a:srgbClr val="0A0A0A"/>
                </a:solidFill>
                <a:latin typeface="+mn-ea"/>
                <a:cs typeface="Pretendard"/>
              </a:rPr>
              <a:t>패키지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AA3BB5-0477-457B-AFB0-79156A9056DE}"/>
              </a:ext>
            </a:extLst>
          </p:cNvPr>
          <p:cNvSpPr txBox="1"/>
          <p:nvPr/>
        </p:nvSpPr>
        <p:spPr>
          <a:xfrm>
            <a:off x="8026400" y="2590800"/>
            <a:ext cx="34036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#:sdk Microsoft.NET.Sdk.Worker —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백그라운드 서비스용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SDK.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이후 패키지는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Redis + OpenTelemetry.</a:t>
            </a:r>
            <a:endParaRPr lang="ko-KR" altLang="en-US" sz="11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2DF6FD-F9A9-439B-8063-19CFF0F75EC8}"/>
              </a:ext>
            </a:extLst>
          </p:cNvPr>
          <p:cNvSpPr txBox="1"/>
          <p:nvPr/>
        </p:nvSpPr>
        <p:spPr>
          <a:xfrm>
            <a:off x="7620000" y="43180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EC4899"/>
                </a:solidFill>
                <a:latin typeface="+mn-ea"/>
                <a:cs typeface="Pretendard"/>
              </a:rPr>
              <a:t>②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EB7304-E6B3-4554-8AB0-06049B6244B4}"/>
              </a:ext>
            </a:extLst>
          </p:cNvPr>
          <p:cNvSpPr txBox="1"/>
          <p:nvPr/>
        </p:nvSpPr>
        <p:spPr>
          <a:xfrm>
            <a:off x="8026400" y="43180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0A0A0A"/>
                </a:solidFill>
                <a:latin typeface="+mn-ea"/>
                <a:cs typeface="Pretendard"/>
              </a:rPr>
              <a:t>AddHostedService</a:t>
            </a:r>
            <a:endParaRPr lang="ko-KR" altLang="en-US" sz="1300" b="1">
              <a:solidFill>
                <a:srgbClr val="0A0A0A"/>
              </a:solidFill>
              <a:latin typeface="+mn-ea"/>
              <a:cs typeface="Pretendar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018F20-643E-4799-8F67-BB9BCA175FA2}"/>
              </a:ext>
            </a:extLst>
          </p:cNvPr>
          <p:cNvSpPr txBox="1"/>
          <p:nvPr/>
        </p:nvSpPr>
        <p:spPr>
          <a:xfrm>
            <a:off x="8026400" y="4622800"/>
            <a:ext cx="3403600" cy="157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Worker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클래스를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HostedService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로 등록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앱이 시작하면 자동으로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ExecuteAsync()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실행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1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F2B9E4-6C64-9F64-F10F-DB2DDE11B3C7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Universe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Busan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Edition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-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2604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42E60FD-838D-FEDB-41E3-E195434F72FE}"/>
              </a:ext>
            </a:extLst>
          </p:cNvPr>
          <p:cNvSpPr/>
          <p:nvPr/>
        </p:nvSpPr>
        <p:spPr>
          <a:xfrm>
            <a:off x="857250" y="89535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82098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D88442-CFCF-4E87-B496-B7083FE5F9D4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+mn-ea"/>
                <a:cs typeface="Pretendard"/>
              </a:rPr>
              <a:t>WORKER.CS · PART 2</a:t>
            </a:r>
            <a:endParaRPr lang="ko-KR" altLang="en-US" sz="11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E3C5C4-90EB-4139-8A2A-F331858CADCE}"/>
              </a:ext>
            </a:extLst>
          </p:cNvPr>
          <p:cNvSpPr txBox="1"/>
          <p:nvPr/>
        </p:nvSpPr>
        <p:spPr>
          <a:xfrm>
            <a:off x="762000" y="11684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[Worker] </a:t>
            </a:r>
            <a:r>
              <a:rPr lang="en-US" altLang="ko-KR" sz="2800" b="1" dirty="0" err="1">
                <a:solidFill>
                  <a:srgbClr val="0A0A0A"/>
                </a:solidFill>
                <a:latin typeface="+mn-ea"/>
                <a:cs typeface="Pretendard"/>
              </a:rPr>
              <a:t>OpenTelemetry</a:t>
            </a:r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 — Worker</a:t>
            </a:r>
            <a:r>
              <a:rPr lang="ko-KR" altLang="en-US" sz="2800" b="1" dirty="0">
                <a:solidFill>
                  <a:srgbClr val="0A0A0A"/>
                </a:solidFill>
                <a:latin typeface="+mn-ea"/>
                <a:cs typeface="Pretendard"/>
              </a:rPr>
              <a:t>도 동일한 패턴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B255B-CFAF-4F95-85BF-ACCB41CF91C2}"/>
              </a:ext>
            </a:extLst>
          </p:cNvPr>
          <p:cNvSpPr txBox="1"/>
          <p:nvPr/>
        </p:nvSpPr>
        <p:spPr>
          <a:xfrm>
            <a:off x="762000" y="17526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WebApi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와 같은 구조로 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Logging · Metrics · Tracing 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설정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.</a:t>
            </a:r>
            <a:endParaRPr lang="ko-KR" altLang="en-US" sz="1300">
              <a:solidFill>
                <a:srgbClr val="64748B"/>
              </a:solidFill>
              <a:latin typeface="+mn-ea"/>
              <a:cs typeface="Pretendard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599F331-5FAB-4A82-9A7B-9F1B359FBDE7}"/>
              </a:ext>
            </a:extLst>
          </p:cNvPr>
          <p:cNvSpPr/>
          <p:nvPr/>
        </p:nvSpPr>
        <p:spPr>
          <a:xfrm>
            <a:off x="762000" y="2286000"/>
            <a:ext cx="2794000" cy="3048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668757-A677-4BF2-B63C-340F2796288F}"/>
              </a:ext>
            </a:extLst>
          </p:cNvPr>
          <p:cNvSpPr txBox="1"/>
          <p:nvPr/>
        </p:nvSpPr>
        <p:spPr>
          <a:xfrm>
            <a:off x="914400" y="23241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A5B4FC"/>
                </a:solidFill>
                <a:latin typeface="+mn-ea"/>
              </a:rPr>
              <a:t>worker.cs  ·  C# · file-based</a:t>
            </a:r>
            <a:endParaRPr lang="ko-KR" altLang="en-US" sz="1000">
              <a:solidFill>
                <a:srgbClr val="A5B4FC"/>
              </a:solidFill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E0ABBC-384A-4E0E-8C2B-731B6E9DA6C0}"/>
              </a:ext>
            </a:extLst>
          </p:cNvPr>
          <p:cNvSpPr/>
          <p:nvPr/>
        </p:nvSpPr>
        <p:spPr>
          <a:xfrm>
            <a:off x="762000" y="2590800"/>
            <a:ext cx="6350000" cy="36322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8D21A3-7E48-4666-B708-A18A3DE4E5FD}"/>
              </a:ext>
            </a:extLst>
          </p:cNvPr>
          <p:cNvSpPr txBox="1"/>
          <p:nvPr/>
        </p:nvSpPr>
        <p:spPr>
          <a:xfrm>
            <a:off x="965200" y="2743200"/>
            <a:ext cx="5943600" cy="3327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builder.Logging.AddOpenTelemetry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(l =&gt;
{
   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l.IncludeFormattedMessage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 = true;
   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l.IncludeScopes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 = true;
});</a:t>
            </a:r>
            <a:r>
              <a:rPr lang="ko-KR" altLang="en-US" sz="1000" b="1" dirty="0">
                <a:solidFill>
                  <a:srgbClr val="EC4899"/>
                </a:solidFill>
                <a:latin typeface="+mn-ea"/>
                <a:cs typeface="Pretendard"/>
              </a:rPr>
              <a:t> ③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
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builder.Services.AddOpenTelemetry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()
    .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WithMetrics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(m =&gt; m
        .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AddHttpClientInstrumentation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()
        .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AddRuntimeInstrumentation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())</a:t>
            </a:r>
            <a:r>
              <a:rPr lang="ko-KR" altLang="en-US" sz="1000" b="1" dirty="0">
                <a:solidFill>
                  <a:srgbClr val="EC4899"/>
                </a:solidFill>
                <a:latin typeface="+mn-ea"/>
                <a:cs typeface="Pretendard"/>
              </a:rPr>
              <a:t> ④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
    .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WithTracing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(t =&gt; t
        .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AddSource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builder.Environment.ApplicationName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)
        .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AddHttpClientInstrumentation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())
    .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UseOtlpExporter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();
using var app = 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builder.Build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();
</a:t>
            </a:r>
            <a:r>
              <a:rPr lang="en-US" altLang="ko-KR" sz="10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app.Run</a:t>
            </a:r>
            <a:r>
              <a:rPr lang="en-US" altLang="ko-KR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();
// … Worker </a:t>
            </a:r>
            <a:r>
              <a:rPr lang="ko-KR" altLang="en-US" sz="1000" dirty="0">
                <a:solidFill>
                  <a:srgbClr val="E2E8F0"/>
                </a:solidFill>
                <a:latin typeface="Lucida Console" panose="020B0609040504020204" pitchFamily="49" charset="0"/>
              </a:rPr>
              <a:t>클래스 정의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D714FA-6244-4D11-A5FD-4E1F9B2AB867}"/>
              </a:ext>
            </a:extLst>
          </p:cNvPr>
          <p:cNvSpPr txBox="1"/>
          <p:nvPr/>
        </p:nvSpPr>
        <p:spPr>
          <a:xfrm>
            <a:off x="7620000" y="22860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EC4899"/>
                </a:solidFill>
                <a:latin typeface="+mn-ea"/>
                <a:cs typeface="Pretendard"/>
              </a:rPr>
              <a:t>③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D5FEF2-E7BC-460F-88EF-2FD3E3F457C7}"/>
              </a:ext>
            </a:extLst>
          </p:cNvPr>
          <p:cNvSpPr txBox="1"/>
          <p:nvPr/>
        </p:nvSpPr>
        <p:spPr>
          <a:xfrm>
            <a:off x="8026400" y="22860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b="1">
                <a:solidFill>
                  <a:srgbClr val="0A0A0A"/>
                </a:solidFill>
                <a:latin typeface="+mn-ea"/>
                <a:cs typeface="Pretendard"/>
              </a:rPr>
              <a:t>일관된 관찰 가능성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9D1D3D-23E4-45C2-9FA6-5F7DEBC30396}"/>
              </a:ext>
            </a:extLst>
          </p:cNvPr>
          <p:cNvSpPr txBox="1"/>
          <p:nvPr/>
        </p:nvSpPr>
        <p:spPr>
          <a:xfrm>
            <a:off x="8026400" y="2590800"/>
            <a:ext cx="34036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WebApi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와 완전히 동일한 패턴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모든 서비스가 같은 방식으로 텔레메트리를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Aspire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대시보드로 전송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1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532700-125A-4011-898D-9354EECF29F1}"/>
              </a:ext>
            </a:extLst>
          </p:cNvPr>
          <p:cNvSpPr txBox="1"/>
          <p:nvPr/>
        </p:nvSpPr>
        <p:spPr>
          <a:xfrm>
            <a:off x="7620000" y="43180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EC4899"/>
                </a:solidFill>
                <a:latin typeface="+mn-ea"/>
                <a:cs typeface="Pretendard"/>
              </a:rPr>
              <a:t>④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FB4C4A-FA68-4147-8048-F0DE2B3BA7D2}"/>
              </a:ext>
            </a:extLst>
          </p:cNvPr>
          <p:cNvSpPr txBox="1"/>
          <p:nvPr/>
        </p:nvSpPr>
        <p:spPr>
          <a:xfrm>
            <a:off x="8026400" y="43180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0A0A0A"/>
                </a:solidFill>
                <a:latin typeface="+mn-ea"/>
                <a:cs typeface="Pretendard"/>
              </a:rPr>
              <a:t>Runtime Metrics</a:t>
            </a:r>
            <a:endParaRPr lang="ko-KR" altLang="en-US" sz="1300" b="1">
              <a:solidFill>
                <a:srgbClr val="0A0A0A"/>
              </a:solidFill>
              <a:latin typeface="+mn-ea"/>
              <a:cs typeface="Pretendar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B920B2-6700-4776-A188-1684048C7B36}"/>
              </a:ext>
            </a:extLst>
          </p:cNvPr>
          <p:cNvSpPr txBox="1"/>
          <p:nvPr/>
        </p:nvSpPr>
        <p:spPr>
          <a:xfrm>
            <a:off x="8026400" y="4622800"/>
            <a:ext cx="3403600" cy="157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GC ·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쓰레드 풀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·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메모리 등 런타임 지표를 자동 수집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 Worker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프로세스의 건강 상태를 실시간으로 모니터링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1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5ACA0E-59DC-2442-5EEC-A3E9D64565A7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Universe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Busan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Edition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-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2604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FD42055-DE8A-02F9-8FB6-242E3DB61BB6}"/>
              </a:ext>
            </a:extLst>
          </p:cNvPr>
          <p:cNvSpPr/>
          <p:nvPr/>
        </p:nvSpPr>
        <p:spPr>
          <a:xfrm>
            <a:off x="857250" y="89535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1549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2990DF-4295-4FF4-BA69-8A71EBF6B396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+mn-ea"/>
                <a:cs typeface="Pretendard"/>
              </a:rPr>
              <a:t>WORKER.CS · PART 3</a:t>
            </a:r>
            <a:endParaRPr lang="ko-KR" altLang="en-US" sz="11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8F8BCB-BFC0-454E-838B-179A1802980B}"/>
              </a:ext>
            </a:extLst>
          </p:cNvPr>
          <p:cNvSpPr txBox="1"/>
          <p:nvPr/>
        </p:nvSpPr>
        <p:spPr>
          <a:xfrm>
            <a:off x="762000" y="11684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[Worker] Worker </a:t>
            </a:r>
            <a:r>
              <a:rPr lang="ko-KR" altLang="en-US" sz="2800" b="1" dirty="0">
                <a:solidFill>
                  <a:srgbClr val="0A0A0A"/>
                </a:solidFill>
                <a:latin typeface="+mn-ea"/>
                <a:cs typeface="Pretendard"/>
              </a:rPr>
              <a:t>클래스 </a:t>
            </a:r>
            <a:r>
              <a:rPr lang="en-US" altLang="ko-KR" sz="2800" b="1" dirty="0">
                <a:solidFill>
                  <a:srgbClr val="0A0A0A"/>
                </a:solidFill>
                <a:latin typeface="+mn-ea"/>
                <a:cs typeface="Pretendard"/>
              </a:rPr>
              <a:t>— 1</a:t>
            </a:r>
            <a:r>
              <a:rPr lang="ko-KR" altLang="en-US" sz="2800" b="1" dirty="0">
                <a:solidFill>
                  <a:srgbClr val="0A0A0A"/>
                </a:solidFill>
                <a:latin typeface="+mn-ea"/>
                <a:cs typeface="Pretendard"/>
              </a:rPr>
              <a:t>초마다 타임스탬프 갱신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276F11-A31A-4A0C-BE35-4F3EC976DC4F}"/>
              </a:ext>
            </a:extLst>
          </p:cNvPr>
          <p:cNvSpPr txBox="1"/>
          <p:nvPr/>
        </p:nvSpPr>
        <p:spPr>
          <a:xfrm>
            <a:off x="762000" y="17526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BackgroundService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를 상속해 무한 루프로 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Redis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를 업데이트한다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.</a:t>
            </a:r>
            <a:endParaRPr lang="ko-KR" altLang="en-US" sz="1300">
              <a:solidFill>
                <a:srgbClr val="64748B"/>
              </a:solidFill>
              <a:latin typeface="+mn-ea"/>
              <a:cs typeface="Pretendard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573AED2-5643-4BFC-A32D-A715F73759A4}"/>
              </a:ext>
            </a:extLst>
          </p:cNvPr>
          <p:cNvSpPr/>
          <p:nvPr/>
        </p:nvSpPr>
        <p:spPr>
          <a:xfrm>
            <a:off x="762000" y="2286000"/>
            <a:ext cx="2794000" cy="3048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93A8D5-12C5-45FA-8182-4458F3A36B8B}"/>
              </a:ext>
            </a:extLst>
          </p:cNvPr>
          <p:cNvSpPr txBox="1"/>
          <p:nvPr/>
        </p:nvSpPr>
        <p:spPr>
          <a:xfrm>
            <a:off x="914400" y="23241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A5B4FC"/>
                </a:solidFill>
                <a:latin typeface="+mn-ea"/>
              </a:rPr>
              <a:t>worker.cs  ·  C# · file-based</a:t>
            </a:r>
            <a:endParaRPr lang="ko-KR" altLang="en-US" sz="1000">
              <a:solidFill>
                <a:srgbClr val="A5B4FC"/>
              </a:solidFill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12B33FE-4A28-45CA-8578-66CE18D1E341}"/>
              </a:ext>
            </a:extLst>
          </p:cNvPr>
          <p:cNvSpPr/>
          <p:nvPr/>
        </p:nvSpPr>
        <p:spPr>
          <a:xfrm>
            <a:off x="762000" y="2590800"/>
            <a:ext cx="6350000" cy="36322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12B8CF-92DD-4D87-9787-9285DA527B90}"/>
              </a:ext>
            </a:extLst>
          </p:cNvPr>
          <p:cNvSpPr txBox="1"/>
          <p:nvPr/>
        </p:nvSpPr>
        <p:spPr>
          <a:xfrm>
            <a:off x="965200" y="2743200"/>
            <a:ext cx="5943600" cy="3327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altLang="ko-KR" sz="900" dirty="0">
                <a:solidFill>
                  <a:srgbClr val="E2E8F0"/>
                </a:solidFill>
                <a:latin typeface="Lucida Console" panose="020B0609040504020204" pitchFamily="49" charset="0"/>
              </a:rPr>
              <a:t>public sealed class Worker(
    </a:t>
            </a:r>
            <a:r>
              <a:rPr lang="en-US" altLang="ko-KR" sz="9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ILogger</a:t>
            </a:r>
            <a:r>
              <a:rPr lang="en-US" altLang="ko-KR" sz="900" dirty="0">
                <a:solidFill>
                  <a:srgbClr val="E2E8F0"/>
                </a:solidFill>
                <a:latin typeface="Lucida Console" panose="020B0609040504020204" pitchFamily="49" charset="0"/>
              </a:rPr>
              <a:t>&lt;Worker&gt; logger,
    </a:t>
            </a:r>
            <a:r>
              <a:rPr lang="en-US" altLang="ko-KR" sz="9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IConnectionMultiplexer</a:t>
            </a:r>
            <a:r>
              <a:rPr lang="en-US" altLang="ko-KR" sz="900" dirty="0">
                <a:solidFill>
                  <a:srgbClr val="E2E8F0"/>
                </a:solidFill>
                <a:latin typeface="Lucida Console" panose="020B0609040504020204" pitchFamily="49" charset="0"/>
              </a:rPr>
              <a:t> cache) </a:t>
            </a:r>
            <a:r>
              <a:rPr lang="ko-KR" altLang="en-US" sz="900" b="1" dirty="0">
                <a:solidFill>
                  <a:srgbClr val="EC4899"/>
                </a:solidFill>
                <a:latin typeface="+mn-ea"/>
                <a:cs typeface="Pretendard"/>
              </a:rPr>
              <a:t>⑤</a:t>
            </a:r>
            <a:r>
              <a:rPr lang="en-US" altLang="ko-KR" sz="900" dirty="0">
                <a:solidFill>
                  <a:srgbClr val="E2E8F0"/>
                </a:solidFill>
                <a:latin typeface="Lucida Console" panose="020B0609040504020204" pitchFamily="49" charset="0"/>
              </a:rPr>
              <a:t> : </a:t>
            </a:r>
            <a:r>
              <a:rPr lang="en-US" altLang="ko-KR" sz="9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BackgroundService</a:t>
            </a:r>
            <a:r>
              <a:rPr lang="en-US" altLang="ko-KR" sz="900" dirty="0">
                <a:solidFill>
                  <a:srgbClr val="E2E8F0"/>
                </a:solidFill>
                <a:latin typeface="Lucida Console" panose="020B0609040504020204" pitchFamily="49" charset="0"/>
              </a:rPr>
              <a:t>
{
    protected override async Task </a:t>
            </a:r>
            <a:r>
              <a:rPr lang="en-US" altLang="ko-KR" sz="9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ExecuteAsync</a:t>
            </a:r>
            <a:r>
              <a:rPr lang="en-US" altLang="ko-KR" sz="900" dirty="0">
                <a:solidFill>
                  <a:srgbClr val="E2E8F0"/>
                </a:solidFill>
                <a:latin typeface="Lucida Console" panose="020B0609040504020204" pitchFamily="49" charset="0"/>
              </a:rPr>
              <a:t>(
        </a:t>
            </a:r>
            <a:r>
              <a:rPr lang="en-US" altLang="ko-KR" sz="9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CancellationToken</a:t>
            </a:r>
            <a:r>
              <a:rPr lang="en-US" altLang="ko-KR" sz="900" dirty="0">
                <a:solidFill>
                  <a:srgbClr val="E2E8F0"/>
                </a:solidFill>
                <a:latin typeface="Lucida Console" panose="020B0609040504020204" pitchFamily="49" charset="0"/>
              </a:rPr>
              <a:t> </a:t>
            </a:r>
            <a:r>
              <a:rPr lang="en-US" altLang="ko-KR" sz="9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stoppingToken</a:t>
            </a:r>
            <a:r>
              <a:rPr lang="en-US" altLang="ko-KR" sz="900" dirty="0">
                <a:solidFill>
                  <a:srgbClr val="E2E8F0"/>
                </a:solidFill>
                <a:latin typeface="Lucida Console" panose="020B0609040504020204" pitchFamily="49" charset="0"/>
              </a:rPr>
              <a:t>)
    {
        var key = new </a:t>
            </a:r>
            <a:r>
              <a:rPr lang="en-US" altLang="ko-KR" sz="9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RedisKey</a:t>
            </a:r>
            <a:r>
              <a:rPr lang="en-US" altLang="ko-KR" sz="900" dirty="0">
                <a:solidFill>
                  <a:srgbClr val="E2E8F0"/>
                </a:solidFill>
                <a:latin typeface="Lucida Console" panose="020B0609040504020204" pitchFamily="49" charset="0"/>
              </a:rPr>
              <a:t>("</a:t>
            </a:r>
            <a:r>
              <a:rPr lang="en-US" altLang="ko-KR" sz="9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LastUpdated</a:t>
            </a:r>
            <a:r>
              <a:rPr lang="en-US" altLang="ko-KR" sz="900" dirty="0">
                <a:solidFill>
                  <a:srgbClr val="E2E8F0"/>
                </a:solidFill>
                <a:latin typeface="Lucida Console" panose="020B0609040504020204" pitchFamily="49" charset="0"/>
              </a:rPr>
              <a:t>");
        var database = </a:t>
            </a:r>
            <a:r>
              <a:rPr lang="en-US" altLang="ko-KR" sz="9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cache.GetDatabase</a:t>
            </a:r>
            <a:r>
              <a:rPr lang="en-US" altLang="ko-KR" sz="900" dirty="0">
                <a:solidFill>
                  <a:srgbClr val="E2E8F0"/>
                </a:solidFill>
                <a:latin typeface="Lucida Console" panose="020B0609040504020204" pitchFamily="49" charset="0"/>
              </a:rPr>
              <a:t>();
        while (true)</a:t>
            </a:r>
            <a:r>
              <a:rPr lang="ko-KR" altLang="en-US" sz="900" b="1" dirty="0">
                <a:solidFill>
                  <a:srgbClr val="EC4899"/>
                </a:solidFill>
                <a:latin typeface="+mn-ea"/>
                <a:cs typeface="Pretendard"/>
              </a:rPr>
              <a:t> ⑥</a:t>
            </a:r>
            <a:r>
              <a:rPr lang="en-US" altLang="ko-KR" sz="900" dirty="0">
                <a:solidFill>
                  <a:srgbClr val="E2E8F0"/>
                </a:solidFill>
                <a:latin typeface="Lucida Console" panose="020B0609040504020204" pitchFamily="49" charset="0"/>
              </a:rPr>
              <a:t>
        {
            var current = </a:t>
            </a:r>
            <a:r>
              <a:rPr lang="en-US" altLang="ko-KR" sz="9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DateTimeOffset.Now</a:t>
            </a:r>
            <a:r>
              <a:rPr lang="en-US" altLang="ko-KR" sz="900" dirty="0">
                <a:solidFill>
                  <a:srgbClr val="E2E8F0"/>
                </a:solidFill>
                <a:latin typeface="Lucida Console" panose="020B0609040504020204" pitchFamily="49" charset="0"/>
              </a:rPr>
              <a:t>;
            await </a:t>
            </a:r>
            <a:r>
              <a:rPr lang="en-US" altLang="ko-KR" sz="9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database.StringSetAsync</a:t>
            </a:r>
            <a:r>
              <a:rPr lang="en-US" altLang="ko-KR" sz="900" dirty="0">
                <a:solidFill>
                  <a:srgbClr val="E2E8F0"/>
                </a:solidFill>
                <a:latin typeface="Lucida Console" panose="020B0609040504020204" pitchFamily="49" charset="0"/>
              </a:rPr>
              <a:t>(key,
                "Last updated: " + </a:t>
            </a:r>
            <a:r>
              <a:rPr lang="en-US" altLang="ko-KR" sz="9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current.ToString</a:t>
            </a:r>
            <a:r>
              <a:rPr lang="en-US" altLang="ko-KR" sz="900" dirty="0">
                <a:solidFill>
                  <a:srgbClr val="E2E8F0"/>
                </a:solidFill>
                <a:latin typeface="Lucida Console" panose="020B0609040504020204" pitchFamily="49" charset="0"/>
              </a:rPr>
              <a:t>());
            </a:t>
            </a:r>
            <a:r>
              <a:rPr lang="en-US" altLang="ko-KR" sz="9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logger.LogInformation</a:t>
            </a:r>
            <a:r>
              <a:rPr lang="en-US" altLang="ko-KR" sz="900" dirty="0">
                <a:solidFill>
                  <a:srgbClr val="E2E8F0"/>
                </a:solidFill>
                <a:latin typeface="Lucida Console" panose="020B0609040504020204" pitchFamily="49" charset="0"/>
              </a:rPr>
              <a:t>(
                "Worker running at: {Time}", current);
            await </a:t>
            </a:r>
            <a:r>
              <a:rPr lang="en-US" altLang="ko-KR" sz="9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Task.Delay</a:t>
            </a:r>
            <a:r>
              <a:rPr lang="en-US" altLang="ko-KR" sz="900" dirty="0">
                <a:solidFill>
                  <a:srgbClr val="E2E8F0"/>
                </a:solidFill>
                <a:latin typeface="Lucida Console" panose="020B0609040504020204" pitchFamily="49" charset="0"/>
              </a:rPr>
              <a:t>(
                </a:t>
            </a:r>
            <a:r>
              <a:rPr lang="en-US" altLang="ko-KR" sz="9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TimeSpan.FromSeconds</a:t>
            </a:r>
            <a:r>
              <a:rPr lang="en-US" altLang="ko-KR" sz="900" dirty="0">
                <a:solidFill>
                  <a:srgbClr val="E2E8F0"/>
                </a:solidFill>
                <a:latin typeface="Lucida Console" panose="020B0609040504020204" pitchFamily="49" charset="0"/>
              </a:rPr>
              <a:t>(1d), </a:t>
            </a:r>
            <a:r>
              <a:rPr lang="en-US" altLang="ko-KR" sz="900" dirty="0" err="1">
                <a:solidFill>
                  <a:srgbClr val="E2E8F0"/>
                </a:solidFill>
                <a:latin typeface="Lucida Console" panose="020B0609040504020204" pitchFamily="49" charset="0"/>
              </a:rPr>
              <a:t>stoppingToken</a:t>
            </a:r>
            <a:r>
              <a:rPr lang="en-US" altLang="ko-KR" sz="900" dirty="0">
                <a:solidFill>
                  <a:srgbClr val="E2E8F0"/>
                </a:solidFill>
                <a:latin typeface="Lucida Console" panose="020B0609040504020204" pitchFamily="49" charset="0"/>
              </a:rPr>
              <a:t>);
        }
    }
}</a:t>
            </a:r>
            <a:endParaRPr lang="ko-KR" altLang="en-US" sz="900" dirty="0">
              <a:solidFill>
                <a:srgbClr val="E2E8F0"/>
              </a:solidFill>
              <a:latin typeface="Lucida Console" panose="020B06090405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C02353-48C2-4CB4-989D-C7263B0A1D1B}"/>
              </a:ext>
            </a:extLst>
          </p:cNvPr>
          <p:cNvSpPr txBox="1"/>
          <p:nvPr/>
        </p:nvSpPr>
        <p:spPr>
          <a:xfrm>
            <a:off x="7620000" y="22860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EC4899"/>
                </a:solidFill>
                <a:latin typeface="+mn-ea"/>
                <a:cs typeface="Pretendard"/>
              </a:rPr>
              <a:t>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947954-1768-426C-8BFC-8A2B49659963}"/>
              </a:ext>
            </a:extLst>
          </p:cNvPr>
          <p:cNvSpPr txBox="1"/>
          <p:nvPr/>
        </p:nvSpPr>
        <p:spPr>
          <a:xfrm>
            <a:off x="8026400" y="22860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0A0A0A"/>
                </a:solidFill>
                <a:latin typeface="+mn-ea"/>
                <a:cs typeface="Pretendard"/>
              </a:rPr>
              <a:t>Primary constructor</a:t>
            </a:r>
            <a:endParaRPr lang="ko-KR" altLang="en-US" sz="1300" b="1">
              <a:solidFill>
                <a:srgbClr val="0A0A0A"/>
              </a:solidFill>
              <a:latin typeface="+mn-ea"/>
              <a:cs typeface="Pretendar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48FAE2-4AC7-44C2-ADC1-98F054E066E5}"/>
              </a:ext>
            </a:extLst>
          </p:cNvPr>
          <p:cNvSpPr txBox="1"/>
          <p:nvPr/>
        </p:nvSpPr>
        <p:spPr>
          <a:xfrm>
            <a:off x="8026400" y="2590800"/>
            <a:ext cx="34036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ILogger · IConnectionMultiplexer DI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로 자동 주입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 C# 12 primary constructor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문법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1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D4CAE2-8CC3-43AC-AA6C-4FF9387EBCB1}"/>
              </a:ext>
            </a:extLst>
          </p:cNvPr>
          <p:cNvSpPr txBox="1"/>
          <p:nvPr/>
        </p:nvSpPr>
        <p:spPr>
          <a:xfrm>
            <a:off x="7620000" y="4318000"/>
            <a:ext cx="38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EC4899"/>
                </a:solidFill>
                <a:latin typeface="+mn-ea"/>
                <a:cs typeface="Pretendard"/>
              </a:rPr>
              <a:t>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E4CA30-0BB8-463F-8F69-8A71D6DBEEAB}"/>
              </a:ext>
            </a:extLst>
          </p:cNvPr>
          <p:cNvSpPr txBox="1"/>
          <p:nvPr/>
        </p:nvSpPr>
        <p:spPr>
          <a:xfrm>
            <a:off x="8026400" y="4318000"/>
            <a:ext cx="3403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b="1">
                <a:solidFill>
                  <a:srgbClr val="0A0A0A"/>
                </a:solidFill>
                <a:latin typeface="+mn-ea"/>
                <a:cs typeface="Pretendard"/>
              </a:rPr>
              <a:t>무한 루프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B11225-D05A-4476-9758-3ED52CDDD535}"/>
              </a:ext>
            </a:extLst>
          </p:cNvPr>
          <p:cNvSpPr txBox="1"/>
          <p:nvPr/>
        </p:nvSpPr>
        <p:spPr>
          <a:xfrm>
            <a:off x="8026400" y="4622800"/>
            <a:ext cx="3403600" cy="157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1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초마다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"LastUpdated"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키를 갱신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 WebApi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의 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GET /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Pretendard"/>
              </a:rPr>
              <a:t>가 이 값을 읽어 표시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1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0B1884-C4E5-DE72-2137-69EB963F555C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Universe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Busan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Edition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-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2604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4F87ED8-44A0-2916-6A46-DCBFE2701BFA}"/>
              </a:ext>
            </a:extLst>
          </p:cNvPr>
          <p:cNvSpPr/>
          <p:nvPr/>
        </p:nvSpPr>
        <p:spPr>
          <a:xfrm>
            <a:off x="857250" y="89535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52086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2AD94F-2FA9-42E4-910E-3E88D5B5C6FD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+mn-ea"/>
                <a:cs typeface="Pretendard"/>
              </a:rPr>
              <a:t>RUN</a:t>
            </a:r>
            <a:endParaRPr lang="ko-KR" altLang="en-US" sz="11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B20635-9C68-494E-95E3-61779FF03E9A}"/>
              </a:ext>
            </a:extLst>
          </p:cNvPr>
          <p:cNvSpPr txBox="1"/>
          <p:nvPr/>
        </p:nvSpPr>
        <p:spPr>
          <a:xfrm>
            <a:off x="762000" y="11684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3200" b="1">
                <a:solidFill>
                  <a:srgbClr val="0A0A0A"/>
                </a:solidFill>
                <a:latin typeface="+mn-ea"/>
                <a:cs typeface="Pretendard"/>
              </a:rPr>
              <a:t>aspire run — </a:t>
            </a:r>
            <a:r>
              <a:rPr lang="ko-KR" altLang="en-US" sz="3200" b="1">
                <a:solidFill>
                  <a:srgbClr val="0A0A0A"/>
                </a:solidFill>
                <a:latin typeface="+mn-ea"/>
                <a:cs typeface="Pretendard"/>
              </a:rPr>
              <a:t>그리고</a:t>
            </a:r>
            <a:r>
              <a:rPr lang="en-US" altLang="ko-KR" sz="3200" b="1">
                <a:solidFill>
                  <a:srgbClr val="0A0A0A"/>
                </a:solidFill>
                <a:latin typeface="+mn-ea"/>
                <a:cs typeface="Pretendard"/>
              </a:rPr>
              <a:t>, </a:t>
            </a:r>
            <a:r>
              <a:rPr lang="ko-KR" altLang="en-US" sz="3200" b="1">
                <a:solidFill>
                  <a:srgbClr val="0A0A0A"/>
                </a:solidFill>
                <a:latin typeface="+mn-ea"/>
                <a:cs typeface="Pretendard"/>
              </a:rPr>
              <a:t>대시보드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3BE09-06F1-443D-B42A-C27536107C76}"/>
              </a:ext>
            </a:extLst>
          </p:cNvPr>
          <p:cNvSpPr txBox="1"/>
          <p:nvPr/>
        </p:nvSpPr>
        <p:spPr>
          <a:xfrm>
            <a:off x="762000" y="1828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aspire CLI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는 다중 언어 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apphost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를 지원하게 될 예정 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— dotnet run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보다 자연스러운 선택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.</a:t>
            </a:r>
            <a:endParaRPr lang="ko-KR" altLang="en-US" sz="1300">
              <a:solidFill>
                <a:srgbClr val="64748B"/>
              </a:solidFill>
              <a:latin typeface="+mn-ea"/>
              <a:cs typeface="Pretendard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526AD74-DB77-4229-8BC6-C0BD76643243}"/>
              </a:ext>
            </a:extLst>
          </p:cNvPr>
          <p:cNvSpPr/>
          <p:nvPr/>
        </p:nvSpPr>
        <p:spPr>
          <a:xfrm>
            <a:off x="762000" y="2476500"/>
            <a:ext cx="10668000" cy="3302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B784C6B-CD4E-4952-95E2-D83A73905B33}"/>
              </a:ext>
            </a:extLst>
          </p:cNvPr>
          <p:cNvSpPr/>
          <p:nvPr/>
        </p:nvSpPr>
        <p:spPr>
          <a:xfrm>
            <a:off x="762000" y="2476500"/>
            <a:ext cx="10668000" cy="355600"/>
          </a:xfrm>
          <a:prstGeom prst="rect">
            <a:avLst/>
          </a:prstGeom>
          <a:solidFill>
            <a:srgbClr val="1E29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22988D6-A495-4182-8CF4-206235FDE573}"/>
              </a:ext>
            </a:extLst>
          </p:cNvPr>
          <p:cNvSpPr/>
          <p:nvPr/>
        </p:nvSpPr>
        <p:spPr>
          <a:xfrm>
            <a:off x="965200" y="2616200"/>
            <a:ext cx="101600" cy="101600"/>
          </a:xfrm>
          <a:prstGeom prst="ellipse">
            <a:avLst/>
          </a:prstGeom>
          <a:solidFill>
            <a:srgbClr val="EF44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2F6F3798-4729-470C-9276-5A52DA829F53}"/>
              </a:ext>
            </a:extLst>
          </p:cNvPr>
          <p:cNvSpPr/>
          <p:nvPr/>
        </p:nvSpPr>
        <p:spPr>
          <a:xfrm>
            <a:off x="1168400" y="2616200"/>
            <a:ext cx="101600" cy="101600"/>
          </a:xfrm>
          <a:prstGeom prst="ellipse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D954148-DA79-4D2B-AF26-9F4E61F869CB}"/>
              </a:ext>
            </a:extLst>
          </p:cNvPr>
          <p:cNvSpPr/>
          <p:nvPr/>
        </p:nvSpPr>
        <p:spPr>
          <a:xfrm>
            <a:off x="1371600" y="2616200"/>
            <a:ext cx="101600" cy="101600"/>
          </a:xfrm>
          <a:prstGeom prst="ellipse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BD038E-62EC-4CF8-BD80-62CADAC20EFC}"/>
              </a:ext>
            </a:extLst>
          </p:cNvPr>
          <p:cNvSpPr txBox="1"/>
          <p:nvPr/>
        </p:nvSpPr>
        <p:spPr>
          <a:xfrm>
            <a:off x="1778000" y="25654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94A3B8"/>
                </a:solidFill>
                <a:latin typeface="+mn-ea"/>
              </a:rPr>
              <a:t>~/hands-on</a:t>
            </a:r>
            <a:endParaRPr lang="ko-KR" altLang="en-US" sz="1000">
              <a:solidFill>
                <a:srgbClr val="94A3B8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BEE7F2-607D-4BF5-9A4F-9B73E6ACD823}"/>
              </a:ext>
            </a:extLst>
          </p:cNvPr>
          <p:cNvSpPr txBox="1"/>
          <p:nvPr/>
        </p:nvSpPr>
        <p:spPr>
          <a:xfrm>
            <a:off x="1016000" y="30226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 dirty="0">
                <a:solidFill>
                  <a:srgbClr val="A5B4FC"/>
                </a:solidFill>
                <a:latin typeface="Lucida Console" panose="020B0609040504020204" pitchFamily="49" charset="0"/>
              </a:rPr>
              <a:t>$ aspire run</a:t>
            </a:r>
            <a:endParaRPr lang="ko-KR" altLang="en-US" sz="1400" b="1" dirty="0">
              <a:solidFill>
                <a:srgbClr val="A5B4FC"/>
              </a:solidFill>
              <a:latin typeface="Lucida Console" panose="020B060904050402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1DD9DB-D70F-4746-9AB5-F782A5A4037D}"/>
              </a:ext>
            </a:extLst>
          </p:cNvPr>
          <p:cNvSpPr txBox="1"/>
          <p:nvPr/>
        </p:nvSpPr>
        <p:spPr>
          <a:xfrm>
            <a:off x="1016000" y="3365500"/>
            <a:ext cx="101600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CBD5E1"/>
                </a:solidFill>
                <a:latin typeface="Lucida Console" panose="020B0609040504020204" pitchFamily="49" charset="0"/>
              </a:rPr>
              <a:t>// Aspire starting…
info: Aspire.Hosting.DistributedApplication[0]
      Starting Aspire application host v13.2
info: Docker[0]
      ✓ pulling redis:7-alpine …
      ✓ container cache running at 127.0.0.1:54931
info: Aspire.Hosting[0]
      ✓ resource api running at https://localhost:7101
      ✓ resource worker running
      ▸ dashboard ready → http://localhost:15888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44469B-B7F8-4F1A-B604-76BC4B92398F}"/>
              </a:ext>
            </a:extLst>
          </p:cNvPr>
          <p:cNvSpPr txBox="1"/>
          <p:nvPr/>
        </p:nvSpPr>
        <p:spPr>
          <a:xfrm>
            <a:off x="762000" y="59690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6366F1"/>
                </a:solidFill>
                <a:latin typeface="+mn-ea"/>
                <a:cs typeface="Pretendard"/>
              </a:rPr>
              <a:t>터미널 하나</a:t>
            </a:r>
            <a:r>
              <a:rPr lang="en-US" altLang="ko-KR" sz="1400" b="1" dirty="0">
                <a:solidFill>
                  <a:srgbClr val="6366F1"/>
                </a:solidFill>
                <a:latin typeface="+mn-ea"/>
                <a:cs typeface="Pretendard"/>
              </a:rPr>
              <a:t>. </a:t>
            </a:r>
            <a:r>
              <a:rPr lang="ko-KR" altLang="en-US" sz="1400" b="1" dirty="0">
                <a:solidFill>
                  <a:srgbClr val="6366F1"/>
                </a:solidFill>
                <a:latin typeface="+mn-ea"/>
                <a:cs typeface="Pretendard"/>
              </a:rPr>
              <a:t>컨테이너 </a:t>
            </a:r>
            <a:r>
              <a:rPr lang="en-US" altLang="ko-KR" sz="1400" b="1" dirty="0">
                <a:solidFill>
                  <a:srgbClr val="6366F1"/>
                </a:solidFill>
                <a:latin typeface="+mn-ea"/>
                <a:cs typeface="Pretendard"/>
              </a:rPr>
              <a:t>· </a:t>
            </a:r>
            <a:r>
              <a:rPr lang="ko-KR" altLang="en-US" sz="1400" b="1" dirty="0">
                <a:solidFill>
                  <a:srgbClr val="6366F1"/>
                </a:solidFill>
                <a:latin typeface="+mn-ea"/>
                <a:cs typeface="Pretendard"/>
              </a:rPr>
              <a:t>프로젝트 </a:t>
            </a:r>
            <a:r>
              <a:rPr lang="en-US" altLang="ko-KR" sz="1400" b="1" dirty="0">
                <a:solidFill>
                  <a:srgbClr val="6366F1"/>
                </a:solidFill>
                <a:latin typeface="+mn-ea"/>
                <a:cs typeface="Pretendard"/>
              </a:rPr>
              <a:t>3</a:t>
            </a:r>
            <a:r>
              <a:rPr lang="ko-KR" altLang="en-US" sz="1400" b="1" dirty="0">
                <a:solidFill>
                  <a:srgbClr val="6366F1"/>
                </a:solidFill>
                <a:latin typeface="+mn-ea"/>
                <a:cs typeface="Pretendard"/>
              </a:rPr>
              <a:t>개 </a:t>
            </a:r>
            <a:r>
              <a:rPr lang="en-US" altLang="ko-KR" sz="1400" b="1" dirty="0">
                <a:solidFill>
                  <a:srgbClr val="6366F1"/>
                </a:solidFill>
                <a:latin typeface="+mn-ea"/>
                <a:cs typeface="Pretendard"/>
              </a:rPr>
              <a:t>· </a:t>
            </a:r>
            <a:r>
              <a:rPr lang="ko-KR" altLang="en-US" sz="1400" b="1" dirty="0">
                <a:solidFill>
                  <a:srgbClr val="6366F1"/>
                </a:solidFill>
                <a:latin typeface="+mn-ea"/>
                <a:cs typeface="Pretendard"/>
              </a:rPr>
              <a:t>대시보드까지</a:t>
            </a:r>
            <a:r>
              <a:rPr lang="en-US" altLang="ko-KR" sz="1400" b="1" dirty="0">
                <a:solidFill>
                  <a:srgbClr val="6366F1"/>
                </a:solidFill>
                <a:latin typeface="+mn-ea"/>
                <a:cs typeface="Pretendard"/>
              </a:rPr>
              <a:t>.</a:t>
            </a:r>
            <a:endParaRPr lang="ko-KR" altLang="en-US" sz="1400" b="1" dirty="0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1D750E-D9D0-177E-5DF9-065717933893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Universe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Busan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Edition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-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2604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E44DC7B-B6FF-72FE-38B4-8C6F61F36EE1}"/>
              </a:ext>
            </a:extLst>
          </p:cNvPr>
          <p:cNvSpPr/>
          <p:nvPr/>
        </p:nvSpPr>
        <p:spPr>
          <a:xfrm>
            <a:off x="857250" y="89535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24335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31F062-4E4E-41FA-88CF-D0933C771F36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 dirty="0">
                <a:solidFill>
                  <a:srgbClr val="6366F1"/>
                </a:solidFill>
                <a:latin typeface="+mn-ea"/>
                <a:cs typeface="Pretendard"/>
              </a:rPr>
              <a:t>LIVE DEMO</a:t>
            </a:r>
            <a:endParaRPr lang="ko-KR" altLang="en-US" sz="1100" b="1" dirty="0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715796-CAC4-4935-92D7-0127FC4B9ADB}"/>
              </a:ext>
            </a:extLst>
          </p:cNvPr>
          <p:cNvSpPr txBox="1"/>
          <p:nvPr/>
        </p:nvSpPr>
        <p:spPr>
          <a:xfrm>
            <a:off x="762000" y="2159000"/>
            <a:ext cx="10668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9600" b="1" dirty="0">
                <a:solidFill>
                  <a:srgbClr val="0A0A0A"/>
                </a:solidFill>
                <a:latin typeface="+mn-ea"/>
                <a:cs typeface="Pretendard"/>
              </a:rPr>
              <a:t>Demonstration</a:t>
            </a:r>
            <a:endParaRPr lang="ko-KR" altLang="en-US" sz="9600" b="1" dirty="0">
              <a:solidFill>
                <a:srgbClr val="0A0A0A"/>
              </a:solidFill>
              <a:latin typeface="+mn-ea"/>
              <a:cs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271C4-F7C6-47BF-BB5E-BA823E716CF7}"/>
              </a:ext>
            </a:extLst>
          </p:cNvPr>
          <p:cNvSpPr txBox="1"/>
          <p:nvPr/>
        </p:nvSpPr>
        <p:spPr>
          <a:xfrm>
            <a:off x="762000" y="43180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 dirty="0">
                <a:solidFill>
                  <a:srgbClr val="6366F1"/>
                </a:solidFill>
                <a:latin typeface="+mn-ea"/>
                <a:cs typeface="Pretendard"/>
              </a:rPr>
              <a:t>GitHub GIST</a:t>
            </a:r>
            <a:endParaRPr lang="ko-KR" altLang="en-US" sz="1000" b="1" dirty="0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2FC41B-8442-4EDF-8816-3D7B75D1BD87}"/>
              </a:ext>
            </a:extLst>
          </p:cNvPr>
          <p:cNvSpPr txBox="1"/>
          <p:nvPr/>
        </p:nvSpPr>
        <p:spPr>
          <a:xfrm>
            <a:off x="762000" y="4572000"/>
            <a:ext cx="762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000" dirty="0">
                <a:solidFill>
                  <a:srgbClr val="0A0A0A"/>
                </a:solidFill>
                <a:latin typeface="+mn-ea"/>
              </a:rPr>
              <a:t>shorturl.at/ChQcY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CB5DB8-D64B-04C1-4BA6-8307E4C01F45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Universe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Busan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Edition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-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2604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67E8A72-4254-7894-DDC9-FDA5B4DD546A}"/>
              </a:ext>
            </a:extLst>
          </p:cNvPr>
          <p:cNvSpPr/>
          <p:nvPr/>
        </p:nvSpPr>
        <p:spPr>
          <a:xfrm>
            <a:off x="857250" y="89535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75716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E0CCB1-0297-49FC-838D-E1F2765BB16D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+mn-ea"/>
                <a:cs typeface="Pretendard"/>
              </a:rPr>
              <a:t>ASPIRE DASHBOARD</a:t>
            </a:r>
            <a:endParaRPr lang="ko-KR" altLang="en-US" sz="11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821CB6-1046-4962-AF37-F35D0DC56CCC}"/>
              </a:ext>
            </a:extLst>
          </p:cNvPr>
          <p:cNvSpPr txBox="1"/>
          <p:nvPr/>
        </p:nvSpPr>
        <p:spPr>
          <a:xfrm>
            <a:off x="762000" y="11684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0A0A0A"/>
                </a:solidFill>
                <a:latin typeface="+mn-ea"/>
                <a:cs typeface="Pretendard"/>
              </a:rPr>
              <a:t>한눈에</a:t>
            </a:r>
            <a:r>
              <a:rPr lang="en-US" altLang="ko-KR" sz="3200" b="1">
                <a:solidFill>
                  <a:srgbClr val="0A0A0A"/>
                </a:solidFill>
                <a:latin typeface="+mn-ea"/>
                <a:cs typeface="Pretendard"/>
              </a:rPr>
              <a:t>, </a:t>
            </a:r>
            <a:r>
              <a:rPr lang="ko-KR" altLang="en-US" sz="3200" b="1">
                <a:solidFill>
                  <a:srgbClr val="0A0A0A"/>
                </a:solidFill>
                <a:latin typeface="+mn-ea"/>
                <a:cs typeface="Pretendard"/>
              </a:rPr>
              <a:t>흐름을 본다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5E2EE5-24E7-46B1-85F6-6D665A83053C}"/>
              </a:ext>
            </a:extLst>
          </p:cNvPr>
          <p:cNvSpPr txBox="1"/>
          <p:nvPr/>
        </p:nvSpPr>
        <p:spPr>
          <a:xfrm>
            <a:off x="762000" y="1828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리소스 상태 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· 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로그 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· 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분산 트레이스 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· </a:t>
            </a:r>
            <a:r>
              <a:rPr lang="ko-KR" altLang="en-US" sz="1300">
                <a:solidFill>
                  <a:srgbClr val="64748B"/>
                </a:solidFill>
                <a:latin typeface="+mn-ea"/>
                <a:cs typeface="Pretendard"/>
              </a:rPr>
              <a:t>메트릭</a:t>
            </a:r>
            <a:r>
              <a:rPr lang="en-US" altLang="ko-KR" sz="1300">
                <a:solidFill>
                  <a:srgbClr val="64748B"/>
                </a:solidFill>
                <a:latin typeface="+mn-ea"/>
                <a:cs typeface="Pretendard"/>
              </a:rPr>
              <a:t>. localhost:15888</a:t>
            </a:r>
            <a:endParaRPr lang="ko-KR" altLang="en-US" sz="1300">
              <a:solidFill>
                <a:srgbClr val="64748B"/>
              </a:solidFill>
              <a:latin typeface="+mn-ea"/>
              <a:cs typeface="Pretendard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FAB177-16E6-4BBA-AD7C-31D76BA98B1D}"/>
              </a:ext>
            </a:extLst>
          </p:cNvPr>
          <p:cNvSpPr/>
          <p:nvPr/>
        </p:nvSpPr>
        <p:spPr>
          <a:xfrm>
            <a:off x="762000" y="2540000"/>
            <a:ext cx="2476500" cy="508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7735B96-2481-4796-B974-A61485D8A840}"/>
              </a:ext>
            </a:extLst>
          </p:cNvPr>
          <p:cNvSpPr/>
          <p:nvPr/>
        </p:nvSpPr>
        <p:spPr>
          <a:xfrm>
            <a:off x="762000" y="2590800"/>
            <a:ext cx="2476500" cy="35052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D52C51-33CC-439C-B05D-E0D4F31BA397}"/>
              </a:ext>
            </a:extLst>
          </p:cNvPr>
          <p:cNvSpPr txBox="1"/>
          <p:nvPr/>
        </p:nvSpPr>
        <p:spPr>
          <a:xfrm>
            <a:off x="965200" y="2743200"/>
            <a:ext cx="215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6366F1"/>
                </a:solidFill>
                <a:latin typeface="+mn-ea"/>
                <a:cs typeface="Pretendard"/>
              </a:rPr>
              <a:t>RESOURCES</a:t>
            </a:r>
            <a:endParaRPr lang="ko-KR" altLang="en-US" sz="10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CD924F-43E7-4DB6-85A9-C64E39531800}"/>
              </a:ext>
            </a:extLst>
          </p:cNvPr>
          <p:cNvSpPr txBox="1"/>
          <p:nvPr/>
        </p:nvSpPr>
        <p:spPr>
          <a:xfrm>
            <a:off x="965200" y="3225800"/>
            <a:ext cx="215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chemeClr val="accent3"/>
                </a:solidFill>
                <a:latin typeface="Lucida Console" panose="020B0609040504020204" pitchFamily="49" charset="0"/>
              </a:rPr>
              <a:t>●</a:t>
            </a:r>
            <a:r>
              <a:rPr lang="en-US" altLang="ko-KR" sz="1000" dirty="0">
                <a:solidFill>
                  <a:srgbClr val="1F2937"/>
                </a:solidFill>
                <a:latin typeface="Lucida Console" panose="020B0609040504020204" pitchFamily="49" charset="0"/>
              </a:rPr>
              <a:t> cache</a:t>
            </a:r>
            <a:endParaRPr lang="ko-KR" altLang="en-US" sz="1000" dirty="0">
              <a:solidFill>
                <a:srgbClr val="1F2937"/>
              </a:solidFill>
              <a:latin typeface="Lucida Console" panose="020B060904050402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3244FDB-C156-4DF7-8140-96D38A5C9DF5}"/>
              </a:ext>
            </a:extLst>
          </p:cNvPr>
          <p:cNvSpPr/>
          <p:nvPr/>
        </p:nvSpPr>
        <p:spPr>
          <a:xfrm>
            <a:off x="965200" y="3733800"/>
            <a:ext cx="2032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DF6ADA-9F4B-4A3F-9CA1-F8E1B2BF82F7}"/>
              </a:ext>
            </a:extLst>
          </p:cNvPr>
          <p:cNvSpPr txBox="1"/>
          <p:nvPr/>
        </p:nvSpPr>
        <p:spPr>
          <a:xfrm>
            <a:off x="965200" y="3937000"/>
            <a:ext cx="215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chemeClr val="accent3"/>
                </a:solidFill>
                <a:latin typeface="Lucida Console" panose="020B0609040504020204" pitchFamily="49" charset="0"/>
              </a:rPr>
              <a:t>●</a:t>
            </a:r>
            <a:r>
              <a:rPr lang="en-US" altLang="ko-KR" sz="1000" dirty="0">
                <a:solidFill>
                  <a:srgbClr val="1F2937"/>
                </a:solidFill>
                <a:latin typeface="Lucida Console" panose="020B0609040504020204" pitchFamily="49" charset="0"/>
              </a:rPr>
              <a:t> </a:t>
            </a:r>
            <a:r>
              <a:rPr lang="en-US" altLang="ko-KR" sz="1000" dirty="0" err="1">
                <a:solidFill>
                  <a:srgbClr val="1F2937"/>
                </a:solidFill>
                <a:latin typeface="Lucida Console" panose="020B0609040504020204" pitchFamily="49" charset="0"/>
              </a:rPr>
              <a:t>api</a:t>
            </a:r>
            <a:endParaRPr lang="ko-KR" altLang="en-US" sz="1000" dirty="0">
              <a:solidFill>
                <a:srgbClr val="1F2937"/>
              </a:solidFill>
              <a:latin typeface="Lucida Console" panose="020B060904050402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3AF4DCE-7B55-472A-86F0-CE88F8EA884B}"/>
              </a:ext>
            </a:extLst>
          </p:cNvPr>
          <p:cNvSpPr/>
          <p:nvPr/>
        </p:nvSpPr>
        <p:spPr>
          <a:xfrm>
            <a:off x="965200" y="4445000"/>
            <a:ext cx="2032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0126EF-3D31-408D-81E9-F1C8A89D9725}"/>
              </a:ext>
            </a:extLst>
          </p:cNvPr>
          <p:cNvSpPr txBox="1"/>
          <p:nvPr/>
        </p:nvSpPr>
        <p:spPr>
          <a:xfrm>
            <a:off x="965200" y="4648200"/>
            <a:ext cx="215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chemeClr val="accent3"/>
                </a:solidFill>
                <a:latin typeface="Lucida Console" panose="020B0609040504020204" pitchFamily="49" charset="0"/>
              </a:rPr>
              <a:t>●</a:t>
            </a:r>
            <a:r>
              <a:rPr lang="en-US" altLang="ko-KR" sz="1000" dirty="0">
                <a:solidFill>
                  <a:srgbClr val="1F2937"/>
                </a:solidFill>
                <a:latin typeface="Lucida Console" panose="020B0609040504020204" pitchFamily="49" charset="0"/>
              </a:rPr>
              <a:t> worker</a:t>
            </a:r>
            <a:endParaRPr lang="ko-KR" altLang="en-US" sz="1000" dirty="0">
              <a:solidFill>
                <a:srgbClr val="1F2937"/>
              </a:solidFill>
              <a:latin typeface="Lucida Console" panose="020B060904050402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1C6F4A-4211-4E43-A320-65C3C5358BB2}"/>
              </a:ext>
            </a:extLst>
          </p:cNvPr>
          <p:cNvSpPr/>
          <p:nvPr/>
        </p:nvSpPr>
        <p:spPr>
          <a:xfrm>
            <a:off x="3492500" y="2540000"/>
            <a:ext cx="2476500" cy="508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1090166-DD2F-4AFA-BEB4-184F49868A49}"/>
              </a:ext>
            </a:extLst>
          </p:cNvPr>
          <p:cNvSpPr/>
          <p:nvPr/>
        </p:nvSpPr>
        <p:spPr>
          <a:xfrm>
            <a:off x="3492500" y="2590800"/>
            <a:ext cx="2476500" cy="35052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9585B2-0269-4F00-8BBF-BEFFD1AFAE97}"/>
              </a:ext>
            </a:extLst>
          </p:cNvPr>
          <p:cNvSpPr txBox="1"/>
          <p:nvPr/>
        </p:nvSpPr>
        <p:spPr>
          <a:xfrm>
            <a:off x="3695700" y="2743200"/>
            <a:ext cx="215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6366F1"/>
                </a:solidFill>
                <a:latin typeface="+mn-ea"/>
                <a:cs typeface="Pretendard"/>
              </a:rPr>
              <a:t>LOGS</a:t>
            </a:r>
            <a:endParaRPr lang="ko-KR" altLang="en-US" sz="10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417FE6-70A6-4CF5-A508-15F803F23648}"/>
              </a:ext>
            </a:extLst>
          </p:cNvPr>
          <p:cNvSpPr txBox="1"/>
          <p:nvPr/>
        </p:nvSpPr>
        <p:spPr>
          <a:xfrm>
            <a:off x="3695700" y="3225800"/>
            <a:ext cx="215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1F2937"/>
                </a:solidFill>
                <a:latin typeface="Lucida Console" panose="020B0609040504020204" pitchFamily="49" charset="0"/>
              </a:rPr>
              <a:t>12:34:01 </a:t>
            </a:r>
            <a:r>
              <a:rPr lang="en-US" altLang="ko-KR" sz="1000" dirty="0" err="1">
                <a:solidFill>
                  <a:srgbClr val="1F2937"/>
                </a:solidFill>
                <a:latin typeface="Lucida Console" panose="020B0609040504020204" pitchFamily="49" charset="0"/>
              </a:rPr>
              <a:t>api</a:t>
            </a:r>
            <a:r>
              <a:rPr lang="en-US" altLang="ko-KR" sz="1000" dirty="0">
                <a:solidFill>
                  <a:srgbClr val="1F2937"/>
                </a:solidFill>
                <a:latin typeface="Lucida Console" panose="020B0609040504020204" pitchFamily="49" charset="0"/>
              </a:rPr>
              <a:t> GET /</a:t>
            </a:r>
            <a:endParaRPr lang="ko-KR" altLang="en-US" sz="1000" dirty="0">
              <a:solidFill>
                <a:srgbClr val="1F2937"/>
              </a:solidFill>
              <a:latin typeface="Lucida Console" panose="020B060904050402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C0F8CAF-2AAA-4373-A466-0AD3C824850C}"/>
              </a:ext>
            </a:extLst>
          </p:cNvPr>
          <p:cNvSpPr/>
          <p:nvPr/>
        </p:nvSpPr>
        <p:spPr>
          <a:xfrm>
            <a:off x="3695700" y="3733800"/>
            <a:ext cx="2032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A44B9D-FA7E-48D9-A6FC-4CFE5E57A190}"/>
              </a:ext>
            </a:extLst>
          </p:cNvPr>
          <p:cNvSpPr txBox="1"/>
          <p:nvPr/>
        </p:nvSpPr>
        <p:spPr>
          <a:xfrm>
            <a:off x="3695700" y="3937000"/>
            <a:ext cx="215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1F2937"/>
                </a:solidFill>
                <a:latin typeface="Lucida Console" panose="020B0609040504020204" pitchFamily="49" charset="0"/>
              </a:rPr>
              <a:t>12:34:02 worker tick</a:t>
            </a:r>
            <a:endParaRPr lang="ko-KR" altLang="en-US" sz="1000">
              <a:solidFill>
                <a:srgbClr val="1F2937"/>
              </a:solidFill>
              <a:latin typeface="Lucida Console" panose="020B060904050402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B9573CE-108E-4506-81C0-49E932C7293D}"/>
              </a:ext>
            </a:extLst>
          </p:cNvPr>
          <p:cNvSpPr/>
          <p:nvPr/>
        </p:nvSpPr>
        <p:spPr>
          <a:xfrm>
            <a:off x="3695700" y="4445000"/>
            <a:ext cx="2032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B71948-AA6A-46AB-95ED-A1530296EDE1}"/>
              </a:ext>
            </a:extLst>
          </p:cNvPr>
          <p:cNvSpPr txBox="1"/>
          <p:nvPr/>
        </p:nvSpPr>
        <p:spPr>
          <a:xfrm>
            <a:off x="3695700" y="4648200"/>
            <a:ext cx="215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1F2937"/>
                </a:solidFill>
                <a:latin typeface="Lucida Console" panose="020B0609040504020204" pitchFamily="49" charset="0"/>
              </a:rPr>
              <a:t>12:34:03 worker tick</a:t>
            </a:r>
            <a:endParaRPr lang="ko-KR" altLang="en-US" sz="1000">
              <a:solidFill>
                <a:srgbClr val="1F2937"/>
              </a:solidFill>
              <a:latin typeface="Lucida Console" panose="020B060904050402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7F4E0F4-AED7-40EF-BA88-D5C4BF0A1436}"/>
              </a:ext>
            </a:extLst>
          </p:cNvPr>
          <p:cNvSpPr/>
          <p:nvPr/>
        </p:nvSpPr>
        <p:spPr>
          <a:xfrm>
            <a:off x="6223000" y="2540000"/>
            <a:ext cx="2476500" cy="508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AE5930A-1872-4D6C-8F1E-E0E5BB8E1C50}"/>
              </a:ext>
            </a:extLst>
          </p:cNvPr>
          <p:cNvSpPr/>
          <p:nvPr/>
        </p:nvSpPr>
        <p:spPr>
          <a:xfrm>
            <a:off x="6223000" y="2590800"/>
            <a:ext cx="2476500" cy="35052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02F3CF-1921-4AC8-BECD-7D2AA9EABA26}"/>
              </a:ext>
            </a:extLst>
          </p:cNvPr>
          <p:cNvSpPr txBox="1"/>
          <p:nvPr/>
        </p:nvSpPr>
        <p:spPr>
          <a:xfrm>
            <a:off x="6426200" y="2743200"/>
            <a:ext cx="215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6366F1"/>
                </a:solidFill>
                <a:latin typeface="+mn-ea"/>
                <a:cs typeface="Pretendard"/>
              </a:rPr>
              <a:t>TRACES</a:t>
            </a:r>
            <a:endParaRPr lang="ko-KR" altLang="en-US" sz="10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43EAF2-67DC-49F1-B056-C7BADA1C27CD}"/>
              </a:ext>
            </a:extLst>
          </p:cNvPr>
          <p:cNvSpPr txBox="1"/>
          <p:nvPr/>
        </p:nvSpPr>
        <p:spPr>
          <a:xfrm>
            <a:off x="6426200" y="3225800"/>
            <a:ext cx="215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1F2937"/>
                </a:solidFill>
                <a:latin typeface="Lucida Console" panose="020B0609040504020204" pitchFamily="49" charset="0"/>
              </a:rPr>
              <a:t>GET / ─ 12ms</a:t>
            </a:r>
            <a:endParaRPr lang="ko-KR" altLang="en-US" sz="1000">
              <a:solidFill>
                <a:srgbClr val="1F2937"/>
              </a:solidFill>
              <a:latin typeface="Lucida Console" panose="020B060904050402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595D1C8-CC84-42F0-A21D-1C58DC94C4AC}"/>
              </a:ext>
            </a:extLst>
          </p:cNvPr>
          <p:cNvSpPr/>
          <p:nvPr/>
        </p:nvSpPr>
        <p:spPr>
          <a:xfrm>
            <a:off x="6426200" y="3733800"/>
            <a:ext cx="2032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2B872B-F2D9-44F3-9A8C-74ED6FBBF2C2}"/>
              </a:ext>
            </a:extLst>
          </p:cNvPr>
          <p:cNvSpPr txBox="1"/>
          <p:nvPr/>
        </p:nvSpPr>
        <p:spPr>
          <a:xfrm>
            <a:off x="6426200" y="3937000"/>
            <a:ext cx="215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1F2937"/>
                </a:solidFill>
                <a:latin typeface="Lucida Console" panose="020B0609040504020204" pitchFamily="49" charset="0"/>
              </a:rPr>
              <a:t>└ redis: GET Message</a:t>
            </a:r>
            <a:endParaRPr lang="ko-KR" altLang="en-US" sz="1000">
              <a:solidFill>
                <a:srgbClr val="1F2937"/>
              </a:solidFill>
              <a:latin typeface="Lucida Console" panose="020B060904050402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E7E0E68-6CAB-42A4-A3A1-825CFD0390CC}"/>
              </a:ext>
            </a:extLst>
          </p:cNvPr>
          <p:cNvSpPr/>
          <p:nvPr/>
        </p:nvSpPr>
        <p:spPr>
          <a:xfrm>
            <a:off x="6426200" y="4445000"/>
            <a:ext cx="2032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E006AE-730F-4B11-B592-DE6E2CDFA079}"/>
              </a:ext>
            </a:extLst>
          </p:cNvPr>
          <p:cNvSpPr txBox="1"/>
          <p:nvPr/>
        </p:nvSpPr>
        <p:spPr>
          <a:xfrm>
            <a:off x="6426200" y="4648200"/>
            <a:ext cx="215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1F2937"/>
                </a:solidFill>
                <a:latin typeface="Lucida Console" panose="020B0609040504020204" pitchFamily="49" charset="0"/>
              </a:rPr>
              <a:t>└ redis: GET LastUpdated</a:t>
            </a:r>
            <a:endParaRPr lang="ko-KR" altLang="en-US" sz="1000">
              <a:solidFill>
                <a:srgbClr val="1F2937"/>
              </a:solidFill>
              <a:latin typeface="Lucida Console" panose="020B060904050402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BFA4C9C-EABE-4853-9C15-CF9395A64E27}"/>
              </a:ext>
            </a:extLst>
          </p:cNvPr>
          <p:cNvSpPr/>
          <p:nvPr/>
        </p:nvSpPr>
        <p:spPr>
          <a:xfrm>
            <a:off x="8953500" y="2540000"/>
            <a:ext cx="2476500" cy="508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4B9E33A-904B-431E-80B7-BABF8CFD10BE}"/>
              </a:ext>
            </a:extLst>
          </p:cNvPr>
          <p:cNvSpPr/>
          <p:nvPr/>
        </p:nvSpPr>
        <p:spPr>
          <a:xfrm>
            <a:off x="8953500" y="2590800"/>
            <a:ext cx="2476500" cy="35052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59A8D7-37DB-4B67-8466-8739312FF09D}"/>
              </a:ext>
            </a:extLst>
          </p:cNvPr>
          <p:cNvSpPr txBox="1"/>
          <p:nvPr/>
        </p:nvSpPr>
        <p:spPr>
          <a:xfrm>
            <a:off x="9156700" y="2743200"/>
            <a:ext cx="2159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6366F1"/>
                </a:solidFill>
                <a:latin typeface="+mn-ea"/>
                <a:cs typeface="Pretendard"/>
              </a:rPr>
              <a:t>METRICS</a:t>
            </a:r>
            <a:endParaRPr lang="ko-KR" altLang="en-US" sz="10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CD224E-32B8-454A-85A8-289F45E4D96A}"/>
              </a:ext>
            </a:extLst>
          </p:cNvPr>
          <p:cNvSpPr txBox="1"/>
          <p:nvPr/>
        </p:nvSpPr>
        <p:spPr>
          <a:xfrm>
            <a:off x="9156700" y="3225800"/>
            <a:ext cx="215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1F2937"/>
                </a:solidFill>
                <a:latin typeface="Lucida Console" panose="020B0609040504020204" pitchFamily="49" charset="0"/>
              </a:rPr>
              <a:t>reqs/sec  4.2</a:t>
            </a:r>
            <a:endParaRPr lang="ko-KR" altLang="en-US" sz="1000">
              <a:solidFill>
                <a:srgbClr val="1F2937"/>
              </a:solidFill>
              <a:latin typeface="Lucida Console" panose="020B060904050402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25BCABA-3798-47E0-A91A-3BBF202F52AB}"/>
              </a:ext>
            </a:extLst>
          </p:cNvPr>
          <p:cNvSpPr/>
          <p:nvPr/>
        </p:nvSpPr>
        <p:spPr>
          <a:xfrm>
            <a:off x="9156700" y="3733800"/>
            <a:ext cx="2032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137131-6A7F-4444-A698-05F35F6938AC}"/>
              </a:ext>
            </a:extLst>
          </p:cNvPr>
          <p:cNvSpPr txBox="1"/>
          <p:nvPr/>
        </p:nvSpPr>
        <p:spPr>
          <a:xfrm>
            <a:off x="9156700" y="3937000"/>
            <a:ext cx="215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1F2937"/>
                </a:solidFill>
                <a:latin typeface="Lucida Console" panose="020B0609040504020204" pitchFamily="49" charset="0"/>
              </a:rPr>
              <a:t>p95 latency  8ms</a:t>
            </a:r>
            <a:endParaRPr lang="ko-KR" altLang="en-US" sz="1000">
              <a:solidFill>
                <a:srgbClr val="1F2937"/>
              </a:solidFill>
              <a:latin typeface="Lucida Console" panose="020B060904050402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4B804F2-A957-4F1F-9999-325495F16202}"/>
              </a:ext>
            </a:extLst>
          </p:cNvPr>
          <p:cNvSpPr/>
          <p:nvPr/>
        </p:nvSpPr>
        <p:spPr>
          <a:xfrm>
            <a:off x="9156700" y="4445000"/>
            <a:ext cx="2032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CB2FF9-406E-4B1C-9770-EF9D7E999154}"/>
              </a:ext>
            </a:extLst>
          </p:cNvPr>
          <p:cNvSpPr txBox="1"/>
          <p:nvPr/>
        </p:nvSpPr>
        <p:spPr>
          <a:xfrm>
            <a:off x="9156700" y="4648200"/>
            <a:ext cx="215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1F2937"/>
                </a:solidFill>
                <a:latin typeface="Lucida Console" panose="020B0609040504020204" pitchFamily="49" charset="0"/>
              </a:rPr>
              <a:t>gc gen0  0.1/s</a:t>
            </a:r>
            <a:endParaRPr lang="ko-KR" altLang="en-US" sz="1000">
              <a:solidFill>
                <a:srgbClr val="1F2937"/>
              </a:solidFill>
              <a:latin typeface="Lucida Console" panose="020B06090405040202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E742B8-B816-808A-224E-AA1C32410BB5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Universe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Busan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Edition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-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2604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0F74B47-ABBA-3CC5-247A-4B4D37ACBEC4}"/>
              </a:ext>
            </a:extLst>
          </p:cNvPr>
          <p:cNvSpPr/>
          <p:nvPr/>
        </p:nvSpPr>
        <p:spPr>
          <a:xfrm>
            <a:off x="857250" y="89535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23767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2FE3080-821D-4F43-B642-A63D8623184D}"/>
              </a:ext>
            </a:extLst>
          </p:cNvPr>
          <p:cNvSpPr/>
          <p:nvPr/>
        </p:nvSpPr>
        <p:spPr>
          <a:xfrm>
            <a:off x="863600" y="90170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974FAE-AC4D-4B49-8746-57705B48CC67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Pretendard"/>
                <a:ea typeface="Pretendard"/>
                <a:cs typeface="Pretendard"/>
              </a:rPr>
              <a:t>KILLER FEATURE</a:t>
            </a:r>
            <a:endParaRPr lang="ko-KR" altLang="en-US" sz="1100" b="1">
              <a:solidFill>
                <a:srgbClr val="6366F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E0E345-3E8B-4500-B9CE-7F881C444518}"/>
              </a:ext>
            </a:extLst>
          </p:cNvPr>
          <p:cNvSpPr txBox="1"/>
          <p:nvPr/>
        </p:nvSpPr>
        <p:spPr>
          <a:xfrm>
            <a:off x="762000" y="1168400"/>
            <a:ext cx="10668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6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디버거 네이티브 연동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8FD66A-34F1-4869-BFB4-A0ED572B05DF}"/>
              </a:ext>
            </a:extLst>
          </p:cNvPr>
          <p:cNvSpPr txBox="1"/>
          <p:nvPr/>
        </p:nvSpPr>
        <p:spPr>
          <a:xfrm>
            <a:off x="762000" y="20320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AppHost</a:t>
            </a:r>
            <a:r>
              <a:rPr lang="ko-KR" altLang="en-US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를 디버그로 기동하면</a:t>
            </a:r>
            <a:r>
              <a:rPr lang="en-US" altLang="ko-KR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모든 자식 서비스에 브레이크포인트가 자동으로 붙습니다</a:t>
            </a:r>
            <a:r>
              <a:rPr lang="en-US" altLang="ko-KR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400">
              <a:solidFill>
                <a:srgbClr val="47556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2DB3AC-5B3D-4341-97E6-BA81EF874561}"/>
              </a:ext>
            </a:extLst>
          </p:cNvPr>
          <p:cNvSpPr/>
          <p:nvPr/>
        </p:nvSpPr>
        <p:spPr>
          <a:xfrm>
            <a:off x="762000" y="2667000"/>
            <a:ext cx="3556000" cy="1778000"/>
          </a:xfrm>
          <a:prstGeom prst="rect">
            <a:avLst/>
          </a:prstGeom>
          <a:solidFill>
            <a:srgbClr val="F5F5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9A61626-F9F6-4DEC-88AC-F7F06C58B6AD}"/>
              </a:ext>
            </a:extLst>
          </p:cNvPr>
          <p:cNvSpPr/>
          <p:nvPr/>
        </p:nvSpPr>
        <p:spPr>
          <a:xfrm>
            <a:off x="762000" y="2667000"/>
            <a:ext cx="50800" cy="17780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E665CE-EB88-4A87-BA91-2FEF6768AFBA}"/>
              </a:ext>
            </a:extLst>
          </p:cNvPr>
          <p:cNvSpPr txBox="1"/>
          <p:nvPr/>
        </p:nvSpPr>
        <p:spPr>
          <a:xfrm>
            <a:off x="1016000" y="28956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ApiService</a:t>
            </a:r>
            <a:endParaRPr lang="ko-KR" altLang="en-US" sz="1400" b="1">
              <a:solidFill>
                <a:srgbClr val="0A0A0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0D0D5E-B302-4E8A-8D4A-97CC43D6530B}"/>
              </a:ext>
            </a:extLst>
          </p:cNvPr>
          <p:cNvSpPr/>
          <p:nvPr/>
        </p:nvSpPr>
        <p:spPr>
          <a:xfrm>
            <a:off x="1016000" y="3302000"/>
            <a:ext cx="101600" cy="1016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D11AEE-6D6D-4120-AABC-36DD5B28FE25}"/>
              </a:ext>
            </a:extLst>
          </p:cNvPr>
          <p:cNvSpPr txBox="1"/>
          <p:nvPr/>
        </p:nvSpPr>
        <p:spPr>
          <a:xfrm>
            <a:off x="1219200" y="3213100"/>
            <a:ext cx="279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10B981"/>
                </a:solidFill>
                <a:latin typeface="Pretendard"/>
                <a:ea typeface="Pretendard"/>
                <a:cs typeface="Pretendard"/>
              </a:rPr>
              <a:t>Debugger attached</a:t>
            </a:r>
            <a:endParaRPr lang="ko-KR" altLang="en-US" sz="1200" b="1">
              <a:solidFill>
                <a:srgbClr val="10B98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E2F02C6-B02B-46D5-A73E-0875EFBA4CB2}"/>
              </a:ext>
            </a:extLst>
          </p:cNvPr>
          <p:cNvSpPr/>
          <p:nvPr/>
        </p:nvSpPr>
        <p:spPr>
          <a:xfrm>
            <a:off x="1016000" y="3708400"/>
            <a:ext cx="101600" cy="101600"/>
          </a:xfrm>
          <a:prstGeom prst="rect">
            <a:avLst/>
          </a:prstGeom>
          <a:solidFill>
            <a:srgbClr val="EC48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ED8B3D-6626-4191-901B-E026096827A8}"/>
              </a:ext>
            </a:extLst>
          </p:cNvPr>
          <p:cNvSpPr txBox="1"/>
          <p:nvPr/>
        </p:nvSpPr>
        <p:spPr>
          <a:xfrm>
            <a:off x="1219200" y="36195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475569"/>
                </a:solidFill>
                <a:latin typeface="Consolas"/>
              </a:rPr>
              <a:t>app.MapGet("/", ...)</a:t>
            </a:r>
            <a:endParaRPr lang="ko-KR" altLang="en-US" sz="1100">
              <a:solidFill>
                <a:srgbClr val="475569"/>
              </a:solidFill>
              <a:latin typeface="Consola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68EF39-A332-4287-88DC-3137AF379BFB}"/>
              </a:ext>
            </a:extLst>
          </p:cNvPr>
          <p:cNvSpPr txBox="1"/>
          <p:nvPr/>
        </p:nvSpPr>
        <p:spPr>
          <a:xfrm>
            <a:off x="1016000" y="40386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94A3B8"/>
                </a:solidFill>
                <a:latin typeface="Pretendard"/>
                <a:ea typeface="Pretendard"/>
                <a:cs typeface="Pretendard"/>
              </a:rPr>
              <a:t>breakpoint hit · PID 48213</a:t>
            </a:r>
            <a:endParaRPr lang="ko-KR" altLang="en-US" sz="1100">
              <a:solidFill>
                <a:srgbClr val="94A3B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FC279B-F127-476C-91FD-6CBD0AF40406}"/>
              </a:ext>
            </a:extLst>
          </p:cNvPr>
          <p:cNvSpPr/>
          <p:nvPr/>
        </p:nvSpPr>
        <p:spPr>
          <a:xfrm>
            <a:off x="4318000" y="2667000"/>
            <a:ext cx="3556000" cy="1778000"/>
          </a:xfrm>
          <a:prstGeom prst="rect">
            <a:avLst/>
          </a:prstGeom>
          <a:solidFill>
            <a:srgbClr val="F5F5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9E7E6B2-56B4-4307-B862-F7483C4EF0AA}"/>
              </a:ext>
            </a:extLst>
          </p:cNvPr>
          <p:cNvSpPr/>
          <p:nvPr/>
        </p:nvSpPr>
        <p:spPr>
          <a:xfrm>
            <a:off x="4318000" y="2667000"/>
            <a:ext cx="50800" cy="17780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62643E-58A1-4874-9971-231A58DE2362}"/>
              </a:ext>
            </a:extLst>
          </p:cNvPr>
          <p:cNvSpPr txBox="1"/>
          <p:nvPr/>
        </p:nvSpPr>
        <p:spPr>
          <a:xfrm>
            <a:off x="4572000" y="28956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Frontend</a:t>
            </a:r>
            <a:endParaRPr lang="ko-KR" altLang="en-US" sz="1400" b="1">
              <a:solidFill>
                <a:srgbClr val="0A0A0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12168BE-8F6C-4A42-96BD-A21D65F10333}"/>
              </a:ext>
            </a:extLst>
          </p:cNvPr>
          <p:cNvSpPr/>
          <p:nvPr/>
        </p:nvSpPr>
        <p:spPr>
          <a:xfrm>
            <a:off x="4572000" y="3302000"/>
            <a:ext cx="101600" cy="1016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D96BEE-82C2-4778-A047-3D1AAFE6C5B9}"/>
              </a:ext>
            </a:extLst>
          </p:cNvPr>
          <p:cNvSpPr txBox="1"/>
          <p:nvPr/>
        </p:nvSpPr>
        <p:spPr>
          <a:xfrm>
            <a:off x="4775200" y="3213100"/>
            <a:ext cx="279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10B981"/>
                </a:solidFill>
                <a:latin typeface="Pretendard"/>
                <a:ea typeface="Pretendard"/>
                <a:cs typeface="Pretendard"/>
              </a:rPr>
              <a:t>Debugger attached</a:t>
            </a:r>
            <a:endParaRPr lang="ko-KR" altLang="en-US" sz="1200" b="1">
              <a:solidFill>
                <a:srgbClr val="10B98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2B6EBB3-D962-4C9C-8A54-57518CB6A6CE}"/>
              </a:ext>
            </a:extLst>
          </p:cNvPr>
          <p:cNvSpPr/>
          <p:nvPr/>
        </p:nvSpPr>
        <p:spPr>
          <a:xfrm>
            <a:off x="4572000" y="3708400"/>
            <a:ext cx="101600" cy="101600"/>
          </a:xfrm>
          <a:prstGeom prst="rect">
            <a:avLst/>
          </a:prstGeom>
          <a:solidFill>
            <a:srgbClr val="EC48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BE5F43-4AB1-4C9C-8B70-94A55030C3FF}"/>
              </a:ext>
            </a:extLst>
          </p:cNvPr>
          <p:cNvSpPr txBox="1"/>
          <p:nvPr/>
        </p:nvSpPr>
        <p:spPr>
          <a:xfrm>
            <a:off x="4775200" y="36195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475569"/>
                </a:solidFill>
                <a:latin typeface="Consolas"/>
              </a:rPr>
              <a:t>app.MapGet("/", ...)</a:t>
            </a:r>
            <a:endParaRPr lang="ko-KR" altLang="en-US" sz="1100">
              <a:solidFill>
                <a:srgbClr val="475569"/>
              </a:solidFill>
              <a:latin typeface="Consola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4E57A1-545F-45FF-8B3E-888C6D06B94E}"/>
              </a:ext>
            </a:extLst>
          </p:cNvPr>
          <p:cNvSpPr txBox="1"/>
          <p:nvPr/>
        </p:nvSpPr>
        <p:spPr>
          <a:xfrm>
            <a:off x="4572000" y="40386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94A3B8"/>
                </a:solidFill>
                <a:latin typeface="Pretendard"/>
                <a:ea typeface="Pretendard"/>
                <a:cs typeface="Pretendard"/>
              </a:rPr>
              <a:t>breakpoint hit · PID 48213</a:t>
            </a:r>
            <a:endParaRPr lang="ko-KR" altLang="en-US" sz="1100">
              <a:solidFill>
                <a:srgbClr val="94A3B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0E936B8-69CA-40FC-926D-8772EA77EC2E}"/>
              </a:ext>
            </a:extLst>
          </p:cNvPr>
          <p:cNvSpPr/>
          <p:nvPr/>
        </p:nvSpPr>
        <p:spPr>
          <a:xfrm>
            <a:off x="7874000" y="2667000"/>
            <a:ext cx="3556000" cy="1778000"/>
          </a:xfrm>
          <a:prstGeom prst="rect">
            <a:avLst/>
          </a:prstGeom>
          <a:solidFill>
            <a:srgbClr val="F5F5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525C286-A126-493C-A615-D4C4D69B167C}"/>
              </a:ext>
            </a:extLst>
          </p:cNvPr>
          <p:cNvSpPr/>
          <p:nvPr/>
        </p:nvSpPr>
        <p:spPr>
          <a:xfrm>
            <a:off x="7874000" y="2667000"/>
            <a:ext cx="50800" cy="17780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0F4923-BFAF-445E-92AD-35E4A7ADD1DC}"/>
              </a:ext>
            </a:extLst>
          </p:cNvPr>
          <p:cNvSpPr txBox="1"/>
          <p:nvPr/>
        </p:nvSpPr>
        <p:spPr>
          <a:xfrm>
            <a:off x="8128000" y="28956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Worker</a:t>
            </a:r>
            <a:endParaRPr lang="ko-KR" altLang="en-US" sz="1400" b="1">
              <a:solidFill>
                <a:srgbClr val="0A0A0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D67691C-C908-4AE0-9060-C63C285FDE12}"/>
              </a:ext>
            </a:extLst>
          </p:cNvPr>
          <p:cNvSpPr/>
          <p:nvPr/>
        </p:nvSpPr>
        <p:spPr>
          <a:xfrm>
            <a:off x="8128000" y="3302000"/>
            <a:ext cx="101600" cy="1016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99ED90-70E9-4ECF-B13E-92DCF340FC59}"/>
              </a:ext>
            </a:extLst>
          </p:cNvPr>
          <p:cNvSpPr txBox="1"/>
          <p:nvPr/>
        </p:nvSpPr>
        <p:spPr>
          <a:xfrm>
            <a:off x="8331200" y="3213100"/>
            <a:ext cx="279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10B981"/>
                </a:solidFill>
                <a:latin typeface="Pretendard"/>
                <a:ea typeface="Pretendard"/>
                <a:cs typeface="Pretendard"/>
              </a:rPr>
              <a:t>Debugger attached</a:t>
            </a:r>
            <a:endParaRPr lang="ko-KR" altLang="en-US" sz="1200" b="1">
              <a:solidFill>
                <a:srgbClr val="10B98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C16730E-41D4-432E-A0E8-6E10FF48678B}"/>
              </a:ext>
            </a:extLst>
          </p:cNvPr>
          <p:cNvSpPr/>
          <p:nvPr/>
        </p:nvSpPr>
        <p:spPr>
          <a:xfrm>
            <a:off x="8128000" y="3708400"/>
            <a:ext cx="101600" cy="101600"/>
          </a:xfrm>
          <a:prstGeom prst="rect">
            <a:avLst/>
          </a:prstGeom>
          <a:solidFill>
            <a:srgbClr val="EC48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284046-4450-4A05-93A9-92DF393A118B}"/>
              </a:ext>
            </a:extLst>
          </p:cNvPr>
          <p:cNvSpPr txBox="1"/>
          <p:nvPr/>
        </p:nvSpPr>
        <p:spPr>
          <a:xfrm>
            <a:off x="8331200" y="36195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475569"/>
                </a:solidFill>
                <a:latin typeface="Consolas"/>
              </a:rPr>
              <a:t>app.MapGet("/", ...)</a:t>
            </a:r>
            <a:endParaRPr lang="ko-KR" altLang="en-US" sz="1100">
              <a:solidFill>
                <a:srgbClr val="475569"/>
              </a:solidFill>
              <a:latin typeface="Consola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83421C-BBF8-4E18-8CD9-D7EB6F1D385E}"/>
              </a:ext>
            </a:extLst>
          </p:cNvPr>
          <p:cNvSpPr txBox="1"/>
          <p:nvPr/>
        </p:nvSpPr>
        <p:spPr>
          <a:xfrm>
            <a:off x="8128000" y="40386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94A3B8"/>
                </a:solidFill>
                <a:latin typeface="Pretendard"/>
                <a:ea typeface="Pretendard"/>
                <a:cs typeface="Pretendard"/>
              </a:rPr>
              <a:t>breakpoint hit · PID 48213</a:t>
            </a:r>
            <a:endParaRPr lang="ko-KR" altLang="en-US" sz="1100">
              <a:solidFill>
                <a:srgbClr val="94A3B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AC2A04C-2BC5-4F47-9B96-6335A235AFB4}"/>
              </a:ext>
            </a:extLst>
          </p:cNvPr>
          <p:cNvSpPr/>
          <p:nvPr/>
        </p:nvSpPr>
        <p:spPr>
          <a:xfrm>
            <a:off x="762000" y="4826000"/>
            <a:ext cx="10668000" cy="1320800"/>
          </a:xfrm>
          <a:prstGeom prst="rect">
            <a:avLst/>
          </a:prstGeom>
          <a:solidFill>
            <a:srgbClr val="EEF2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CEC891-E1AE-4E59-BA14-7603E2D49376}"/>
              </a:ext>
            </a:extLst>
          </p:cNvPr>
          <p:cNvSpPr txBox="1"/>
          <p:nvPr/>
        </p:nvSpPr>
        <p:spPr>
          <a:xfrm>
            <a:off x="1016000" y="50546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600" b="1">
                <a:solidFill>
                  <a:srgbClr val="6366F1"/>
                </a:solidFill>
                <a:latin typeface="Pretendard"/>
                <a:ea typeface="Pretendard"/>
                <a:cs typeface="Pretendard"/>
              </a:rPr>
              <a:t>F5 </a:t>
            </a:r>
            <a:r>
              <a:rPr lang="ko-KR" altLang="en-US" sz="1600" b="1">
                <a:solidFill>
                  <a:srgbClr val="6366F1"/>
                </a:solidFill>
                <a:latin typeface="Pretendard"/>
                <a:ea typeface="Pretendard"/>
                <a:cs typeface="Pretendard"/>
              </a:rPr>
              <a:t>한 번으로 전체 시스템을 디버깅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CE7CE6-D2DD-4FF1-9416-604032183D90}"/>
              </a:ext>
            </a:extLst>
          </p:cNvPr>
          <p:cNvSpPr txBox="1"/>
          <p:nvPr/>
        </p:nvSpPr>
        <p:spPr>
          <a:xfrm>
            <a:off x="1016000" y="54102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별도의 </a:t>
            </a:r>
            <a:r>
              <a:rPr lang="en-US" altLang="ko-KR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launch.json </a:t>
            </a:r>
            <a:r>
              <a:rPr lang="ko-KR" altLang="en-US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설정이나 </a:t>
            </a:r>
            <a:r>
              <a:rPr lang="en-US" altLang="ko-KR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attach-to-process </a:t>
            </a:r>
            <a:r>
              <a:rPr lang="ko-KR" altLang="en-US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반복이 필요 없습니다</a:t>
            </a:r>
            <a:r>
              <a:rPr lang="en-US" altLang="ko-KR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300">
              <a:solidFill>
                <a:srgbClr val="47556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637CF2-4ED4-4951-8DF7-BC09CA8CA816}"/>
              </a:ext>
            </a:extLst>
          </p:cNvPr>
          <p:cNvSpPr txBox="1"/>
          <p:nvPr/>
        </p:nvSpPr>
        <p:spPr>
          <a:xfrm>
            <a:off x="1016000" y="56642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→  </a:t>
            </a:r>
            <a:r>
              <a:rPr lang="en-US" altLang="ko-KR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Docker Compose</a:t>
            </a:r>
            <a:r>
              <a:rPr lang="ko-KR" altLang="en-US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의 </a:t>
            </a:r>
            <a:r>
              <a:rPr lang="en-US" altLang="ko-KR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"</a:t>
            </a:r>
            <a:r>
              <a:rPr lang="ko-KR" altLang="en-US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예쁜 대시보드</a:t>
            </a:r>
            <a:r>
              <a:rPr lang="en-US" altLang="ko-KR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" </a:t>
            </a:r>
            <a:r>
              <a:rPr lang="ko-KR" altLang="en-US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이상의</a:t>
            </a:r>
            <a:r>
              <a:rPr lang="en-US" altLang="ko-KR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개발 루프 자체를 바꾸는 기능입니다</a:t>
            </a:r>
            <a:r>
              <a:rPr lang="en-US" altLang="ko-KR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300">
              <a:solidFill>
                <a:srgbClr val="47556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8BD4B2-2853-4740-B405-1C34C735A1E7}"/>
              </a:ext>
            </a:extLst>
          </p:cNvPr>
          <p:cNvSpPr txBox="1"/>
          <p:nvPr/>
        </p:nvSpPr>
        <p:spPr>
          <a:xfrm>
            <a:off x="406400" y="64262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94A3B8"/>
                </a:solidFill>
                <a:latin typeface="Pretendard"/>
                <a:ea typeface="Pretendard"/>
                <a:cs typeface="Pretendard"/>
              </a:rPr>
              <a:t>.NET Universe Busan Edition - 2604</a:t>
            </a:r>
            <a:endParaRPr lang="ko-KR" altLang="en-US" sz="1000">
              <a:solidFill>
                <a:srgbClr val="94A3B8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13554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FB6732-2A10-4186-8115-1AB7DD0C07C7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+mn-ea"/>
                <a:cs typeface="Pretendard"/>
              </a:rPr>
              <a:t>FOUR VIEWS, ONE WORKFLOW</a:t>
            </a:r>
            <a:endParaRPr lang="ko-KR" altLang="en-US" sz="11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39DB59-3688-485A-83F4-CF57789F5E72}"/>
              </a:ext>
            </a:extLst>
          </p:cNvPr>
          <p:cNvSpPr txBox="1"/>
          <p:nvPr/>
        </p:nvSpPr>
        <p:spPr>
          <a:xfrm>
            <a:off x="762000" y="11684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3200" b="1">
                <a:solidFill>
                  <a:srgbClr val="0A0A0A"/>
                </a:solidFill>
                <a:latin typeface="+mn-ea"/>
                <a:cs typeface="Pretendard"/>
              </a:rPr>
              <a:t>Console · Structured · Traces · Metrics</a:t>
            </a:r>
            <a:endParaRPr lang="ko-KR" altLang="en-US" sz="3200" b="1">
              <a:solidFill>
                <a:srgbClr val="0A0A0A"/>
              </a:solidFill>
              <a:latin typeface="+mn-ea"/>
              <a:cs typeface="Pretendard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DAA21E-42BA-42C4-BE83-F3E706E9A6D2}"/>
              </a:ext>
            </a:extLst>
          </p:cNvPr>
          <p:cNvSpPr/>
          <p:nvPr/>
        </p:nvSpPr>
        <p:spPr>
          <a:xfrm>
            <a:off x="762000" y="2032000"/>
            <a:ext cx="50800" cy="16510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A60000-C43D-401C-920F-E37CE339F713}"/>
              </a:ext>
            </a:extLst>
          </p:cNvPr>
          <p:cNvSpPr/>
          <p:nvPr/>
        </p:nvSpPr>
        <p:spPr>
          <a:xfrm>
            <a:off x="812800" y="2032000"/>
            <a:ext cx="5283200" cy="1651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7716AE-1EB8-4FBB-8F85-E7DDAD04AA09}"/>
              </a:ext>
            </a:extLst>
          </p:cNvPr>
          <p:cNvSpPr txBox="1"/>
          <p:nvPr/>
        </p:nvSpPr>
        <p:spPr>
          <a:xfrm>
            <a:off x="1066800" y="2260600"/>
            <a:ext cx="482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6366F1"/>
                </a:solidFill>
                <a:latin typeface="+mn-ea"/>
                <a:cs typeface="Pretendard"/>
              </a:rPr>
              <a:t>CONSOLE LOGS</a:t>
            </a:r>
            <a:endParaRPr lang="ko-KR" altLang="en-US" sz="10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1ACC8F-20D7-4371-AA86-8189809A270A}"/>
              </a:ext>
            </a:extLst>
          </p:cNvPr>
          <p:cNvSpPr txBox="1"/>
          <p:nvPr/>
        </p:nvSpPr>
        <p:spPr>
          <a:xfrm>
            <a:off x="1066800" y="25400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000" b="1" dirty="0" err="1">
                <a:solidFill>
                  <a:srgbClr val="0A0A0A"/>
                </a:solidFill>
                <a:latin typeface="+mn-ea"/>
                <a:cs typeface="Pretendard"/>
              </a:rPr>
              <a:t>stdout</a:t>
            </a:r>
            <a:r>
              <a:rPr lang="en-US" altLang="ko-KR" sz="2000" b="1" dirty="0">
                <a:solidFill>
                  <a:srgbClr val="0A0A0A"/>
                </a:solidFill>
                <a:latin typeface="+mn-ea"/>
                <a:cs typeface="Pretendard"/>
              </a:rPr>
              <a:t> / stderr</a:t>
            </a:r>
            <a:endParaRPr lang="ko-KR" altLang="en-US" sz="2000" b="1" dirty="0">
              <a:solidFill>
                <a:srgbClr val="0A0A0A"/>
              </a:solidFill>
              <a:latin typeface="+mn-ea"/>
              <a:cs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5EB1C1-CF0B-4B70-99AA-50842DEF4DAE}"/>
              </a:ext>
            </a:extLst>
          </p:cNvPr>
          <p:cNvSpPr txBox="1"/>
          <p:nvPr/>
        </p:nvSpPr>
        <p:spPr>
          <a:xfrm>
            <a:off x="1066800" y="2971800"/>
            <a:ext cx="4826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dirty="0">
                <a:solidFill>
                  <a:srgbClr val="475569"/>
                </a:solidFill>
                <a:latin typeface="+mn-ea"/>
                <a:cs typeface="Pretendard"/>
              </a:rPr>
              <a:t>프로세스가 출력하는 원본 로그</a:t>
            </a:r>
            <a:r>
              <a:rPr lang="en-US" altLang="ko-KR" sz="1300" dirty="0">
                <a:solidFill>
                  <a:srgbClr val="475569"/>
                </a:solidFill>
                <a:latin typeface="+mn-ea"/>
                <a:cs typeface="Pretendard"/>
              </a:rPr>
              <a:t>. </a:t>
            </a:r>
            <a:r>
              <a:rPr lang="ko-KR" altLang="en-US" sz="1300" dirty="0">
                <a:solidFill>
                  <a:srgbClr val="475569"/>
                </a:solidFill>
                <a:latin typeface="+mn-ea"/>
                <a:cs typeface="Pretendard"/>
              </a:rPr>
              <a:t>서비스별 </a:t>
            </a:r>
            <a:r>
              <a:rPr lang="en-US" altLang="ko-KR" sz="1300" dirty="0">
                <a:solidFill>
                  <a:srgbClr val="475569"/>
                </a:solidFill>
                <a:latin typeface="+mn-ea"/>
                <a:cs typeface="Pretendard"/>
              </a:rPr>
              <a:t>· </a:t>
            </a:r>
            <a:r>
              <a:rPr lang="ko-KR" altLang="en-US" sz="1300" dirty="0">
                <a:solidFill>
                  <a:srgbClr val="475569"/>
                </a:solidFill>
                <a:latin typeface="+mn-ea"/>
                <a:cs typeface="Pretendard"/>
              </a:rPr>
              <a:t>시간순으로 즉시 확인</a:t>
            </a:r>
            <a:r>
              <a:rPr lang="en-US" altLang="ko-KR" sz="1300" dirty="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300" dirty="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AD1426-D7E2-41EE-BE06-5827E75CA2E2}"/>
              </a:ext>
            </a:extLst>
          </p:cNvPr>
          <p:cNvSpPr/>
          <p:nvPr/>
        </p:nvSpPr>
        <p:spPr>
          <a:xfrm>
            <a:off x="6350000" y="2032000"/>
            <a:ext cx="50800" cy="1651000"/>
          </a:xfrm>
          <a:prstGeom prst="rect">
            <a:avLst/>
          </a:prstGeom>
          <a:solidFill>
            <a:srgbClr val="EC48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3FC3B7-60C7-4673-89B3-9C674CF62389}"/>
              </a:ext>
            </a:extLst>
          </p:cNvPr>
          <p:cNvSpPr/>
          <p:nvPr/>
        </p:nvSpPr>
        <p:spPr>
          <a:xfrm>
            <a:off x="6400800" y="2032000"/>
            <a:ext cx="5283200" cy="1651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7CA94D-B561-4661-9DAE-C5932F5A8604}"/>
              </a:ext>
            </a:extLst>
          </p:cNvPr>
          <p:cNvSpPr txBox="1"/>
          <p:nvPr/>
        </p:nvSpPr>
        <p:spPr>
          <a:xfrm>
            <a:off x="6654800" y="2260600"/>
            <a:ext cx="482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EC4899"/>
                </a:solidFill>
                <a:latin typeface="+mn-ea"/>
                <a:cs typeface="Pretendard"/>
              </a:rPr>
              <a:t>STRUCTURED LOGS</a:t>
            </a:r>
            <a:endParaRPr lang="ko-KR" altLang="en-US" sz="1000" b="1">
              <a:solidFill>
                <a:srgbClr val="EC4899"/>
              </a:solidFill>
              <a:latin typeface="+mn-ea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0F699E-D4A4-460F-9EEB-ADE7870CDC70}"/>
              </a:ext>
            </a:extLst>
          </p:cNvPr>
          <p:cNvSpPr txBox="1"/>
          <p:nvPr/>
        </p:nvSpPr>
        <p:spPr>
          <a:xfrm>
            <a:off x="6654800" y="25400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>
                <a:solidFill>
                  <a:srgbClr val="0A0A0A"/>
                </a:solidFill>
                <a:latin typeface="+mn-ea"/>
                <a:cs typeface="Pretendard"/>
              </a:rPr>
              <a:t>필터 가능한 이벤트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C33AD3-DC88-47A9-B0FE-CC1CF979F851}"/>
              </a:ext>
            </a:extLst>
          </p:cNvPr>
          <p:cNvSpPr txBox="1"/>
          <p:nvPr/>
        </p:nvSpPr>
        <p:spPr>
          <a:xfrm>
            <a:off x="6654800" y="2971800"/>
            <a:ext cx="4826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서비스 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· </a:t>
            </a:r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레벨 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· </a:t>
            </a:r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카테고리 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· </a:t>
            </a:r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속성으로 검색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. </a:t>
            </a:r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문제를 빠르게 좁힌다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3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63863AA-2BFD-4CF4-8E85-E0CFAC4ADE5B}"/>
              </a:ext>
            </a:extLst>
          </p:cNvPr>
          <p:cNvSpPr/>
          <p:nvPr/>
        </p:nvSpPr>
        <p:spPr>
          <a:xfrm>
            <a:off x="762000" y="3937000"/>
            <a:ext cx="50800" cy="16510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C1F8BA-F2E6-4AF9-BAD1-63BF7EFF66A1}"/>
              </a:ext>
            </a:extLst>
          </p:cNvPr>
          <p:cNvSpPr/>
          <p:nvPr/>
        </p:nvSpPr>
        <p:spPr>
          <a:xfrm>
            <a:off x="812800" y="3937000"/>
            <a:ext cx="5283200" cy="1651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FE3805-54AC-4FDF-81A5-757D9EEB6A5F}"/>
              </a:ext>
            </a:extLst>
          </p:cNvPr>
          <p:cNvSpPr txBox="1"/>
          <p:nvPr/>
        </p:nvSpPr>
        <p:spPr>
          <a:xfrm>
            <a:off x="1066800" y="4165600"/>
            <a:ext cx="482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10B981"/>
                </a:solidFill>
                <a:latin typeface="+mn-ea"/>
                <a:cs typeface="Pretendard"/>
              </a:rPr>
              <a:t>TRACES</a:t>
            </a:r>
            <a:endParaRPr lang="ko-KR" altLang="en-US" sz="1000" b="1">
              <a:solidFill>
                <a:srgbClr val="10B981"/>
              </a:solidFill>
              <a:latin typeface="+mn-ea"/>
              <a:cs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D87443-7D81-469F-AE3B-A65AD852B31F}"/>
              </a:ext>
            </a:extLst>
          </p:cNvPr>
          <p:cNvSpPr txBox="1"/>
          <p:nvPr/>
        </p:nvSpPr>
        <p:spPr>
          <a:xfrm>
            <a:off x="1066800" y="44450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>
                <a:solidFill>
                  <a:srgbClr val="0A0A0A"/>
                </a:solidFill>
                <a:latin typeface="+mn-ea"/>
                <a:cs typeface="Pretendard"/>
              </a:rPr>
              <a:t>요청 타임라인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4AA095-4BEE-4F75-A3EE-588E679AB6EB}"/>
              </a:ext>
            </a:extLst>
          </p:cNvPr>
          <p:cNvSpPr txBox="1"/>
          <p:nvPr/>
        </p:nvSpPr>
        <p:spPr>
          <a:xfrm>
            <a:off x="1066800" y="4876800"/>
            <a:ext cx="4826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HTTP → DB → </a:t>
            </a:r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외부 호출의 흐름을 스팬으로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. </a:t>
            </a:r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병목을 그림으로 본다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3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DD19CEE-2ECC-485E-BE26-F9B6FF59E3AC}"/>
              </a:ext>
            </a:extLst>
          </p:cNvPr>
          <p:cNvSpPr/>
          <p:nvPr/>
        </p:nvSpPr>
        <p:spPr>
          <a:xfrm>
            <a:off x="6350000" y="3937000"/>
            <a:ext cx="50800" cy="16510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1704652-0A3D-4695-A7D4-636A78CC3D96}"/>
              </a:ext>
            </a:extLst>
          </p:cNvPr>
          <p:cNvSpPr/>
          <p:nvPr/>
        </p:nvSpPr>
        <p:spPr>
          <a:xfrm>
            <a:off x="6400800" y="3937000"/>
            <a:ext cx="5283200" cy="1651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7F5549-A447-46B6-9E05-97DA0588C38E}"/>
              </a:ext>
            </a:extLst>
          </p:cNvPr>
          <p:cNvSpPr txBox="1"/>
          <p:nvPr/>
        </p:nvSpPr>
        <p:spPr>
          <a:xfrm>
            <a:off x="6654800" y="4165600"/>
            <a:ext cx="482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F59E0B"/>
                </a:solidFill>
                <a:latin typeface="+mn-ea"/>
                <a:cs typeface="Pretendard"/>
              </a:rPr>
              <a:t>METRICS</a:t>
            </a:r>
            <a:endParaRPr lang="ko-KR" altLang="en-US" sz="1000" b="1">
              <a:solidFill>
                <a:srgbClr val="F59E0B"/>
              </a:solidFill>
              <a:latin typeface="+mn-ea"/>
              <a:cs typeface="Pretendar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02EF2B-F618-4747-975A-6E47B5700B81}"/>
              </a:ext>
            </a:extLst>
          </p:cNvPr>
          <p:cNvSpPr txBox="1"/>
          <p:nvPr/>
        </p:nvSpPr>
        <p:spPr>
          <a:xfrm>
            <a:off x="6654800" y="44450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>
                <a:solidFill>
                  <a:srgbClr val="0A0A0A"/>
                </a:solidFill>
                <a:latin typeface="+mn-ea"/>
                <a:cs typeface="Pretendard"/>
              </a:rPr>
              <a:t>실시간 지표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9F3764-ADC6-46F7-AB82-E7483CFE8AAD}"/>
              </a:ext>
            </a:extLst>
          </p:cNvPr>
          <p:cNvSpPr txBox="1"/>
          <p:nvPr/>
        </p:nvSpPr>
        <p:spPr>
          <a:xfrm>
            <a:off x="6654800" y="4876800"/>
            <a:ext cx="4826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요청 수 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· </a:t>
            </a:r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지연 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· GC · </a:t>
            </a:r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메모리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. </a:t>
            </a:r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시스템의 맥을 숫자로 확인한다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3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44D72D-4760-22AE-D27A-7AFB9017CD7E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Universe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Busan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Edition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-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2604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FF152B0-9FFB-6457-5E99-C94B268871F6}"/>
              </a:ext>
            </a:extLst>
          </p:cNvPr>
          <p:cNvSpPr/>
          <p:nvPr/>
        </p:nvSpPr>
        <p:spPr>
          <a:xfrm>
            <a:off x="857250" y="89535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41259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15A094D-FD3C-4AA0-87DC-C0720655A3C3}"/>
              </a:ext>
            </a:extLst>
          </p:cNvPr>
          <p:cNvSpPr/>
          <p:nvPr/>
        </p:nvSpPr>
        <p:spPr>
          <a:xfrm>
            <a:off x="863600" y="901700"/>
            <a:ext cx="304800" cy="254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FABEB9-D94A-4B0C-8F42-C75790BCF559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F59E0B"/>
                </a:solidFill>
                <a:latin typeface="Pretendard"/>
                <a:ea typeface="Pretendard"/>
                <a:cs typeface="Pretendard"/>
              </a:rPr>
              <a:t>HONEST NOTES</a:t>
            </a:r>
            <a:endParaRPr lang="ko-KR" altLang="en-US" sz="1100" b="1">
              <a:solidFill>
                <a:srgbClr val="F59E0B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57445A-29A8-4819-BA9E-54CD751C91D9}"/>
              </a:ext>
            </a:extLst>
          </p:cNvPr>
          <p:cNvSpPr txBox="1"/>
          <p:nvPr/>
        </p:nvSpPr>
        <p:spPr>
          <a:xfrm>
            <a:off x="762000" y="1168400"/>
            <a:ext cx="10668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6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알고 시작하면 좋은 것들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C48754-A615-49E5-BFE9-30D466BC0CB5}"/>
              </a:ext>
            </a:extLst>
          </p:cNvPr>
          <p:cNvSpPr txBox="1"/>
          <p:nvPr/>
        </p:nvSpPr>
        <p:spPr>
          <a:xfrm>
            <a:off x="762000" y="2032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Aspire</a:t>
            </a:r>
            <a:r>
              <a:rPr lang="ko-KR" altLang="en-US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는 강력하지만 아직 자라는 중인 생태계입니다</a:t>
            </a:r>
            <a:r>
              <a:rPr lang="en-US" altLang="ko-KR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lang="ko-KR" altLang="en-US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다음 세 지점은 미리 알고 계시면 도움이 됩니다</a:t>
            </a:r>
            <a:r>
              <a:rPr lang="en-US" altLang="ko-KR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400">
              <a:solidFill>
                <a:srgbClr val="47556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039811-C79B-4BB6-9263-4331669188CE}"/>
              </a:ext>
            </a:extLst>
          </p:cNvPr>
          <p:cNvSpPr/>
          <p:nvPr/>
        </p:nvSpPr>
        <p:spPr>
          <a:xfrm>
            <a:off x="762000" y="2794000"/>
            <a:ext cx="10668000" cy="1016000"/>
          </a:xfrm>
          <a:prstGeom prst="rect">
            <a:avLst/>
          </a:prstGeom>
          <a:solidFill>
            <a:srgbClr val="FFFB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BA17ABE-B25E-4FD9-AFC0-04B97C98728B}"/>
              </a:ext>
            </a:extLst>
          </p:cNvPr>
          <p:cNvSpPr/>
          <p:nvPr/>
        </p:nvSpPr>
        <p:spPr>
          <a:xfrm>
            <a:off x="762000" y="2794000"/>
            <a:ext cx="50800" cy="10160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070AFF-8E51-498A-826E-46D05A13A59F}"/>
              </a:ext>
            </a:extLst>
          </p:cNvPr>
          <p:cNvSpPr txBox="1"/>
          <p:nvPr/>
        </p:nvSpPr>
        <p:spPr>
          <a:xfrm>
            <a:off x="1066800" y="2971800"/>
            <a:ext cx="914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컨테이너 런타임 의존성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5410A3-4D2F-4D2D-9BFC-3C26ACBBDEB9}"/>
              </a:ext>
            </a:extLst>
          </p:cNvPr>
          <p:cNvSpPr txBox="1"/>
          <p:nvPr/>
        </p:nvSpPr>
        <p:spPr>
          <a:xfrm>
            <a:off x="1066800" y="3276600"/>
            <a:ext cx="1016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dirty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DCP</a:t>
            </a:r>
            <a:r>
              <a:rPr lang="ko-KR" altLang="en-US" sz="1300" dirty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는 </a:t>
            </a:r>
            <a:r>
              <a:rPr lang="en-US" altLang="ko-KR" sz="1300" dirty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Docker </a:t>
            </a:r>
            <a:r>
              <a:rPr lang="ko-KR" altLang="en-US" sz="1300" dirty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또는 </a:t>
            </a:r>
            <a:r>
              <a:rPr lang="en-US" altLang="ko-KR" sz="13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Podman</a:t>
            </a:r>
            <a:r>
              <a:rPr lang="ko-KR" altLang="en-US" sz="1300" dirty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이 필요합니다</a:t>
            </a:r>
            <a:r>
              <a:rPr lang="en-US" altLang="ko-KR" sz="1300" dirty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. Docker Desktop </a:t>
            </a:r>
            <a:r>
              <a:rPr lang="ko-KR" altLang="en-US" sz="1300" dirty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라이선스 이슈가 있다면 </a:t>
            </a:r>
            <a:r>
              <a:rPr lang="en-US" altLang="ko-KR" sz="1300" dirty="0" err="1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Podman</a:t>
            </a:r>
            <a:r>
              <a:rPr lang="en-US" altLang="ko-KR" sz="1300" dirty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 Desktop</a:t>
            </a:r>
            <a:r>
              <a:rPr lang="ko-KR" altLang="en-US" sz="1300" dirty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으로 전환 가능하지만</a:t>
            </a:r>
            <a:r>
              <a:rPr lang="en-US" altLang="ko-KR" sz="1300" dirty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300" dirty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일부 기능의 동작이 다를 수 있습니다</a:t>
            </a:r>
            <a:r>
              <a:rPr lang="en-US" altLang="ko-KR" sz="1300" dirty="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300" dirty="0">
              <a:solidFill>
                <a:srgbClr val="47556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D3294A2-BF79-4BA1-86BC-748C82878BE0}"/>
              </a:ext>
            </a:extLst>
          </p:cNvPr>
          <p:cNvSpPr/>
          <p:nvPr/>
        </p:nvSpPr>
        <p:spPr>
          <a:xfrm>
            <a:off x="762000" y="3962400"/>
            <a:ext cx="10668000" cy="1016000"/>
          </a:xfrm>
          <a:prstGeom prst="rect">
            <a:avLst/>
          </a:prstGeom>
          <a:solidFill>
            <a:srgbClr val="FFFB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3B6FDAD-3B0E-4DC6-A344-BB0F8E3FA0A2}"/>
              </a:ext>
            </a:extLst>
          </p:cNvPr>
          <p:cNvSpPr/>
          <p:nvPr/>
        </p:nvSpPr>
        <p:spPr>
          <a:xfrm>
            <a:off x="762000" y="3962400"/>
            <a:ext cx="50800" cy="10160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08E962-0F07-4290-AA0E-4E62140CF3DB}"/>
              </a:ext>
            </a:extLst>
          </p:cNvPr>
          <p:cNvSpPr txBox="1"/>
          <p:nvPr/>
        </p:nvSpPr>
        <p:spPr>
          <a:xfrm>
            <a:off x="1066800" y="4140200"/>
            <a:ext cx="914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5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플랫폼별 성숙도 차이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C9739E-D4F4-464D-818B-ADC7C4F6D6C4}"/>
              </a:ext>
            </a:extLst>
          </p:cNvPr>
          <p:cNvSpPr txBox="1"/>
          <p:nvPr/>
        </p:nvSpPr>
        <p:spPr>
          <a:xfrm>
            <a:off x="1066800" y="4445000"/>
            <a:ext cx="1016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macOS ARM64</a:t>
            </a:r>
            <a:r>
              <a:rPr lang="ko-KR" altLang="en-US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에서 일부 리소스 타입</a:t>
            </a:r>
            <a:r>
              <a:rPr lang="en-US" altLang="ko-KR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특정 컨테이너 이미지</a:t>
            </a:r>
            <a:r>
              <a:rPr lang="en-US" altLang="ko-KR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네이티브 통합</a:t>
            </a:r>
            <a:r>
              <a:rPr lang="en-US" altLang="ko-KR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ko-KR" altLang="en-US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의 경험이 </a:t>
            </a:r>
            <a:r>
              <a:rPr lang="en-US" altLang="ko-KR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x64/Windows</a:t>
            </a:r>
            <a:r>
              <a:rPr lang="ko-KR" altLang="en-US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보다 거칠 수 있습니다</a:t>
            </a:r>
            <a:r>
              <a:rPr lang="en-US" altLang="ko-KR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300">
              <a:solidFill>
                <a:srgbClr val="47556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F7D549E-6E6B-4827-BF89-DE5505A7E053}"/>
              </a:ext>
            </a:extLst>
          </p:cNvPr>
          <p:cNvSpPr/>
          <p:nvPr/>
        </p:nvSpPr>
        <p:spPr>
          <a:xfrm>
            <a:off x="762000" y="5130800"/>
            <a:ext cx="10668000" cy="1016000"/>
          </a:xfrm>
          <a:prstGeom prst="rect">
            <a:avLst/>
          </a:prstGeom>
          <a:solidFill>
            <a:srgbClr val="FFFB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D44F3BF-3D1C-4451-A83C-CCDD96A2ABEE}"/>
              </a:ext>
            </a:extLst>
          </p:cNvPr>
          <p:cNvSpPr/>
          <p:nvPr/>
        </p:nvSpPr>
        <p:spPr>
          <a:xfrm>
            <a:off x="762000" y="5130800"/>
            <a:ext cx="50800" cy="10160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A1FA31-C523-45DE-91AC-4CF1EEE373F8}"/>
              </a:ext>
            </a:extLst>
          </p:cNvPr>
          <p:cNvSpPr txBox="1"/>
          <p:nvPr/>
        </p:nvSpPr>
        <p:spPr>
          <a:xfrm>
            <a:off x="1066800" y="5308600"/>
            <a:ext cx="914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Publish </a:t>
            </a:r>
            <a:r>
              <a:rPr lang="ko-KR" altLang="en-US" sz="15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매핑의 여백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C64749-CAE2-49F0-8718-347444F7DFF5}"/>
              </a:ext>
            </a:extLst>
          </p:cNvPr>
          <p:cNvSpPr txBox="1"/>
          <p:nvPr/>
        </p:nvSpPr>
        <p:spPr>
          <a:xfrm>
            <a:off x="1066800" y="5613400"/>
            <a:ext cx="1016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aspire publish</a:t>
            </a:r>
            <a:r>
              <a:rPr lang="ko-KR" altLang="en-US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로 생성되는 </a:t>
            </a:r>
            <a:r>
              <a:rPr lang="en-US" altLang="ko-KR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manifest</a:t>
            </a:r>
            <a:r>
              <a:rPr lang="ko-KR" altLang="en-US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의 </a:t>
            </a:r>
            <a:r>
              <a:rPr lang="en-US" altLang="ko-KR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Kubernetes·Helm </a:t>
            </a:r>
            <a:r>
              <a:rPr lang="ko-KR" altLang="en-US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매핑은 아직 진화 중입니다</a:t>
            </a:r>
            <a:r>
              <a:rPr lang="en-US" altLang="ko-KR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lang="ko-KR" altLang="en-US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프로덕션에서는 생성물 검토가 필요합니다</a:t>
            </a:r>
            <a:r>
              <a:rPr lang="en-US" altLang="ko-KR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300">
              <a:solidFill>
                <a:srgbClr val="47556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620A3E-DEF6-4BED-BD22-1FE79B8FCFD7}"/>
              </a:ext>
            </a:extLst>
          </p:cNvPr>
          <p:cNvSpPr txBox="1"/>
          <p:nvPr/>
        </p:nvSpPr>
        <p:spPr>
          <a:xfrm>
            <a:off x="406400" y="64262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94A3B8"/>
                </a:solidFill>
                <a:latin typeface="Pretendard"/>
                <a:ea typeface="Pretendard"/>
                <a:cs typeface="Pretendard"/>
              </a:rPr>
              <a:t>.NET Universe Busan Edition - 2604</a:t>
            </a:r>
            <a:endParaRPr lang="ko-KR" altLang="en-US" sz="1000">
              <a:solidFill>
                <a:srgbClr val="94A3B8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120456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DFABA55-DFE7-4FFB-AC29-C4B24437A3CE}"/>
              </a:ext>
            </a:extLst>
          </p:cNvPr>
          <p:cNvSpPr/>
          <p:nvPr/>
        </p:nvSpPr>
        <p:spPr>
          <a:xfrm>
            <a:off x="863600" y="90170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549F12-5971-4090-9877-3A93E9643179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Pretendard"/>
                <a:ea typeface="Pretendard"/>
                <a:cs typeface="Pretendard"/>
              </a:rPr>
              <a:t>DEPLOYMENT MODEL</a:t>
            </a:r>
            <a:endParaRPr lang="ko-KR" altLang="en-US" sz="1100" b="1">
              <a:solidFill>
                <a:srgbClr val="6366F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0B8F1A-AE08-494A-A688-4E61A969B06E}"/>
              </a:ext>
            </a:extLst>
          </p:cNvPr>
          <p:cNvSpPr txBox="1"/>
          <p:nvPr/>
        </p:nvSpPr>
        <p:spPr>
          <a:xfrm>
            <a:off x="762000" y="1168400"/>
            <a:ext cx="10668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36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IR </a:t>
            </a:r>
            <a:r>
              <a:rPr lang="ko-KR" altLang="en-US" sz="36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기반 배포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37854D-F58D-4C45-9003-EAED6FC63C9D}"/>
              </a:ext>
            </a:extLst>
          </p:cNvPr>
          <p:cNvSpPr txBox="1"/>
          <p:nvPr/>
        </p:nvSpPr>
        <p:spPr>
          <a:xfrm>
            <a:off x="762000" y="2032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AppHost </a:t>
            </a:r>
            <a:r>
              <a:rPr lang="ko-KR" altLang="en-US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모델을 </a:t>
            </a:r>
            <a:r>
              <a:rPr lang="en-US" altLang="ko-KR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publish</a:t>
            </a:r>
            <a:r>
              <a:rPr lang="ko-KR" altLang="en-US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하면 중간 표현</a:t>
            </a:r>
            <a:r>
              <a:rPr lang="en-US" altLang="ko-KR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(manifest.json)</a:t>
            </a:r>
            <a:r>
              <a:rPr lang="ko-KR" altLang="en-US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이 나오고</a:t>
            </a:r>
            <a:r>
              <a:rPr lang="en-US" altLang="ko-KR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여기서 각 타겟 아티팩트가 생성됩니다</a:t>
            </a:r>
            <a:r>
              <a:rPr lang="en-US" altLang="ko-KR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400">
              <a:solidFill>
                <a:srgbClr val="47556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4E02F20-C63F-4B3C-BDDE-7CC6C170B168}"/>
              </a:ext>
            </a:extLst>
          </p:cNvPr>
          <p:cNvSpPr/>
          <p:nvPr/>
        </p:nvSpPr>
        <p:spPr>
          <a:xfrm>
            <a:off x="762000" y="2794000"/>
            <a:ext cx="3556000" cy="762000"/>
          </a:xfrm>
          <a:prstGeom prst="rect">
            <a:avLst/>
          </a:prstGeom>
          <a:solidFill>
            <a:srgbClr val="EEF2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7DAD1F-8EC2-42C9-B12C-13FF4448C953}"/>
              </a:ext>
            </a:extLst>
          </p:cNvPr>
          <p:cNvSpPr txBox="1"/>
          <p:nvPr/>
        </p:nvSpPr>
        <p:spPr>
          <a:xfrm>
            <a:off x="1016000" y="29464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6366F1"/>
                </a:solidFill>
                <a:latin typeface="Pretendard"/>
                <a:ea typeface="Pretendard"/>
                <a:cs typeface="Pretendard"/>
              </a:rPr>
              <a:t>AppHost </a:t>
            </a:r>
            <a:r>
              <a:rPr lang="ko-KR" altLang="en-US" sz="1300" b="1">
                <a:solidFill>
                  <a:srgbClr val="6366F1"/>
                </a:solidFill>
                <a:latin typeface="Pretendard"/>
                <a:ea typeface="Pretendard"/>
                <a:cs typeface="Pretendard"/>
              </a:rPr>
              <a:t>모델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DF070C-06A9-43A4-8709-2AC43050E706}"/>
              </a:ext>
            </a:extLst>
          </p:cNvPr>
          <p:cNvSpPr txBox="1"/>
          <p:nvPr/>
        </p:nvSpPr>
        <p:spPr>
          <a:xfrm>
            <a:off x="1016000" y="32258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C# </a:t>
            </a:r>
            <a:r>
              <a:rPr lang="ko-KR" altLang="en-US" sz="11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코드로 선언된 분산 시스템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A56708-70C7-42D6-B568-564A1295623C}"/>
              </a:ext>
            </a:extLst>
          </p:cNvPr>
          <p:cNvSpPr txBox="1"/>
          <p:nvPr/>
        </p:nvSpPr>
        <p:spPr>
          <a:xfrm>
            <a:off x="762000" y="36830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94A3B8"/>
                </a:solidFill>
                <a:latin typeface="Pretendard"/>
                <a:ea typeface="Pretendard"/>
                <a:cs typeface="Pretendard"/>
              </a:rPr>
              <a:t>↓  aspire publish</a:t>
            </a:r>
            <a:endParaRPr lang="ko-KR" altLang="en-US" sz="1200" b="1">
              <a:solidFill>
                <a:srgbClr val="94A3B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D773122-240E-494B-B2F3-CFF9186121BE}"/>
              </a:ext>
            </a:extLst>
          </p:cNvPr>
          <p:cNvSpPr/>
          <p:nvPr/>
        </p:nvSpPr>
        <p:spPr>
          <a:xfrm>
            <a:off x="762000" y="4064000"/>
            <a:ext cx="3556000" cy="762000"/>
          </a:xfrm>
          <a:prstGeom prst="rect">
            <a:avLst/>
          </a:prstGeom>
          <a:solidFill>
            <a:srgbClr val="0A0A0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AD62BF-FE3F-4211-A283-6D914127FDA3}"/>
              </a:ext>
            </a:extLst>
          </p:cNvPr>
          <p:cNvSpPr txBox="1"/>
          <p:nvPr/>
        </p:nvSpPr>
        <p:spPr>
          <a:xfrm>
            <a:off x="1016000" y="42164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  <a:latin typeface="Consolas"/>
              </a:rPr>
              <a:t>manifest.json</a:t>
            </a:r>
            <a:endParaRPr lang="ko-KR" altLang="en-US" sz="13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EC0985-A102-46BE-A5B8-454A25BA709A}"/>
              </a:ext>
            </a:extLst>
          </p:cNvPr>
          <p:cNvSpPr txBox="1"/>
          <p:nvPr/>
        </p:nvSpPr>
        <p:spPr>
          <a:xfrm>
            <a:off x="1016000" y="4495800"/>
            <a:ext cx="304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94A3B8"/>
                </a:solidFill>
                <a:latin typeface="Pretendard"/>
                <a:ea typeface="Pretendard"/>
                <a:cs typeface="Pretendard"/>
              </a:rPr>
              <a:t>중간 표현 </a:t>
            </a:r>
            <a:r>
              <a:rPr lang="en-US" altLang="ko-KR" sz="1100">
                <a:solidFill>
                  <a:srgbClr val="94A3B8"/>
                </a:solidFill>
                <a:latin typeface="Pretendard"/>
                <a:ea typeface="Pretendard"/>
                <a:cs typeface="Pretendard"/>
              </a:rPr>
              <a:t>(IR)</a:t>
            </a:r>
            <a:endParaRPr lang="ko-KR" altLang="en-US" sz="1100">
              <a:solidFill>
                <a:srgbClr val="94A3B8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EC9287-0EEF-431D-9083-1985531AA1BA}"/>
              </a:ext>
            </a:extLst>
          </p:cNvPr>
          <p:cNvSpPr txBox="1"/>
          <p:nvPr/>
        </p:nvSpPr>
        <p:spPr>
          <a:xfrm>
            <a:off x="4445000" y="4318000"/>
            <a:ext cx="38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b="1">
                <a:solidFill>
                  <a:srgbClr val="94A3B8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7C5C10D-A5C8-45F4-99D0-433FCDB40E03}"/>
              </a:ext>
            </a:extLst>
          </p:cNvPr>
          <p:cNvSpPr/>
          <p:nvPr/>
        </p:nvSpPr>
        <p:spPr>
          <a:xfrm>
            <a:off x="4953000" y="2794000"/>
            <a:ext cx="6477000" cy="457200"/>
          </a:xfrm>
          <a:prstGeom prst="rect">
            <a:avLst/>
          </a:prstGeom>
          <a:solidFill>
            <a:srgbClr val="F5F5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907B298-C885-42BA-8448-6E9ED4273610}"/>
              </a:ext>
            </a:extLst>
          </p:cNvPr>
          <p:cNvSpPr/>
          <p:nvPr/>
        </p:nvSpPr>
        <p:spPr>
          <a:xfrm>
            <a:off x="4953000" y="2794000"/>
            <a:ext cx="38100" cy="4572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F41E8A-BB67-489B-B671-F53B71DD229D}"/>
              </a:ext>
            </a:extLst>
          </p:cNvPr>
          <p:cNvSpPr txBox="1"/>
          <p:nvPr/>
        </p:nvSpPr>
        <p:spPr>
          <a:xfrm>
            <a:off x="5181600" y="2882900"/>
            <a:ext cx="355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Docker Compose</a:t>
            </a:r>
            <a:endParaRPr lang="ko-KR" altLang="en-US" sz="1300" b="1">
              <a:solidFill>
                <a:srgbClr val="0A0A0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77764E-BBC4-41A1-AB19-5E9F832ED6D8}"/>
              </a:ext>
            </a:extLst>
          </p:cNvPr>
          <p:cNvSpPr txBox="1"/>
          <p:nvPr/>
        </p:nvSpPr>
        <p:spPr>
          <a:xfrm>
            <a:off x="8763000" y="28829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64748B"/>
                </a:solidFill>
                <a:latin typeface="Consolas"/>
              </a:rPr>
              <a:t>docker-compose.yml</a:t>
            </a:r>
            <a:endParaRPr lang="ko-KR" altLang="en-US" sz="1100">
              <a:solidFill>
                <a:srgbClr val="64748B"/>
              </a:solidFill>
              <a:latin typeface="Consola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7D432E2-EF35-4654-8ACF-B3C370099082}"/>
              </a:ext>
            </a:extLst>
          </p:cNvPr>
          <p:cNvSpPr/>
          <p:nvPr/>
        </p:nvSpPr>
        <p:spPr>
          <a:xfrm>
            <a:off x="4953000" y="3352800"/>
            <a:ext cx="6477000" cy="457200"/>
          </a:xfrm>
          <a:prstGeom prst="rect">
            <a:avLst/>
          </a:prstGeom>
          <a:solidFill>
            <a:srgbClr val="F5F5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6FA0160-C56E-46FE-A4C7-E7C60C2E6EBE}"/>
              </a:ext>
            </a:extLst>
          </p:cNvPr>
          <p:cNvSpPr/>
          <p:nvPr/>
        </p:nvSpPr>
        <p:spPr>
          <a:xfrm>
            <a:off x="4953000" y="3352800"/>
            <a:ext cx="38100" cy="4572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781114-E0F1-41F4-9673-1DE3F1A34B2F}"/>
              </a:ext>
            </a:extLst>
          </p:cNvPr>
          <p:cNvSpPr txBox="1"/>
          <p:nvPr/>
        </p:nvSpPr>
        <p:spPr>
          <a:xfrm>
            <a:off x="5181600" y="3441700"/>
            <a:ext cx="355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Kubernetes / Helm</a:t>
            </a:r>
            <a:endParaRPr lang="ko-KR" altLang="en-US" sz="1300" b="1">
              <a:solidFill>
                <a:srgbClr val="0A0A0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13BA45-6233-441A-9D3E-2C37A363F4AA}"/>
              </a:ext>
            </a:extLst>
          </p:cNvPr>
          <p:cNvSpPr txBox="1"/>
          <p:nvPr/>
        </p:nvSpPr>
        <p:spPr>
          <a:xfrm>
            <a:off x="8763000" y="34417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64748B"/>
                </a:solidFill>
                <a:latin typeface="Consolas"/>
              </a:rPr>
              <a:t>manifest · chart</a:t>
            </a:r>
            <a:endParaRPr lang="ko-KR" altLang="en-US" sz="1100">
              <a:solidFill>
                <a:srgbClr val="64748B"/>
              </a:solidFill>
              <a:latin typeface="Consola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0272242-E3FD-4024-ABE3-74D724C3DFC3}"/>
              </a:ext>
            </a:extLst>
          </p:cNvPr>
          <p:cNvSpPr/>
          <p:nvPr/>
        </p:nvSpPr>
        <p:spPr>
          <a:xfrm>
            <a:off x="4953000" y="3911600"/>
            <a:ext cx="6477000" cy="457200"/>
          </a:xfrm>
          <a:prstGeom prst="rect">
            <a:avLst/>
          </a:prstGeom>
          <a:solidFill>
            <a:srgbClr val="F5F5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6ACC273-2279-4515-B6CE-BCB863E52C9C}"/>
              </a:ext>
            </a:extLst>
          </p:cNvPr>
          <p:cNvSpPr/>
          <p:nvPr/>
        </p:nvSpPr>
        <p:spPr>
          <a:xfrm>
            <a:off x="4953000" y="3911600"/>
            <a:ext cx="38100" cy="4572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30A1BD-821B-4808-B047-4FA687CC5456}"/>
              </a:ext>
            </a:extLst>
          </p:cNvPr>
          <p:cNvSpPr txBox="1"/>
          <p:nvPr/>
        </p:nvSpPr>
        <p:spPr>
          <a:xfrm>
            <a:off x="5181600" y="4000500"/>
            <a:ext cx="355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Azure Container Apps</a:t>
            </a:r>
            <a:endParaRPr lang="ko-KR" altLang="en-US" sz="1300" b="1">
              <a:solidFill>
                <a:srgbClr val="0A0A0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D7C83C-85AA-4C68-81B7-E38CFBB6B43E}"/>
              </a:ext>
            </a:extLst>
          </p:cNvPr>
          <p:cNvSpPr txBox="1"/>
          <p:nvPr/>
        </p:nvSpPr>
        <p:spPr>
          <a:xfrm>
            <a:off x="8763000" y="40005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>
                <a:solidFill>
                  <a:srgbClr val="64748B"/>
                </a:solidFill>
                <a:latin typeface="Consolas"/>
              </a:rPr>
              <a:t>Bicep </a:t>
            </a:r>
            <a:r>
              <a:rPr lang="ko-KR" altLang="en-US" sz="1100">
                <a:solidFill>
                  <a:srgbClr val="64748B"/>
                </a:solidFill>
                <a:latin typeface="Consolas"/>
              </a:rPr>
              <a:t>템플릿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E5B8AB0-7CAB-47B7-B39C-ABBD0B16A5F0}"/>
              </a:ext>
            </a:extLst>
          </p:cNvPr>
          <p:cNvSpPr/>
          <p:nvPr/>
        </p:nvSpPr>
        <p:spPr>
          <a:xfrm>
            <a:off x="4953000" y="4470400"/>
            <a:ext cx="6477000" cy="457200"/>
          </a:xfrm>
          <a:prstGeom prst="rect">
            <a:avLst/>
          </a:prstGeom>
          <a:solidFill>
            <a:srgbClr val="F5F5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FE2E7FB-B47E-4064-811F-BB9DE8520179}"/>
              </a:ext>
            </a:extLst>
          </p:cNvPr>
          <p:cNvSpPr/>
          <p:nvPr/>
        </p:nvSpPr>
        <p:spPr>
          <a:xfrm>
            <a:off x="4953000" y="4470400"/>
            <a:ext cx="38100" cy="4572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1BFE4A-C2AC-481F-9780-FC064ABBD4F2}"/>
              </a:ext>
            </a:extLst>
          </p:cNvPr>
          <p:cNvSpPr txBox="1"/>
          <p:nvPr/>
        </p:nvSpPr>
        <p:spPr>
          <a:xfrm>
            <a:off x="5181600" y="4559300"/>
            <a:ext cx="355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커스텀 타겟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522E83-4F73-4E06-8F61-6F670A53512A}"/>
              </a:ext>
            </a:extLst>
          </p:cNvPr>
          <p:cNvSpPr txBox="1"/>
          <p:nvPr/>
        </p:nvSpPr>
        <p:spPr>
          <a:xfrm>
            <a:off x="8763000" y="45593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64748B"/>
                </a:solidFill>
                <a:latin typeface="Consolas"/>
              </a:rPr>
              <a:t>직접 </a:t>
            </a:r>
            <a:r>
              <a:rPr lang="en-US" altLang="ko-KR" sz="1100">
                <a:solidFill>
                  <a:srgbClr val="64748B"/>
                </a:solidFill>
                <a:latin typeface="Consolas"/>
              </a:rPr>
              <a:t>publisher </a:t>
            </a:r>
            <a:r>
              <a:rPr lang="ko-KR" altLang="en-US" sz="1100">
                <a:solidFill>
                  <a:srgbClr val="64748B"/>
                </a:solidFill>
                <a:latin typeface="Consolas"/>
              </a:rPr>
              <a:t>구현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C663D1E-7752-4B78-9B46-3DE2D4997223}"/>
              </a:ext>
            </a:extLst>
          </p:cNvPr>
          <p:cNvSpPr/>
          <p:nvPr/>
        </p:nvSpPr>
        <p:spPr>
          <a:xfrm>
            <a:off x="762000" y="5207000"/>
            <a:ext cx="10668000" cy="762000"/>
          </a:xfrm>
          <a:prstGeom prst="rect">
            <a:avLst/>
          </a:prstGeom>
          <a:solidFill>
            <a:srgbClr val="F5F5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3F9D46-ACCD-4F31-BF3B-B6706448CDE1}"/>
              </a:ext>
            </a:extLst>
          </p:cNvPr>
          <p:cNvSpPr txBox="1"/>
          <p:nvPr/>
        </p:nvSpPr>
        <p:spPr>
          <a:xfrm>
            <a:off x="1016000" y="54610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"</a:t>
            </a:r>
            <a:r>
              <a:rPr lang="ko-KR" altLang="en-US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같은 모델</a:t>
            </a:r>
            <a:r>
              <a:rPr lang="en-US" altLang="ko-KR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여러 타겟</a:t>
            </a:r>
            <a:r>
              <a:rPr lang="en-US" altLang="ko-KR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" — AI</a:t>
            </a:r>
            <a:r>
              <a:rPr lang="ko-KR" altLang="en-US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가 아티팩트를 생성한다는 것은 이 </a:t>
            </a:r>
            <a:r>
              <a:rPr lang="en-US" altLang="ko-KR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IR</a:t>
            </a:r>
            <a:r>
              <a:rPr lang="ko-KR" altLang="en-US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을 읽어 타겟별로 변환한다는 뜻입니다</a:t>
            </a:r>
            <a:r>
              <a:rPr lang="en-US" altLang="ko-KR" sz="13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300">
              <a:solidFill>
                <a:srgbClr val="47556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A8E4BF-D1FF-4220-985F-2EC04537DCFC}"/>
              </a:ext>
            </a:extLst>
          </p:cNvPr>
          <p:cNvSpPr txBox="1"/>
          <p:nvPr/>
        </p:nvSpPr>
        <p:spPr>
          <a:xfrm>
            <a:off x="406400" y="64262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94A3B8"/>
                </a:solidFill>
                <a:latin typeface="Pretendard"/>
                <a:ea typeface="Pretendard"/>
                <a:cs typeface="Pretendard"/>
              </a:rPr>
              <a:t>.NET Universe Busan Edition - 2604</a:t>
            </a:r>
            <a:endParaRPr lang="ko-KR" altLang="en-US" sz="1000">
              <a:solidFill>
                <a:srgbClr val="94A3B8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9499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FB6732-2A10-4186-8115-1AB7DD0C07C7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+mn-ea"/>
                <a:cs typeface="Pretendard"/>
              </a:rPr>
              <a:t>DEV TO PRODUCTION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39DB59-3688-485A-83F4-CF57789F5E72}"/>
              </a:ext>
            </a:extLst>
          </p:cNvPr>
          <p:cNvSpPr txBox="1"/>
          <p:nvPr/>
        </p:nvSpPr>
        <p:spPr>
          <a:xfrm>
            <a:off x="762000" y="11684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0A0A0A"/>
                </a:solidFill>
                <a:latin typeface="+mn-ea"/>
                <a:cs typeface="Pretendard"/>
              </a:rPr>
              <a:t>Aspire로 배포하기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DAA21E-42BA-42C4-BE83-F3E706E9A6D2}"/>
              </a:ext>
            </a:extLst>
          </p:cNvPr>
          <p:cNvSpPr/>
          <p:nvPr/>
        </p:nvSpPr>
        <p:spPr>
          <a:xfrm>
            <a:off x="762000" y="2032000"/>
            <a:ext cx="50800" cy="16510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A60000-C43D-401C-920F-E37CE339F713}"/>
              </a:ext>
            </a:extLst>
          </p:cNvPr>
          <p:cNvSpPr/>
          <p:nvPr/>
        </p:nvSpPr>
        <p:spPr>
          <a:xfrm>
            <a:off x="812800" y="2032000"/>
            <a:ext cx="5283200" cy="1651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7716AE-1EB8-4FBB-8F85-E7DDAD04AA09}"/>
              </a:ext>
            </a:extLst>
          </p:cNvPr>
          <p:cNvSpPr txBox="1"/>
          <p:nvPr/>
        </p:nvSpPr>
        <p:spPr>
          <a:xfrm>
            <a:off x="1066800" y="2260600"/>
            <a:ext cx="482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6366F1"/>
                </a:solidFill>
                <a:latin typeface="+mn-ea"/>
                <a:cs typeface="Pretendard"/>
              </a:rPr>
              <a:t>QUICK DEPLOY  ·  PREVIEW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1ACC8F-20D7-4371-AA86-8189809A270A}"/>
              </a:ext>
            </a:extLst>
          </p:cNvPr>
          <p:cNvSpPr txBox="1"/>
          <p:nvPr/>
        </p:nvSpPr>
        <p:spPr>
          <a:xfrm>
            <a:off x="1066800" y="25400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 dirty="0">
                <a:solidFill>
                  <a:srgbClr val="0A0A0A"/>
                </a:solidFill>
                <a:latin typeface="+mn-ea"/>
                <a:cs typeface="Pretendard"/>
              </a:rPr>
              <a:t>aspire deploy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5EB1C1-CF0B-4B70-99AA-50842DEF4DAE}"/>
              </a:ext>
            </a:extLst>
          </p:cNvPr>
          <p:cNvSpPr txBox="1"/>
          <p:nvPr/>
        </p:nvSpPr>
        <p:spPr>
          <a:xfrm>
            <a:off x="1066800" y="2971800"/>
            <a:ext cx="4826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dirty="0">
                <a:solidFill>
                  <a:srgbClr val="475569"/>
                </a:solidFill>
                <a:latin typeface="+mn-ea"/>
                <a:cs typeface="Pretendard"/>
              </a:rPr>
              <a:t>개발·실험 목적의 원클릭 배포. AppHost 모델을 그대로 실행 환경으로 옮겨 빠르게 검증.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AD1426-D7E2-41EE-BE06-5827E75CA2E2}"/>
              </a:ext>
            </a:extLst>
          </p:cNvPr>
          <p:cNvSpPr/>
          <p:nvPr/>
        </p:nvSpPr>
        <p:spPr>
          <a:xfrm>
            <a:off x="6350000" y="2032000"/>
            <a:ext cx="50800" cy="1651000"/>
          </a:xfrm>
          <a:prstGeom prst="rect">
            <a:avLst/>
          </a:prstGeom>
          <a:solidFill>
            <a:srgbClr val="EC48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3FC3B7-60C7-4673-89B3-9C674CF62389}"/>
              </a:ext>
            </a:extLst>
          </p:cNvPr>
          <p:cNvSpPr/>
          <p:nvPr/>
        </p:nvSpPr>
        <p:spPr>
          <a:xfrm>
            <a:off x="6400800" y="2032000"/>
            <a:ext cx="5283200" cy="1651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7CA94D-B561-4661-9DAE-C5932F5A8604}"/>
              </a:ext>
            </a:extLst>
          </p:cNvPr>
          <p:cNvSpPr txBox="1"/>
          <p:nvPr/>
        </p:nvSpPr>
        <p:spPr>
          <a:xfrm>
            <a:off x="6654800" y="2260600"/>
            <a:ext cx="482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6366F1"/>
                </a:solidFill>
                <a:latin typeface="+mn-ea"/>
                <a:cs typeface="Pretendard"/>
              </a:rPr>
              <a:t>AZURE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0F699E-D4A4-460F-9EEB-ADE7870CDC70}"/>
              </a:ext>
            </a:extLst>
          </p:cNvPr>
          <p:cNvSpPr txBox="1"/>
          <p:nvPr/>
        </p:nvSpPr>
        <p:spPr>
          <a:xfrm>
            <a:off x="6654800" y="25400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 dirty="0">
                <a:solidFill>
                  <a:srgbClr val="0A0A0A"/>
                </a:solidFill>
                <a:latin typeface="+mn-ea"/>
                <a:cs typeface="Pretendard"/>
              </a:rPr>
              <a:t>azd up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C33AD3-DC88-47A9-B0FE-CC1CF979F851}"/>
              </a:ext>
            </a:extLst>
          </p:cNvPr>
          <p:cNvSpPr txBox="1"/>
          <p:nvPr/>
        </p:nvSpPr>
        <p:spPr>
          <a:xfrm>
            <a:off x="6654800" y="2971800"/>
            <a:ext cx="4826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dirty="0">
                <a:solidFill>
                  <a:srgbClr val="475569"/>
                </a:solidFill>
                <a:latin typeface="+mn-ea"/>
                <a:cs typeface="Pretendard"/>
              </a:rPr>
              <a:t>Azure Developer CLI와 통합. Container Apps·ACR 등 Azure 리소스를 자동으로 프로비저닝.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63863AA-2BFD-4CF4-8E85-E0CFAC4ADE5B}"/>
              </a:ext>
            </a:extLst>
          </p:cNvPr>
          <p:cNvSpPr/>
          <p:nvPr/>
        </p:nvSpPr>
        <p:spPr>
          <a:xfrm>
            <a:off x="762000" y="3937000"/>
            <a:ext cx="50800" cy="16510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C1F8BA-F2E6-4AF9-BAD1-63BF7EFF66A1}"/>
              </a:ext>
            </a:extLst>
          </p:cNvPr>
          <p:cNvSpPr/>
          <p:nvPr/>
        </p:nvSpPr>
        <p:spPr>
          <a:xfrm>
            <a:off x="812800" y="3937000"/>
            <a:ext cx="5283200" cy="1651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FE3805-54AC-4FDF-81A5-757D9EEB6A5F}"/>
              </a:ext>
            </a:extLst>
          </p:cNvPr>
          <p:cNvSpPr txBox="1"/>
          <p:nvPr/>
        </p:nvSpPr>
        <p:spPr>
          <a:xfrm>
            <a:off x="1066800" y="4165600"/>
            <a:ext cx="482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6366F1"/>
                </a:solidFill>
                <a:latin typeface="+mn-ea"/>
                <a:cs typeface="Pretendard"/>
              </a:rPr>
              <a:t>ORCHESTRATION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D87443-7D81-469F-AE3B-A65AD852B31F}"/>
              </a:ext>
            </a:extLst>
          </p:cNvPr>
          <p:cNvSpPr txBox="1"/>
          <p:nvPr/>
        </p:nvSpPr>
        <p:spPr>
          <a:xfrm>
            <a:off x="1066800" y="44450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 dirty="0">
                <a:solidFill>
                  <a:srgbClr val="0A0A0A"/>
                </a:solidFill>
                <a:latin typeface="+mn-ea"/>
                <a:cs typeface="Pretendard"/>
              </a:rPr>
              <a:t>Kubernetes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4AA095-4BEE-4F75-A3EE-588E679AB6EB}"/>
              </a:ext>
            </a:extLst>
          </p:cNvPr>
          <p:cNvSpPr txBox="1"/>
          <p:nvPr/>
        </p:nvSpPr>
        <p:spPr>
          <a:xfrm>
            <a:off x="1066800" y="4876800"/>
            <a:ext cx="4826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dirty="0">
                <a:solidFill>
                  <a:srgbClr val="475569"/>
                </a:solidFill>
                <a:latin typeface="+mn-ea"/>
                <a:cs typeface="Pretendard"/>
              </a:rPr>
              <a:t>AKS·EKS·GKE 등 관리형 K8s 클러스터. 프로덕션 워크로드의 표준 런타임.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DD19CEE-2ECC-485E-BE26-F9B6FF59E3AC}"/>
              </a:ext>
            </a:extLst>
          </p:cNvPr>
          <p:cNvSpPr/>
          <p:nvPr/>
        </p:nvSpPr>
        <p:spPr>
          <a:xfrm>
            <a:off x="6350000" y="3937000"/>
            <a:ext cx="50800" cy="16510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1704652-0A3D-4695-A7D4-636A78CC3D96}"/>
              </a:ext>
            </a:extLst>
          </p:cNvPr>
          <p:cNvSpPr/>
          <p:nvPr/>
        </p:nvSpPr>
        <p:spPr>
          <a:xfrm>
            <a:off x="6400800" y="3937000"/>
            <a:ext cx="5283200" cy="1651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7F5549-A447-46B6-9E05-97DA0588C38E}"/>
              </a:ext>
            </a:extLst>
          </p:cNvPr>
          <p:cNvSpPr txBox="1"/>
          <p:nvPr/>
        </p:nvSpPr>
        <p:spPr>
          <a:xfrm>
            <a:off x="6654800" y="4165600"/>
            <a:ext cx="4826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6366F1"/>
                </a:solidFill>
                <a:latin typeface="+mn-ea"/>
                <a:cs typeface="Pretendard"/>
              </a:rPr>
              <a:t>SINGLE HOST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02EF2B-F618-4747-975A-6E47B5700B81}"/>
              </a:ext>
            </a:extLst>
          </p:cNvPr>
          <p:cNvSpPr txBox="1"/>
          <p:nvPr/>
        </p:nvSpPr>
        <p:spPr>
          <a:xfrm>
            <a:off x="6654800" y="44450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 dirty="0">
                <a:solidFill>
                  <a:srgbClr val="0A0A0A"/>
                </a:solidFill>
                <a:latin typeface="+mn-ea"/>
                <a:cs typeface="Pretendard"/>
              </a:rPr>
              <a:t>Docker Compose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9F3764-ADC6-46F7-AB82-E7483CFE8AAD}"/>
              </a:ext>
            </a:extLst>
          </p:cNvPr>
          <p:cNvSpPr txBox="1"/>
          <p:nvPr/>
        </p:nvSpPr>
        <p:spPr>
          <a:xfrm>
            <a:off x="6654800" y="4876800"/>
            <a:ext cx="4826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dirty="0">
                <a:solidFill>
                  <a:srgbClr val="475569"/>
                </a:solidFill>
                <a:latin typeface="+mn-ea"/>
                <a:cs typeface="Pretendard"/>
              </a:rPr>
              <a:t>단일 호스트·온프레미스 배포. 소규모 환경이나 CI 통합 테스트에 적합.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44D72D-4760-22AE-D27A-7AFB9017CD7E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Universe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Busan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Edition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-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2604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FF152B0-9FFB-6457-5E99-C94B268871F6}"/>
              </a:ext>
            </a:extLst>
          </p:cNvPr>
          <p:cNvSpPr/>
          <p:nvPr/>
        </p:nvSpPr>
        <p:spPr>
          <a:xfrm>
            <a:off x="857250" y="89535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885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F2EA52-F3AC-44D5-BCE6-F050BDC8CAC8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+mn-ea"/>
                <a:cs typeface="Pretendard"/>
              </a:rPr>
              <a:t>SEPARATION OF CONCERNS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67EB89-6D6E-4237-885F-E659D308071E}"/>
              </a:ext>
            </a:extLst>
          </p:cNvPr>
          <p:cNvSpPr txBox="1"/>
          <p:nvPr/>
        </p:nvSpPr>
        <p:spPr>
          <a:xfrm>
            <a:off x="762000" y="11684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0A0A0A"/>
                </a:solidFill>
                <a:latin typeface="+mn-ea"/>
                <a:cs typeface="Pretendard"/>
              </a:rPr>
              <a:t>AI로 배포 아티팩트 생성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CF640B-BC99-4DE0-96BF-F2CAAF1AA911}"/>
              </a:ext>
            </a:extLst>
          </p:cNvPr>
          <p:cNvSpPr/>
          <p:nvPr/>
        </p:nvSpPr>
        <p:spPr>
          <a:xfrm>
            <a:off x="762000" y="2057400"/>
            <a:ext cx="3556000" cy="508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9E51FE7-2776-4E3D-B582-800C09B7C1F9}"/>
              </a:ext>
            </a:extLst>
          </p:cNvPr>
          <p:cNvSpPr/>
          <p:nvPr/>
        </p:nvSpPr>
        <p:spPr>
          <a:xfrm>
            <a:off x="762000" y="2108200"/>
            <a:ext cx="3556000" cy="2667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72C11D-61FA-4470-8F29-9745A7F46130}"/>
              </a:ext>
            </a:extLst>
          </p:cNvPr>
          <p:cNvSpPr txBox="1"/>
          <p:nvPr/>
        </p:nvSpPr>
        <p:spPr>
          <a:xfrm>
            <a:off x="1016000" y="23622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 b="1">
                <a:solidFill>
                  <a:srgbClr val="6366F1"/>
                </a:solidFill>
                <a:latin typeface="+mn-ea"/>
                <a:cs typeface="Pretendard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1FD650-BAB6-4590-8A7E-F4BC7BE97785}"/>
              </a:ext>
            </a:extLst>
          </p:cNvPr>
          <p:cNvSpPr txBox="1"/>
          <p:nvPr/>
        </p:nvSpPr>
        <p:spPr>
          <a:xfrm>
            <a:off x="1016000" y="2743200"/>
            <a:ext cx="304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800" b="1" dirty="0" err="1">
                <a:solidFill>
                  <a:srgbClr val="0A0A0A"/>
                </a:solidFill>
                <a:latin typeface="+mn-ea"/>
                <a:cs typeface="Pretendard"/>
              </a:rPr>
              <a:t>AppHost</a:t>
            </a:r>
            <a:r>
              <a:rPr lang="ko-KR" altLang="en-US" sz="1800" b="1" dirty="0">
                <a:solidFill>
                  <a:srgbClr val="0A0A0A"/>
                </a:solidFill>
                <a:latin typeface="+mn-ea"/>
                <a:cs typeface="Pretendard"/>
              </a:rPr>
              <a:t> =</a:t>
            </a:r>
            <a:r>
              <a:rPr lang="en-US" altLang="ko-KR" sz="1800" b="1" dirty="0">
                <a:solidFill>
                  <a:srgbClr val="0A0A0A"/>
                </a:solidFill>
                <a:latin typeface="+mn-ea"/>
                <a:cs typeface="Pretendard"/>
              </a:rPr>
              <a:t>=</a:t>
            </a:r>
            <a:r>
              <a:rPr lang="ko-KR" altLang="en-US" sz="1800" b="1" dirty="0">
                <a:solidFill>
                  <a:srgbClr val="0A0A0A"/>
                </a:solidFill>
                <a:latin typeface="+mn-ea"/>
                <a:cs typeface="Pretendard"/>
              </a:rPr>
              <a:t> 단일 소스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FB7EB2-2FE9-4F23-90F7-F12DBD7B6705}"/>
              </a:ext>
            </a:extLst>
          </p:cNvPr>
          <p:cNvSpPr txBox="1"/>
          <p:nvPr/>
        </p:nvSpPr>
        <p:spPr>
          <a:xfrm>
            <a:off x="1016000" y="3581400"/>
            <a:ext cx="3048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50" dirty="0">
                <a:solidFill>
                  <a:srgbClr val="475569"/>
                </a:solidFill>
                <a:latin typeface="+mn-ea"/>
                <a:cs typeface="Pretendard"/>
              </a:rPr>
              <a:t>배포 의도가 앱 코드와 한 곳에. Terraform처럼 인프라 코드를 따로 관리할 필요 없이 관심사가 자연스럽게 분리.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538D51D-FCEC-49CA-A685-AA7E44AF5609}"/>
              </a:ext>
            </a:extLst>
          </p:cNvPr>
          <p:cNvSpPr/>
          <p:nvPr/>
        </p:nvSpPr>
        <p:spPr>
          <a:xfrm>
            <a:off x="4445000" y="2057400"/>
            <a:ext cx="3556000" cy="50800"/>
          </a:xfrm>
          <a:prstGeom prst="rect">
            <a:avLst/>
          </a:prstGeom>
          <a:solidFill>
            <a:srgbClr val="EC48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E65D21-66D5-4982-98F0-49DB26F9BAF8}"/>
              </a:ext>
            </a:extLst>
          </p:cNvPr>
          <p:cNvSpPr/>
          <p:nvPr/>
        </p:nvSpPr>
        <p:spPr>
          <a:xfrm>
            <a:off x="4445000" y="2108200"/>
            <a:ext cx="3556000" cy="2667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6CD213-0DE6-4924-AC5D-15AB470EEE24}"/>
              </a:ext>
            </a:extLst>
          </p:cNvPr>
          <p:cNvSpPr txBox="1"/>
          <p:nvPr/>
        </p:nvSpPr>
        <p:spPr>
          <a:xfrm>
            <a:off x="4699000" y="23622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 b="1">
                <a:solidFill>
                  <a:srgbClr val="6366F1"/>
                </a:solidFill>
                <a:latin typeface="+mn-ea"/>
                <a:cs typeface="Pretendard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4301C6-5463-4DF1-8A99-997C331966C9}"/>
              </a:ext>
            </a:extLst>
          </p:cNvPr>
          <p:cNvSpPr txBox="1"/>
          <p:nvPr/>
        </p:nvSpPr>
        <p:spPr>
          <a:xfrm>
            <a:off x="4699000" y="2743200"/>
            <a:ext cx="304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800" b="1" dirty="0">
                <a:solidFill>
                  <a:srgbClr val="0A0A0A"/>
                </a:solidFill>
                <a:latin typeface="+mn-ea"/>
                <a:cs typeface="Pretendard"/>
              </a:rPr>
              <a:t>AI가 아티팩트 생성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82AA47-D10A-431F-86D1-569B3CCA9775}"/>
              </a:ext>
            </a:extLst>
          </p:cNvPr>
          <p:cNvSpPr txBox="1"/>
          <p:nvPr/>
        </p:nvSpPr>
        <p:spPr>
          <a:xfrm>
            <a:off x="4699000" y="3581400"/>
            <a:ext cx="3048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50" dirty="0">
                <a:solidFill>
                  <a:srgbClr val="475569"/>
                </a:solidFill>
                <a:latin typeface="+mn-ea"/>
                <a:cs typeface="Pretendard"/>
              </a:rPr>
              <a:t>AppHost 모델을 읽어 Helm chart, Kubernetes manifest, Dockerfile을 자동 생성. 타겟 환경에 맞춰 확장 가능.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35C4F48-25FF-4915-9DC4-15F1617C13FA}"/>
              </a:ext>
            </a:extLst>
          </p:cNvPr>
          <p:cNvSpPr/>
          <p:nvPr/>
        </p:nvSpPr>
        <p:spPr>
          <a:xfrm>
            <a:off x="8128000" y="2057400"/>
            <a:ext cx="3556000" cy="508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5323A84-6C90-469A-99D2-DA56970370A1}"/>
              </a:ext>
            </a:extLst>
          </p:cNvPr>
          <p:cNvSpPr/>
          <p:nvPr/>
        </p:nvSpPr>
        <p:spPr>
          <a:xfrm>
            <a:off x="8128000" y="2108200"/>
            <a:ext cx="3556000" cy="2667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AD7ADF-93A1-4013-8186-DDE88CDA2E0D}"/>
              </a:ext>
            </a:extLst>
          </p:cNvPr>
          <p:cNvSpPr txBox="1"/>
          <p:nvPr/>
        </p:nvSpPr>
        <p:spPr>
          <a:xfrm>
            <a:off x="8382000" y="23622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 b="1">
                <a:solidFill>
                  <a:srgbClr val="6366F1"/>
                </a:solidFill>
                <a:latin typeface="+mn-ea"/>
                <a:cs typeface="Pretendard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D4BBFA-7961-4762-B0FC-AA091780E01B}"/>
              </a:ext>
            </a:extLst>
          </p:cNvPr>
          <p:cNvSpPr txBox="1"/>
          <p:nvPr/>
        </p:nvSpPr>
        <p:spPr>
          <a:xfrm>
            <a:off x="8382000" y="2743200"/>
            <a:ext cx="304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800" b="1" dirty="0">
                <a:solidFill>
                  <a:srgbClr val="0A0A0A"/>
                </a:solidFill>
                <a:latin typeface="+mn-ea"/>
                <a:cs typeface="Pretendard"/>
              </a:rPr>
              <a:t>사람이 검토·커밋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BB3C81-17D3-4A92-9838-F416E0FE43BB}"/>
              </a:ext>
            </a:extLst>
          </p:cNvPr>
          <p:cNvSpPr txBox="1"/>
          <p:nvPr/>
        </p:nvSpPr>
        <p:spPr>
          <a:xfrm>
            <a:off x="8382000" y="3581400"/>
            <a:ext cx="3048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50" dirty="0">
                <a:solidFill>
                  <a:srgbClr val="475569"/>
                </a:solidFill>
                <a:latin typeface="+mn-ea"/>
                <a:cs typeface="Pretendard"/>
              </a:rPr>
              <a:t>생성된 YAML·차트는 사람이 리뷰하고 Git에 커밋. 기존 GitOps·CI/CD 파이프라인에 그대로 연결.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EC4C7AA-A027-432C-89F9-5A3C2C20E184}"/>
              </a:ext>
            </a:extLst>
          </p:cNvPr>
          <p:cNvSpPr/>
          <p:nvPr/>
        </p:nvSpPr>
        <p:spPr>
          <a:xfrm>
            <a:off x="762000" y="5105400"/>
            <a:ext cx="10668000" cy="762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21201F-448E-4E7E-A779-69EDDD63F3B8}"/>
              </a:ext>
            </a:extLst>
          </p:cNvPr>
          <p:cNvSpPr txBox="1"/>
          <p:nvPr/>
        </p:nvSpPr>
        <p:spPr>
          <a:xfrm>
            <a:off x="1016000" y="53340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ko-KR" altLang="en-US" sz="1500" dirty="0">
                <a:solidFill>
                  <a:srgbClr val="FFFFFF"/>
                </a:solidFill>
                <a:latin typeface="+mn-ea"/>
                <a:cs typeface="Pretendard"/>
              </a:rPr>
              <a:t>한 번 선언한 AppHost 모델을 여러 배포 타겟으로 — 개발자는 계속 코드에 집중합니다.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ADD19F-5F38-A068-0F10-5CAB6C05FB88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Universe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Busan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Edition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-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2604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586187D-5F91-0549-9783-8615B923759C}"/>
              </a:ext>
            </a:extLst>
          </p:cNvPr>
          <p:cNvSpPr/>
          <p:nvPr/>
        </p:nvSpPr>
        <p:spPr>
          <a:xfrm>
            <a:off x="857250" y="89535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17561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F2EA52-F3AC-44D5-BCE6-F050BDC8CAC8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6366F1"/>
                </a:solidFill>
                <a:latin typeface="+mn-ea"/>
                <a:cs typeface="Pretendard"/>
              </a:rPr>
              <a:t>TAKEAWAYS</a:t>
            </a:r>
            <a:endParaRPr lang="ko-KR" altLang="en-US" sz="11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67EB89-6D6E-4237-885F-E659D308071E}"/>
              </a:ext>
            </a:extLst>
          </p:cNvPr>
          <p:cNvSpPr txBox="1"/>
          <p:nvPr/>
        </p:nvSpPr>
        <p:spPr>
          <a:xfrm>
            <a:off x="762000" y="11684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3600" b="1">
                <a:solidFill>
                  <a:srgbClr val="0A0A0A"/>
                </a:solidFill>
                <a:latin typeface="+mn-ea"/>
                <a:cs typeface="Pretendard"/>
              </a:rPr>
              <a:t>3</a:t>
            </a:r>
            <a:r>
              <a:rPr lang="ko-KR" altLang="en-US" sz="3600" b="1">
                <a:solidFill>
                  <a:srgbClr val="0A0A0A"/>
                </a:solidFill>
                <a:latin typeface="+mn-ea"/>
                <a:cs typeface="Pretendard"/>
              </a:rPr>
              <a:t>개 파일이 바꾼 것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CF640B-BC99-4DE0-96BF-F2CAAF1AA911}"/>
              </a:ext>
            </a:extLst>
          </p:cNvPr>
          <p:cNvSpPr/>
          <p:nvPr/>
        </p:nvSpPr>
        <p:spPr>
          <a:xfrm>
            <a:off x="762000" y="2057400"/>
            <a:ext cx="3556000" cy="508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9E51FE7-2776-4E3D-B582-800C09B7C1F9}"/>
              </a:ext>
            </a:extLst>
          </p:cNvPr>
          <p:cNvSpPr/>
          <p:nvPr/>
        </p:nvSpPr>
        <p:spPr>
          <a:xfrm>
            <a:off x="762000" y="2108200"/>
            <a:ext cx="3556000" cy="2667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72C11D-61FA-4470-8F29-9745A7F46130}"/>
              </a:ext>
            </a:extLst>
          </p:cNvPr>
          <p:cNvSpPr txBox="1"/>
          <p:nvPr/>
        </p:nvSpPr>
        <p:spPr>
          <a:xfrm>
            <a:off x="1016000" y="23622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6366F1"/>
                </a:solidFill>
                <a:latin typeface="+mn-ea"/>
                <a:cs typeface="Pretendard"/>
              </a:rPr>
              <a:t>01</a:t>
            </a:r>
            <a:endParaRPr lang="ko-KR" altLang="en-US" sz="12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1FD650-BAB6-4590-8A7E-F4BC7BE97785}"/>
              </a:ext>
            </a:extLst>
          </p:cNvPr>
          <p:cNvSpPr txBox="1"/>
          <p:nvPr/>
        </p:nvSpPr>
        <p:spPr>
          <a:xfrm>
            <a:off x="1016000" y="2743200"/>
            <a:ext cx="304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>
                <a:solidFill>
                  <a:srgbClr val="0A0A0A"/>
                </a:solidFill>
                <a:latin typeface="+mn-ea"/>
                <a:cs typeface="Pretendard"/>
              </a:rPr>
              <a:t>선언이 곧 구성이다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FB7EB2-2FE9-4F23-90F7-F12DBD7B6705}"/>
              </a:ext>
            </a:extLst>
          </p:cNvPr>
          <p:cNvSpPr txBox="1"/>
          <p:nvPr/>
        </p:nvSpPr>
        <p:spPr>
          <a:xfrm>
            <a:off x="1016000" y="3581400"/>
            <a:ext cx="3048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AppHost</a:t>
            </a:r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에 리소스를 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"</a:t>
            </a:r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더하기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"</a:t>
            </a:r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만 하면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,
</a:t>
            </a:r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연결 문자열과 수명주기는 공짜로 따라온다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3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538D51D-FCEC-49CA-A685-AA7E44AF5609}"/>
              </a:ext>
            </a:extLst>
          </p:cNvPr>
          <p:cNvSpPr/>
          <p:nvPr/>
        </p:nvSpPr>
        <p:spPr>
          <a:xfrm>
            <a:off x="4445000" y="2057400"/>
            <a:ext cx="3556000" cy="50800"/>
          </a:xfrm>
          <a:prstGeom prst="rect">
            <a:avLst/>
          </a:prstGeom>
          <a:solidFill>
            <a:srgbClr val="EC48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E65D21-66D5-4982-98F0-49DB26F9BAF8}"/>
              </a:ext>
            </a:extLst>
          </p:cNvPr>
          <p:cNvSpPr/>
          <p:nvPr/>
        </p:nvSpPr>
        <p:spPr>
          <a:xfrm>
            <a:off x="4445000" y="2108200"/>
            <a:ext cx="3556000" cy="2667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6CD213-0DE6-4924-AC5D-15AB470EEE24}"/>
              </a:ext>
            </a:extLst>
          </p:cNvPr>
          <p:cNvSpPr txBox="1"/>
          <p:nvPr/>
        </p:nvSpPr>
        <p:spPr>
          <a:xfrm>
            <a:off x="4699000" y="23622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EC4899"/>
                </a:solidFill>
                <a:latin typeface="+mn-ea"/>
                <a:cs typeface="Pretendard"/>
              </a:rPr>
              <a:t>02</a:t>
            </a:r>
            <a:endParaRPr lang="ko-KR" altLang="en-US" sz="1200" b="1">
              <a:solidFill>
                <a:srgbClr val="EC4899"/>
              </a:solidFill>
              <a:latin typeface="+mn-ea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4301C6-5463-4DF1-8A99-997C331966C9}"/>
              </a:ext>
            </a:extLst>
          </p:cNvPr>
          <p:cNvSpPr txBox="1"/>
          <p:nvPr/>
        </p:nvSpPr>
        <p:spPr>
          <a:xfrm>
            <a:off x="4699000" y="2743200"/>
            <a:ext cx="304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>
                <a:solidFill>
                  <a:srgbClr val="0A0A0A"/>
                </a:solidFill>
                <a:latin typeface="+mn-ea"/>
                <a:cs typeface="Pretendard"/>
              </a:rPr>
              <a:t>관찰 가능성은 기본값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82AA47-D10A-431F-86D1-569B3CCA9775}"/>
              </a:ext>
            </a:extLst>
          </p:cNvPr>
          <p:cNvSpPr txBox="1"/>
          <p:nvPr/>
        </p:nvSpPr>
        <p:spPr>
          <a:xfrm>
            <a:off x="4699000" y="3581400"/>
            <a:ext cx="3048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OpenTelemetry · Health · Resilience</a:t>
            </a:r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가 묶여 있어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,
</a:t>
            </a:r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계측 코드가 필요 없다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3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35C4F48-25FF-4915-9DC4-15F1617C13FA}"/>
              </a:ext>
            </a:extLst>
          </p:cNvPr>
          <p:cNvSpPr/>
          <p:nvPr/>
        </p:nvSpPr>
        <p:spPr>
          <a:xfrm>
            <a:off x="8128000" y="2057400"/>
            <a:ext cx="3556000" cy="508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5323A84-6C90-469A-99D2-DA56970370A1}"/>
              </a:ext>
            </a:extLst>
          </p:cNvPr>
          <p:cNvSpPr/>
          <p:nvPr/>
        </p:nvSpPr>
        <p:spPr>
          <a:xfrm>
            <a:off x="8128000" y="2108200"/>
            <a:ext cx="3556000" cy="2667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AD7ADF-93A1-4013-8186-DDE88CDA2E0D}"/>
              </a:ext>
            </a:extLst>
          </p:cNvPr>
          <p:cNvSpPr txBox="1"/>
          <p:nvPr/>
        </p:nvSpPr>
        <p:spPr>
          <a:xfrm>
            <a:off x="8382000" y="23622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10B981"/>
                </a:solidFill>
                <a:latin typeface="+mn-ea"/>
                <a:cs typeface="Pretendard"/>
              </a:rPr>
              <a:t>03</a:t>
            </a:r>
            <a:endParaRPr lang="ko-KR" altLang="en-US" sz="1200" b="1">
              <a:solidFill>
                <a:srgbClr val="10B981"/>
              </a:solidFill>
              <a:latin typeface="+mn-ea"/>
              <a:cs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D4BBFA-7961-4762-B0FC-AA091780E01B}"/>
              </a:ext>
            </a:extLst>
          </p:cNvPr>
          <p:cNvSpPr txBox="1"/>
          <p:nvPr/>
        </p:nvSpPr>
        <p:spPr>
          <a:xfrm>
            <a:off x="8382000" y="2743200"/>
            <a:ext cx="304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>
                <a:solidFill>
                  <a:srgbClr val="0A0A0A"/>
                </a:solidFill>
                <a:latin typeface="+mn-ea"/>
                <a:cs typeface="Pretendard"/>
              </a:rPr>
              <a:t>로컬이 곧 데모다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BB3C81-17D3-4A92-9838-F416E0FE43BB}"/>
              </a:ext>
            </a:extLst>
          </p:cNvPr>
          <p:cNvSpPr txBox="1"/>
          <p:nvPr/>
        </p:nvSpPr>
        <p:spPr>
          <a:xfrm>
            <a:off x="8382000" y="3581400"/>
            <a:ext cx="3048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터미널 하나로 멀티 서비스를 띄우고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,
</a:t>
            </a:r>
            <a:r>
              <a:rPr lang="ko-KR" altLang="en-US" sz="1300">
                <a:solidFill>
                  <a:srgbClr val="475569"/>
                </a:solidFill>
                <a:latin typeface="+mn-ea"/>
                <a:cs typeface="Pretendard"/>
              </a:rPr>
              <a:t>대시보드에서 흐름을 바로 검증한다</a:t>
            </a:r>
            <a:r>
              <a:rPr lang="en-US" altLang="ko-KR" sz="1300">
                <a:solidFill>
                  <a:srgbClr val="475569"/>
                </a:solidFill>
                <a:latin typeface="+mn-ea"/>
                <a:cs typeface="Pretendard"/>
              </a:rPr>
              <a:t>.</a:t>
            </a:r>
            <a:endParaRPr lang="ko-KR" altLang="en-US" sz="1300">
              <a:solidFill>
                <a:srgbClr val="475569"/>
              </a:solidFill>
              <a:latin typeface="+mn-ea"/>
              <a:cs typeface="Pretendard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EC4C7AA-A027-432C-89F9-5A3C2C20E184}"/>
              </a:ext>
            </a:extLst>
          </p:cNvPr>
          <p:cNvSpPr/>
          <p:nvPr/>
        </p:nvSpPr>
        <p:spPr>
          <a:xfrm>
            <a:off x="762000" y="5105400"/>
            <a:ext cx="10668000" cy="762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21201F-448E-4E7E-A779-69EDDD63F3B8}"/>
              </a:ext>
            </a:extLst>
          </p:cNvPr>
          <p:cNvSpPr txBox="1"/>
          <p:nvPr/>
        </p:nvSpPr>
        <p:spPr>
          <a:xfrm>
            <a:off x="1016000" y="53340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altLang="ko-KR" sz="1500" dirty="0">
                <a:solidFill>
                  <a:srgbClr val="FFFFFF"/>
                </a:solidFill>
                <a:latin typeface="+mn-ea"/>
                <a:cs typeface="Pretendard"/>
              </a:rPr>
              <a:t>Aspire</a:t>
            </a:r>
            <a:r>
              <a:rPr lang="ko-KR" altLang="en-US" sz="1500" dirty="0">
                <a:solidFill>
                  <a:srgbClr val="FFFFFF"/>
                </a:solidFill>
                <a:latin typeface="+mn-ea"/>
                <a:cs typeface="Pretendard"/>
              </a:rPr>
              <a:t>는 분산 시스템의 진입 장벽을 허물고 코드에만 집중할 수 있도록</a:t>
            </a:r>
            <a:r>
              <a:rPr lang="en-US" altLang="ko-KR" sz="1500" dirty="0">
                <a:solidFill>
                  <a:srgbClr val="FFFFFF"/>
                </a:solidFill>
                <a:latin typeface="+mn-ea"/>
                <a:cs typeface="Pretendard"/>
              </a:rPr>
              <a:t> </a:t>
            </a:r>
            <a:r>
              <a:rPr lang="ko-KR" altLang="en-US" sz="1500" dirty="0" err="1">
                <a:solidFill>
                  <a:srgbClr val="FFFFFF"/>
                </a:solidFill>
                <a:latin typeface="+mn-ea"/>
                <a:cs typeface="Pretendard"/>
              </a:rPr>
              <a:t>돕습니다</a:t>
            </a:r>
            <a:r>
              <a:rPr lang="en-US" altLang="ko-KR" sz="1500" dirty="0">
                <a:solidFill>
                  <a:srgbClr val="FFFFFF"/>
                </a:solidFill>
                <a:latin typeface="+mn-ea"/>
                <a:cs typeface="Pretendard"/>
              </a:rPr>
              <a:t>.</a:t>
            </a:r>
            <a:endParaRPr lang="ko-KR" altLang="en-US" sz="1500" dirty="0">
              <a:solidFill>
                <a:srgbClr val="FFFFFF"/>
              </a:solidFill>
              <a:latin typeface="+mn-ea"/>
              <a:cs typeface="Pretendar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ADD19F-5F38-A068-0F10-5CAB6C05FB88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Universe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Busan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Edition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-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2604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586187D-5F91-0549-9783-8615B923759C}"/>
              </a:ext>
            </a:extLst>
          </p:cNvPr>
          <p:cNvSpPr/>
          <p:nvPr/>
        </p:nvSpPr>
        <p:spPr>
          <a:xfrm>
            <a:off x="857250" y="89535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76549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1A4F67B-8AC3-4A06-AC24-D3F5C7FEC56B}"/>
              </a:ext>
            </a:extLst>
          </p:cNvPr>
          <p:cNvSpPr/>
          <p:nvPr/>
        </p:nvSpPr>
        <p:spPr>
          <a:xfrm>
            <a:off x="863600" y="901700"/>
            <a:ext cx="304800" cy="254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C697D9-6F86-4EB9-A3B5-E1CDA8F555BB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10B981"/>
                </a:solidFill>
                <a:latin typeface="Pretendard"/>
                <a:ea typeface="Pretendard"/>
                <a:cs typeface="Pretendard"/>
              </a:rPr>
              <a:t>TRY IT TONIGHT</a:t>
            </a:r>
            <a:endParaRPr lang="ko-KR" altLang="en-US" sz="1100" b="1">
              <a:solidFill>
                <a:srgbClr val="10B98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F0EC79-A1F2-4A53-8A84-F08E570521D5}"/>
              </a:ext>
            </a:extLst>
          </p:cNvPr>
          <p:cNvSpPr txBox="1"/>
          <p:nvPr/>
        </p:nvSpPr>
        <p:spPr>
          <a:xfrm>
            <a:off x="762000" y="1168400"/>
            <a:ext cx="10668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6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오늘 밤의 </a:t>
            </a:r>
            <a:r>
              <a:rPr lang="en-US" altLang="ko-KR" sz="36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5</a:t>
            </a:r>
            <a:r>
              <a:rPr lang="ko-KR" altLang="en-US" sz="36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분 실습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306D92-0B7F-471A-8D20-78544D987828}"/>
              </a:ext>
            </a:extLst>
          </p:cNvPr>
          <p:cNvSpPr txBox="1"/>
          <p:nvPr/>
        </p:nvSpPr>
        <p:spPr>
          <a:xfrm>
            <a:off x="762000" y="20320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강연장을 나서기 전에 이 다섯 줄만 기억해 주세요</a:t>
            </a:r>
            <a:r>
              <a:rPr lang="en-US" altLang="ko-KR" sz="1400">
                <a:solidFill>
                  <a:srgbClr val="475569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400">
              <a:solidFill>
                <a:srgbClr val="47556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3CBE38D-D3CA-48D3-8DCA-EDCAE0D441D5}"/>
              </a:ext>
            </a:extLst>
          </p:cNvPr>
          <p:cNvSpPr/>
          <p:nvPr/>
        </p:nvSpPr>
        <p:spPr>
          <a:xfrm>
            <a:off x="762000" y="2667000"/>
            <a:ext cx="381000" cy="3810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2A1721-DCB5-4E49-876E-01FA6EEF4080}"/>
              </a:ext>
            </a:extLst>
          </p:cNvPr>
          <p:cNvSpPr txBox="1"/>
          <p:nvPr/>
        </p:nvSpPr>
        <p:spPr>
          <a:xfrm>
            <a:off x="762000" y="2717800"/>
            <a:ext cx="38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  <a:endParaRPr lang="ko-KR" altLang="en-US" sz="15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1C9C4D-8091-4FF6-9D88-19CE39D6192E}"/>
              </a:ext>
            </a:extLst>
          </p:cNvPr>
          <p:cNvSpPr txBox="1"/>
          <p:nvPr/>
        </p:nvSpPr>
        <p:spPr>
          <a:xfrm>
            <a:off x="1320800" y="2692400"/>
            <a:ext cx="431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.NET 10 </a:t>
            </a:r>
            <a:r>
              <a:rPr lang="ko-KR" altLang="en-US" sz="14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이상 확인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639119-7F17-4B14-93A3-335D638CF88C}"/>
              </a:ext>
            </a:extLst>
          </p:cNvPr>
          <p:cNvSpPr txBox="1"/>
          <p:nvPr/>
        </p:nvSpPr>
        <p:spPr>
          <a:xfrm>
            <a:off x="1320800" y="2921000"/>
            <a:ext cx="10109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>
                <a:solidFill>
                  <a:srgbClr val="475569"/>
                </a:solidFill>
                <a:latin typeface="Consolas"/>
              </a:rPr>
              <a:t>dotnet --version</a:t>
            </a:r>
            <a:endParaRPr lang="ko-KR" altLang="en-US" sz="1200">
              <a:solidFill>
                <a:srgbClr val="475569"/>
              </a:solidFill>
              <a:latin typeface="Consola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D9E369A-D6A0-4D47-B602-ADCD7FFD29A3}"/>
              </a:ext>
            </a:extLst>
          </p:cNvPr>
          <p:cNvSpPr/>
          <p:nvPr/>
        </p:nvSpPr>
        <p:spPr>
          <a:xfrm>
            <a:off x="762000" y="3200400"/>
            <a:ext cx="381000" cy="3810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48A57C-63D7-404D-A702-A500FF4C4F34}"/>
              </a:ext>
            </a:extLst>
          </p:cNvPr>
          <p:cNvSpPr txBox="1"/>
          <p:nvPr/>
        </p:nvSpPr>
        <p:spPr>
          <a:xfrm>
            <a:off x="762000" y="3251200"/>
            <a:ext cx="38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  <a:endParaRPr lang="ko-KR" altLang="en-US" sz="15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BB1DBC-E40B-4590-859B-42C2F8E6439F}"/>
              </a:ext>
            </a:extLst>
          </p:cNvPr>
          <p:cNvSpPr txBox="1"/>
          <p:nvPr/>
        </p:nvSpPr>
        <p:spPr>
          <a:xfrm>
            <a:off x="1320800" y="3225800"/>
            <a:ext cx="431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템플릿에서 프로젝트 생성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8AEF4C-D982-4584-B121-3DA59FD611A2}"/>
              </a:ext>
            </a:extLst>
          </p:cNvPr>
          <p:cNvSpPr txBox="1"/>
          <p:nvPr/>
        </p:nvSpPr>
        <p:spPr>
          <a:xfrm>
            <a:off x="1320800" y="3454400"/>
            <a:ext cx="10109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>
                <a:solidFill>
                  <a:srgbClr val="475569"/>
                </a:solidFill>
                <a:latin typeface="Consolas"/>
              </a:rPr>
              <a:t>dotnet new aspire-starter-file -o hello-aspire</a:t>
            </a:r>
            <a:endParaRPr lang="ko-KR" altLang="en-US" sz="1200">
              <a:solidFill>
                <a:srgbClr val="475569"/>
              </a:solidFill>
              <a:latin typeface="Consola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558F29D-7415-46F9-B91D-F090733F05F4}"/>
              </a:ext>
            </a:extLst>
          </p:cNvPr>
          <p:cNvSpPr/>
          <p:nvPr/>
        </p:nvSpPr>
        <p:spPr>
          <a:xfrm>
            <a:off x="762000" y="3733800"/>
            <a:ext cx="381000" cy="3810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960AE1-A54C-476B-8609-B6F758FFC7B9}"/>
              </a:ext>
            </a:extLst>
          </p:cNvPr>
          <p:cNvSpPr txBox="1"/>
          <p:nvPr/>
        </p:nvSpPr>
        <p:spPr>
          <a:xfrm>
            <a:off x="762000" y="3784600"/>
            <a:ext cx="38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  <a:endParaRPr lang="ko-KR" altLang="en-US" sz="15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14433D-B9B7-45AE-A398-B77D0DA2F627}"/>
              </a:ext>
            </a:extLst>
          </p:cNvPr>
          <p:cNvSpPr txBox="1"/>
          <p:nvPr/>
        </p:nvSpPr>
        <p:spPr>
          <a:xfrm>
            <a:off x="1320800" y="3759200"/>
            <a:ext cx="431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실행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B4CAEC-7F51-4951-9C3E-59F80A2E0B8F}"/>
              </a:ext>
            </a:extLst>
          </p:cNvPr>
          <p:cNvSpPr txBox="1"/>
          <p:nvPr/>
        </p:nvSpPr>
        <p:spPr>
          <a:xfrm>
            <a:off x="1320800" y="3987800"/>
            <a:ext cx="10109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>
                <a:solidFill>
                  <a:srgbClr val="475569"/>
                </a:solidFill>
                <a:latin typeface="Consolas"/>
              </a:rPr>
              <a:t>cd hello-aspire &amp;&amp; aspire run</a:t>
            </a:r>
            <a:endParaRPr lang="ko-KR" altLang="en-US" sz="1200">
              <a:solidFill>
                <a:srgbClr val="475569"/>
              </a:solidFill>
              <a:latin typeface="Consola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1D211C-7336-4132-8A81-A460761C2DDF}"/>
              </a:ext>
            </a:extLst>
          </p:cNvPr>
          <p:cNvSpPr/>
          <p:nvPr/>
        </p:nvSpPr>
        <p:spPr>
          <a:xfrm>
            <a:off x="762000" y="4267200"/>
            <a:ext cx="381000" cy="3810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3E0E92-D7C3-4CA4-B025-316D75AD3D56}"/>
              </a:ext>
            </a:extLst>
          </p:cNvPr>
          <p:cNvSpPr txBox="1"/>
          <p:nvPr/>
        </p:nvSpPr>
        <p:spPr>
          <a:xfrm>
            <a:off x="762000" y="4318000"/>
            <a:ext cx="38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  <a:endParaRPr lang="ko-KR" altLang="en-US" sz="15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C8EADC-4DF0-420E-8EB5-D63B3E8E2753}"/>
              </a:ext>
            </a:extLst>
          </p:cNvPr>
          <p:cNvSpPr txBox="1"/>
          <p:nvPr/>
        </p:nvSpPr>
        <p:spPr>
          <a:xfrm>
            <a:off x="1320800" y="4292600"/>
            <a:ext cx="431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대시보드 접속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28E483-E7D3-41EC-9CA6-4C4DC22E86F5}"/>
              </a:ext>
            </a:extLst>
          </p:cNvPr>
          <p:cNvSpPr txBox="1"/>
          <p:nvPr/>
        </p:nvSpPr>
        <p:spPr>
          <a:xfrm>
            <a:off x="1320800" y="4521200"/>
            <a:ext cx="10109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>
                <a:solidFill>
                  <a:srgbClr val="475569"/>
                </a:solidFill>
                <a:latin typeface="Consolas"/>
              </a:rPr>
              <a:t>http://localhost:15888</a:t>
            </a:r>
            <a:endParaRPr lang="ko-KR" altLang="en-US" sz="1200">
              <a:solidFill>
                <a:srgbClr val="475569"/>
              </a:solidFill>
              <a:latin typeface="Consola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F80C5BE-9561-41F4-8B52-CE601FCA4E57}"/>
              </a:ext>
            </a:extLst>
          </p:cNvPr>
          <p:cNvSpPr/>
          <p:nvPr/>
        </p:nvSpPr>
        <p:spPr>
          <a:xfrm>
            <a:off x="762000" y="4800600"/>
            <a:ext cx="381000" cy="3810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8B52C4-3F85-41D8-A66E-F929777CCCE7}"/>
              </a:ext>
            </a:extLst>
          </p:cNvPr>
          <p:cNvSpPr txBox="1"/>
          <p:nvPr/>
        </p:nvSpPr>
        <p:spPr>
          <a:xfrm>
            <a:off x="762000" y="4851400"/>
            <a:ext cx="38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  <a:endParaRPr lang="ko-KR" altLang="en-US" sz="1500" b="1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0FA046-6C24-4359-8C2C-C30283A607A0}"/>
              </a:ext>
            </a:extLst>
          </p:cNvPr>
          <p:cNvSpPr txBox="1"/>
          <p:nvPr/>
        </p:nvSpPr>
        <p:spPr>
          <a:xfrm>
            <a:off x="1320800" y="4826000"/>
            <a:ext cx="431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0A0A0A"/>
                </a:solidFill>
                <a:latin typeface="Pretendard"/>
                <a:ea typeface="Pretendard"/>
                <a:cs typeface="Pretendard"/>
              </a:rPr>
              <a:t>인증샷 남기기 😉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644E0C-3BB7-4281-A8EC-214F501A267E}"/>
              </a:ext>
            </a:extLst>
          </p:cNvPr>
          <p:cNvSpPr txBox="1"/>
          <p:nvPr/>
        </p:nvSpPr>
        <p:spPr>
          <a:xfrm>
            <a:off x="1320800" y="5054600"/>
            <a:ext cx="101092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dirty="0">
                <a:solidFill>
                  <a:srgbClr val="475569"/>
                </a:solidFill>
                <a:latin typeface="Consolas"/>
              </a:rPr>
              <a:t>https://forum.dotnetdev.kr</a:t>
            </a:r>
            <a:endParaRPr lang="ko-KR" altLang="en-US" sz="1200" dirty="0">
              <a:solidFill>
                <a:srgbClr val="475569"/>
              </a:solidFill>
              <a:latin typeface="Consola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AA716A-4A8D-4F9E-B019-CE5CF75885C2}"/>
              </a:ext>
            </a:extLst>
          </p:cNvPr>
          <p:cNvSpPr/>
          <p:nvPr/>
        </p:nvSpPr>
        <p:spPr>
          <a:xfrm>
            <a:off x="762000" y="5562600"/>
            <a:ext cx="10668000" cy="635000"/>
          </a:xfrm>
          <a:prstGeom prst="rect">
            <a:avLst/>
          </a:prstGeom>
          <a:solidFill>
            <a:srgbClr val="ECFD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89E642-82AC-48D6-965A-DC120D2B4DB0}"/>
              </a:ext>
            </a:extLst>
          </p:cNvPr>
          <p:cNvSpPr txBox="1"/>
          <p:nvPr/>
        </p:nvSpPr>
        <p:spPr>
          <a:xfrm>
            <a:off x="1016000" y="57658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300" b="1">
                <a:solidFill>
                  <a:srgbClr val="10B981"/>
                </a:solidFill>
                <a:latin typeface="Pretendard"/>
                <a:ea typeface="Pretendard"/>
                <a:cs typeface="Pretendard"/>
              </a:rPr>
              <a:t>#aspire #dotnetdev_kr — </a:t>
            </a:r>
            <a:r>
              <a:rPr lang="ko-KR" altLang="en-US" sz="1300" b="1">
                <a:solidFill>
                  <a:srgbClr val="10B981"/>
                </a:solidFill>
                <a:latin typeface="Pretendard"/>
                <a:ea typeface="Pretendard"/>
                <a:cs typeface="Pretendard"/>
              </a:rPr>
              <a:t>첫 </a:t>
            </a:r>
            <a:r>
              <a:rPr lang="en-US" altLang="ko-KR" sz="1300" b="1">
                <a:solidFill>
                  <a:srgbClr val="10B981"/>
                </a:solidFill>
                <a:latin typeface="Pretendard"/>
                <a:ea typeface="Pretendard"/>
                <a:cs typeface="Pretendard"/>
              </a:rPr>
              <a:t>aspire run </a:t>
            </a:r>
            <a:r>
              <a:rPr lang="ko-KR" altLang="en-US" sz="1300" b="1">
                <a:solidFill>
                  <a:srgbClr val="10B981"/>
                </a:solidFill>
                <a:latin typeface="Pretendard"/>
                <a:ea typeface="Pretendard"/>
                <a:cs typeface="Pretendard"/>
              </a:rPr>
              <a:t>스크린샷을 공유해 주세요</a:t>
            </a:r>
            <a:r>
              <a:rPr lang="en-US" altLang="ko-KR" sz="1300" b="1">
                <a:solidFill>
                  <a:srgbClr val="10B981"/>
                </a:solidFill>
                <a:latin typeface="Pretendard"/>
                <a:ea typeface="Pretendard"/>
                <a:cs typeface="Pretendard"/>
              </a:rPr>
              <a:t>.</a:t>
            </a:r>
            <a:endParaRPr lang="ko-KR" altLang="en-US" sz="1300" b="1">
              <a:solidFill>
                <a:srgbClr val="10B98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A3960E-DB81-4010-AA71-86788E1311F3}"/>
              </a:ext>
            </a:extLst>
          </p:cNvPr>
          <p:cNvSpPr txBox="1"/>
          <p:nvPr/>
        </p:nvSpPr>
        <p:spPr>
          <a:xfrm>
            <a:off x="406400" y="64262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94A3B8"/>
                </a:solidFill>
                <a:latin typeface="Pretendard"/>
                <a:ea typeface="Pretendard"/>
                <a:cs typeface="Pretendard"/>
              </a:rPr>
              <a:t>.NET Universe Busan Edition - 2604</a:t>
            </a:r>
            <a:endParaRPr lang="ko-KR" altLang="en-US" sz="1000">
              <a:solidFill>
                <a:srgbClr val="94A3B8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822724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0FAA3-2D12-780A-A011-222D54E04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B23898-8BC8-4108-E14F-F6DA75DCF858}"/>
              </a:ext>
            </a:extLst>
          </p:cNvPr>
          <p:cNvSpPr txBox="1"/>
          <p:nvPr/>
        </p:nvSpPr>
        <p:spPr>
          <a:xfrm>
            <a:off x="762000" y="2159000"/>
            <a:ext cx="10668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9600" b="1" dirty="0">
                <a:solidFill>
                  <a:srgbClr val="0A0A0A"/>
                </a:solidFill>
                <a:latin typeface="+mn-ea"/>
                <a:cs typeface="Pretendard"/>
              </a:rPr>
              <a:t>고맙습니다</a:t>
            </a:r>
            <a:r>
              <a:rPr lang="en-US" altLang="ko-KR" sz="9600" b="1" dirty="0">
                <a:solidFill>
                  <a:srgbClr val="0A0A0A"/>
                </a:solidFill>
                <a:latin typeface="+mn-ea"/>
                <a:cs typeface="Pretendard"/>
              </a:rPr>
              <a:t>.</a:t>
            </a:r>
            <a:endParaRPr lang="ko-KR" altLang="en-US" sz="9600" b="1" dirty="0">
              <a:solidFill>
                <a:srgbClr val="0A0A0A"/>
              </a:solidFill>
              <a:latin typeface="+mn-ea"/>
              <a:cs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87BA85-B2FB-DEB8-4ED5-1C4A37726CF4}"/>
              </a:ext>
            </a:extLst>
          </p:cNvPr>
          <p:cNvSpPr txBox="1"/>
          <p:nvPr/>
        </p:nvSpPr>
        <p:spPr>
          <a:xfrm>
            <a:off x="762000" y="43180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6366F1"/>
                </a:solidFill>
                <a:latin typeface="+mn-ea"/>
                <a:cs typeface="Pretendard"/>
              </a:rPr>
              <a:t>LINKEDIN</a:t>
            </a:r>
            <a:endParaRPr lang="ko-KR" altLang="en-US" sz="1000" b="1">
              <a:solidFill>
                <a:srgbClr val="6366F1"/>
              </a:solidFill>
              <a:latin typeface="+mn-ea"/>
              <a:cs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D424D3-FFFF-10DF-28B2-B2D96CE98753}"/>
              </a:ext>
            </a:extLst>
          </p:cNvPr>
          <p:cNvSpPr txBox="1"/>
          <p:nvPr/>
        </p:nvSpPr>
        <p:spPr>
          <a:xfrm>
            <a:off x="762000" y="4572000"/>
            <a:ext cx="762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000">
                <a:solidFill>
                  <a:srgbClr val="0A0A0A"/>
                </a:solidFill>
                <a:latin typeface="+mn-ea"/>
              </a:rPr>
              <a:t>linkedin.com/in/rkttu</a:t>
            </a:r>
            <a:endParaRPr lang="ko-KR" altLang="en-US" sz="2000">
              <a:solidFill>
                <a:srgbClr val="0A0A0A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CD2391-290D-801F-E847-C2A87255E545}"/>
              </a:ext>
            </a:extLst>
          </p:cNvPr>
          <p:cNvSpPr txBox="1"/>
          <p:nvPr/>
        </p:nvSpPr>
        <p:spPr>
          <a:xfrm>
            <a:off x="762000" y="50800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000" b="1">
                <a:solidFill>
                  <a:srgbClr val="6366F1"/>
                </a:solidFill>
                <a:latin typeface="+mn-ea"/>
                <a:cs typeface="Pretendard"/>
              </a:rPr>
              <a:t>닷넷데브 포럼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7388F1-4DDA-2468-6A69-985FCA22767B}"/>
              </a:ext>
            </a:extLst>
          </p:cNvPr>
          <p:cNvSpPr txBox="1"/>
          <p:nvPr/>
        </p:nvSpPr>
        <p:spPr>
          <a:xfrm>
            <a:off x="762000" y="5334000"/>
            <a:ext cx="762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000">
                <a:solidFill>
                  <a:srgbClr val="0A0A0A"/>
                </a:solidFill>
                <a:latin typeface="+mn-ea"/>
              </a:rPr>
              <a:t>forum.dotnetdev.kr</a:t>
            </a:r>
            <a:endParaRPr lang="ko-KR" altLang="en-US" sz="2000">
              <a:solidFill>
                <a:srgbClr val="0A0A0A"/>
              </a:solidFill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EC12F7-F8BC-3806-2BCD-1B573792FD00}"/>
              </a:ext>
            </a:extLst>
          </p:cNvPr>
          <p:cNvSpPr txBox="1"/>
          <p:nvPr/>
        </p:nvSpPr>
        <p:spPr>
          <a:xfrm>
            <a:off x="409575" y="6429375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.NET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Universe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Busan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Edition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-</a:t>
            </a:r>
            <a:r>
              <a:rPr lang="ko-KR" altLang="en-US" sz="1000" dirty="0">
                <a:solidFill>
                  <a:srgbClr val="94A3B8"/>
                </a:solidFill>
                <a:latin typeface="+mn-ea"/>
                <a:cs typeface="Pretendard"/>
              </a:rPr>
              <a:t> </a:t>
            </a:r>
            <a:r>
              <a:rPr lang="en-US" altLang="ko-KR" sz="1000" dirty="0">
                <a:solidFill>
                  <a:srgbClr val="94A3B8"/>
                </a:solidFill>
                <a:latin typeface="+mn-ea"/>
                <a:cs typeface="Pretendard"/>
              </a:rPr>
              <a:t>2604</a:t>
            </a:r>
            <a:endParaRPr lang="ko-KR" altLang="en-US" sz="1000" dirty="0">
              <a:solidFill>
                <a:srgbClr val="94A3B8"/>
              </a:solidFill>
              <a:latin typeface="+mn-ea"/>
              <a:cs typeface="Pretendar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F6B05F-17C6-67DC-E7E9-053EA8657977}"/>
              </a:ext>
            </a:extLst>
          </p:cNvPr>
          <p:cNvSpPr txBox="1"/>
          <p:nvPr/>
        </p:nvSpPr>
        <p:spPr>
          <a:xfrm>
            <a:off x="762000" y="635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altLang="ko-KR" sz="1100" b="1" dirty="0">
                <a:solidFill>
                  <a:srgbClr val="6366F1"/>
                </a:solidFill>
                <a:latin typeface="+mn-ea"/>
                <a:cs typeface="Pretendard"/>
              </a:rPr>
              <a:t>.NET ASPIRE · </a:t>
            </a:r>
            <a:r>
              <a:rPr lang="ko-KR" altLang="en-US" sz="1100" b="1" dirty="0">
                <a:solidFill>
                  <a:srgbClr val="6366F1"/>
                </a:solidFill>
                <a:latin typeface="+mn-ea"/>
                <a:cs typeface="Pretendard"/>
              </a:rPr>
              <a:t>분산 시스템 실습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682C7E4-43D1-3920-E81E-42B43DC11A2D}"/>
              </a:ext>
            </a:extLst>
          </p:cNvPr>
          <p:cNvSpPr/>
          <p:nvPr/>
        </p:nvSpPr>
        <p:spPr>
          <a:xfrm>
            <a:off x="857250" y="895350"/>
            <a:ext cx="304800" cy="25400"/>
          </a:xfrm>
          <a:prstGeom prst="rect">
            <a:avLst/>
          </a:prstGeom>
          <a:solidFill>
            <a:srgbClr val="6366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>
              <a:latin typeface="+mn-ea"/>
            </a:endParaRPr>
          </a:p>
        </p:txBody>
      </p:sp>
      <p:pic>
        <p:nvPicPr>
          <p:cNvPr id="17" name="Picture 6">
            <a:extLst>
              <a:ext uri="{FF2B5EF4-FFF2-40B4-BE49-F238E27FC236}">
                <a16:creationId xmlns:a16="http://schemas.microsoft.com/office/drawing/2014/main" id="{1CA6BAA4-F45B-BDF9-4B9F-56F4F6267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0038" y="5921375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1D4886A-13ED-DE88-2B96-4439F2522D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714500"/>
            <a:ext cx="4459038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650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 [1776817374849]">
  <a:themeElements>
    <a:clrScheme name="Office">
      <a:dk1>
        <a:srgbClr val="0A0A0A"/>
      </a:dk1>
      <a:lt1>
        <a:srgbClr val="FFFFFF"/>
      </a:lt1>
      <a:dk2>
        <a:srgbClr val="1F2937"/>
      </a:dk2>
      <a:lt2>
        <a:srgbClr val="F5F5F4"/>
      </a:lt2>
      <a:accent1>
        <a:srgbClr val="6366F1"/>
      </a:accent1>
      <a:accent2>
        <a:srgbClr val="EC4899"/>
      </a:accent2>
      <a:accent3>
        <a:srgbClr val="10B981"/>
      </a:accent3>
      <a:accent4>
        <a:srgbClr val="F59E0B"/>
      </a:accent4>
      <a:accent5>
        <a:srgbClr val="64748B"/>
      </a:accent5>
      <a:accent6>
        <a:srgbClr val="8B5CF6"/>
      </a:accent6>
      <a:hlink>
        <a:srgbClr val="467886"/>
      </a:hlink>
      <a:folHlink>
        <a:srgbClr val="96607D"/>
      </a:folHlink>
    </a:clrScheme>
    <a:fontScheme name="Microsoft GothicNeo">
      <a:majorFont>
        <a:latin typeface="Microsoft GothicNeo"/>
        <a:ea typeface="Microsoft GothicNeo"/>
        <a:cs typeface=""/>
      </a:majorFont>
      <a:minorFont>
        <a:latin typeface="Microsoft GothicNeo"/>
        <a:ea typeface="Microsoft GothicNe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133A8F9-452B-4D65-A7A1-7A7B2156226E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0eb4401-07f6-4aee-85bd-dc2d5d9d6d6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1989</TotalTime>
  <Words>4339</Words>
  <Application>Microsoft Macintosh PowerPoint</Application>
  <PresentationFormat>와이드스크린</PresentationFormat>
  <Paragraphs>550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1" baseType="lpstr">
      <vt:lpstr>Microsoft GothicNeo</vt:lpstr>
      <vt:lpstr>Pretendard</vt:lpstr>
      <vt:lpstr>Arial</vt:lpstr>
      <vt:lpstr>Consolas</vt:lpstr>
      <vt:lpstr>Lucida Console</vt:lpstr>
      <vt:lpstr>Office 테마 [1776817374849]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정현 남</dc:creator>
  <cp:lastModifiedBy>정현 남</cp:lastModifiedBy>
  <cp:revision>3</cp:revision>
  <dcterms:created xsi:type="dcterms:W3CDTF">2026-04-22T00:10:18Z</dcterms:created>
  <dcterms:modified xsi:type="dcterms:W3CDTF">2026-04-25T00:22:26Z</dcterms:modified>
</cp:coreProperties>
</file>