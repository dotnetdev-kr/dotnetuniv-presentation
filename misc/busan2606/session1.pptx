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94" r:id="rId23"/>
    <p:sldId id="295" r:id="rId24"/>
    <p:sldId id="277" r:id="rId25"/>
    <p:sldId id="278" r:id="rId26"/>
    <p:sldId id="279" r:id="rId27"/>
    <p:sldId id="287" r:id="rId28"/>
    <p:sldId id="280" r:id="rId29"/>
    <p:sldId id="293" r:id="rId30"/>
    <p:sldId id="281" r:id="rId31"/>
    <p:sldId id="282" r:id="rId32"/>
    <p:sldId id="292"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2B189-4889-4FAB-9DA0-080479266439}" v="2" dt="2026-06-19T15:14:01.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32" autoAdjust="0"/>
    <p:restoredTop sz="94698"/>
  </p:normalViewPr>
  <p:slideViewPr>
    <p:cSldViewPr snapToGrid="0">
      <p:cViewPr varScale="1">
        <p:scale>
          <a:sx n="111" d="100"/>
          <a:sy n="111" d="100"/>
        </p:scale>
        <p:origin x="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오프닝은 천천히. '카덴차'는 협주곡에서 오케스트라가 멈추고 독주자 한 명이 가장 자유롭게 홀로 연주하는 구간 — 원래 즉흥 연주였다. 오늘 보여줄 것: .NET 개발에도 그 카덴차의 순간이 있다는 이야기. 솔루션도 csproj도 빌드 의식도 멈추고 .cs 파일 한 장으로 완결된 프로그램을 연주한다. 준비물은 VS Code와 .NET 10 SDK, 둘뿐. 기술적으로는 'csproj 없는 단일 파일 실행'이라는 번역을 한 번 명시할 것.</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순서를 한 곡의 아홉 악장처럼 소개. 시간 배분은 머릿속으로만 — 데모(VI)와 클라우드(VII)에 가장 큰 비중. 청중에게는 흐름만 가볍게: 기본기 → Cadenza → 라이브 데모 → 클라우드 → 마무리. 음악 비유를 프로그램(연주회 순서지)처럼 끌고 갈 것.</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협주곡을 들어보면 오케스트라가 한꺼번에 연주하다 어느 순간 모두 멈추고, 독주자 한 명만 남아 가장 화려하게 홀로 연주한다 — 이 구간이 카덴차. 원래 즉흥 연주였다. 반주가 사라진 자리에서 한 명이 완성된 한 곡을 들려주는 순간. 50분 동안 두 가지 약속: (1) .NET 10이 기본 제공하는 단일 파일 개발의 기본기, (2) 직접 만든 Cadenza SDK 패밀리로 콘솔·웹·워커·MCP 서버까지 파일 하나로 만드는 라이브 데모. 음악 비유를 싫어하는 청중을 위해 '단일 파일 실행'이라는 번역을 명시.</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간단한 텍스트 처리 스크립트가 필요할 때 많은 사람이 Python을 떠올린다 — 파일 하나, python script.py로 끝. C#은 강력하지만 '떠오른 순간 첫 음을 누른다'는 측면에서 오래 무거웠다. CS-Script, dotnet-script, LINQPad, Cake 같은 시도가 있었지만 별도 설치가 필요했고 미묘하게 다른 방언이었다. .NET 10에서 이 기능이 SDK 안으로 들어왔다 — 표준 그대로. 경쟁 도구를 깎아내리지 말 것. Python 사용자를 자극하지 말 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hello.cs에 Console.WriteLine 한 줄. csproj도 Main도 클래스도 없는 최상위 문 한 줄. 터미널에서 dotnet run hello.cs — 그게 전부. 처음엔 SDK가 내부적으로 빌드하지만 결과물이 캐시되어 두 번째부터 즉시 시작. 우리 눈엔 그냥 '파일 하나 실행', Python처럼. 이게 .NET 10 SDK에 정식으로 들어온 File-based Apps. 대상은 SDK 10.0.300 이상.</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 한 장으로 쓸모 있는 걸 만들려면 csproj가 해주던 일(패키지 참조, SDK 선택, 빌드 속성)이 어딘가 있어야 한다. File-based Apps는 이걸 파일 맨 위 #: 디렉티브로 해결. 다섯 개. (1) #:package — NuGet 직접 참조, 첫 실행 때 자동 복원. 와일드카드 @* 도 되지만 재현성을 위해 버전 명시 권장. (2) #:sdk — 기본은 Microsoft.NET.Sdk(콘솔), Microsoft.NET.Sdk.Web을 적으면 웹 프로젝트처럼 취급되어 Minimal API 사용 가능. 오늘의 핵심. (3) #:property — MSBuild 속성, 예: PublishAot=true. (4)(5) #:project / #:include. 오늘은 앞 세 개에 집중. 다섯 개를 다 외우게 할 필요 없이 #:sdk 하나로 부담을 덜 것. (선택 데모) Humanizer 예제로 패키지 자동 복원을 눈으로 — 캐시 미리 데울 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더. (1) shebang — 유닉스에서 첫 줄 #!/usr/bin/env dotnet run + 실행 권한이면 ./app.cs로 진짜 스크립트처럼 동작. (2) 빌드 캐시 — 첫 실행만 빌드, 이후 즉시. 반복 비용 ≈ 0. (3) 안전장치 — 단일 파일로 부족해지면 dotnet project convert app.cs 한 번으로 정식 프로젝트로 변환. 폴더·csproj 생성, 디렉티브를 진짜 MSBuild 설정으로. 단일 파일은 막다른 길이 아니라 졸업할 수 있는 출발점.</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솔직하게 짚을 것: .NET 10의 File-based Apps는 단일 파일 경험을 탄탄히 하는 데 집중했고, 멀티 파일은 .NET 11로 넘어갔다. 그러니 오늘 무대는 '파일 한 장'. 그 한 장에서 어디까지 갈 수 있는지가 오늘의 주제. 여기까지가 .NET 10 기본기, 이제부터가 본론.</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섹션이 발표의 전환점. #:sdk 하나로 웹 프로젝트가 된다고 했고, 실제로 해보면 CreateBuilder·Build·MapGet·Run. 동작은 한다. 하지만 이 네 단계 골격은 여전히 직접 쓴다. 콘솔에서 셸 명령 하나 실행하려 해도 Process.Start에 ProcessStartInfo 채우고 스트림 읽는 코드를 매번. File-based Apps는 '무대 세팅'을 없앴지만 보일러플레이트는 그대로. 카덴차의 핵심은 즉흥성인데 매번 음계 연습부터면 즉흥이 아니다. 그래서 반복 골격을 SDK가 흡수하게 만들었다 = Cadenza. 화면의 보일러플레이트를 손가락으로 짚으며 '이게 매번 반복된다' 강조.</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이름부터. Cadenza — 협주곡에서 오케스트라가 멈추고 독주자가 홀로 연주하는 구간. 단일 파일 .cs가 정확히 그렇다 — 반주 없이 한 명이 완성된 곡. 그리고 카덴차는 협주곡과 대립하지 않는다, 같은 곡의 다른 부분일 뿐. 마찬가지로 Cadenza SDK는 csproj 기반 개발을 부정하지 않는다 — 같은 .NET 생태계의 다른 모드, 같은 개발자가 오간다. 가장 좋아하는 디테일: C#의 # 기호는 음악 기호 sharp. C#은 이름부터 이미 음악이었다. Cadenza와 C#은 같은 음악 우주의 자매 — 우연이 아니라 의도.</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Cadenza는 하나가 아니라 다섯 SDK의 패밀리, 모두 NuGet의 MSBuild SDK 패키지로 배포. Cadenza(콘솔·CLI), Cadenza.Worker(백그라운드·데몬), Cadenza.Web(웹·Minimal API), Cadenza.Mcp(Claude·Cursor·VS Code가 붙는 MCP 서버), Cadenza.Agent(로컬 AI를 OpenAI 호환 HTTP 서버로). 무대 고르는 법은 첫 줄 #:sdk 한 줄. 주의: 버전은 정확히, 1.* 같은 와일드카드 안 됨 — MSBuild SDK 참조는 floating 버전 미지원, 쓰면 '버전 미지정' 오류. 새 버전 나오면 직접 갱신.</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Cadenza 설계 철학 하나: Tier 1 — 접두사 없이 바로 부르는 이름들. 파일 목록은 보통 Directory.EnumerateFiles에 검색 옵션까지. Cadenza에선 Glob("**/*.md"). 텍스트는 ReadText(path), 셸 출력 캡처는 Capture("git status"). 가능한 이유는 global using static — SDK가 정적 클래스를 전역 임포트, 접두사 비용을 대신 흡수. 대신 Tier 1은 의도적으로 작게(변종당 10개 안쪽), README 한 화면. 그러면서 PascalCase는 유지 — C#의 정체성을 지키고 주변 코드와 어긋나지 않게. 다른 스크립트 언어처럼 보이는 게 목표가 아니다, 어디까지나 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재미있는 설계: Run이라는 같은 이름이 SDK마다 다른 의미. 콘솔=셸 명령 실행, 워커=백그라운드 호스트 시작, 웹=웹 서버, MCP=MCP 서버. 혼란스럽지 않은 건 #:sdk가 항상 첫 줄에 있어 Run의 의미를 결정하기 때문 — 파이썬 스크립트가 첫 줄 shebang으로 정체성을 잡는 것과 같다. 한 파일 안에서 Run의 의미는 언제나 하나. 이게 Cadenza의 핵심 감각: 첫 줄이 무대를 정하면 나머지는 그 무대의 문법으로 흐른다. '말은 충분히 했다, 직접 보자'로 데모 전환.</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 공통: VS Code 한 창, 통합 터미널 하단 고정, 폰트 최소 18pt. 각 데모 파일은 미리 한 번 실행해 NuGet 복원 캐시를 데워 둘 것 — 무대에서 첫 실행 복원 대기는 치명적. 네트워크 불안정 대비, MCP/HTTP는 로컬 완결 + 녹화 백업. 데모마다 '첫 줄을 보세요'를 반복 멘트로 #:sdk 인지 강화.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무대는 콘솔. 상황: 폴더 안 마크다운 문서들의 글자 수를 한눈에. 첫 줄을 보세요 — 콘솔 무대. 실행하면 세 줄, csproj·using·Main 없음. Glob으로 하위 폴더까지 찾고 ReadText로 글자 수, 접두사 없음. 한 걸음 더: git 상태를 읽어 커밋 안 된 변경이 있으면 배포를 막는 가드. Capture가 셸 출력을 그대로 문자열로 — Process도 스트림 리다이렉션도 없다. 이게 콘솔 무대의 카덴차. (사전 실행으로 캐시 워밍 필수.)</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무대는 웹. 첫 줄만 바꾼다 — Cadenza.Web. 실행 후: 4번에서 본 CreateBuilder·Build·Run 골격이 다 사라졌다. Get으로 경로 매핑, Run으로 서버. 브라우저로 localhost health 열면 JSON 그대로 — 익명 객체 반환하면 알아서 직렬화. ASP.NET Core Minimal API를 그대로 쓰고 Cadenza는 짧은 이름만 얹었다(기반 SDK 의미를 망가뜨리지 않는 원칙). 첫 줄의 힘: 콘솔 Run은 셸, 웹 Run은 서버. 포트 충돌 대비 기존 dotnet 프로세스 종료 확인.</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무대는 워커 — 주기적으로 뭔가 하는 백그라운드. 첫 줄 Cadenza.Worker. 3초마다 심장박동 로그. 핵심은 Run이 넘겨받는 CancellationToken — Ctrl+C를 누르면 루프가 우아하게 종료, 취소 신호를 받아 깔끔히 빠져나온다. 호스팅된 백그라운드 서비스의 정석인데 우리 코드는 사실상 while 루프 하나. 디테일: 워커 출력은 WriteLine이 아니라 Log.Info — 로깅과 콘솔 출력을 헷갈리는 게 워커 작성자의 흔한 함정이라 Cadenza가 로깅을 명시적으로 유도. 이런 의도된 제약이 곳곳에.</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무대가 가장 흥미롭다 — MCP 서버. MCP(Model Context Protocol)는 Claude 같은 AI 에이전트가 외부 도구를 호출하게 해주는 프로토콜. 보통은 프로토콜 핸들링·도구 스키마·전송 계층까지 신경 쓸 게 많지만 Cadenza에선 파일 한 장. 첫 줄 Cadenza.Mcp. Tool로 이름·설명·람다를 등록, AI가 설명을 읽고 호출 시점을 스스로 판단. Run이 stdio로 가동. Claude Desktop 설정 파일에 command: dotnet, args: [run, /절대경로/mcp-files.cs]만. 함정: WriteLine 금지 — stdio MCP는 표준 출력으로 JSON-RPC를 주고받아, 우리가 표준 출력에 쓰면 연결이 끊긴다. 진단은 Log.Info(표준 에러). 실연동은 의존성이 크므로 사전 녹화 또는 설정만 보여주고 개념 마무리 — 백업 필수. 시간 남으면 Cadenza.Agent(agent-basic.cs, UseOllama+Run)를 보너스로 언급.</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데모의 클라이맥스. 지금까지의 데모는 전부 로컬이었다 — 콘솔·웹·워커·MCP, 내 노트북 안. 이제 무대를 프로덕션 클라우드로 옮긴다. 한 가지는 그대로 가져간다: 파일 한 장이라는 정신. Microsoft의 프로덕션급 에이전트 스택(Agent Framework + Foundry)을 .cs 파일 한 장으로, 그리고 이번엔 직접 타이핑하지 않고 GitHub Copilot에게 시킨다. 다리는 짧게 — '로컬에서 프로덕션으로, 그런데 여전히 단일 파일' 한 문장이 핵심. '독주는 그대로인데 콘서트홀이 더 크다.' 전체 50분이 빠듯하면 6번 데모 중 워커나 MCP 하나를 압축해 시간을 확보. #:package 버전과 프리뷰/안정 채널, 환경 변수·모델 배포 이름은 출시 직전·데모 환경에 맞춰 확인.</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다리는 짧게. 핵심 한 문장: 로컬에서 프로덕션으로, 그런데 여전히 단일 파일. 앞에서 Cadenza가 Copilot 같은 AI 코딩 에이전트에게 사용법을 미리 알려 준다고 했는데, 그 아이디어를 한 단계 더 밀어붙이는 구간. 사람은 의도만 말하고, Copilot이 단일 파일을 써 주고, 우리는 실행만 한다. 음악 비유: 독주는 그대로인데 이번엔 콘서트홀이 더 크다.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단어만 정리하고 데모로. (1) MAF — 에이전트를 만드는 오픈소스 SDK·런타임. 그동안 Microsoft의 에이전트 프레임워크가 Semantic Kernel과 AutoGen 두 갈래였는데, 이 둘이 합쳐진 결과물. 2026년 4월 1.0 정식. .NET·Python 공통 개념·API — 채팅 클라이언트, 도구, MCP 연동, 미들웨어, 멀티 에이전트 워크플로까지. (2) Foundry — 예전 Azure AI Foundry, 에이전트를 실제로 굴리는 곳. 모델 카탈로그, 배포·확장하는 Agent Service, 관측성(추적·평가·모니터링). 관계는 간단: MAF로 빌드, Foundry로 실행. 오늘 할 일은 이 그림의 출발점 — MAF 단일 파일 에이전트가 Foundry 모델을 백엔드로. Semantic Kernel/AutoGen 통합 히스토리는 한 문장만, 깊은 질문은 Q&amp;A로.</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Code에서 빈 파일 foundry-agent.cs 하나. Copilot 채팅에 코드가 아니라 말로 의도를 말한다. 중요한 건 마지막 문장 'csproj는 만들지 마' — Copilot의 기본 습관은 정식 프로젝트라서 단일 파일 규칙을 알려 줘야 한다. Cadenza가 어댑터 파일로 규칙을 배포하듯, 프로젝트에 copilot-instructions.md를 두면 매번 안 일러줘도 단일 파일로 써 준다. [데모 사전 점검] Foundry 프로젝트·모델 배포 준비, AZURE_AI_PROJECT_ENDPOINT·AZURE_AI_MODEL_DEPLOYMENT_NAME 설정, az login 완료(DefaultAzureCredential이 Azure CLI 자격 증명 사용). NuGet 복원은 미리 한 번 실행해 캐시 워밍. Copilot 라이브 생성이 흔들릴 때를 대비해 검증된 동일 프롬프트와 결과 파일을 백업으로 — 흔들리면 백업 파일로 '이렇게 나옵니다' 전환. 응답 지연 대비 녹화 1본도.</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Copilot이 채워 준 파일. 맨 위 네 줄이 핵심 — MAF 코어 Microsoft.Agents.AI, Foundry 연동 Microsoft.Agents.AI.Foundry, 프로젝트 클라이언트 Azure.AI.Projects, 인증 Azure.Identity. 이 네 개를 #:package로 끌어오고 csproj는 없다. 본문은 단순 — AIProjectClient를 만들고 .AsAIAgent로 에이전트로 바꾸고 RunAsync로 한 번. 인증은 DefaultAzureCredential이 az login 자격 증명을 집어 간다, 키를 코드에 박지 않는다. dotnet run 한 번이면 Foundry 배포 모델에 붙어 진짜 응답. 프로덕션 스택인데 파일 한 장. 모델 배포 이름은 환경 변수 AZURE_AI_MODEL_DEPLOYMENT_NAME, 없으면 gpt-4o-mini 폴백.</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그냥 대답만 하면 챗봇. 에이전트답게 도구를 준다. 다시 Copilot에게 말로 시킨다. 도구는 그냥 C# 메서드 — [Description]으로 모델이 읽을 설명을 붙이고 AIFunctionFactory.Create로 감싸 도구 목록에. 이번엔 AsAIAgent 대신 CreateAIAgentAsync — Foundry 쪽에 에이전트와 도구 스키마를 저장하는 방식, 스키마는 서버가 보관하고 구현은 우리 코드가 제공. '서울은 지금 몇 시야?'를 물으면 모델이 우리 시간 도구를 호출할지 스스로 판단. 우리가 만든 C# 메서드를 클라우드 모델이 손에 쥐고 쓴다. 전체가 파일 한 장, 그리고 그 파일을 Copilot이 써 줬다.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 스크립트가 일회성 장난감처럼 보일 수 있지만 아니다. 셋: (1) 배포 — 어느 파일이든 dotnet publish로 런타임 포함 자체 포함 바이너리. 받는 사람은 .NET 설치 불필요, Go처럼. 핵심은 개발 중 비용 0(dotnet run은 JIT으로 가볍게), 무거운 최적화는 publish 시점에만. 더 필요하면 #:property PublishAot=true로 NativeAOT까지. (2) 템플릿 — dotnet new install Cadenza.Templates, 다섯 변종 starter, 버전 미리 핀. (3) AI 코딩 에이전트 어댑터 — Copilot·Cursor·Claude Code·Aider·Continue가 인식하는 경로에 사용법 배포. 'Cadenza로 워커 만들어줘'면 정확한 문법으로. 사람이 쉬운 SDK가 AI도 쉬운 SDK. (바이너리 크기는 질문 나올 때만: self-contained 약 60-80MB, AOT 약 10-30MB.)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멈추지 않는다. 이 에이전트를 서비스로 노출하려면 웹 SDK로 바꾸고 호스팅 패키지를 더해 AddFoundryResponses와 MapFoundryResponses 두 줄을 얹으면 OpenAI 호환 Responses 엔드포인트가 된다. 그다음은 앞 데모에서 본 dotnet publish로 단일 바이너리·컨테이너로 묶어 Foundry가 호스팅하는 에이전트로. 프로토타입은 단일 파일, 운영은 호스팅된 에이전트 — 같은 코드가 졸업하는 길. 시간 압박이 있으면 이 슬라이드는 통째로 생략 가능, 남으면 '단일 파일이 막다른 길이 아니라 출발점'이라는 메시지만 강조.</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세 층이 하나로 겹쳤다. 맨 아래 형식: .NET 10 file-based app, 파일 한 장 — Cadenza가 발명한 게 아니라 .NET 10의 기본기. 사실 이 에이전트엔 Cadenza SDK가 안 들어갔다. MAF가 이미 깔끔한 API를 줘서 file-based app 기본기와 #:package만으로 충분. '단일 파일은 특정 SDK가 아니라 .NET의 기본 능력' — 이게 발표 전체를 관통하는 메시지. 가운데 스택: 그 한 장 안에 프로덕션급 에이전트 프레임워크와 클라우드 모델 플랫폼. 단일 파일이 장난감이 아니라는 증거. 맨 위 작성: 그 파일을 Copilot이 써 줬고 사람은 의도만 말했다 — 아이디어와 첫 음 사이 거리가 거의 0. 카덴차로 회귀: 독주를 점점 더 큰 무대로(로컬 → 웹·MCP → 클라우드 에이전트), 마지막엔 Copilot이라는 반주자가 악보를 대신 받아 적었다. '이 에이전트엔 Cadenza가 안 들어갔다'를 솔직하게 말하는 게 신뢰를 높인다 — 정직한 클라이맥스. [예상 Q&amp;A] (1) Cadenza 꼭 필요? 아니오, 순수 .NET 10만으로 동작. (2) AsAIAgent vs CreateAIAgentAsync? 전자는 클라이언트 측 최단 경로, 후자는 Foundry에 스키마 저장하는 영속 방식. (3) Copilot은 SDK인가? 오늘은 코딩 도우미 Copilot으로 단일 파일 '작성', Foundry Hosted Agents의 Copilot SDK와는 다른 층. (4) 인증/키? DefaultAzureCredential, 키 안 넣음. (5) 멀티 에이전트? MAF가 지원하나 복잡하면 dotnet project convert로 졸업 후. 끝나면 곧장 8번(배포와 생태계)으로.</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 스크립트가 일회성 장난감처럼 보일 수 있지만 아니다. 셋: (1) 배포 — 어느 파일이든 dotnet publish로 런타임 포함 자체 포함 바이너리. 받는 사람은 .NET 설치 불필요, Go처럼. 핵심은 개발 중 비용 0(dotnet run은 JIT으로 가볍게), 무거운 최적화는 publish 시점에만. 더 필요하면 #:property PublishAot=true로 NativeAOT까지. (2) 템플릿 — dotnet new install Cadenza.Templates, 다섯 변종 starter, 버전 미리 핀. (3) AI 코딩 에이전트 어댑터 — Copilot·Cursor·Claude Code·Aider·Continue가 인식하는 경로에 사용법 배포. 'Cadenza로 워커 만들어줘'면 정확한 문법으로. 사람이 쉬운 SDK가 AI도 쉬운 SDK. (바이너리 크기는 질문 나올 때만: self-contained 약 60-80MB, AOT 약 10-30MB.)</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처음으로 돌아간다. 협주곡의 카덴차는 오케스트라가 멈추고 독주자가 가장 자유롭게 연주하는 순간 — 오늘 .NET에서 그 순간을 만들었다. 먼저 .NET 10 기본기(dotnet run app.cs, #: 디렉티브), 그 위에 Cadenza를 얹어 첫 줄 #:sdk로 무대를 골라 콘솔·웹·워커·MCP까지 즉흥 연주하듯. 기억할 건 하나: 카덴차는 협주곡을 부정하지 않는다 — 같은 음악의 다른 부분. Cadenza도 csproj 기반을 부정하지 않는다. 다만 아이디어가 떠오른 순간 무대를 차리느라 첫 음을 놓치지 마라. 파일 한 장 열고, 첫 줄에 무대 적고, 바로 연주. 저장소 github.com/rkttu/cadenza, 한국어 문서 있음. 마무리 대사는 외워서 청중을 보며 또박또박.</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처음으로 돌아간다. 협주곡의 카덴차는 오케스트라가 멈추고 독주자가 가장 자유롭게 연주하는 순간 — 오늘 .NET에서 그 순간을 만들었다. 먼저 .NET 10 기본기(dotnet run app.cs, #: 디렉티브), 그 위에 Cadenza를 얹어 첫 줄 #:sdk로 무대를 골라 콘솔·웹·워커·MCP까지 즉흥 연주하듯. 기억할 건 하나: 카덴차는 협주곡을 부정하지 않는다 — 같은 음악의 다른 부분. Cadenza도 csproj 기반을 부정하지 않는다. 다만 아이디어가 떠오른 순간 무대를 차리느라 첫 음을 놓치지 마라. 파일 한 장 열고, 첫 줄에 무대 적고, 바로 연주. 저장소 github.com/rkttu/cadenza, 한국어 문서 있음. 마무리 대사는 외워서 청중을 보며 또박또박.</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572705"/>
      </p:ext>
    </p:extLst>
  </p:cSld>
  <p:clrMap bg1="lt1" tx1="dk1" bg2="lt2" tx2="dk2" accent1="accent1" accent2="accent2" accent3="accent3" accent4="accent4" accent5="accent5" accent6="accent6" hlink="hlink" folHlink="folHlink"/>
  <p:sldLayoutIdLst>
    <p:sldLayoutId id="2147483649" r:id="rId1"/>
  </p:sldLayoutIdLst>
  <p:transition spd="med">
    <p:wip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gist.github.com/rkttu/38c23d0f9faa7f5e38e6cb8d4ae61356#file-prompts-md"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548640" y="1234440"/>
            <a:ext cx="11094415" cy="0"/>
          </a:xfrm>
          <a:prstGeom prst="line">
            <a:avLst/>
          </a:prstGeom>
          <a:noFill/>
          <a:ln w="9525">
            <a:solidFill>
              <a:srgbClr val="D8D1BE"/>
            </a:solidFill>
            <a:prstDash val="solid"/>
          </a:ln>
        </p:spPr>
        <p:txBody>
          <a:bodyPr/>
          <a:lstStyle/>
          <a:p>
            <a:endParaRPr lang="ko-KR" altLang="en-US"/>
          </a:p>
        </p:txBody>
      </p:sp>
      <p:sp>
        <p:nvSpPr>
          <p:cNvPr id="3" name="Shape 1"/>
          <p:cNvSpPr/>
          <p:nvPr/>
        </p:nvSpPr>
        <p:spPr>
          <a:xfrm>
            <a:off x="548640" y="1362456"/>
            <a:ext cx="11094415" cy="0"/>
          </a:xfrm>
          <a:prstGeom prst="line">
            <a:avLst/>
          </a:prstGeom>
          <a:noFill/>
          <a:ln w="9525">
            <a:solidFill>
              <a:srgbClr val="D8D1BE"/>
            </a:solidFill>
            <a:prstDash val="solid"/>
          </a:ln>
        </p:spPr>
        <p:txBody>
          <a:bodyPr/>
          <a:lstStyle/>
          <a:p>
            <a:endParaRPr lang="ko-KR" altLang="en-US"/>
          </a:p>
        </p:txBody>
      </p:sp>
      <p:sp>
        <p:nvSpPr>
          <p:cNvPr id="4" name="Shape 2"/>
          <p:cNvSpPr/>
          <p:nvPr/>
        </p:nvSpPr>
        <p:spPr>
          <a:xfrm>
            <a:off x="548640" y="1490472"/>
            <a:ext cx="11094415" cy="0"/>
          </a:xfrm>
          <a:prstGeom prst="line">
            <a:avLst/>
          </a:prstGeom>
          <a:noFill/>
          <a:ln w="9525">
            <a:solidFill>
              <a:srgbClr val="D8D1BE"/>
            </a:solidFill>
            <a:prstDash val="solid"/>
          </a:ln>
        </p:spPr>
        <p:txBody>
          <a:bodyPr/>
          <a:lstStyle/>
          <a:p>
            <a:endParaRPr lang="ko-KR" altLang="en-US"/>
          </a:p>
        </p:txBody>
      </p:sp>
      <p:sp>
        <p:nvSpPr>
          <p:cNvPr id="5" name="Shape 3"/>
          <p:cNvSpPr/>
          <p:nvPr/>
        </p:nvSpPr>
        <p:spPr>
          <a:xfrm>
            <a:off x="548640" y="1618488"/>
            <a:ext cx="11094415" cy="0"/>
          </a:xfrm>
          <a:prstGeom prst="line">
            <a:avLst/>
          </a:prstGeom>
          <a:noFill/>
          <a:ln w="9525">
            <a:solidFill>
              <a:srgbClr val="D8D1BE"/>
            </a:solidFill>
            <a:prstDash val="solid"/>
          </a:ln>
        </p:spPr>
        <p:txBody>
          <a:bodyPr/>
          <a:lstStyle/>
          <a:p>
            <a:endParaRPr lang="ko-KR" altLang="en-US"/>
          </a:p>
        </p:txBody>
      </p:sp>
      <p:sp>
        <p:nvSpPr>
          <p:cNvPr id="6" name="Shape 4"/>
          <p:cNvSpPr/>
          <p:nvPr/>
        </p:nvSpPr>
        <p:spPr>
          <a:xfrm>
            <a:off x="548640" y="1746504"/>
            <a:ext cx="11094415" cy="0"/>
          </a:xfrm>
          <a:prstGeom prst="line">
            <a:avLst/>
          </a:prstGeom>
          <a:noFill/>
          <a:ln w="9525">
            <a:solidFill>
              <a:srgbClr val="D8D1BE"/>
            </a:solidFill>
            <a:prstDash val="solid"/>
          </a:ln>
        </p:spPr>
        <p:txBody>
          <a:bodyPr/>
          <a:lstStyle/>
          <a:p>
            <a:endParaRPr lang="ko-KR" altLang="en-US"/>
          </a:p>
        </p:txBody>
      </p:sp>
      <p:sp>
        <p:nvSpPr>
          <p:cNvPr id="7" name="Shape 5"/>
          <p:cNvSpPr/>
          <p:nvPr/>
        </p:nvSpPr>
        <p:spPr>
          <a:xfrm>
            <a:off x="1828800" y="1312164"/>
            <a:ext cx="146304" cy="118872"/>
          </a:xfrm>
          <a:prstGeom prst="ellipse">
            <a:avLst/>
          </a:prstGeom>
          <a:solidFill>
            <a:srgbClr val="A9823F"/>
          </a:solidFill>
          <a:ln/>
        </p:spPr>
        <p:txBody>
          <a:bodyPr/>
          <a:lstStyle/>
          <a:p>
            <a:endParaRPr lang="ko-KR" altLang="en-US"/>
          </a:p>
        </p:txBody>
      </p:sp>
      <p:sp>
        <p:nvSpPr>
          <p:cNvPr id="8" name="Shape 6"/>
          <p:cNvSpPr/>
          <p:nvPr/>
        </p:nvSpPr>
        <p:spPr>
          <a:xfrm>
            <a:off x="3108960" y="1568196"/>
            <a:ext cx="146304" cy="118872"/>
          </a:xfrm>
          <a:prstGeom prst="ellipse">
            <a:avLst/>
          </a:prstGeom>
          <a:solidFill>
            <a:srgbClr val="A9823F"/>
          </a:solidFill>
          <a:ln/>
        </p:spPr>
        <p:txBody>
          <a:bodyPr/>
          <a:lstStyle/>
          <a:p>
            <a:endParaRPr lang="ko-KR" altLang="en-US"/>
          </a:p>
        </p:txBody>
      </p:sp>
      <p:sp>
        <p:nvSpPr>
          <p:cNvPr id="9" name="Shape 7"/>
          <p:cNvSpPr/>
          <p:nvPr/>
        </p:nvSpPr>
        <p:spPr>
          <a:xfrm>
            <a:off x="4572000" y="1184148"/>
            <a:ext cx="146304" cy="118872"/>
          </a:xfrm>
          <a:prstGeom prst="ellipse">
            <a:avLst/>
          </a:prstGeom>
          <a:solidFill>
            <a:srgbClr val="A9823F"/>
          </a:solidFill>
          <a:ln/>
        </p:spPr>
        <p:txBody>
          <a:bodyPr/>
          <a:lstStyle/>
          <a:p>
            <a:endParaRPr lang="ko-KR" altLang="en-US"/>
          </a:p>
        </p:txBody>
      </p:sp>
      <p:sp>
        <p:nvSpPr>
          <p:cNvPr id="10" name="Shape 8"/>
          <p:cNvSpPr/>
          <p:nvPr/>
        </p:nvSpPr>
        <p:spPr>
          <a:xfrm>
            <a:off x="6035040" y="1440180"/>
            <a:ext cx="146304" cy="118872"/>
          </a:xfrm>
          <a:prstGeom prst="ellipse">
            <a:avLst/>
          </a:prstGeom>
          <a:solidFill>
            <a:srgbClr val="A9823F"/>
          </a:solidFill>
          <a:ln/>
        </p:spPr>
        <p:txBody>
          <a:bodyPr/>
          <a:lstStyle/>
          <a:p>
            <a:endParaRPr lang="ko-KR" altLang="en-US"/>
          </a:p>
        </p:txBody>
      </p:sp>
      <p:sp>
        <p:nvSpPr>
          <p:cNvPr id="11" name="Shape 9"/>
          <p:cNvSpPr/>
          <p:nvPr/>
        </p:nvSpPr>
        <p:spPr>
          <a:xfrm>
            <a:off x="7498080" y="1696212"/>
            <a:ext cx="146304" cy="118872"/>
          </a:xfrm>
          <a:prstGeom prst="ellipse">
            <a:avLst/>
          </a:prstGeom>
          <a:solidFill>
            <a:srgbClr val="A9823F"/>
          </a:solidFill>
          <a:ln/>
        </p:spPr>
        <p:txBody>
          <a:bodyPr/>
          <a:lstStyle/>
          <a:p>
            <a:endParaRPr lang="ko-KR" altLang="en-US"/>
          </a:p>
        </p:txBody>
      </p:sp>
      <p:sp>
        <p:nvSpPr>
          <p:cNvPr id="12" name="Shape 10"/>
          <p:cNvSpPr/>
          <p:nvPr/>
        </p:nvSpPr>
        <p:spPr>
          <a:xfrm>
            <a:off x="8869680" y="1312164"/>
            <a:ext cx="146304" cy="118872"/>
          </a:xfrm>
          <a:prstGeom prst="ellipse">
            <a:avLst/>
          </a:prstGeom>
          <a:solidFill>
            <a:srgbClr val="A9823F"/>
          </a:solidFill>
          <a:ln/>
        </p:spPr>
        <p:txBody>
          <a:bodyPr/>
          <a:lstStyle/>
          <a:p>
            <a:endParaRPr lang="ko-KR" altLang="en-US"/>
          </a:p>
        </p:txBody>
      </p:sp>
      <p:sp>
        <p:nvSpPr>
          <p:cNvPr id="13" name="Shape 11"/>
          <p:cNvSpPr/>
          <p:nvPr/>
        </p:nvSpPr>
        <p:spPr>
          <a:xfrm>
            <a:off x="10058400" y="1568196"/>
            <a:ext cx="146304" cy="118872"/>
          </a:xfrm>
          <a:prstGeom prst="ellipse">
            <a:avLst/>
          </a:prstGeom>
          <a:solidFill>
            <a:srgbClr val="A9823F"/>
          </a:solidFill>
          <a:ln/>
        </p:spPr>
        <p:txBody>
          <a:bodyPr/>
          <a:lstStyle/>
          <a:p>
            <a:endParaRPr lang="ko-KR" altLang="en-US"/>
          </a:p>
        </p:txBody>
      </p:sp>
      <p:sp>
        <p:nvSpPr>
          <p:cNvPr id="14" name="Text 12"/>
          <p:cNvSpPr/>
          <p:nvPr/>
        </p:nvSpPr>
        <p:spPr>
          <a:xfrm>
            <a:off x="566928" y="2697480"/>
            <a:ext cx="10058400" cy="365760"/>
          </a:xfrm>
          <a:prstGeom prst="rect">
            <a:avLst/>
          </a:prstGeom>
          <a:noFill/>
          <a:ln/>
        </p:spPr>
        <p:txBody>
          <a:bodyPr wrap="square" lIns="0" tIns="0" rIns="0" bIns="0" rtlCol="0" anchor="ctr"/>
          <a:lstStyle/>
          <a:p>
            <a:pPr marL="0" indent="0" algn="l">
              <a:buNone/>
            </a:pPr>
            <a:r>
              <a:rPr lang="en-US" sz="1300" b="1" kern="0" spc="300" dirty="0">
                <a:solidFill>
                  <a:srgbClr val="8A1C2B"/>
                </a:solidFill>
                <a:latin typeface="Malgun Gothic" pitchFamily="34" charset="0"/>
                <a:ea typeface="Malgun Gothic" pitchFamily="34" charset="-122"/>
                <a:cs typeface="Malgun Gothic" pitchFamily="34" charset="-120"/>
              </a:rPr>
              <a:t>.NET 10  ·  FILE-BASED APPS  ·  CADENZA SDK</a:t>
            </a:r>
            <a:endParaRPr lang="en-US" sz="1300" dirty="0"/>
          </a:p>
        </p:txBody>
      </p:sp>
      <p:sp>
        <p:nvSpPr>
          <p:cNvPr id="15" name="Text 13"/>
          <p:cNvSpPr/>
          <p:nvPr/>
        </p:nvSpPr>
        <p:spPr>
          <a:xfrm>
            <a:off x="502920" y="3063240"/>
            <a:ext cx="10972800" cy="1188720"/>
          </a:xfrm>
          <a:prstGeom prst="rect">
            <a:avLst/>
          </a:prstGeom>
          <a:noFill/>
          <a:ln/>
        </p:spPr>
        <p:txBody>
          <a:bodyPr wrap="square" lIns="0" tIns="0" rIns="0" bIns="0" rtlCol="0" anchor="ctr"/>
          <a:lstStyle/>
          <a:p>
            <a:pPr marL="0" indent="0" algn="l">
              <a:buNone/>
            </a:pPr>
            <a:r>
              <a:rPr lang="en-US" sz="6000" b="1" dirty="0">
                <a:solidFill>
                  <a:srgbClr val="1F2330"/>
                </a:solidFill>
                <a:latin typeface="Batang" pitchFamily="34" charset="0"/>
                <a:ea typeface="Batang" pitchFamily="34" charset="-122"/>
                <a:cs typeface="Batang" pitchFamily="34" charset="-120"/>
              </a:rPr>
              <a:t>코드로 연주하는 카덴차</a:t>
            </a:r>
            <a:endParaRPr lang="en-US" sz="6000" dirty="0"/>
          </a:p>
        </p:txBody>
      </p:sp>
      <p:sp>
        <p:nvSpPr>
          <p:cNvPr id="16" name="Text 14"/>
          <p:cNvSpPr/>
          <p:nvPr/>
        </p:nvSpPr>
        <p:spPr>
          <a:xfrm>
            <a:off x="566928" y="4343400"/>
            <a:ext cx="10058400" cy="548640"/>
          </a:xfrm>
          <a:prstGeom prst="rect">
            <a:avLst/>
          </a:prstGeom>
          <a:noFill/>
          <a:ln/>
        </p:spPr>
        <p:txBody>
          <a:bodyPr wrap="square" lIns="0" tIns="0" rIns="0" bIns="0" rtlCol="0" anchor="ctr"/>
          <a:lstStyle/>
          <a:p>
            <a:pPr marL="0" indent="0" algn="l">
              <a:buNone/>
            </a:pPr>
            <a:r>
              <a:rPr lang="en-US" sz="2000" dirty="0">
                <a:solidFill>
                  <a:srgbClr val="6C7180"/>
                </a:solidFill>
                <a:latin typeface="Malgun Gothic" pitchFamily="34" charset="0"/>
                <a:ea typeface="Malgun Gothic" pitchFamily="34" charset="-122"/>
                <a:cs typeface="Malgun Gothic" pitchFamily="34" charset="-120"/>
              </a:rPr>
              <a:t>프로젝트 없이 .cs 파일 하나로 연주하는 닷넷</a:t>
            </a:r>
            <a:endParaRPr lang="en-US" sz="2000" dirty="0"/>
          </a:p>
        </p:txBody>
      </p:sp>
      <p:sp>
        <p:nvSpPr>
          <p:cNvPr id="17" name="Shape 15"/>
          <p:cNvSpPr/>
          <p:nvPr/>
        </p:nvSpPr>
        <p:spPr>
          <a:xfrm>
            <a:off x="585216" y="5212080"/>
            <a:ext cx="457200" cy="36576"/>
          </a:xfrm>
          <a:prstGeom prst="rect">
            <a:avLst/>
          </a:prstGeom>
          <a:solidFill>
            <a:srgbClr val="A9823F"/>
          </a:solidFill>
          <a:ln/>
        </p:spPr>
        <p:txBody>
          <a:bodyPr/>
          <a:lstStyle/>
          <a:p>
            <a:endParaRPr lang="ko-KR" altLang="en-US"/>
          </a:p>
        </p:txBody>
      </p:sp>
      <p:sp>
        <p:nvSpPr>
          <p:cNvPr id="18" name="Text 16"/>
          <p:cNvSpPr/>
          <p:nvPr/>
        </p:nvSpPr>
        <p:spPr>
          <a:xfrm>
            <a:off x="566928" y="5349240"/>
            <a:ext cx="8229600" cy="365760"/>
          </a:xfrm>
          <a:prstGeom prst="rect">
            <a:avLst/>
          </a:prstGeom>
          <a:noFill/>
          <a:ln/>
        </p:spPr>
        <p:txBody>
          <a:bodyPr wrap="square" lIns="0" tIns="0" rIns="0" bIns="0" rtlCol="0" anchor="ctr"/>
          <a:lstStyle/>
          <a:p>
            <a:pPr marL="0" indent="0" algn="l">
              <a:buNone/>
            </a:pPr>
            <a:r>
              <a:rPr lang="en-US" sz="1500" b="1" dirty="0">
                <a:solidFill>
                  <a:srgbClr val="1F2330"/>
                </a:solidFill>
                <a:latin typeface="Malgun Gothic" pitchFamily="34" charset="0"/>
                <a:ea typeface="Malgun Gothic" pitchFamily="34" charset="-122"/>
                <a:cs typeface="Malgun Gothic" pitchFamily="34" charset="-120"/>
              </a:rPr>
              <a:t>남정현</a:t>
            </a:r>
            <a:r>
              <a:rPr lang="en-US" sz="1500" dirty="0">
                <a:solidFill>
                  <a:srgbClr val="6C7180"/>
                </a:solidFill>
                <a:latin typeface="Malgun Gothic" pitchFamily="34" charset="0"/>
                <a:ea typeface="Malgun Gothic" pitchFamily="34" charset="-122"/>
                <a:cs typeface="Malgun Gothic" pitchFamily="34" charset="-120"/>
              </a:rPr>
              <a:t>      발표 50분</a:t>
            </a:r>
            <a:endParaRPr lang="en-US" sz="1500" dirty="0"/>
          </a:p>
        </p:txBody>
      </p:sp>
      <p:sp>
        <p:nvSpPr>
          <p:cNvPr id="19" name="Text 17"/>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20" name="Text 18"/>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01</a:t>
            </a:r>
            <a:endParaRPr lang="en-US" sz="900" dirty="0"/>
          </a:p>
        </p:txBody>
      </p:sp>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오늘의 순서  ·  PROGRAM</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ko-KR" altLang="en-US" sz="3300" b="1" dirty="0">
                <a:solidFill>
                  <a:srgbClr val="1F2330"/>
                </a:solidFill>
                <a:latin typeface="Batang" pitchFamily="34" charset="0"/>
                <a:ea typeface="Batang" pitchFamily="34" charset="-122"/>
              </a:rPr>
              <a:t>음악회 </a:t>
            </a:r>
            <a:r>
              <a:rPr lang="ko-KR" altLang="en-US" sz="3300" b="1" dirty="0" err="1">
                <a:solidFill>
                  <a:srgbClr val="1F2330"/>
                </a:solidFill>
                <a:latin typeface="Batang" pitchFamily="34" charset="0"/>
                <a:ea typeface="Batang" pitchFamily="34" charset="-122"/>
              </a:rPr>
              <a:t>순서지</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03</a:t>
            </a:r>
            <a:endParaRPr lang="en-US" sz="900" dirty="0"/>
          </a:p>
        </p:txBody>
      </p:sp>
      <p:sp>
        <p:nvSpPr>
          <p:cNvPr id="13" name="Text 11"/>
          <p:cNvSpPr/>
          <p:nvPr/>
        </p:nvSpPr>
        <p:spPr>
          <a:xfrm>
            <a:off x="868680" y="233172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I</a:t>
            </a:r>
            <a:endParaRPr lang="en-US" sz="2500" dirty="0"/>
          </a:p>
        </p:txBody>
      </p:sp>
      <p:sp>
        <p:nvSpPr>
          <p:cNvPr id="14" name="Text 12"/>
          <p:cNvSpPr/>
          <p:nvPr/>
        </p:nvSpPr>
        <p:spPr>
          <a:xfrm>
            <a:off x="1618488" y="232257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오프닝</a:t>
            </a:r>
            <a:endParaRPr lang="en-US" sz="1600" dirty="0"/>
          </a:p>
        </p:txBody>
      </p:sp>
      <p:sp>
        <p:nvSpPr>
          <p:cNvPr id="15" name="Text 13"/>
          <p:cNvSpPr/>
          <p:nvPr/>
        </p:nvSpPr>
        <p:spPr>
          <a:xfrm>
            <a:off x="1618488" y="273405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카덴차라는 순간</a:t>
            </a:r>
            <a:endParaRPr lang="en-US" sz="1150" dirty="0"/>
          </a:p>
        </p:txBody>
      </p:sp>
      <p:sp>
        <p:nvSpPr>
          <p:cNvPr id="16" name="Text 14"/>
          <p:cNvSpPr/>
          <p:nvPr/>
        </p:nvSpPr>
        <p:spPr>
          <a:xfrm>
            <a:off x="4617720" y="233172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II</a:t>
            </a:r>
            <a:endParaRPr lang="en-US" sz="2500" dirty="0"/>
          </a:p>
        </p:txBody>
      </p:sp>
      <p:sp>
        <p:nvSpPr>
          <p:cNvPr id="17" name="Text 15"/>
          <p:cNvSpPr/>
          <p:nvPr/>
        </p:nvSpPr>
        <p:spPr>
          <a:xfrm>
            <a:off x="5367528" y="232257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왜 지금인가</a:t>
            </a:r>
            <a:endParaRPr lang="en-US" sz="1600" dirty="0"/>
          </a:p>
        </p:txBody>
      </p:sp>
      <p:sp>
        <p:nvSpPr>
          <p:cNvPr id="18" name="Text 16"/>
          <p:cNvSpPr/>
          <p:nvPr/>
        </p:nvSpPr>
        <p:spPr>
          <a:xfrm>
            <a:off x="5367528" y="273405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C#, 그 무거웠던 첫 음</a:t>
            </a:r>
            <a:endParaRPr lang="en-US" sz="1150" dirty="0"/>
          </a:p>
        </p:txBody>
      </p:sp>
      <p:sp>
        <p:nvSpPr>
          <p:cNvPr id="19" name="Text 17"/>
          <p:cNvSpPr/>
          <p:nvPr/>
        </p:nvSpPr>
        <p:spPr>
          <a:xfrm>
            <a:off x="8366760" y="233172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III</a:t>
            </a:r>
            <a:endParaRPr lang="en-US" sz="2500" dirty="0"/>
          </a:p>
        </p:txBody>
      </p:sp>
      <p:sp>
        <p:nvSpPr>
          <p:cNvPr id="20" name="Text 18"/>
          <p:cNvSpPr/>
          <p:nvPr/>
        </p:nvSpPr>
        <p:spPr>
          <a:xfrm>
            <a:off x="9116568" y="2322576"/>
            <a:ext cx="26060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기본기</a:t>
            </a:r>
            <a:endParaRPr lang="en-US" sz="1600" dirty="0"/>
          </a:p>
        </p:txBody>
      </p:sp>
      <p:sp>
        <p:nvSpPr>
          <p:cNvPr id="21" name="Text 19"/>
          <p:cNvSpPr/>
          <p:nvPr/>
        </p:nvSpPr>
        <p:spPr>
          <a:xfrm>
            <a:off x="9116568" y="2734056"/>
            <a:ext cx="26060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.NET 10 </a:t>
            </a:r>
            <a:r>
              <a:rPr lang="ko-KR" altLang="en-US" sz="1150" dirty="0">
                <a:solidFill>
                  <a:srgbClr val="6C7180"/>
                </a:solidFill>
                <a:latin typeface="Malgun Gothic" pitchFamily="34" charset="0"/>
                <a:ea typeface="Malgun Gothic" pitchFamily="34" charset="-122"/>
                <a:cs typeface="Malgun Gothic" pitchFamily="34" charset="-120"/>
              </a:rPr>
              <a:t>파일 기반 앱</a:t>
            </a:r>
            <a:endParaRPr lang="en-US" sz="1150" dirty="0"/>
          </a:p>
        </p:txBody>
      </p:sp>
      <p:sp>
        <p:nvSpPr>
          <p:cNvPr id="22" name="Text 20"/>
          <p:cNvSpPr/>
          <p:nvPr/>
        </p:nvSpPr>
        <p:spPr>
          <a:xfrm>
            <a:off x="868680" y="356616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IV</a:t>
            </a:r>
            <a:endParaRPr lang="en-US" sz="2500" dirty="0"/>
          </a:p>
        </p:txBody>
      </p:sp>
      <p:sp>
        <p:nvSpPr>
          <p:cNvPr id="23" name="Text 21"/>
          <p:cNvSpPr/>
          <p:nvPr/>
        </p:nvSpPr>
        <p:spPr>
          <a:xfrm>
            <a:off x="1618488" y="355701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전환점</a:t>
            </a:r>
            <a:endParaRPr lang="en-US" sz="1600" dirty="0"/>
          </a:p>
        </p:txBody>
      </p:sp>
      <p:sp>
        <p:nvSpPr>
          <p:cNvPr id="24" name="Text 22"/>
          <p:cNvSpPr/>
          <p:nvPr/>
        </p:nvSpPr>
        <p:spPr>
          <a:xfrm>
            <a:off x="1618488" y="396849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한 줄로는 부족하다</a:t>
            </a:r>
            <a:endParaRPr lang="en-US" sz="1150" dirty="0"/>
          </a:p>
        </p:txBody>
      </p:sp>
      <p:sp>
        <p:nvSpPr>
          <p:cNvPr id="25" name="Text 23"/>
          <p:cNvSpPr/>
          <p:nvPr/>
        </p:nvSpPr>
        <p:spPr>
          <a:xfrm>
            <a:off x="4617720" y="356616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V</a:t>
            </a:r>
            <a:endParaRPr lang="en-US" sz="2500" dirty="0"/>
          </a:p>
        </p:txBody>
      </p:sp>
      <p:sp>
        <p:nvSpPr>
          <p:cNvPr id="26" name="Text 24"/>
          <p:cNvSpPr/>
          <p:nvPr/>
        </p:nvSpPr>
        <p:spPr>
          <a:xfrm>
            <a:off x="5367528" y="355701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Cadenza</a:t>
            </a:r>
            <a:endParaRPr lang="en-US" sz="1600" dirty="0"/>
          </a:p>
        </p:txBody>
      </p:sp>
      <p:sp>
        <p:nvSpPr>
          <p:cNvPr id="27" name="Text 25"/>
          <p:cNvSpPr/>
          <p:nvPr/>
        </p:nvSpPr>
        <p:spPr>
          <a:xfrm>
            <a:off x="5367528" y="396849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한 줄로 무대를 바꾸다</a:t>
            </a:r>
            <a:endParaRPr lang="en-US" sz="1150" dirty="0"/>
          </a:p>
        </p:txBody>
      </p:sp>
      <p:sp>
        <p:nvSpPr>
          <p:cNvPr id="28" name="Text 26"/>
          <p:cNvSpPr/>
          <p:nvPr/>
        </p:nvSpPr>
        <p:spPr>
          <a:xfrm>
            <a:off x="8366760" y="356616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VI</a:t>
            </a:r>
            <a:endParaRPr lang="en-US" sz="2500" dirty="0"/>
          </a:p>
        </p:txBody>
      </p:sp>
      <p:sp>
        <p:nvSpPr>
          <p:cNvPr id="29" name="Text 27"/>
          <p:cNvSpPr/>
          <p:nvPr/>
        </p:nvSpPr>
        <p:spPr>
          <a:xfrm>
            <a:off x="9116568" y="3557016"/>
            <a:ext cx="26060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라이브 데모</a:t>
            </a:r>
            <a:endParaRPr lang="en-US" sz="1600" dirty="0"/>
          </a:p>
        </p:txBody>
      </p:sp>
      <p:sp>
        <p:nvSpPr>
          <p:cNvPr id="30" name="Text 28"/>
          <p:cNvSpPr/>
          <p:nvPr/>
        </p:nvSpPr>
        <p:spPr>
          <a:xfrm>
            <a:off x="9116568" y="3968496"/>
            <a:ext cx="26060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파일 하나로 즉흥 연주</a:t>
            </a:r>
            <a:endParaRPr lang="en-US" sz="1150" dirty="0"/>
          </a:p>
        </p:txBody>
      </p:sp>
      <p:sp>
        <p:nvSpPr>
          <p:cNvPr id="31" name="Text 29"/>
          <p:cNvSpPr/>
          <p:nvPr/>
        </p:nvSpPr>
        <p:spPr>
          <a:xfrm>
            <a:off x="868680" y="480060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VII</a:t>
            </a:r>
            <a:endParaRPr lang="en-US" sz="2500" dirty="0"/>
          </a:p>
        </p:txBody>
      </p:sp>
      <p:sp>
        <p:nvSpPr>
          <p:cNvPr id="32" name="Text 30"/>
          <p:cNvSpPr/>
          <p:nvPr/>
        </p:nvSpPr>
        <p:spPr>
          <a:xfrm>
            <a:off x="1618488" y="479145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클라우드로</a:t>
            </a:r>
            <a:endParaRPr lang="en-US" sz="1600" dirty="0"/>
          </a:p>
        </p:txBody>
      </p:sp>
      <p:sp>
        <p:nvSpPr>
          <p:cNvPr id="33" name="Text 31"/>
          <p:cNvSpPr/>
          <p:nvPr/>
        </p:nvSpPr>
        <p:spPr>
          <a:xfrm>
            <a:off x="1618488" y="520293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Foundry + Agent Framework + Copilot</a:t>
            </a:r>
            <a:endParaRPr lang="en-US" sz="1150" dirty="0"/>
          </a:p>
        </p:txBody>
      </p:sp>
      <p:sp>
        <p:nvSpPr>
          <p:cNvPr id="34" name="Text 32"/>
          <p:cNvSpPr/>
          <p:nvPr/>
        </p:nvSpPr>
        <p:spPr>
          <a:xfrm>
            <a:off x="4617720" y="480060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VIII</a:t>
            </a:r>
            <a:endParaRPr lang="en-US" sz="2500" dirty="0"/>
          </a:p>
        </p:txBody>
      </p:sp>
      <p:sp>
        <p:nvSpPr>
          <p:cNvPr id="35" name="Text 33"/>
          <p:cNvSpPr/>
          <p:nvPr/>
        </p:nvSpPr>
        <p:spPr>
          <a:xfrm>
            <a:off x="5367528" y="4791456"/>
            <a:ext cx="28346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무대 밖으로</a:t>
            </a:r>
            <a:endParaRPr lang="en-US" sz="1600" dirty="0"/>
          </a:p>
        </p:txBody>
      </p:sp>
      <p:sp>
        <p:nvSpPr>
          <p:cNvPr id="36" name="Text 34"/>
          <p:cNvSpPr/>
          <p:nvPr/>
        </p:nvSpPr>
        <p:spPr>
          <a:xfrm>
            <a:off x="5367528" y="5202936"/>
            <a:ext cx="28346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배포와 생태계</a:t>
            </a:r>
            <a:endParaRPr lang="en-US" sz="1150" dirty="0"/>
          </a:p>
        </p:txBody>
      </p:sp>
      <p:sp>
        <p:nvSpPr>
          <p:cNvPr id="37" name="Text 35"/>
          <p:cNvSpPr/>
          <p:nvPr/>
        </p:nvSpPr>
        <p:spPr>
          <a:xfrm>
            <a:off x="8366760" y="4800600"/>
            <a:ext cx="777240" cy="640080"/>
          </a:xfrm>
          <a:prstGeom prst="rect">
            <a:avLst/>
          </a:prstGeom>
          <a:noFill/>
          <a:ln/>
        </p:spPr>
        <p:txBody>
          <a:bodyPr wrap="square" lIns="0" tIns="0" rIns="0" bIns="0" rtlCol="0" anchor="t"/>
          <a:lstStyle/>
          <a:p>
            <a:pPr marL="0" indent="0" algn="l">
              <a:buNone/>
            </a:pPr>
            <a:r>
              <a:rPr lang="en-US" sz="2500" b="1" dirty="0">
                <a:solidFill>
                  <a:srgbClr val="A9823F"/>
                </a:solidFill>
                <a:latin typeface="Batang" pitchFamily="34" charset="0"/>
                <a:ea typeface="Batang" pitchFamily="34" charset="-122"/>
                <a:cs typeface="Batang" pitchFamily="34" charset="-120"/>
              </a:rPr>
              <a:t>IX</a:t>
            </a:r>
            <a:endParaRPr lang="en-US" sz="2500" dirty="0"/>
          </a:p>
        </p:txBody>
      </p:sp>
      <p:sp>
        <p:nvSpPr>
          <p:cNvPr id="38" name="Text 36"/>
          <p:cNvSpPr/>
          <p:nvPr/>
        </p:nvSpPr>
        <p:spPr>
          <a:xfrm>
            <a:off x="9116568" y="4791456"/>
            <a:ext cx="2606040" cy="384048"/>
          </a:xfrm>
          <a:prstGeom prst="rect">
            <a:avLst/>
          </a:prstGeom>
          <a:noFill/>
          <a:ln/>
        </p:spPr>
        <p:txBody>
          <a:bodyPr wrap="square" lIns="0" tIns="0" rIns="0" bIns="0" rtlCol="0" anchor="ctr"/>
          <a:lstStyle/>
          <a:p>
            <a:pPr marL="0" indent="0" algn="l">
              <a:buNone/>
            </a:pPr>
            <a:r>
              <a:rPr lang="en-US" sz="1600" b="1" dirty="0">
                <a:solidFill>
                  <a:srgbClr val="1F2330"/>
                </a:solidFill>
                <a:latin typeface="Malgun Gothic" pitchFamily="34" charset="0"/>
                <a:ea typeface="Malgun Gothic" pitchFamily="34" charset="-122"/>
                <a:cs typeface="Malgun Gothic" pitchFamily="34" charset="-120"/>
              </a:rPr>
              <a:t>마무리</a:t>
            </a:r>
            <a:endParaRPr lang="en-US" sz="1600" dirty="0"/>
          </a:p>
        </p:txBody>
      </p:sp>
      <p:sp>
        <p:nvSpPr>
          <p:cNvPr id="39" name="Text 37"/>
          <p:cNvSpPr/>
          <p:nvPr/>
        </p:nvSpPr>
        <p:spPr>
          <a:xfrm>
            <a:off x="9116568" y="5202936"/>
            <a:ext cx="2606040" cy="566928"/>
          </a:xfrm>
          <a:prstGeom prst="rect">
            <a:avLst/>
          </a:prstGeom>
          <a:noFill/>
          <a:ln/>
        </p:spPr>
        <p:txBody>
          <a:bodyPr wrap="square" lIns="0" tIns="0" rIns="0" bIns="0" rtlCol="0" anchor="t"/>
          <a:lstStyle/>
          <a:p>
            <a:pPr marL="0" indent="0" algn="l">
              <a:lnSpc>
                <a:spcPct val="105000"/>
              </a:lnSpc>
              <a:buNone/>
            </a:pPr>
            <a:r>
              <a:rPr lang="en-US" sz="1150" dirty="0">
                <a:solidFill>
                  <a:srgbClr val="6C7180"/>
                </a:solidFill>
                <a:latin typeface="Malgun Gothic" pitchFamily="34" charset="0"/>
                <a:ea typeface="Malgun Gothic" pitchFamily="34" charset="-122"/>
                <a:cs typeface="Malgun Gothic" pitchFamily="34" charset="-120"/>
              </a:rPr>
              <a:t>다시 카덴차</a:t>
            </a:r>
            <a:endParaRPr lang="en-US" sz="1150" dirty="0"/>
          </a:p>
        </p:txBody>
      </p:sp>
      <p:sp>
        <p:nvSpPr>
          <p:cNvPr id="40" name="Text 38"/>
          <p:cNvSpPr/>
          <p:nvPr/>
        </p:nvSpPr>
        <p:spPr>
          <a:xfrm>
            <a:off x="868680" y="5989320"/>
            <a:ext cx="10424160" cy="365760"/>
          </a:xfrm>
          <a:prstGeom prst="rect">
            <a:avLst/>
          </a:prstGeom>
          <a:noFill/>
          <a:ln/>
        </p:spPr>
        <p:txBody>
          <a:bodyPr wrap="square" lIns="0" tIns="0" rIns="0" bIns="0" rtlCol="0" anchor="ctr"/>
          <a:lstStyle/>
          <a:p>
            <a:pPr marL="0" indent="0" algn="l">
              <a:buNone/>
            </a:pPr>
            <a:r>
              <a:rPr lang="en-US" sz="1300" i="1" dirty="0" err="1">
                <a:solidFill>
                  <a:srgbClr val="8A1C2B"/>
                </a:solidFill>
                <a:latin typeface="Malgun Gothic" pitchFamily="34" charset="0"/>
                <a:ea typeface="Malgun Gothic" pitchFamily="34" charset="-122"/>
                <a:cs typeface="Malgun Gothic" pitchFamily="34" charset="-120"/>
              </a:rPr>
              <a:t>기본기에서</a:t>
            </a:r>
            <a:r>
              <a:rPr lang="en-US" sz="1300" i="1" dirty="0">
                <a:solidFill>
                  <a:srgbClr val="8A1C2B"/>
                </a:solidFill>
                <a:latin typeface="Malgun Gothic" pitchFamily="34" charset="0"/>
                <a:ea typeface="Malgun Gothic" pitchFamily="34" charset="-122"/>
                <a:cs typeface="Malgun Gothic" pitchFamily="34" charset="-120"/>
              </a:rPr>
              <a:t> 시작해 클라우드 위 라이브 연주까지.</a:t>
            </a:r>
            <a:endParaRPr lang="en-US" sz="1300" dirty="0"/>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71A23"/>
        </a:solidFill>
        <a:effectLst/>
      </p:bgPr>
    </p:bg>
    <p:spTree>
      <p:nvGrpSpPr>
        <p:cNvPr id="1" name=""/>
        <p:cNvGrpSpPr/>
        <p:nvPr/>
      </p:nvGrpSpPr>
      <p:grpSpPr>
        <a:xfrm>
          <a:off x="0" y="0"/>
          <a:ext cx="0" cy="0"/>
          <a:chOff x="0" y="0"/>
          <a:chExt cx="0" cy="0"/>
        </a:xfrm>
      </p:grpSpPr>
      <p:sp>
        <p:nvSpPr>
          <p:cNvPr id="2" name="Shape 0"/>
          <p:cNvSpPr/>
          <p:nvPr/>
        </p:nvSpPr>
        <p:spPr>
          <a:xfrm>
            <a:off x="822960" y="1371600"/>
            <a:ext cx="10545775" cy="0"/>
          </a:xfrm>
          <a:prstGeom prst="line">
            <a:avLst/>
          </a:prstGeom>
          <a:noFill/>
          <a:ln w="9525">
            <a:solidFill>
              <a:srgbClr val="30343F"/>
            </a:solidFill>
            <a:prstDash val="solid"/>
          </a:ln>
        </p:spPr>
        <p:txBody>
          <a:bodyPr/>
          <a:lstStyle/>
          <a:p>
            <a:endParaRPr lang="ko-KR" altLang="en-US"/>
          </a:p>
        </p:txBody>
      </p:sp>
      <p:sp>
        <p:nvSpPr>
          <p:cNvPr id="3" name="Shape 1"/>
          <p:cNvSpPr/>
          <p:nvPr/>
        </p:nvSpPr>
        <p:spPr>
          <a:xfrm>
            <a:off x="822960" y="1517904"/>
            <a:ext cx="10545775" cy="0"/>
          </a:xfrm>
          <a:prstGeom prst="line">
            <a:avLst/>
          </a:prstGeom>
          <a:noFill/>
          <a:ln w="9525">
            <a:solidFill>
              <a:srgbClr val="30343F"/>
            </a:solidFill>
            <a:prstDash val="solid"/>
          </a:ln>
        </p:spPr>
        <p:txBody>
          <a:bodyPr/>
          <a:lstStyle/>
          <a:p>
            <a:endParaRPr lang="ko-KR" altLang="en-US"/>
          </a:p>
        </p:txBody>
      </p:sp>
      <p:sp>
        <p:nvSpPr>
          <p:cNvPr id="4" name="Shape 2"/>
          <p:cNvSpPr/>
          <p:nvPr/>
        </p:nvSpPr>
        <p:spPr>
          <a:xfrm>
            <a:off x="822960" y="1664208"/>
            <a:ext cx="10545775" cy="0"/>
          </a:xfrm>
          <a:prstGeom prst="line">
            <a:avLst/>
          </a:prstGeom>
          <a:noFill/>
          <a:ln w="9525">
            <a:solidFill>
              <a:srgbClr val="30343F"/>
            </a:solidFill>
            <a:prstDash val="solid"/>
          </a:ln>
        </p:spPr>
        <p:txBody>
          <a:bodyPr/>
          <a:lstStyle/>
          <a:p>
            <a:endParaRPr lang="ko-KR" altLang="en-US"/>
          </a:p>
        </p:txBody>
      </p:sp>
      <p:sp>
        <p:nvSpPr>
          <p:cNvPr id="5" name="Shape 3"/>
          <p:cNvSpPr/>
          <p:nvPr/>
        </p:nvSpPr>
        <p:spPr>
          <a:xfrm>
            <a:off x="822960" y="1810512"/>
            <a:ext cx="10545775" cy="0"/>
          </a:xfrm>
          <a:prstGeom prst="line">
            <a:avLst/>
          </a:prstGeom>
          <a:noFill/>
          <a:ln w="9525">
            <a:solidFill>
              <a:srgbClr val="30343F"/>
            </a:solidFill>
            <a:prstDash val="solid"/>
          </a:ln>
        </p:spPr>
        <p:txBody>
          <a:bodyPr/>
          <a:lstStyle/>
          <a:p>
            <a:endParaRPr lang="ko-KR" altLang="en-US"/>
          </a:p>
        </p:txBody>
      </p:sp>
      <p:sp>
        <p:nvSpPr>
          <p:cNvPr id="6" name="Shape 4"/>
          <p:cNvSpPr/>
          <p:nvPr/>
        </p:nvSpPr>
        <p:spPr>
          <a:xfrm>
            <a:off x="822960" y="1956816"/>
            <a:ext cx="10545775" cy="0"/>
          </a:xfrm>
          <a:prstGeom prst="line">
            <a:avLst/>
          </a:prstGeom>
          <a:noFill/>
          <a:ln w="9525">
            <a:solidFill>
              <a:srgbClr val="30343F"/>
            </a:solidFill>
            <a:prstDash val="solid"/>
          </a:ln>
        </p:spPr>
        <p:txBody>
          <a:bodyPr/>
          <a:lstStyle/>
          <a:p>
            <a:endParaRPr lang="ko-KR" altLang="en-US"/>
          </a:p>
        </p:txBody>
      </p:sp>
      <p:sp>
        <p:nvSpPr>
          <p:cNvPr id="7" name="Text 5"/>
          <p:cNvSpPr/>
          <p:nvPr/>
        </p:nvSpPr>
        <p:spPr>
          <a:xfrm>
            <a:off x="822960" y="777240"/>
            <a:ext cx="7315200" cy="365760"/>
          </a:xfrm>
          <a:prstGeom prst="rect">
            <a:avLst/>
          </a:prstGeom>
          <a:noFill/>
          <a:ln/>
        </p:spPr>
        <p:txBody>
          <a:bodyPr wrap="square" lIns="0" tIns="0" rIns="0" bIns="0" rtlCol="0" anchor="ctr"/>
          <a:lstStyle/>
          <a:p>
            <a:pPr marL="0" indent="0" algn="l">
              <a:buNone/>
            </a:pPr>
            <a:r>
              <a:rPr lang="en-US" sz="1300" b="1" kern="0" spc="300" dirty="0">
                <a:solidFill>
                  <a:srgbClr val="A9823F"/>
                </a:solidFill>
                <a:latin typeface="Malgun Gothic" pitchFamily="34" charset="0"/>
                <a:ea typeface="Malgun Gothic" pitchFamily="34" charset="-122"/>
                <a:cs typeface="Malgun Gothic" pitchFamily="34" charset="-120"/>
              </a:rPr>
              <a:t>1  ·  오프닝</a:t>
            </a:r>
            <a:endParaRPr lang="en-US" sz="1300" dirty="0"/>
          </a:p>
        </p:txBody>
      </p:sp>
      <p:sp>
        <p:nvSpPr>
          <p:cNvPr id="8" name="Text 6"/>
          <p:cNvSpPr/>
          <p:nvPr/>
        </p:nvSpPr>
        <p:spPr>
          <a:xfrm>
            <a:off x="731520" y="2331720"/>
            <a:ext cx="10698480" cy="1737360"/>
          </a:xfrm>
          <a:prstGeom prst="rect">
            <a:avLst/>
          </a:prstGeom>
          <a:noFill/>
          <a:ln/>
        </p:spPr>
        <p:txBody>
          <a:bodyPr wrap="square" lIns="0" tIns="0" rIns="0" bIns="0" rtlCol="0" anchor="ctr"/>
          <a:lstStyle/>
          <a:p>
            <a:pPr marL="0" indent="0" algn="ctr">
              <a:lnSpc>
                <a:spcPct val="112000"/>
              </a:lnSpc>
              <a:buNone/>
            </a:pPr>
            <a:r>
              <a:rPr lang="en-US" sz="4000" b="1" i="1" dirty="0">
                <a:solidFill>
                  <a:srgbClr val="ECE7D8"/>
                </a:solidFill>
                <a:latin typeface="Batang" pitchFamily="34" charset="0"/>
                <a:ea typeface="Batang" pitchFamily="34" charset="-122"/>
                <a:cs typeface="Batang" pitchFamily="34" charset="-120"/>
              </a:rPr>
              <a:t>No orchestra. No project.</a:t>
            </a:r>
            <a:endParaRPr lang="en-US" sz="4000" dirty="0"/>
          </a:p>
          <a:p>
            <a:pPr marL="0" indent="0" algn="ctr">
              <a:lnSpc>
                <a:spcPct val="112000"/>
              </a:lnSpc>
              <a:buNone/>
            </a:pPr>
            <a:r>
              <a:rPr lang="en-US" sz="4000" b="1" i="1" dirty="0">
                <a:solidFill>
                  <a:srgbClr val="ECE7D8"/>
                </a:solidFill>
                <a:latin typeface="Batang" pitchFamily="34" charset="0"/>
                <a:ea typeface="Batang" pitchFamily="34" charset="-122"/>
                <a:cs typeface="Batang" pitchFamily="34" charset="-120"/>
              </a:rPr>
              <a:t>Just one file, playing solo.</a:t>
            </a:r>
            <a:endParaRPr lang="en-US" sz="4000" dirty="0"/>
          </a:p>
        </p:txBody>
      </p:sp>
      <p:sp>
        <p:nvSpPr>
          <p:cNvPr id="9" name="Text 7"/>
          <p:cNvSpPr/>
          <p:nvPr/>
        </p:nvSpPr>
        <p:spPr>
          <a:xfrm>
            <a:off x="1280160" y="4526280"/>
            <a:ext cx="9601200" cy="457200"/>
          </a:xfrm>
          <a:prstGeom prst="rect">
            <a:avLst/>
          </a:prstGeom>
          <a:noFill/>
          <a:ln/>
        </p:spPr>
        <p:txBody>
          <a:bodyPr wrap="square" lIns="0" tIns="0" rIns="0" bIns="0" rtlCol="0" anchor="ctr"/>
          <a:lstStyle/>
          <a:p>
            <a:pPr marL="0" indent="0" algn="ctr">
              <a:buNone/>
            </a:pPr>
            <a:r>
              <a:rPr lang="en-US" sz="1600" dirty="0" err="1">
                <a:solidFill>
                  <a:srgbClr val="9AA0AD"/>
                </a:solidFill>
                <a:latin typeface="Malgun Gothic" pitchFamily="34" charset="0"/>
                <a:ea typeface="Malgun Gothic" pitchFamily="34" charset="-122"/>
                <a:cs typeface="Malgun Gothic" pitchFamily="34" charset="-120"/>
              </a:rPr>
              <a:t>독주자</a:t>
            </a:r>
            <a:r>
              <a:rPr lang="en-US" sz="1600" dirty="0">
                <a:solidFill>
                  <a:srgbClr val="9AA0AD"/>
                </a:solidFill>
                <a:latin typeface="Malgun Gothic" pitchFamily="34" charset="0"/>
                <a:ea typeface="Malgun Gothic" pitchFamily="34" charset="-122"/>
                <a:cs typeface="Malgun Gothic" pitchFamily="34" charset="-120"/>
              </a:rPr>
              <a:t> </a:t>
            </a:r>
            <a:r>
              <a:rPr lang="ko-KR" altLang="en-US" sz="1600" dirty="0">
                <a:solidFill>
                  <a:srgbClr val="9AA0AD"/>
                </a:solidFill>
                <a:latin typeface="Malgun Gothic" pitchFamily="34" charset="0"/>
                <a:ea typeface="Malgun Gothic" pitchFamily="34" charset="-122"/>
                <a:cs typeface="Malgun Gothic" pitchFamily="34" charset="-120"/>
              </a:rPr>
              <a:t>홀로</a:t>
            </a:r>
            <a:r>
              <a:rPr lang="en-US" sz="1600" dirty="0">
                <a:solidFill>
                  <a:srgbClr val="9AA0AD"/>
                </a:solidFill>
                <a:latin typeface="Malgun Gothic" pitchFamily="34" charset="0"/>
                <a:ea typeface="Malgun Gothic" pitchFamily="34" charset="-122"/>
                <a:cs typeface="Malgun Gothic" pitchFamily="34" charset="-120"/>
              </a:rPr>
              <a:t> 가장 자유롭게 </a:t>
            </a:r>
            <a:r>
              <a:rPr lang="en-US" sz="1600" dirty="0" err="1">
                <a:solidFill>
                  <a:srgbClr val="9AA0AD"/>
                </a:solidFill>
                <a:latin typeface="Malgun Gothic" pitchFamily="34" charset="0"/>
                <a:ea typeface="Malgun Gothic" pitchFamily="34" charset="-122"/>
                <a:cs typeface="Malgun Gothic" pitchFamily="34" charset="-120"/>
              </a:rPr>
              <a:t>연주하는</a:t>
            </a:r>
            <a:r>
              <a:rPr lang="en-US" sz="1600" dirty="0">
                <a:solidFill>
                  <a:srgbClr val="9AA0AD"/>
                </a:solidFill>
                <a:latin typeface="Malgun Gothic" pitchFamily="34" charset="0"/>
                <a:ea typeface="Malgun Gothic" pitchFamily="34" charset="-122"/>
                <a:cs typeface="Malgun Gothic" pitchFamily="34" charset="-120"/>
              </a:rPr>
              <a:t> </a:t>
            </a:r>
            <a:r>
              <a:rPr lang="en-US" sz="1600" dirty="0" err="1">
                <a:solidFill>
                  <a:srgbClr val="9AA0AD"/>
                </a:solidFill>
                <a:latin typeface="Malgun Gothic" pitchFamily="34" charset="0"/>
                <a:ea typeface="Malgun Gothic" pitchFamily="34" charset="-122"/>
                <a:cs typeface="Malgun Gothic" pitchFamily="34" charset="-120"/>
              </a:rPr>
              <a:t>순간</a:t>
            </a:r>
            <a:endParaRPr lang="en-US" sz="1600" dirty="0"/>
          </a:p>
        </p:txBody>
      </p:sp>
      <p:sp>
        <p:nvSpPr>
          <p:cNvPr id="10" name="Text 8"/>
          <p:cNvSpPr/>
          <p:nvPr/>
        </p:nvSpPr>
        <p:spPr>
          <a:xfrm>
            <a:off x="1280160" y="5074920"/>
            <a:ext cx="9601200" cy="411480"/>
          </a:xfrm>
          <a:prstGeom prst="rect">
            <a:avLst/>
          </a:prstGeom>
          <a:noFill/>
          <a:ln/>
        </p:spPr>
        <p:txBody>
          <a:bodyPr wrap="square" lIns="0" tIns="0" rIns="0" bIns="0" rtlCol="0" anchor="ctr"/>
          <a:lstStyle/>
          <a:p>
            <a:pPr marL="0" indent="0" algn="ctr">
              <a:buNone/>
            </a:pPr>
            <a:r>
              <a:rPr lang="en-US" sz="1400" i="1" dirty="0">
                <a:solidFill>
                  <a:srgbClr val="A9823F"/>
                </a:solidFill>
                <a:latin typeface="Malgun Gothic" pitchFamily="34" charset="0"/>
                <a:ea typeface="Malgun Gothic" pitchFamily="34" charset="-122"/>
                <a:cs typeface="Malgun Gothic" pitchFamily="34" charset="-120"/>
              </a:rPr>
              <a:t>기술적으로는, </a:t>
            </a:r>
            <a:r>
              <a:rPr lang="ko-KR" altLang="en-US" sz="1400" i="1" dirty="0">
                <a:solidFill>
                  <a:srgbClr val="A9823F"/>
                </a:solidFill>
                <a:latin typeface="Malgun Gothic" pitchFamily="34" charset="0"/>
                <a:ea typeface="Malgun Gothic" pitchFamily="34" charset="-122"/>
                <a:cs typeface="Malgun Gothic" pitchFamily="34" charset="-120"/>
              </a:rPr>
              <a:t>프로젝트와 </a:t>
            </a:r>
            <a:r>
              <a:rPr lang="en-US" altLang="ko-KR" sz="1400" i="1" dirty="0">
                <a:solidFill>
                  <a:srgbClr val="A9823F"/>
                </a:solidFill>
                <a:latin typeface="Malgun Gothic" pitchFamily="34" charset="0"/>
                <a:ea typeface="Malgun Gothic" pitchFamily="34" charset="-122"/>
                <a:cs typeface="Malgun Gothic" pitchFamily="34" charset="-120"/>
              </a:rPr>
              <a:t>Visual Studio</a:t>
            </a:r>
            <a:r>
              <a:rPr lang="en-US" sz="1400" i="1" dirty="0">
                <a:solidFill>
                  <a:srgbClr val="A9823F"/>
                </a:solidFill>
                <a:latin typeface="Malgun Gothic" pitchFamily="34" charset="0"/>
                <a:ea typeface="Malgun Gothic" pitchFamily="34" charset="-122"/>
                <a:cs typeface="Malgun Gothic" pitchFamily="34" charset="-120"/>
              </a:rPr>
              <a:t> 없</a:t>
            </a:r>
            <a:r>
              <a:rPr lang="ko-KR" altLang="en-US" sz="1400" i="1" dirty="0">
                <a:solidFill>
                  <a:srgbClr val="A9823F"/>
                </a:solidFill>
                <a:latin typeface="Malgun Gothic" pitchFamily="34" charset="0"/>
                <a:ea typeface="Malgun Gothic" pitchFamily="34" charset="-122"/>
                <a:cs typeface="Malgun Gothic" pitchFamily="34" charset="-120"/>
              </a:rPr>
              <a:t>이 켜는</a:t>
            </a:r>
            <a:r>
              <a:rPr lang="en-US" sz="1400" i="1" dirty="0">
                <a:solidFill>
                  <a:srgbClr val="A9823F"/>
                </a:solidFill>
                <a:latin typeface="Malgun Gothic" pitchFamily="34" charset="0"/>
                <a:ea typeface="Malgun Gothic" pitchFamily="34" charset="-122"/>
                <a:cs typeface="Malgun Gothic" pitchFamily="34" charset="-120"/>
              </a:rPr>
              <a:t> 단일 </a:t>
            </a:r>
            <a:r>
              <a:rPr lang="en-US" sz="1400" i="1" dirty="0" err="1">
                <a:solidFill>
                  <a:srgbClr val="A9823F"/>
                </a:solidFill>
                <a:latin typeface="Malgun Gothic" pitchFamily="34" charset="0"/>
                <a:ea typeface="Malgun Gothic" pitchFamily="34" charset="-122"/>
                <a:cs typeface="Malgun Gothic" pitchFamily="34" charset="-120"/>
              </a:rPr>
              <a:t>파일</a:t>
            </a:r>
            <a:r>
              <a:rPr lang="en-US" sz="1400" i="1" dirty="0">
                <a:solidFill>
                  <a:srgbClr val="A9823F"/>
                </a:solidFill>
                <a:latin typeface="Malgun Gothic" pitchFamily="34" charset="0"/>
                <a:ea typeface="Malgun Gothic" pitchFamily="34" charset="-122"/>
                <a:cs typeface="Malgun Gothic" pitchFamily="34" charset="-120"/>
              </a:rPr>
              <a:t> </a:t>
            </a:r>
            <a:r>
              <a:rPr lang="en-US" sz="1400" i="1" dirty="0" err="1">
                <a:solidFill>
                  <a:srgbClr val="A9823F"/>
                </a:solidFill>
                <a:latin typeface="Malgun Gothic" pitchFamily="34" charset="0"/>
                <a:ea typeface="Malgun Gothic" pitchFamily="34" charset="-122"/>
                <a:cs typeface="Malgun Gothic" pitchFamily="34" charset="-120"/>
              </a:rPr>
              <a:t>실행</a:t>
            </a:r>
            <a:endParaRPr lang="en-US" sz="14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9AA0AD"/>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9AA0AD"/>
                </a:solidFill>
                <a:latin typeface="Consolas" pitchFamily="34" charset="0"/>
                <a:ea typeface="Consolas" pitchFamily="34" charset="-122"/>
                <a:cs typeface="Consolas" pitchFamily="34" charset="-120"/>
              </a:rPr>
              <a:t>02</a:t>
            </a:r>
            <a:endParaRPr lang="en-US" sz="900" dirty="0"/>
          </a:p>
        </p:txBody>
      </p:sp>
    </p:spTree>
  </p:cSld>
  <p:clrMapOvr>
    <a:masterClrMapping/>
  </p:clrMapOvr>
  <p:transition spd="med">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2  ·  맥락</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왜 지금 이 이야기인가</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04</a:t>
            </a:r>
            <a:endParaRPr lang="en-US" sz="900" dirty="0"/>
          </a:p>
        </p:txBody>
      </p:sp>
      <p:sp>
        <p:nvSpPr>
          <p:cNvPr id="13" name="Shape 11"/>
          <p:cNvSpPr/>
          <p:nvPr/>
        </p:nvSpPr>
        <p:spPr>
          <a:xfrm>
            <a:off x="548640" y="2011680"/>
            <a:ext cx="5349240" cy="288036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11680"/>
            <a:ext cx="5349240" cy="64008"/>
          </a:xfrm>
          <a:prstGeom prst="rect">
            <a:avLst/>
          </a:prstGeom>
          <a:solidFill>
            <a:srgbClr val="A9823F"/>
          </a:solidFill>
          <a:ln/>
        </p:spPr>
        <p:txBody>
          <a:bodyPr/>
          <a:lstStyle/>
          <a:p>
            <a:endParaRPr lang="ko-KR" altLang="en-US"/>
          </a:p>
        </p:txBody>
      </p:sp>
      <p:sp>
        <p:nvSpPr>
          <p:cNvPr id="15" name="Text 13"/>
          <p:cNvSpPr/>
          <p:nvPr/>
        </p:nvSpPr>
        <p:spPr>
          <a:xfrm>
            <a:off x="777240" y="2267712"/>
            <a:ext cx="4846320" cy="411480"/>
          </a:xfrm>
          <a:prstGeom prst="rect">
            <a:avLst/>
          </a:prstGeom>
          <a:noFill/>
          <a:ln/>
        </p:spPr>
        <p:txBody>
          <a:bodyPr wrap="square" lIns="0" tIns="0" rIns="0" bIns="0" rtlCol="0" anchor="ctr"/>
          <a:lstStyle/>
          <a:p>
            <a:pPr marL="0" indent="0">
              <a:buNone/>
            </a:pPr>
            <a:r>
              <a:rPr lang="en-US" sz="1600" b="1" dirty="0">
                <a:solidFill>
                  <a:srgbClr val="1F2330"/>
                </a:solidFill>
                <a:latin typeface="Malgun Gothic" pitchFamily="34" charset="0"/>
                <a:ea typeface="Malgun Gothic" pitchFamily="34" charset="-122"/>
                <a:cs typeface="Malgun Gothic" pitchFamily="34" charset="-120"/>
              </a:rPr>
              <a:t>Python — 파일 하나면 끝</a:t>
            </a:r>
            <a:endParaRPr lang="en-US" sz="1600" dirty="0"/>
          </a:p>
        </p:txBody>
      </p:sp>
      <p:sp>
        <p:nvSpPr>
          <p:cNvPr id="16" name="Text 14"/>
          <p:cNvSpPr/>
          <p:nvPr/>
        </p:nvSpPr>
        <p:spPr>
          <a:xfrm>
            <a:off x="777240" y="2880360"/>
            <a:ext cx="4846320" cy="594360"/>
          </a:xfrm>
          <a:prstGeom prst="rect">
            <a:avLst/>
          </a:prstGeom>
          <a:noFill/>
          <a:ln/>
        </p:spPr>
        <p:txBody>
          <a:bodyPr wrap="square" lIns="0" tIns="0" rIns="0" bIns="0" rtlCol="0" anchor="ctr"/>
          <a:lstStyle/>
          <a:p>
            <a:pPr marL="0" indent="0">
              <a:buNone/>
            </a:pPr>
            <a:r>
              <a:rPr lang="en-US" sz="1600" dirty="0">
                <a:solidFill>
                  <a:srgbClr val="1F2330"/>
                </a:solidFill>
                <a:latin typeface="Consolas" pitchFamily="34" charset="0"/>
                <a:ea typeface="Consolas" pitchFamily="34" charset="-122"/>
                <a:cs typeface="Consolas" pitchFamily="34" charset="-120"/>
              </a:rPr>
              <a:t>$  python hello.py</a:t>
            </a:r>
            <a:endParaRPr lang="en-US" sz="1600" dirty="0"/>
          </a:p>
        </p:txBody>
      </p:sp>
      <p:sp>
        <p:nvSpPr>
          <p:cNvPr id="17" name="Text 15"/>
          <p:cNvSpPr/>
          <p:nvPr/>
        </p:nvSpPr>
        <p:spPr>
          <a:xfrm>
            <a:off x="777240" y="3611880"/>
            <a:ext cx="4846320" cy="1005840"/>
          </a:xfrm>
          <a:prstGeom prst="rect">
            <a:avLst/>
          </a:prstGeom>
          <a:noFill/>
          <a:ln/>
        </p:spPr>
        <p:txBody>
          <a:bodyPr wrap="square" lIns="0" tIns="0" rIns="0" bIns="0" rtlCol="0" anchor="ctr"/>
          <a:lstStyle/>
          <a:p>
            <a:pPr marL="0" indent="0">
              <a:lnSpc>
                <a:spcPct val="120000"/>
              </a:lnSpc>
              <a:buNone/>
            </a:pPr>
            <a:r>
              <a:rPr lang="en-US" sz="1350" dirty="0">
                <a:solidFill>
                  <a:srgbClr val="6C7180"/>
                </a:solidFill>
                <a:latin typeface="Malgun Gothic" pitchFamily="34" charset="0"/>
                <a:ea typeface="Malgun Gothic" pitchFamily="34" charset="-122"/>
                <a:cs typeface="Malgun Gothic" pitchFamily="34" charset="-120"/>
              </a:rPr>
              <a:t>아이디어가 떠오른 순간 </a:t>
            </a:r>
            <a:r>
              <a:rPr lang="en-US" sz="1350" dirty="0" err="1">
                <a:solidFill>
                  <a:srgbClr val="6C7180"/>
                </a:solidFill>
                <a:latin typeface="Malgun Gothic" pitchFamily="34" charset="0"/>
                <a:ea typeface="Malgun Gothic" pitchFamily="34" charset="-122"/>
                <a:cs typeface="Malgun Gothic" pitchFamily="34" charset="-120"/>
              </a:rPr>
              <a:t>바로</a:t>
            </a:r>
            <a:r>
              <a:rPr lang="en-US" sz="1350" dirty="0">
                <a:solidFill>
                  <a:srgbClr val="6C7180"/>
                </a:solidFill>
                <a:latin typeface="Malgun Gothic" pitchFamily="34" charset="0"/>
                <a:ea typeface="Malgun Gothic" pitchFamily="34" charset="-122"/>
                <a:cs typeface="Malgun Gothic" pitchFamily="34" charset="-120"/>
              </a:rPr>
              <a:t> 첫 </a:t>
            </a:r>
            <a:r>
              <a:rPr lang="ko-KR" altLang="en-US" sz="1350" dirty="0">
                <a:solidFill>
                  <a:srgbClr val="6C7180"/>
                </a:solidFill>
                <a:latin typeface="Malgun Gothic" pitchFamily="34" charset="0"/>
                <a:ea typeface="Malgun Gothic" pitchFamily="34" charset="-122"/>
                <a:cs typeface="Malgun Gothic" pitchFamily="34" charset="-120"/>
              </a:rPr>
              <a:t>키를</a:t>
            </a:r>
            <a:r>
              <a:rPr lang="en-US" sz="1350" dirty="0">
                <a:solidFill>
                  <a:srgbClr val="6C7180"/>
                </a:solidFill>
                <a:latin typeface="Malgun Gothic" pitchFamily="34" charset="0"/>
                <a:ea typeface="Malgun Gothic" pitchFamily="34" charset="-122"/>
                <a:cs typeface="Malgun Gothic" pitchFamily="34" charset="-120"/>
              </a:rPr>
              <a:t> 누</a:t>
            </a:r>
            <a:r>
              <a:rPr lang="ko-KR" altLang="en-US" sz="1350" dirty="0" err="1">
                <a:solidFill>
                  <a:srgbClr val="6C7180"/>
                </a:solidFill>
                <a:latin typeface="Malgun Gothic" pitchFamily="34" charset="0"/>
                <a:ea typeface="Malgun Gothic" pitchFamily="34" charset="-122"/>
                <a:cs typeface="Malgun Gothic" pitchFamily="34" charset="-120"/>
              </a:rPr>
              <a:t>릅니다</a:t>
            </a:r>
            <a:r>
              <a:rPr lang="en-US" sz="1350" dirty="0">
                <a:solidFill>
                  <a:srgbClr val="6C7180"/>
                </a:solidFill>
                <a:latin typeface="Malgun Gothic" pitchFamily="34" charset="0"/>
                <a:ea typeface="Malgun Gothic" pitchFamily="34" charset="-122"/>
                <a:cs typeface="Malgun Gothic" pitchFamily="34" charset="-120"/>
              </a:rPr>
              <a:t>. 진입 마찰이 </a:t>
            </a:r>
            <a:r>
              <a:rPr lang="en-US" sz="1350" dirty="0" err="1">
                <a:solidFill>
                  <a:srgbClr val="6C7180"/>
                </a:solidFill>
                <a:latin typeface="Malgun Gothic" pitchFamily="34" charset="0"/>
                <a:ea typeface="Malgun Gothic" pitchFamily="34" charset="-122"/>
                <a:cs typeface="Malgun Gothic" pitchFamily="34" charset="-120"/>
              </a:rPr>
              <a:t>거의</a:t>
            </a:r>
            <a:r>
              <a:rPr lang="en-US" sz="1350" dirty="0">
                <a:solidFill>
                  <a:srgbClr val="6C7180"/>
                </a:solidFill>
                <a:latin typeface="Malgun Gothic" pitchFamily="34" charset="0"/>
                <a:ea typeface="Malgun Gothic" pitchFamily="34" charset="-122"/>
                <a:cs typeface="Malgun Gothic" pitchFamily="34" charset="-120"/>
              </a:rPr>
              <a:t> 없</a:t>
            </a:r>
            <a:r>
              <a:rPr lang="ko-KR" altLang="en-US" sz="1350" dirty="0" err="1">
                <a:solidFill>
                  <a:srgbClr val="6C7180"/>
                </a:solidFill>
                <a:latin typeface="Malgun Gothic" pitchFamily="34" charset="0"/>
                <a:ea typeface="Malgun Gothic" pitchFamily="34" charset="-122"/>
                <a:cs typeface="Malgun Gothic" pitchFamily="34" charset="-120"/>
              </a:rPr>
              <a:t>습니</a:t>
            </a:r>
            <a:r>
              <a:rPr lang="en-US" sz="1350" dirty="0">
                <a:solidFill>
                  <a:srgbClr val="6C7180"/>
                </a:solidFill>
                <a:latin typeface="Malgun Gothic" pitchFamily="34" charset="0"/>
                <a:ea typeface="Malgun Gothic" pitchFamily="34" charset="-122"/>
                <a:cs typeface="Malgun Gothic" pitchFamily="34" charset="-120"/>
              </a:rPr>
              <a:t>다.</a:t>
            </a:r>
            <a:endParaRPr lang="en-US" sz="1350" dirty="0"/>
          </a:p>
        </p:txBody>
      </p:sp>
      <p:sp>
        <p:nvSpPr>
          <p:cNvPr id="18" name="Shape 16"/>
          <p:cNvSpPr/>
          <p:nvPr/>
        </p:nvSpPr>
        <p:spPr>
          <a:xfrm>
            <a:off x="6263640" y="2011680"/>
            <a:ext cx="5349240" cy="288036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9" name="Shape 17"/>
          <p:cNvSpPr/>
          <p:nvPr/>
        </p:nvSpPr>
        <p:spPr>
          <a:xfrm>
            <a:off x="6263640" y="2011680"/>
            <a:ext cx="5349240" cy="64008"/>
          </a:xfrm>
          <a:prstGeom prst="rect">
            <a:avLst/>
          </a:prstGeom>
          <a:solidFill>
            <a:srgbClr val="8A1C2B"/>
          </a:solidFill>
          <a:ln/>
        </p:spPr>
        <p:txBody>
          <a:bodyPr/>
          <a:lstStyle/>
          <a:p>
            <a:endParaRPr lang="ko-KR" altLang="en-US"/>
          </a:p>
        </p:txBody>
      </p:sp>
      <p:sp>
        <p:nvSpPr>
          <p:cNvPr id="20" name="Text 18"/>
          <p:cNvSpPr/>
          <p:nvPr/>
        </p:nvSpPr>
        <p:spPr>
          <a:xfrm>
            <a:off x="6492240" y="2267712"/>
            <a:ext cx="4846320" cy="411480"/>
          </a:xfrm>
          <a:prstGeom prst="rect">
            <a:avLst/>
          </a:prstGeom>
          <a:noFill/>
          <a:ln/>
        </p:spPr>
        <p:txBody>
          <a:bodyPr wrap="square" lIns="0" tIns="0" rIns="0" bIns="0" rtlCol="0" anchor="ctr"/>
          <a:lstStyle/>
          <a:p>
            <a:pPr marL="0" indent="0">
              <a:buNone/>
            </a:pPr>
            <a:r>
              <a:rPr lang="en-US" sz="1600" b="1" dirty="0">
                <a:solidFill>
                  <a:srgbClr val="1F2330"/>
                </a:solidFill>
                <a:latin typeface="Malgun Gothic" pitchFamily="34" charset="0"/>
                <a:ea typeface="Malgun Gothic" pitchFamily="34" charset="-122"/>
                <a:cs typeface="Malgun Gothic" pitchFamily="34" charset="-120"/>
              </a:rPr>
              <a:t>과거의 C# — </a:t>
            </a:r>
            <a:r>
              <a:rPr lang="ko-KR" altLang="en-US" sz="1600" b="1" dirty="0">
                <a:solidFill>
                  <a:srgbClr val="1F2330"/>
                </a:solidFill>
                <a:latin typeface="Malgun Gothic" pitchFamily="34" charset="0"/>
                <a:ea typeface="Malgun Gothic" pitchFamily="34" charset="-122"/>
                <a:cs typeface="Malgun Gothic" pitchFamily="34" charset="-120"/>
              </a:rPr>
              <a:t>프로젝트라는 </a:t>
            </a:r>
            <a:r>
              <a:rPr lang="en-US" sz="1600" b="1" dirty="0" err="1">
                <a:solidFill>
                  <a:srgbClr val="1F2330"/>
                </a:solidFill>
                <a:latin typeface="Malgun Gothic" pitchFamily="34" charset="0"/>
                <a:ea typeface="Malgun Gothic" pitchFamily="34" charset="-122"/>
                <a:cs typeface="Malgun Gothic" pitchFamily="34" charset="-120"/>
              </a:rPr>
              <a:t>의식</a:t>
            </a:r>
            <a:endParaRPr lang="en-US" sz="1600" dirty="0"/>
          </a:p>
        </p:txBody>
      </p:sp>
      <p:sp>
        <p:nvSpPr>
          <p:cNvPr id="21" name="Text 19"/>
          <p:cNvSpPr/>
          <p:nvPr/>
        </p:nvSpPr>
        <p:spPr>
          <a:xfrm>
            <a:off x="6490411" y="2880360"/>
            <a:ext cx="4846320" cy="594360"/>
          </a:xfrm>
          <a:prstGeom prst="rect">
            <a:avLst/>
          </a:prstGeom>
          <a:noFill/>
          <a:ln/>
        </p:spPr>
        <p:txBody>
          <a:bodyPr wrap="square" lIns="0" tIns="0" rIns="0" bIns="0" rtlCol="0" anchor="ctr"/>
          <a:lstStyle/>
          <a:p>
            <a:pPr marL="0" indent="0">
              <a:lnSpc>
                <a:spcPct val="125000"/>
              </a:lnSpc>
              <a:buNone/>
            </a:pPr>
            <a:r>
              <a:rPr lang="en-US" sz="1400" dirty="0">
                <a:solidFill>
                  <a:srgbClr val="1F2330"/>
                </a:solidFill>
                <a:latin typeface="Consolas" pitchFamily="34" charset="0"/>
                <a:ea typeface="Consolas" pitchFamily="34" charset="-122"/>
                <a:cs typeface="Consolas" pitchFamily="34" charset="-120"/>
              </a:rPr>
              <a:t>$  dotnet new console</a:t>
            </a:r>
            <a:endParaRPr lang="en-US" sz="1400" dirty="0"/>
          </a:p>
          <a:p>
            <a:pPr marL="0" indent="0">
              <a:lnSpc>
                <a:spcPct val="125000"/>
              </a:lnSpc>
              <a:buNone/>
            </a:pPr>
            <a:r>
              <a:rPr lang="en-US" sz="1300" dirty="0">
                <a:solidFill>
                  <a:srgbClr val="6C7180"/>
                </a:solidFill>
                <a:latin typeface="Consolas" pitchFamily="34" charset="0"/>
                <a:ea typeface="Consolas" pitchFamily="34" charset="-122"/>
                <a:cs typeface="Consolas" pitchFamily="34" charset="-120"/>
              </a:rPr>
              <a:t>   Program.cs   .</a:t>
            </a:r>
            <a:r>
              <a:rPr lang="en-US" sz="1300" dirty="0" err="1">
                <a:solidFill>
                  <a:srgbClr val="6C7180"/>
                </a:solidFill>
                <a:latin typeface="Consolas" pitchFamily="34" charset="0"/>
                <a:ea typeface="Consolas" pitchFamily="34" charset="-122"/>
                <a:cs typeface="Consolas" pitchFamily="34" charset="-120"/>
              </a:rPr>
              <a:t>csproj</a:t>
            </a:r>
            <a:r>
              <a:rPr lang="en-US" sz="1300" dirty="0">
                <a:solidFill>
                  <a:srgbClr val="6C7180"/>
                </a:solidFill>
                <a:latin typeface="Consolas" pitchFamily="34" charset="0"/>
                <a:ea typeface="Consolas" pitchFamily="34" charset="-122"/>
                <a:cs typeface="Consolas" pitchFamily="34" charset="-120"/>
              </a:rPr>
              <a:t>   bin/   obj/</a:t>
            </a:r>
            <a:endParaRPr lang="en-US" sz="1400" dirty="0"/>
          </a:p>
        </p:txBody>
      </p:sp>
      <p:sp>
        <p:nvSpPr>
          <p:cNvPr id="22" name="Text 20"/>
          <p:cNvSpPr/>
          <p:nvPr/>
        </p:nvSpPr>
        <p:spPr>
          <a:xfrm>
            <a:off x="6492240" y="3611880"/>
            <a:ext cx="4846320" cy="1005840"/>
          </a:xfrm>
          <a:prstGeom prst="rect">
            <a:avLst/>
          </a:prstGeom>
          <a:noFill/>
          <a:ln/>
        </p:spPr>
        <p:txBody>
          <a:bodyPr wrap="square" lIns="0" tIns="0" rIns="0" bIns="0" rtlCol="0" anchor="ctr"/>
          <a:lstStyle/>
          <a:p>
            <a:pPr marL="0" indent="0">
              <a:lnSpc>
                <a:spcPct val="120000"/>
              </a:lnSpc>
              <a:buNone/>
            </a:pPr>
            <a:r>
              <a:rPr lang="en-US" sz="1350" dirty="0">
                <a:solidFill>
                  <a:srgbClr val="6C7180"/>
                </a:solidFill>
                <a:latin typeface="Malgun Gothic" pitchFamily="34" charset="0"/>
                <a:ea typeface="Malgun Gothic" pitchFamily="34" charset="-122"/>
                <a:cs typeface="Malgun Gothic" pitchFamily="34" charset="-120"/>
              </a:rPr>
              <a:t>다섯 줄짜리 코드를 쓰려고 이 모든 </a:t>
            </a:r>
            <a:r>
              <a:rPr lang="en-US" sz="1350" dirty="0" err="1">
                <a:solidFill>
                  <a:srgbClr val="6C7180"/>
                </a:solidFill>
                <a:latin typeface="Malgun Gothic" pitchFamily="34" charset="0"/>
                <a:ea typeface="Malgun Gothic" pitchFamily="34" charset="-122"/>
                <a:cs typeface="Malgun Gothic" pitchFamily="34" charset="-120"/>
              </a:rPr>
              <a:t>의식을</a:t>
            </a:r>
            <a:r>
              <a:rPr lang="en-US" sz="1350" dirty="0">
                <a:solidFill>
                  <a:srgbClr val="6C7180"/>
                </a:solidFill>
                <a:latin typeface="Malgun Gothic" pitchFamily="34" charset="0"/>
                <a:ea typeface="Malgun Gothic" pitchFamily="34" charset="-122"/>
                <a:cs typeface="Malgun Gothic" pitchFamily="34" charset="-120"/>
              </a:rPr>
              <a:t> 치</a:t>
            </a:r>
            <a:r>
              <a:rPr lang="ko-KR" altLang="en-US" sz="1350" dirty="0">
                <a:solidFill>
                  <a:srgbClr val="6C7180"/>
                </a:solidFill>
                <a:latin typeface="Malgun Gothic" pitchFamily="34" charset="0"/>
                <a:ea typeface="Malgun Gothic" pitchFamily="34" charset="-122"/>
                <a:cs typeface="Malgun Gothic" pitchFamily="34" charset="-120"/>
              </a:rPr>
              <a:t>러야 합니다</a:t>
            </a:r>
            <a:r>
              <a:rPr lang="en-US" sz="1350" dirty="0">
                <a:solidFill>
                  <a:srgbClr val="6C7180"/>
                </a:solidFill>
                <a:latin typeface="Malgun Gothic" pitchFamily="34" charset="0"/>
                <a:ea typeface="Malgun Gothic" pitchFamily="34" charset="-122"/>
                <a:cs typeface="Malgun Gothic" pitchFamily="34" charset="-120"/>
              </a:rPr>
              <a:t>. </a:t>
            </a:r>
            <a:r>
              <a:rPr lang="ko-KR" altLang="en-US" sz="1350" dirty="0">
                <a:solidFill>
                  <a:srgbClr val="6C7180"/>
                </a:solidFill>
                <a:latin typeface="Malgun Gothic" pitchFamily="34" charset="0"/>
                <a:ea typeface="Malgun Gothic" pitchFamily="34" charset="-122"/>
                <a:cs typeface="Malgun Gothic" pitchFamily="34" charset="-120"/>
              </a:rPr>
              <a:t>무엇보다도</a:t>
            </a:r>
            <a:r>
              <a:rPr lang="en-US" altLang="ko-KR" sz="1350" dirty="0">
                <a:solidFill>
                  <a:srgbClr val="6C7180"/>
                </a:solidFill>
                <a:latin typeface="Malgun Gothic" pitchFamily="34" charset="0"/>
                <a:ea typeface="Malgun Gothic" pitchFamily="34" charset="-122"/>
                <a:cs typeface="Malgun Gothic" pitchFamily="34" charset="-120"/>
              </a:rPr>
              <a:t>, Visual Studio </a:t>
            </a:r>
            <a:r>
              <a:rPr lang="ko-KR" altLang="en-US" sz="1350" dirty="0">
                <a:solidFill>
                  <a:srgbClr val="6C7180"/>
                </a:solidFill>
                <a:latin typeface="Malgun Gothic" pitchFamily="34" charset="0"/>
                <a:ea typeface="Malgun Gothic" pitchFamily="34" charset="-122"/>
                <a:cs typeface="Malgun Gothic" pitchFamily="34" charset="-120"/>
              </a:rPr>
              <a:t>없는 작업은 상상하기 어렵습니다</a:t>
            </a:r>
            <a:r>
              <a:rPr lang="en-US" altLang="ko-KR" sz="1350" dirty="0">
                <a:solidFill>
                  <a:srgbClr val="6C7180"/>
                </a:solidFill>
                <a:latin typeface="Malgun Gothic" pitchFamily="34" charset="0"/>
                <a:ea typeface="Malgun Gothic" pitchFamily="34" charset="-122"/>
                <a:cs typeface="Malgun Gothic" pitchFamily="34" charset="-120"/>
              </a:rPr>
              <a:t>.</a:t>
            </a:r>
            <a:endParaRPr lang="en-US" sz="1350" dirty="0"/>
          </a:p>
        </p:txBody>
      </p:sp>
      <p:sp>
        <p:nvSpPr>
          <p:cNvPr id="23" name="Text 21"/>
          <p:cNvSpPr/>
          <p:nvPr/>
        </p:nvSpPr>
        <p:spPr>
          <a:xfrm>
            <a:off x="548640" y="5212080"/>
            <a:ext cx="11064240" cy="548640"/>
          </a:xfrm>
          <a:prstGeom prst="rect">
            <a:avLst/>
          </a:prstGeom>
          <a:noFill/>
          <a:ln/>
        </p:spPr>
        <p:txBody>
          <a:bodyPr wrap="square" lIns="0" tIns="0" rIns="0" bIns="0" rtlCol="0" anchor="ctr"/>
          <a:lstStyle/>
          <a:p>
            <a:pPr marL="0" indent="0" algn="l">
              <a:buNone/>
            </a:pPr>
            <a:r>
              <a:rPr lang="en-US" sz="1500" b="1" dirty="0">
                <a:solidFill>
                  <a:srgbClr val="8A1C2B"/>
                </a:solidFill>
                <a:latin typeface="Malgun Gothic" pitchFamily="34" charset="0"/>
                <a:ea typeface="Malgun Gothic" pitchFamily="34" charset="-122"/>
                <a:cs typeface="Malgun Gothic" pitchFamily="34" charset="-120"/>
              </a:rPr>
              <a:t>→  .NET 10에서 마침내 단일 파일 </a:t>
            </a:r>
            <a:r>
              <a:rPr lang="en-US" sz="1500" b="1" dirty="0" err="1">
                <a:solidFill>
                  <a:srgbClr val="8A1C2B"/>
                </a:solidFill>
                <a:latin typeface="Malgun Gothic" pitchFamily="34" charset="0"/>
                <a:ea typeface="Malgun Gothic" pitchFamily="34" charset="-122"/>
                <a:cs typeface="Malgun Gothic" pitchFamily="34" charset="-120"/>
              </a:rPr>
              <a:t>실행이</a:t>
            </a:r>
            <a:r>
              <a:rPr lang="en-US" sz="1500" b="1" dirty="0">
                <a:solidFill>
                  <a:srgbClr val="8A1C2B"/>
                </a:solidFill>
                <a:latin typeface="Malgun Gothic" pitchFamily="34" charset="0"/>
                <a:ea typeface="Malgun Gothic" pitchFamily="34" charset="-122"/>
                <a:cs typeface="Malgun Gothic" pitchFamily="34" charset="-120"/>
              </a:rPr>
              <a:t> </a:t>
            </a:r>
            <a:r>
              <a:rPr lang="ko-KR" altLang="en-US" sz="1500" b="1" dirty="0">
                <a:solidFill>
                  <a:srgbClr val="8A1C2B"/>
                </a:solidFill>
                <a:latin typeface="Malgun Gothic" pitchFamily="34" charset="0"/>
                <a:ea typeface="Malgun Gothic" pitchFamily="34" charset="-122"/>
                <a:cs typeface="Malgun Gothic" pitchFamily="34" charset="-120"/>
              </a:rPr>
              <a:t>기본 환경으로</a:t>
            </a:r>
            <a:r>
              <a:rPr lang="en-US" sz="1500" b="1" dirty="0">
                <a:solidFill>
                  <a:srgbClr val="8A1C2B"/>
                </a:solidFill>
                <a:latin typeface="Malgun Gothic" pitchFamily="34" charset="0"/>
                <a:ea typeface="Malgun Gothic" pitchFamily="34" charset="-122"/>
                <a:cs typeface="Malgun Gothic" pitchFamily="34" charset="-120"/>
              </a:rPr>
              <a:t> </a:t>
            </a:r>
            <a:r>
              <a:rPr lang="ko-KR" altLang="en-US" sz="1500" b="1" dirty="0">
                <a:solidFill>
                  <a:srgbClr val="8A1C2B"/>
                </a:solidFill>
                <a:latin typeface="Malgun Gothic" pitchFamily="34" charset="0"/>
                <a:ea typeface="Malgun Gothic" pitchFamily="34" charset="-122"/>
                <a:cs typeface="Malgun Gothic" pitchFamily="34" charset="-120"/>
              </a:rPr>
              <a:t>들어왔습니다</a:t>
            </a:r>
            <a:r>
              <a:rPr lang="en-US" sz="1500" b="1" dirty="0">
                <a:solidFill>
                  <a:srgbClr val="8A1C2B"/>
                </a:solidFill>
                <a:latin typeface="Malgun Gothic" pitchFamily="34" charset="0"/>
                <a:ea typeface="Malgun Gothic" pitchFamily="34" charset="-122"/>
                <a:cs typeface="Malgun Gothic" pitchFamily="34" charset="-120"/>
              </a:rPr>
              <a:t>. </a:t>
            </a:r>
            <a:r>
              <a:rPr lang="en-US" sz="1500" b="1" dirty="0" err="1">
                <a:solidFill>
                  <a:srgbClr val="8A1C2B"/>
                </a:solidFill>
                <a:latin typeface="Malgun Gothic" pitchFamily="34" charset="0"/>
                <a:ea typeface="Malgun Gothic" pitchFamily="34" charset="-122"/>
                <a:cs typeface="Malgun Gothic" pitchFamily="34" charset="-120"/>
              </a:rPr>
              <a:t>추가</a:t>
            </a:r>
            <a:r>
              <a:rPr lang="en-US" sz="1500" b="1" dirty="0">
                <a:solidFill>
                  <a:srgbClr val="8A1C2B"/>
                </a:solidFill>
                <a:latin typeface="Malgun Gothic" pitchFamily="34" charset="0"/>
                <a:ea typeface="Malgun Gothic" pitchFamily="34" charset="-122"/>
                <a:cs typeface="Malgun Gothic" pitchFamily="34" charset="-120"/>
              </a:rPr>
              <a:t> </a:t>
            </a:r>
            <a:r>
              <a:rPr lang="en-US" sz="1500" b="1" dirty="0" err="1">
                <a:solidFill>
                  <a:srgbClr val="8A1C2B"/>
                </a:solidFill>
                <a:latin typeface="Malgun Gothic" pitchFamily="34" charset="0"/>
                <a:ea typeface="Malgun Gothic" pitchFamily="34" charset="-122"/>
                <a:cs typeface="Malgun Gothic" pitchFamily="34" charset="-120"/>
              </a:rPr>
              <a:t>설치</a:t>
            </a:r>
            <a:r>
              <a:rPr lang="en-US" sz="1500" b="1" dirty="0">
                <a:solidFill>
                  <a:srgbClr val="8A1C2B"/>
                </a:solidFill>
                <a:latin typeface="Malgun Gothic" pitchFamily="34" charset="0"/>
                <a:ea typeface="Malgun Gothic" pitchFamily="34" charset="-122"/>
                <a:cs typeface="Malgun Gothic" pitchFamily="34" charset="-120"/>
              </a:rPr>
              <a:t> </a:t>
            </a:r>
            <a:r>
              <a:rPr lang="ko-KR" altLang="en-US" sz="1500" b="1" dirty="0">
                <a:solidFill>
                  <a:srgbClr val="8A1C2B"/>
                </a:solidFill>
                <a:latin typeface="Malgun Gothic" pitchFamily="34" charset="0"/>
                <a:ea typeface="Malgun Gothic" pitchFamily="34" charset="-122"/>
                <a:cs typeface="Malgun Gothic" pitchFamily="34" charset="-120"/>
              </a:rPr>
              <a:t>없이</a:t>
            </a:r>
            <a:r>
              <a:rPr lang="en-US" altLang="ko-KR" sz="1500" b="1" dirty="0">
                <a:solidFill>
                  <a:srgbClr val="8A1C2B"/>
                </a:solidFill>
                <a:latin typeface="Malgun Gothic" pitchFamily="34" charset="0"/>
                <a:ea typeface="Malgun Gothic" pitchFamily="34" charset="-122"/>
                <a:cs typeface="Malgun Gothic" pitchFamily="34" charset="-120"/>
              </a:rPr>
              <a:t>, </a:t>
            </a:r>
            <a:r>
              <a:rPr lang="ko-KR" altLang="en-US" sz="1500" b="1" dirty="0">
                <a:solidFill>
                  <a:srgbClr val="8A1C2B"/>
                </a:solidFill>
                <a:latin typeface="Malgun Gothic" pitchFamily="34" charset="0"/>
                <a:ea typeface="Malgun Gothic" pitchFamily="34" charset="-122"/>
                <a:cs typeface="Malgun Gothic" pitchFamily="34" charset="-120"/>
              </a:rPr>
              <a:t>코드 에디터 하나면 됩니다</a:t>
            </a:r>
            <a:endParaRPr lang="en-US" sz="1500" dirty="0"/>
          </a:p>
        </p:txBody>
      </p:sp>
    </p:spTree>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3  ·  기본기  ·  FILE-BASED APPS</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가장 작은 단위 — dotnet run app.cs</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05</a:t>
            </a:r>
            <a:endParaRPr lang="en-US" sz="900" dirty="0"/>
          </a:p>
        </p:txBody>
      </p:sp>
      <p:sp>
        <p:nvSpPr>
          <p:cNvPr id="13" name="Shape 11"/>
          <p:cNvSpPr/>
          <p:nvPr/>
        </p:nvSpPr>
        <p:spPr>
          <a:xfrm>
            <a:off x="548640" y="2057400"/>
            <a:ext cx="6766560" cy="173736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1737360"/>
          </a:xfrm>
          <a:prstGeom prst="rect">
            <a:avLst/>
          </a:prstGeom>
          <a:solidFill>
            <a:srgbClr val="8A1C2B"/>
          </a:solidFill>
          <a:ln/>
        </p:spPr>
        <p:txBody>
          <a:bodyPr/>
          <a:lstStyle/>
          <a:p>
            <a:endParaRPr lang="ko-KR" altLang="en-US"/>
          </a:p>
        </p:txBody>
      </p:sp>
      <p:sp>
        <p:nvSpPr>
          <p:cNvPr id="15" name="Text 13"/>
          <p:cNvSpPr/>
          <p:nvPr/>
        </p:nvSpPr>
        <p:spPr>
          <a:xfrm>
            <a:off x="804672" y="2185416"/>
            <a:ext cx="6309360" cy="1481328"/>
          </a:xfrm>
          <a:prstGeom prst="rect">
            <a:avLst/>
          </a:prstGeom>
          <a:noFill/>
          <a:ln/>
        </p:spPr>
        <p:txBody>
          <a:bodyPr wrap="square" lIns="0" tIns="0" rIns="0" bIns="0" rtlCol="0" anchor="t"/>
          <a:lstStyle/>
          <a:p>
            <a:pPr marL="0" indent="0" algn="l">
              <a:lnSpc>
                <a:spcPct val="132000"/>
              </a:lnSpc>
              <a:buNone/>
            </a:pPr>
            <a:r>
              <a:rPr lang="en-US" sz="1600" dirty="0">
                <a:solidFill>
                  <a:srgbClr val="1F2330"/>
                </a:solidFill>
                <a:latin typeface="Consolas" pitchFamily="34" charset="0"/>
                <a:ea typeface="Consolas" pitchFamily="34" charset="-122"/>
                <a:cs typeface="Consolas" pitchFamily="34" charset="-120"/>
              </a:rPr>
              <a:t>Console.WriteLine("Hello from a single file");</a:t>
            </a:r>
            <a:endParaRPr lang="en-US" sz="1600" dirty="0"/>
          </a:p>
          <a:p>
            <a:pPr marL="0" indent="0" algn="l">
              <a:lnSpc>
                <a:spcPct val="132000"/>
              </a:lnSpc>
              <a:buNone/>
            </a:pPr>
            <a:r>
              <a:rPr lang="en-US" sz="1600" dirty="0">
                <a:solidFill>
                  <a:srgbClr val="1F2330"/>
                </a:solidFill>
                <a:latin typeface="Consolas" pitchFamily="34" charset="0"/>
                <a:ea typeface="Consolas" pitchFamily="34" charset="-122"/>
                <a:cs typeface="Consolas" pitchFamily="34" charset="-120"/>
              </a:rPr>
              <a:t> </a:t>
            </a:r>
            <a:endParaRPr lang="en-US" sz="1600" dirty="0"/>
          </a:p>
          <a:p>
            <a:pPr marL="0" indent="0" algn="l">
              <a:lnSpc>
                <a:spcPct val="132000"/>
              </a:lnSpc>
              <a:buNone/>
            </a:pPr>
            <a:r>
              <a:rPr lang="en-US" sz="1600" b="1" dirty="0">
                <a:solidFill>
                  <a:srgbClr val="A9823F"/>
                </a:solidFill>
                <a:latin typeface="Consolas" pitchFamily="34" charset="0"/>
                <a:ea typeface="Consolas" pitchFamily="34" charset="-122"/>
                <a:cs typeface="Consolas" pitchFamily="34" charset="-120"/>
              </a:rPr>
              <a:t>$ dotnet run hello.cs</a:t>
            </a:r>
            <a:endParaRPr lang="en-US" sz="1600" dirty="0"/>
          </a:p>
        </p:txBody>
      </p:sp>
      <p:sp>
        <p:nvSpPr>
          <p:cNvPr id="16" name="Shape 14"/>
          <p:cNvSpPr/>
          <p:nvPr/>
        </p:nvSpPr>
        <p:spPr>
          <a:xfrm>
            <a:off x="594360" y="4105656"/>
            <a:ext cx="118872" cy="118872"/>
          </a:xfrm>
          <a:prstGeom prst="ellipse">
            <a:avLst/>
          </a:prstGeom>
          <a:solidFill>
            <a:srgbClr val="8A1C2B"/>
          </a:solidFill>
          <a:ln/>
        </p:spPr>
        <p:txBody>
          <a:bodyPr/>
          <a:lstStyle/>
          <a:p>
            <a:endParaRPr lang="ko-KR" altLang="en-US"/>
          </a:p>
        </p:txBody>
      </p:sp>
      <p:sp>
        <p:nvSpPr>
          <p:cNvPr id="17" name="Text 15"/>
          <p:cNvSpPr/>
          <p:nvPr/>
        </p:nvSpPr>
        <p:spPr>
          <a:xfrm>
            <a:off x="868680" y="4005072"/>
            <a:ext cx="10698480" cy="365760"/>
          </a:xfrm>
          <a:prstGeom prst="rect">
            <a:avLst/>
          </a:prstGeom>
          <a:noFill/>
          <a:ln/>
        </p:spPr>
        <p:txBody>
          <a:bodyPr wrap="square" lIns="0" tIns="0" rIns="0" bIns="0" rtlCol="0" anchor="ctr"/>
          <a:lstStyle/>
          <a:p>
            <a:pPr marL="0" indent="0">
              <a:buNone/>
            </a:pPr>
            <a:r>
              <a:rPr lang="en-US" sz="1400" b="1" dirty="0">
                <a:solidFill>
                  <a:srgbClr val="1F2330"/>
                </a:solidFill>
                <a:latin typeface="Malgun Gothic" pitchFamily="34" charset="0"/>
                <a:ea typeface="Malgun Gothic" pitchFamily="34" charset="-122"/>
                <a:cs typeface="Malgun Gothic" pitchFamily="34" charset="-120"/>
              </a:rPr>
              <a:t>최상위 문 한 줄   </a:t>
            </a:r>
            <a:r>
              <a:rPr lang="en-US" sz="1400" dirty="0">
                <a:solidFill>
                  <a:srgbClr val="6C7180"/>
                </a:solidFill>
                <a:latin typeface="Malgun Gothic" pitchFamily="34" charset="0"/>
                <a:ea typeface="Malgun Gothic" pitchFamily="34" charset="-122"/>
                <a:cs typeface="Malgun Gothic" pitchFamily="34" charset="-120"/>
              </a:rPr>
              <a:t>csproj도, Main 메서드도, 클래스 </a:t>
            </a:r>
            <a:r>
              <a:rPr lang="en-US" sz="1400" dirty="0" err="1">
                <a:solidFill>
                  <a:srgbClr val="6C7180"/>
                </a:solidFill>
                <a:latin typeface="Malgun Gothic" pitchFamily="34" charset="0"/>
                <a:ea typeface="Malgun Gothic" pitchFamily="34" charset="-122"/>
                <a:cs typeface="Malgun Gothic" pitchFamily="34" charset="-120"/>
              </a:rPr>
              <a:t>선언도</a:t>
            </a:r>
            <a:r>
              <a:rPr lang="en-US" sz="1400" dirty="0">
                <a:solidFill>
                  <a:srgbClr val="6C7180"/>
                </a:solidFill>
                <a:latin typeface="Malgun Gothic" pitchFamily="34" charset="0"/>
                <a:ea typeface="Malgun Gothic" pitchFamily="34" charset="-122"/>
                <a:cs typeface="Malgun Gothic" pitchFamily="34" charset="-120"/>
              </a:rPr>
              <a:t> 없</a:t>
            </a:r>
            <a:r>
              <a:rPr lang="ko-KR" altLang="en-US" sz="1400" dirty="0" err="1">
                <a:solidFill>
                  <a:srgbClr val="6C7180"/>
                </a:solidFill>
                <a:latin typeface="Malgun Gothic" pitchFamily="34" charset="0"/>
                <a:ea typeface="Malgun Gothic" pitchFamily="34" charset="-122"/>
                <a:cs typeface="Malgun Gothic" pitchFamily="34" charset="-120"/>
              </a:rPr>
              <a:t>습니</a:t>
            </a:r>
            <a:r>
              <a:rPr lang="en-US" sz="1400" dirty="0">
                <a:solidFill>
                  <a:srgbClr val="6C7180"/>
                </a:solidFill>
                <a:latin typeface="Malgun Gothic" pitchFamily="34" charset="0"/>
                <a:ea typeface="Malgun Gothic" pitchFamily="34" charset="-122"/>
                <a:cs typeface="Malgun Gothic" pitchFamily="34" charset="-120"/>
              </a:rPr>
              <a:t>다.</a:t>
            </a:r>
            <a:endParaRPr lang="en-US" sz="1400" dirty="0"/>
          </a:p>
        </p:txBody>
      </p:sp>
      <p:sp>
        <p:nvSpPr>
          <p:cNvPr id="18" name="Shape 16"/>
          <p:cNvSpPr/>
          <p:nvPr/>
        </p:nvSpPr>
        <p:spPr>
          <a:xfrm>
            <a:off x="594360" y="4608576"/>
            <a:ext cx="118872" cy="118872"/>
          </a:xfrm>
          <a:prstGeom prst="ellipse">
            <a:avLst/>
          </a:prstGeom>
          <a:solidFill>
            <a:srgbClr val="8A1C2B"/>
          </a:solidFill>
          <a:ln/>
        </p:spPr>
        <p:txBody>
          <a:bodyPr/>
          <a:lstStyle/>
          <a:p>
            <a:endParaRPr lang="ko-KR" altLang="en-US"/>
          </a:p>
        </p:txBody>
      </p:sp>
      <p:sp>
        <p:nvSpPr>
          <p:cNvPr id="19" name="Text 17"/>
          <p:cNvSpPr/>
          <p:nvPr/>
        </p:nvSpPr>
        <p:spPr>
          <a:xfrm>
            <a:off x="868680" y="4507992"/>
            <a:ext cx="10698480" cy="365760"/>
          </a:xfrm>
          <a:prstGeom prst="rect">
            <a:avLst/>
          </a:prstGeom>
          <a:noFill/>
          <a:ln/>
        </p:spPr>
        <p:txBody>
          <a:bodyPr wrap="square" lIns="0" tIns="0" rIns="0" bIns="0" rtlCol="0" anchor="ctr"/>
          <a:lstStyle/>
          <a:p>
            <a:pPr marL="0" indent="0">
              <a:buNone/>
            </a:pPr>
            <a:r>
              <a:rPr lang="en-US" sz="1400" b="1" dirty="0">
                <a:solidFill>
                  <a:srgbClr val="1F2330"/>
                </a:solidFill>
                <a:latin typeface="Malgun Gothic" pitchFamily="34" charset="0"/>
                <a:ea typeface="Malgun Gothic" pitchFamily="34" charset="-122"/>
                <a:cs typeface="Malgun Gothic" pitchFamily="34" charset="-120"/>
              </a:rPr>
              <a:t>첫 실행만 </a:t>
            </a:r>
            <a:r>
              <a:rPr lang="en-US" sz="1400" b="1" dirty="0" err="1">
                <a:solidFill>
                  <a:srgbClr val="1F2330"/>
                </a:solidFill>
                <a:latin typeface="Malgun Gothic" pitchFamily="34" charset="0"/>
                <a:ea typeface="Malgun Gothic" pitchFamily="34" charset="-122"/>
                <a:cs typeface="Malgun Gothic" pitchFamily="34" charset="-120"/>
              </a:rPr>
              <a:t>빌드</a:t>
            </a:r>
            <a:r>
              <a:rPr lang="en-US" sz="1400" b="1" dirty="0">
                <a:solidFill>
                  <a:srgbClr val="1F2330"/>
                </a:solidFill>
                <a:latin typeface="Malgun Gothic" pitchFamily="34" charset="0"/>
                <a:ea typeface="Malgun Gothic" pitchFamily="34" charset="-122"/>
                <a:cs typeface="Malgun Gothic" pitchFamily="34" charset="-120"/>
              </a:rPr>
              <a:t>   </a:t>
            </a:r>
            <a:r>
              <a:rPr lang="en-US" sz="1400" dirty="0" err="1">
                <a:solidFill>
                  <a:srgbClr val="6C7180"/>
                </a:solidFill>
                <a:latin typeface="Malgun Gothic" pitchFamily="34" charset="0"/>
                <a:ea typeface="Malgun Gothic" pitchFamily="34" charset="-122"/>
                <a:cs typeface="Malgun Gothic" pitchFamily="34" charset="-120"/>
              </a:rPr>
              <a:t>결과물은</a:t>
            </a:r>
            <a:r>
              <a:rPr lang="en-US" sz="1400" dirty="0">
                <a:solidFill>
                  <a:srgbClr val="6C7180"/>
                </a:solidFill>
                <a:latin typeface="Malgun Gothic" pitchFamily="34" charset="0"/>
                <a:ea typeface="Malgun Gothic" pitchFamily="34" charset="-122"/>
                <a:cs typeface="Malgun Gothic" pitchFamily="34" charset="-120"/>
              </a:rPr>
              <a:t> </a:t>
            </a:r>
            <a:r>
              <a:rPr lang="ko-KR" altLang="en-US" sz="1400" dirty="0">
                <a:solidFill>
                  <a:srgbClr val="6C7180"/>
                </a:solidFill>
                <a:latin typeface="Malgun Gothic" pitchFamily="34" charset="0"/>
                <a:ea typeface="Malgun Gothic" pitchFamily="34" charset="-122"/>
                <a:cs typeface="Malgun Gothic" pitchFamily="34" charset="-120"/>
              </a:rPr>
              <a:t>처음에 </a:t>
            </a:r>
            <a:r>
              <a:rPr lang="ko-KR" altLang="en-US" sz="1400" dirty="0" err="1">
                <a:solidFill>
                  <a:srgbClr val="6C7180"/>
                </a:solidFill>
                <a:latin typeface="Malgun Gothic" pitchFamily="34" charset="0"/>
                <a:ea typeface="Malgun Gothic" pitchFamily="34" charset="-122"/>
                <a:cs typeface="Malgun Gothic" pitchFamily="34" charset="-120"/>
              </a:rPr>
              <a:t>캐시되고</a:t>
            </a:r>
            <a:r>
              <a:rPr lang="en-US" sz="1400" dirty="0">
                <a:solidFill>
                  <a:srgbClr val="6C7180"/>
                </a:solidFill>
                <a:latin typeface="Malgun Gothic" pitchFamily="34" charset="0"/>
                <a:ea typeface="Malgun Gothic" pitchFamily="34" charset="-122"/>
                <a:cs typeface="Malgun Gothic" pitchFamily="34" charset="-120"/>
              </a:rPr>
              <a:t> 두 번째부터 </a:t>
            </a:r>
            <a:r>
              <a:rPr lang="en-US" sz="1400" dirty="0" err="1">
                <a:solidFill>
                  <a:srgbClr val="6C7180"/>
                </a:solidFill>
                <a:latin typeface="Malgun Gothic" pitchFamily="34" charset="0"/>
                <a:ea typeface="Malgun Gothic" pitchFamily="34" charset="-122"/>
                <a:cs typeface="Malgun Gothic" pitchFamily="34" charset="-120"/>
              </a:rPr>
              <a:t>즉시</a:t>
            </a:r>
            <a:r>
              <a:rPr lang="en-US" sz="1400" dirty="0">
                <a:solidFill>
                  <a:srgbClr val="6C7180"/>
                </a:solidFill>
                <a:latin typeface="Malgun Gothic" pitchFamily="34" charset="0"/>
                <a:ea typeface="Malgun Gothic" pitchFamily="34" charset="-122"/>
                <a:cs typeface="Malgun Gothic" pitchFamily="34" charset="-120"/>
              </a:rPr>
              <a:t> </a:t>
            </a:r>
            <a:r>
              <a:rPr lang="en-US" sz="1400" dirty="0" err="1">
                <a:solidFill>
                  <a:srgbClr val="6C7180"/>
                </a:solidFill>
                <a:latin typeface="Malgun Gothic" pitchFamily="34" charset="0"/>
                <a:ea typeface="Malgun Gothic" pitchFamily="34" charset="-122"/>
                <a:cs typeface="Malgun Gothic" pitchFamily="34" charset="-120"/>
              </a:rPr>
              <a:t>시작</a:t>
            </a:r>
            <a:r>
              <a:rPr lang="ko-KR" altLang="en-US" sz="1400" dirty="0">
                <a:solidFill>
                  <a:srgbClr val="6C7180"/>
                </a:solidFill>
                <a:latin typeface="Malgun Gothic" pitchFamily="34" charset="0"/>
                <a:ea typeface="Malgun Gothic" pitchFamily="34" charset="-122"/>
                <a:cs typeface="Malgun Gothic" pitchFamily="34" charset="-120"/>
              </a:rPr>
              <a:t>됩니다</a:t>
            </a:r>
            <a:r>
              <a:rPr lang="en-US" sz="1400" dirty="0">
                <a:solidFill>
                  <a:srgbClr val="6C7180"/>
                </a:solidFill>
                <a:latin typeface="Malgun Gothic" pitchFamily="34" charset="0"/>
                <a:ea typeface="Malgun Gothic" pitchFamily="34" charset="-122"/>
                <a:cs typeface="Malgun Gothic" pitchFamily="34" charset="-120"/>
              </a:rPr>
              <a:t>. Python</a:t>
            </a:r>
            <a:r>
              <a:rPr lang="ko-KR" altLang="en-US" sz="1400" dirty="0">
                <a:solidFill>
                  <a:srgbClr val="6C7180"/>
                </a:solidFill>
                <a:latin typeface="Malgun Gothic" pitchFamily="34" charset="0"/>
                <a:ea typeface="Malgun Gothic" pitchFamily="34" charset="-122"/>
                <a:cs typeface="Malgun Gothic" pitchFamily="34" charset="-120"/>
              </a:rPr>
              <a:t>과 비슷하게 동작합니다</a:t>
            </a:r>
            <a:r>
              <a:rPr lang="en-US" sz="1400" dirty="0">
                <a:solidFill>
                  <a:srgbClr val="6C7180"/>
                </a:solidFill>
                <a:latin typeface="Malgun Gothic" pitchFamily="34" charset="0"/>
                <a:ea typeface="Malgun Gothic" pitchFamily="34" charset="-122"/>
                <a:cs typeface="Malgun Gothic" pitchFamily="34" charset="-120"/>
              </a:rPr>
              <a:t>.</a:t>
            </a:r>
            <a:endParaRPr lang="en-US" sz="1400" dirty="0"/>
          </a:p>
        </p:txBody>
      </p:sp>
      <p:sp>
        <p:nvSpPr>
          <p:cNvPr id="20" name="Shape 18"/>
          <p:cNvSpPr/>
          <p:nvPr/>
        </p:nvSpPr>
        <p:spPr>
          <a:xfrm>
            <a:off x="594360" y="5111496"/>
            <a:ext cx="118872" cy="118872"/>
          </a:xfrm>
          <a:prstGeom prst="ellipse">
            <a:avLst/>
          </a:prstGeom>
          <a:solidFill>
            <a:srgbClr val="8A1C2B"/>
          </a:solidFill>
          <a:ln/>
        </p:spPr>
        <p:txBody>
          <a:bodyPr/>
          <a:lstStyle/>
          <a:p>
            <a:endParaRPr lang="ko-KR" altLang="en-US"/>
          </a:p>
        </p:txBody>
      </p:sp>
      <p:sp>
        <p:nvSpPr>
          <p:cNvPr id="21" name="Text 19"/>
          <p:cNvSpPr/>
          <p:nvPr/>
        </p:nvSpPr>
        <p:spPr>
          <a:xfrm>
            <a:off x="868680" y="5010912"/>
            <a:ext cx="10698480" cy="365760"/>
          </a:xfrm>
          <a:prstGeom prst="rect">
            <a:avLst/>
          </a:prstGeom>
          <a:noFill/>
          <a:ln/>
        </p:spPr>
        <p:txBody>
          <a:bodyPr wrap="square" lIns="0" tIns="0" rIns="0" bIns="0" rtlCol="0" anchor="ctr"/>
          <a:lstStyle/>
          <a:p>
            <a:pPr marL="0" indent="0">
              <a:buNone/>
            </a:pPr>
            <a:r>
              <a:rPr lang="en-US" sz="1400" b="1" dirty="0">
                <a:solidFill>
                  <a:srgbClr val="1F2330"/>
                </a:solidFill>
                <a:latin typeface="Malgun Gothic" pitchFamily="34" charset="0"/>
                <a:ea typeface="Malgun Gothic" pitchFamily="34" charset="-122"/>
                <a:cs typeface="Malgun Gothic" pitchFamily="34" charset="-120"/>
              </a:rPr>
              <a:t>적용 대상   </a:t>
            </a:r>
            <a:r>
              <a:rPr lang="en-US" sz="1400" dirty="0">
                <a:solidFill>
                  <a:srgbClr val="6C7180"/>
                </a:solidFill>
                <a:latin typeface="Malgun Gothic" pitchFamily="34" charset="0"/>
                <a:ea typeface="Malgun Gothic" pitchFamily="34" charset="-122"/>
                <a:cs typeface="Malgun Gothic" pitchFamily="34" charset="-120"/>
              </a:rPr>
              <a:t>.NET 10 SDK, 10.0.300 </a:t>
            </a:r>
            <a:r>
              <a:rPr lang="en-US" sz="1400" dirty="0" err="1">
                <a:solidFill>
                  <a:srgbClr val="6C7180"/>
                </a:solidFill>
                <a:latin typeface="Malgun Gothic" pitchFamily="34" charset="0"/>
                <a:ea typeface="Malgun Gothic" pitchFamily="34" charset="-122"/>
                <a:cs typeface="Malgun Gothic" pitchFamily="34" charset="-120"/>
              </a:rPr>
              <a:t>버전</a:t>
            </a:r>
            <a:r>
              <a:rPr lang="en-US" sz="1400" dirty="0">
                <a:solidFill>
                  <a:srgbClr val="6C7180"/>
                </a:solidFill>
                <a:latin typeface="Malgun Gothic" pitchFamily="34" charset="0"/>
                <a:ea typeface="Malgun Gothic" pitchFamily="34" charset="-122"/>
                <a:cs typeface="Malgun Gothic" pitchFamily="34" charset="-120"/>
              </a:rPr>
              <a:t> </a:t>
            </a:r>
            <a:r>
              <a:rPr lang="en-US" sz="1400" dirty="0" err="1">
                <a:solidFill>
                  <a:srgbClr val="6C7180"/>
                </a:solidFill>
                <a:latin typeface="Malgun Gothic" pitchFamily="34" charset="0"/>
                <a:ea typeface="Malgun Gothic" pitchFamily="34" charset="-122"/>
                <a:cs typeface="Malgun Gothic" pitchFamily="34" charset="-120"/>
              </a:rPr>
              <a:t>이상</a:t>
            </a:r>
            <a:r>
              <a:rPr lang="ko-KR" altLang="en-US" sz="1400" dirty="0">
                <a:solidFill>
                  <a:srgbClr val="6C7180"/>
                </a:solidFill>
                <a:latin typeface="Malgun Gothic" pitchFamily="34" charset="0"/>
                <a:ea typeface="Malgun Gothic" pitchFamily="34" charset="-122"/>
                <a:cs typeface="Malgun Gothic" pitchFamily="34" charset="-120"/>
              </a:rPr>
              <a:t>을 추천합니다</a:t>
            </a:r>
            <a:r>
              <a:rPr lang="en-US" sz="1400" dirty="0">
                <a:solidFill>
                  <a:srgbClr val="6C7180"/>
                </a:solidFill>
                <a:latin typeface="Malgun Gothic" pitchFamily="34" charset="0"/>
                <a:ea typeface="Malgun Gothic" pitchFamily="34" charset="-122"/>
                <a:cs typeface="Malgun Gothic" pitchFamily="34" charset="-120"/>
              </a:rPr>
              <a:t>.</a:t>
            </a:r>
            <a:endParaRPr lang="en-US" sz="1400" dirty="0"/>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3  ·  기본기</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000" b="1" dirty="0">
                <a:solidFill>
                  <a:srgbClr val="1F2330"/>
                </a:solidFill>
                <a:latin typeface="Batang" pitchFamily="34" charset="0"/>
                <a:ea typeface="Batang" pitchFamily="34" charset="-122"/>
                <a:cs typeface="Batang" pitchFamily="34" charset="-120"/>
              </a:rPr>
              <a:t>파일 하나가 프로젝트가 되는 법 — #: 디렉티브</a:t>
            </a:r>
            <a:endParaRPr lang="en-US" sz="30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06</a:t>
            </a:r>
            <a:endParaRPr lang="en-US" sz="900" dirty="0"/>
          </a:p>
        </p:txBody>
      </p:sp>
      <p:sp>
        <p:nvSpPr>
          <p:cNvPr id="13" name="Shape 11"/>
          <p:cNvSpPr/>
          <p:nvPr/>
        </p:nvSpPr>
        <p:spPr>
          <a:xfrm>
            <a:off x="548640" y="2103120"/>
            <a:ext cx="11064240" cy="0"/>
          </a:xfrm>
          <a:prstGeom prst="line">
            <a:avLst/>
          </a:prstGeom>
          <a:noFill/>
          <a:ln w="9525">
            <a:solidFill>
              <a:srgbClr val="D8D1BE"/>
            </a:solidFill>
            <a:prstDash val="solid"/>
          </a:ln>
        </p:spPr>
        <p:txBody>
          <a:bodyPr/>
          <a:lstStyle/>
          <a:p>
            <a:endParaRPr lang="ko-KR" altLang="en-US"/>
          </a:p>
        </p:txBody>
      </p:sp>
      <p:sp>
        <p:nvSpPr>
          <p:cNvPr id="14" name="Text 12"/>
          <p:cNvSpPr/>
          <p:nvPr/>
        </p:nvSpPr>
        <p:spPr>
          <a:xfrm>
            <a:off x="658368" y="2103120"/>
            <a:ext cx="2706624" cy="603504"/>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#:package</a:t>
            </a:r>
            <a:endParaRPr lang="en-US" sz="1500" dirty="0"/>
          </a:p>
        </p:txBody>
      </p:sp>
      <p:sp>
        <p:nvSpPr>
          <p:cNvPr id="15" name="Text 13"/>
          <p:cNvSpPr/>
          <p:nvPr/>
        </p:nvSpPr>
        <p:spPr>
          <a:xfrm>
            <a:off x="3584448" y="2103120"/>
            <a:ext cx="7918704" cy="603504"/>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NuGet 패키지 참조</a:t>
            </a:r>
            <a:endParaRPr lang="en-US" sz="1500" dirty="0"/>
          </a:p>
        </p:txBody>
      </p:sp>
      <p:sp>
        <p:nvSpPr>
          <p:cNvPr id="16" name="Shape 14"/>
          <p:cNvSpPr/>
          <p:nvPr/>
        </p:nvSpPr>
        <p:spPr>
          <a:xfrm>
            <a:off x="548640" y="2706624"/>
            <a:ext cx="11064240" cy="0"/>
          </a:xfrm>
          <a:prstGeom prst="line">
            <a:avLst/>
          </a:prstGeom>
          <a:noFill/>
          <a:ln w="9525">
            <a:solidFill>
              <a:srgbClr val="D8D1BE"/>
            </a:solidFill>
            <a:prstDash val="solid"/>
          </a:ln>
        </p:spPr>
        <p:txBody>
          <a:bodyPr/>
          <a:lstStyle/>
          <a:p>
            <a:endParaRPr lang="ko-KR" altLang="en-US"/>
          </a:p>
        </p:txBody>
      </p:sp>
      <p:sp>
        <p:nvSpPr>
          <p:cNvPr id="17" name="Shape 15"/>
          <p:cNvSpPr/>
          <p:nvPr/>
        </p:nvSpPr>
        <p:spPr>
          <a:xfrm>
            <a:off x="384048" y="2752344"/>
            <a:ext cx="11393424" cy="512064"/>
          </a:xfrm>
          <a:prstGeom prst="rect">
            <a:avLst/>
          </a:prstGeom>
          <a:solidFill>
            <a:srgbClr val="F0E0E1"/>
          </a:solidFill>
          <a:ln/>
        </p:spPr>
        <p:txBody>
          <a:bodyPr/>
          <a:lstStyle/>
          <a:p>
            <a:endParaRPr lang="ko-KR" altLang="en-US"/>
          </a:p>
        </p:txBody>
      </p:sp>
      <p:sp>
        <p:nvSpPr>
          <p:cNvPr id="18" name="Text 16"/>
          <p:cNvSpPr/>
          <p:nvPr/>
        </p:nvSpPr>
        <p:spPr>
          <a:xfrm>
            <a:off x="658368" y="2706624"/>
            <a:ext cx="2706624" cy="603504"/>
          </a:xfrm>
          <a:prstGeom prst="rect">
            <a:avLst/>
          </a:prstGeom>
          <a:noFill/>
          <a:ln/>
        </p:spPr>
        <p:txBody>
          <a:bodyPr wrap="square" lIns="0" tIns="0" rIns="0" bIns="0" rtlCol="0" anchor="ctr"/>
          <a:lstStyle/>
          <a:p>
            <a:pPr marL="0" indent="0" algn="l">
              <a:buNone/>
            </a:pPr>
            <a:r>
              <a:rPr lang="en-US" sz="1500" b="1" dirty="0">
                <a:solidFill>
                  <a:srgbClr val="8A1C2B"/>
                </a:solidFill>
                <a:latin typeface="Consolas" pitchFamily="34" charset="0"/>
                <a:ea typeface="Consolas" pitchFamily="34" charset="-122"/>
                <a:cs typeface="Consolas" pitchFamily="34" charset="-120"/>
              </a:rPr>
              <a:t>#:sdk</a:t>
            </a:r>
            <a:endParaRPr lang="en-US" sz="1500" dirty="0"/>
          </a:p>
        </p:txBody>
      </p:sp>
      <p:sp>
        <p:nvSpPr>
          <p:cNvPr id="19" name="Text 17"/>
          <p:cNvSpPr/>
          <p:nvPr/>
        </p:nvSpPr>
        <p:spPr>
          <a:xfrm>
            <a:off x="3584448" y="2706624"/>
            <a:ext cx="7918704" cy="603504"/>
          </a:xfrm>
          <a:prstGeom prst="rect">
            <a:avLst/>
          </a:prstGeom>
          <a:noFill/>
          <a:ln/>
        </p:spPr>
        <p:txBody>
          <a:bodyPr wrap="square" lIns="0" tIns="0" rIns="0" bIns="0" rtlCol="0" anchor="ctr"/>
          <a:lstStyle/>
          <a:p>
            <a:pPr marL="0" indent="0" algn="l">
              <a:buNone/>
            </a:pPr>
            <a:r>
              <a:rPr lang="en-US" sz="1500" dirty="0">
                <a:solidFill>
                  <a:srgbClr val="1F2330"/>
                </a:solidFill>
                <a:latin typeface="Malgun Gothic" pitchFamily="34" charset="0"/>
                <a:ea typeface="Malgun Gothic" pitchFamily="34" charset="-122"/>
                <a:cs typeface="Malgun Gothic" pitchFamily="34" charset="-120"/>
              </a:rPr>
              <a:t>기반 SDK 변경 — 오늘의 핵심 디렉티브</a:t>
            </a:r>
            <a:endParaRPr lang="en-US" sz="1500" dirty="0"/>
          </a:p>
        </p:txBody>
      </p:sp>
      <p:sp>
        <p:nvSpPr>
          <p:cNvPr id="20" name="Shape 18"/>
          <p:cNvSpPr/>
          <p:nvPr/>
        </p:nvSpPr>
        <p:spPr>
          <a:xfrm>
            <a:off x="548640" y="3310128"/>
            <a:ext cx="11064240" cy="0"/>
          </a:xfrm>
          <a:prstGeom prst="line">
            <a:avLst/>
          </a:prstGeom>
          <a:noFill/>
          <a:ln w="9525">
            <a:solidFill>
              <a:srgbClr val="D8D1BE"/>
            </a:solidFill>
            <a:prstDash val="solid"/>
          </a:ln>
        </p:spPr>
        <p:txBody>
          <a:bodyPr/>
          <a:lstStyle/>
          <a:p>
            <a:endParaRPr lang="ko-KR" altLang="en-US"/>
          </a:p>
        </p:txBody>
      </p:sp>
      <p:sp>
        <p:nvSpPr>
          <p:cNvPr id="21" name="Text 19"/>
          <p:cNvSpPr/>
          <p:nvPr/>
        </p:nvSpPr>
        <p:spPr>
          <a:xfrm>
            <a:off x="658368" y="3310128"/>
            <a:ext cx="2706624" cy="603504"/>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#:property</a:t>
            </a:r>
            <a:endParaRPr lang="en-US" sz="1500" dirty="0"/>
          </a:p>
        </p:txBody>
      </p:sp>
      <p:sp>
        <p:nvSpPr>
          <p:cNvPr id="22" name="Text 20"/>
          <p:cNvSpPr/>
          <p:nvPr/>
        </p:nvSpPr>
        <p:spPr>
          <a:xfrm>
            <a:off x="3584448" y="3310128"/>
            <a:ext cx="7918704" cy="603504"/>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MSBuild 속성 지정</a:t>
            </a:r>
            <a:endParaRPr lang="en-US" sz="1500" dirty="0"/>
          </a:p>
        </p:txBody>
      </p:sp>
      <p:sp>
        <p:nvSpPr>
          <p:cNvPr id="23" name="Shape 21"/>
          <p:cNvSpPr/>
          <p:nvPr/>
        </p:nvSpPr>
        <p:spPr>
          <a:xfrm>
            <a:off x="548640" y="3913632"/>
            <a:ext cx="11064240" cy="0"/>
          </a:xfrm>
          <a:prstGeom prst="line">
            <a:avLst/>
          </a:prstGeom>
          <a:noFill/>
          <a:ln w="9525">
            <a:solidFill>
              <a:srgbClr val="D8D1BE"/>
            </a:solidFill>
            <a:prstDash val="solid"/>
          </a:ln>
        </p:spPr>
        <p:txBody>
          <a:bodyPr/>
          <a:lstStyle/>
          <a:p>
            <a:endParaRPr lang="ko-KR" altLang="en-US"/>
          </a:p>
        </p:txBody>
      </p:sp>
      <p:sp>
        <p:nvSpPr>
          <p:cNvPr id="24" name="Text 22"/>
          <p:cNvSpPr/>
          <p:nvPr/>
        </p:nvSpPr>
        <p:spPr>
          <a:xfrm>
            <a:off x="658368" y="3913632"/>
            <a:ext cx="2706624" cy="603504"/>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#:project</a:t>
            </a:r>
            <a:endParaRPr lang="en-US" sz="1500" dirty="0"/>
          </a:p>
        </p:txBody>
      </p:sp>
      <p:sp>
        <p:nvSpPr>
          <p:cNvPr id="25" name="Text 23"/>
          <p:cNvSpPr/>
          <p:nvPr/>
        </p:nvSpPr>
        <p:spPr>
          <a:xfrm>
            <a:off x="3584448" y="3913632"/>
            <a:ext cx="7918704" cy="603504"/>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다른 프로젝트 참조</a:t>
            </a:r>
            <a:endParaRPr lang="en-US" sz="1500" dirty="0"/>
          </a:p>
        </p:txBody>
      </p:sp>
      <p:sp>
        <p:nvSpPr>
          <p:cNvPr id="26" name="Shape 24"/>
          <p:cNvSpPr/>
          <p:nvPr/>
        </p:nvSpPr>
        <p:spPr>
          <a:xfrm>
            <a:off x="548640" y="4517136"/>
            <a:ext cx="11064240" cy="0"/>
          </a:xfrm>
          <a:prstGeom prst="line">
            <a:avLst/>
          </a:prstGeom>
          <a:noFill/>
          <a:ln w="9525">
            <a:solidFill>
              <a:srgbClr val="D8D1BE"/>
            </a:solidFill>
            <a:prstDash val="solid"/>
          </a:ln>
        </p:spPr>
        <p:txBody>
          <a:bodyPr/>
          <a:lstStyle/>
          <a:p>
            <a:endParaRPr lang="ko-KR" altLang="en-US"/>
          </a:p>
        </p:txBody>
      </p:sp>
      <p:sp>
        <p:nvSpPr>
          <p:cNvPr id="27" name="Text 25"/>
          <p:cNvSpPr/>
          <p:nvPr/>
        </p:nvSpPr>
        <p:spPr>
          <a:xfrm>
            <a:off x="658368" y="4517136"/>
            <a:ext cx="2706624" cy="603504"/>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#:include</a:t>
            </a:r>
            <a:endParaRPr lang="en-US" sz="1500" dirty="0"/>
          </a:p>
        </p:txBody>
      </p:sp>
      <p:sp>
        <p:nvSpPr>
          <p:cNvPr id="28" name="Text 26"/>
          <p:cNvSpPr/>
          <p:nvPr/>
        </p:nvSpPr>
        <p:spPr>
          <a:xfrm>
            <a:off x="3584448" y="4517136"/>
            <a:ext cx="7918704" cy="603504"/>
          </a:xfrm>
          <a:prstGeom prst="rect">
            <a:avLst/>
          </a:prstGeom>
          <a:noFill/>
          <a:ln/>
        </p:spPr>
        <p:txBody>
          <a:bodyPr wrap="square" lIns="0" tIns="0" rIns="0" bIns="0" rtlCol="0" anchor="ctr"/>
          <a:lstStyle/>
          <a:p>
            <a:pPr marL="0" indent="0" algn="l">
              <a:buNone/>
            </a:pPr>
            <a:r>
              <a:rPr lang="en-US" sz="1500" dirty="0" err="1">
                <a:solidFill>
                  <a:srgbClr val="6C7180"/>
                </a:solidFill>
                <a:latin typeface="Malgun Gothic" pitchFamily="34" charset="0"/>
                <a:ea typeface="Malgun Gothic" pitchFamily="34" charset="-122"/>
                <a:cs typeface="Malgun Gothic" pitchFamily="34" charset="-120"/>
              </a:rPr>
              <a:t>다른</a:t>
            </a:r>
            <a:r>
              <a:rPr lang="en-US" sz="1500" dirty="0">
                <a:solidFill>
                  <a:srgbClr val="6C7180"/>
                </a:solidFill>
                <a:latin typeface="Malgun Gothic" pitchFamily="34" charset="0"/>
                <a:ea typeface="Malgun Gothic" pitchFamily="34" charset="-122"/>
                <a:cs typeface="Malgun Gothic" pitchFamily="34" charset="-120"/>
              </a:rPr>
              <a:t> C# </a:t>
            </a:r>
            <a:r>
              <a:rPr lang="en-US" sz="1500" dirty="0" err="1">
                <a:solidFill>
                  <a:srgbClr val="6C7180"/>
                </a:solidFill>
                <a:latin typeface="Malgun Gothic" pitchFamily="34" charset="0"/>
                <a:ea typeface="Malgun Gothic" pitchFamily="34" charset="-122"/>
                <a:cs typeface="Malgun Gothic" pitchFamily="34" charset="-120"/>
              </a:rPr>
              <a:t>파일</a:t>
            </a:r>
            <a:r>
              <a:rPr lang="en-US" sz="1500" dirty="0">
                <a:solidFill>
                  <a:srgbClr val="6C7180"/>
                </a:solidFill>
                <a:latin typeface="Malgun Gothic" pitchFamily="34" charset="0"/>
                <a:ea typeface="Malgun Gothic" pitchFamily="34" charset="-122"/>
                <a:cs typeface="Malgun Gothic" pitchFamily="34" charset="-120"/>
              </a:rPr>
              <a:t> 포</a:t>
            </a:r>
            <a:r>
              <a:rPr lang="ko-KR" altLang="en-US" sz="1500" dirty="0">
                <a:solidFill>
                  <a:srgbClr val="6C7180"/>
                </a:solidFill>
                <a:latin typeface="Malgun Gothic" pitchFamily="34" charset="0"/>
                <a:ea typeface="Malgun Gothic" pitchFamily="34" charset="-122"/>
                <a:cs typeface="Malgun Gothic" pitchFamily="34" charset="-120"/>
              </a:rPr>
              <a:t>함</a:t>
            </a:r>
            <a:endParaRPr lang="en-US" sz="1500" dirty="0"/>
          </a:p>
        </p:txBody>
      </p:sp>
      <p:sp>
        <p:nvSpPr>
          <p:cNvPr id="29" name="Shape 27"/>
          <p:cNvSpPr/>
          <p:nvPr/>
        </p:nvSpPr>
        <p:spPr>
          <a:xfrm>
            <a:off x="548640" y="5120640"/>
            <a:ext cx="11064240" cy="0"/>
          </a:xfrm>
          <a:prstGeom prst="line">
            <a:avLst/>
          </a:prstGeom>
          <a:noFill/>
          <a:ln w="9525">
            <a:solidFill>
              <a:srgbClr val="D8D1BE"/>
            </a:solidFill>
            <a:prstDash val="solid"/>
          </a:ln>
        </p:spPr>
        <p:txBody>
          <a:bodyPr/>
          <a:lstStyle/>
          <a:p>
            <a:endParaRPr lang="ko-KR" altLang="en-US"/>
          </a:p>
        </p:txBody>
      </p:sp>
      <p:sp>
        <p:nvSpPr>
          <p:cNvPr id="30" name="Text 28"/>
          <p:cNvSpPr/>
          <p:nvPr/>
        </p:nvSpPr>
        <p:spPr>
          <a:xfrm>
            <a:off x="548640" y="5897880"/>
            <a:ext cx="11064240" cy="411480"/>
          </a:xfrm>
          <a:prstGeom prst="rect">
            <a:avLst/>
          </a:prstGeom>
          <a:noFill/>
          <a:ln/>
        </p:spPr>
        <p:txBody>
          <a:bodyPr wrap="square" lIns="0" tIns="0" rIns="0" bIns="0" rtlCol="0" anchor="ctr"/>
          <a:lstStyle/>
          <a:p>
            <a:pPr marL="0" indent="0" algn="l">
              <a:buNone/>
            </a:pPr>
            <a:r>
              <a:rPr lang="ko-KR" altLang="en-US" sz="1400" dirty="0"/>
              <a:t>다섯 가지 지시자만 있으면 앱 개발에 필요한 모든 것이 준비됩니다</a:t>
            </a:r>
            <a:r>
              <a:rPr lang="en-US" altLang="ko-KR" sz="1400" dirty="0"/>
              <a:t>.</a:t>
            </a:r>
            <a:endParaRPr lang="en-US" sz="1400" dirty="0"/>
          </a:p>
        </p:txBody>
      </p:sp>
    </p:spTree>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3  ·  기본기</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스크립트처럼, </a:t>
            </a:r>
            <a:r>
              <a:rPr lang="en-US" sz="3300" b="1" dirty="0" err="1">
                <a:solidFill>
                  <a:srgbClr val="1F2330"/>
                </a:solidFill>
                <a:latin typeface="Batang" pitchFamily="34" charset="0"/>
                <a:ea typeface="Batang" pitchFamily="34" charset="-122"/>
                <a:cs typeface="Batang" pitchFamily="34" charset="-120"/>
              </a:rPr>
              <a:t>그러나</a:t>
            </a:r>
            <a:r>
              <a:rPr lang="en-US" sz="3300" b="1" dirty="0">
                <a:solidFill>
                  <a:srgbClr val="1F2330"/>
                </a:solidFill>
                <a:latin typeface="Batang" pitchFamily="34" charset="0"/>
                <a:ea typeface="Batang" pitchFamily="34" charset="-122"/>
                <a:cs typeface="Batang" pitchFamily="34" charset="-120"/>
              </a:rPr>
              <a:t> </a:t>
            </a:r>
            <a:r>
              <a:rPr lang="ko-KR" altLang="en-US" sz="3300" b="1" dirty="0">
                <a:solidFill>
                  <a:srgbClr val="1F2330"/>
                </a:solidFill>
                <a:latin typeface="Batang" pitchFamily="34" charset="0"/>
                <a:ea typeface="Batang" pitchFamily="34" charset="-122"/>
                <a:cs typeface="Batang" pitchFamily="34" charset="-120"/>
              </a:rPr>
              <a:t>완성도는 높게</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07</a:t>
            </a:r>
            <a:endParaRPr lang="en-US" sz="900" dirty="0"/>
          </a:p>
        </p:txBody>
      </p:sp>
      <p:sp>
        <p:nvSpPr>
          <p:cNvPr id="13" name="Shape 11"/>
          <p:cNvSpPr/>
          <p:nvPr/>
        </p:nvSpPr>
        <p:spPr>
          <a:xfrm>
            <a:off x="548640" y="2148840"/>
            <a:ext cx="3538728" cy="32004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148840"/>
            <a:ext cx="3538728" cy="64008"/>
          </a:xfrm>
          <a:prstGeom prst="rect">
            <a:avLst/>
          </a:prstGeom>
          <a:solidFill>
            <a:srgbClr val="A9823F"/>
          </a:solidFill>
          <a:ln/>
        </p:spPr>
        <p:txBody>
          <a:bodyPr/>
          <a:lstStyle/>
          <a:p>
            <a:endParaRPr lang="ko-KR" altLang="en-US"/>
          </a:p>
        </p:txBody>
      </p:sp>
      <p:sp>
        <p:nvSpPr>
          <p:cNvPr id="15" name="Text 13"/>
          <p:cNvSpPr/>
          <p:nvPr/>
        </p:nvSpPr>
        <p:spPr>
          <a:xfrm>
            <a:off x="804672" y="2350008"/>
            <a:ext cx="914400" cy="457200"/>
          </a:xfrm>
          <a:prstGeom prst="rect">
            <a:avLst/>
          </a:prstGeom>
          <a:noFill/>
          <a:ln/>
        </p:spPr>
        <p:txBody>
          <a:bodyPr wrap="square" lIns="0" tIns="0" rIns="0" bIns="0" rtlCol="0" anchor="ctr"/>
          <a:lstStyle/>
          <a:p>
            <a:pPr marL="0" indent="0" algn="l">
              <a:buNone/>
            </a:pPr>
            <a:r>
              <a:rPr lang="en-US" sz="2600" b="1" dirty="0">
                <a:solidFill>
                  <a:srgbClr val="A9823F"/>
                </a:solidFill>
                <a:latin typeface="Batang" pitchFamily="34" charset="0"/>
                <a:ea typeface="Batang" pitchFamily="34" charset="-122"/>
                <a:cs typeface="Batang" pitchFamily="34" charset="-120"/>
              </a:rPr>
              <a:t>♯</a:t>
            </a:r>
            <a:endParaRPr lang="en-US" sz="2600" dirty="0"/>
          </a:p>
        </p:txBody>
      </p:sp>
      <p:sp>
        <p:nvSpPr>
          <p:cNvPr id="16" name="Text 14"/>
          <p:cNvSpPr/>
          <p:nvPr/>
        </p:nvSpPr>
        <p:spPr>
          <a:xfrm>
            <a:off x="804672"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진짜 스크립트처럼</a:t>
            </a:r>
            <a:endParaRPr lang="en-US" sz="1550" dirty="0"/>
          </a:p>
        </p:txBody>
      </p:sp>
      <p:sp>
        <p:nvSpPr>
          <p:cNvPr id="17" name="Text 15"/>
          <p:cNvSpPr/>
          <p:nvPr/>
        </p:nvSpPr>
        <p:spPr>
          <a:xfrm>
            <a:off x="804672" y="3374136"/>
            <a:ext cx="3026664" cy="1828800"/>
          </a:xfrm>
          <a:prstGeom prst="rect">
            <a:avLst/>
          </a:prstGeom>
          <a:noFill/>
          <a:ln/>
        </p:spPr>
        <p:txBody>
          <a:bodyPr wrap="square" lIns="0" tIns="0" rIns="0" bIns="0" rtlCol="0" anchor="t"/>
          <a:lstStyle/>
          <a:p>
            <a:pPr marL="0" indent="0" algn="l">
              <a:lnSpc>
                <a:spcPct val="118000"/>
              </a:lnSpc>
              <a:buNone/>
            </a:pPr>
            <a:r>
              <a:rPr lang="en-US" sz="1300" dirty="0">
                <a:solidFill>
                  <a:srgbClr val="6C7180"/>
                </a:solidFill>
                <a:latin typeface="Malgun Gothic" pitchFamily="34" charset="0"/>
                <a:ea typeface="Malgun Gothic" pitchFamily="34" charset="-122"/>
                <a:cs typeface="Malgun Gothic" pitchFamily="34" charset="-120"/>
              </a:rPr>
              <a:t>유닉스 계열에서 첫 줄에 shebang을 적고 실행 </a:t>
            </a:r>
            <a:r>
              <a:rPr lang="en-US" sz="1300" dirty="0" err="1">
                <a:solidFill>
                  <a:srgbClr val="6C7180"/>
                </a:solidFill>
                <a:latin typeface="Malgun Gothic" pitchFamily="34" charset="0"/>
                <a:ea typeface="Malgun Gothic" pitchFamily="34" charset="-122"/>
                <a:cs typeface="Malgun Gothic" pitchFamily="34" charset="-120"/>
              </a:rPr>
              <a:t>권한을</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주면</a:t>
            </a:r>
            <a:r>
              <a:rPr lang="en-US" sz="1300" dirty="0"/>
              <a:t> </a:t>
            </a:r>
            <a:r>
              <a:rPr lang="en-US" sz="1300" dirty="0">
                <a:solidFill>
                  <a:srgbClr val="6C7180"/>
                </a:solidFill>
                <a:latin typeface="Malgun Gothic" pitchFamily="34" charset="0"/>
                <a:ea typeface="Malgun Gothic" pitchFamily="34" charset="-122"/>
                <a:cs typeface="Malgun Gothic" pitchFamily="34" charset="-120"/>
              </a:rPr>
              <a:t>./app.cs 로 파일 </a:t>
            </a:r>
            <a:r>
              <a:rPr lang="en-US" sz="1300" dirty="0" err="1">
                <a:solidFill>
                  <a:srgbClr val="6C7180"/>
                </a:solidFill>
                <a:latin typeface="Malgun Gothic" pitchFamily="34" charset="0"/>
                <a:ea typeface="Malgun Gothic" pitchFamily="34" charset="-122"/>
                <a:cs typeface="Malgun Gothic" pitchFamily="34" charset="-120"/>
              </a:rPr>
              <a:t>자체를</a:t>
            </a:r>
            <a:r>
              <a:rPr lang="en-US" sz="1300" dirty="0">
                <a:solidFill>
                  <a:srgbClr val="6C7180"/>
                </a:solidFill>
                <a:latin typeface="Malgun Gothic" pitchFamily="34" charset="0"/>
                <a:ea typeface="Malgun Gothic" pitchFamily="34" charset="-122"/>
                <a:cs typeface="Malgun Gothic" pitchFamily="34" charset="-120"/>
              </a:rPr>
              <a:t> </a:t>
            </a:r>
            <a:r>
              <a:rPr lang="ko-KR" altLang="en-US" sz="1300" dirty="0">
                <a:solidFill>
                  <a:srgbClr val="6C7180"/>
                </a:solidFill>
                <a:latin typeface="Malgun Gothic" pitchFamily="34" charset="0"/>
                <a:ea typeface="Malgun Gothic" pitchFamily="34" charset="-122"/>
                <a:cs typeface="Malgun Gothic" pitchFamily="34" charset="-120"/>
              </a:rPr>
              <a:t>셸 스크립트처럼 </a:t>
            </a:r>
            <a:r>
              <a:rPr lang="en-US" sz="1300" dirty="0" err="1">
                <a:solidFill>
                  <a:srgbClr val="6C7180"/>
                </a:solidFill>
                <a:latin typeface="Malgun Gothic" pitchFamily="34" charset="0"/>
                <a:ea typeface="Malgun Gothic" pitchFamily="34" charset="-122"/>
                <a:cs typeface="Malgun Gothic" pitchFamily="34" charset="-120"/>
              </a:rPr>
              <a:t>실행할</a:t>
            </a:r>
            <a:r>
              <a:rPr lang="en-US" sz="1300" dirty="0">
                <a:solidFill>
                  <a:srgbClr val="6C7180"/>
                </a:solidFill>
                <a:latin typeface="Malgun Gothic" pitchFamily="34" charset="0"/>
                <a:ea typeface="Malgun Gothic" pitchFamily="34" charset="-122"/>
                <a:cs typeface="Malgun Gothic" pitchFamily="34" charset="-120"/>
              </a:rPr>
              <a:t> 수 있</a:t>
            </a:r>
            <a:r>
              <a:rPr lang="ko-KR" altLang="en-US" sz="1300" dirty="0" err="1">
                <a:solidFill>
                  <a:srgbClr val="6C7180"/>
                </a:solidFill>
                <a:latin typeface="Malgun Gothic" pitchFamily="34" charset="0"/>
                <a:ea typeface="Malgun Gothic" pitchFamily="34" charset="-122"/>
                <a:cs typeface="Malgun Gothic" pitchFamily="34" charset="-120"/>
              </a:rPr>
              <a:t>습니</a:t>
            </a:r>
            <a:r>
              <a:rPr lang="en-US" sz="1300" dirty="0">
                <a:solidFill>
                  <a:srgbClr val="6C7180"/>
                </a:solidFill>
                <a:latin typeface="Malgun Gothic" pitchFamily="34" charset="0"/>
                <a:ea typeface="Malgun Gothic" pitchFamily="34" charset="-122"/>
                <a:cs typeface="Malgun Gothic" pitchFamily="34" charset="-120"/>
              </a:rPr>
              <a:t>다.</a:t>
            </a:r>
            <a:endParaRPr lang="en-US" sz="1300" dirty="0"/>
          </a:p>
        </p:txBody>
      </p:sp>
      <p:sp>
        <p:nvSpPr>
          <p:cNvPr id="18" name="Text 16"/>
          <p:cNvSpPr/>
          <p:nvPr/>
        </p:nvSpPr>
        <p:spPr>
          <a:xfrm>
            <a:off x="804672" y="4663440"/>
            <a:ext cx="3026664" cy="457200"/>
          </a:xfrm>
          <a:prstGeom prst="rect">
            <a:avLst/>
          </a:prstGeom>
          <a:noFill/>
          <a:ln/>
        </p:spPr>
        <p:txBody>
          <a:bodyPr wrap="square" lIns="0" tIns="0" rIns="0" bIns="0" rtlCol="0" anchor="ctr"/>
          <a:lstStyle/>
          <a:p>
            <a:pPr marL="0" indent="0">
              <a:buNone/>
            </a:pPr>
            <a:r>
              <a:rPr lang="en-US" sz="1150" b="1" dirty="0">
                <a:solidFill>
                  <a:srgbClr val="A9823F"/>
                </a:solidFill>
                <a:latin typeface="Consolas" pitchFamily="34" charset="0"/>
                <a:ea typeface="Consolas" pitchFamily="34" charset="-122"/>
                <a:cs typeface="Consolas" pitchFamily="34" charset="-120"/>
              </a:rPr>
              <a:t>#!/usr/bin/env dotnet run</a:t>
            </a:r>
            <a:endParaRPr lang="en-US" sz="1150" dirty="0"/>
          </a:p>
        </p:txBody>
      </p:sp>
      <p:sp>
        <p:nvSpPr>
          <p:cNvPr id="19" name="Shape 17"/>
          <p:cNvSpPr/>
          <p:nvPr/>
        </p:nvSpPr>
        <p:spPr>
          <a:xfrm>
            <a:off x="4315968" y="2148840"/>
            <a:ext cx="3538728" cy="32004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0" name="Shape 18"/>
          <p:cNvSpPr/>
          <p:nvPr/>
        </p:nvSpPr>
        <p:spPr>
          <a:xfrm>
            <a:off x="4315968" y="2148840"/>
            <a:ext cx="3538728" cy="64008"/>
          </a:xfrm>
          <a:prstGeom prst="rect">
            <a:avLst/>
          </a:prstGeom>
          <a:solidFill>
            <a:srgbClr val="8A1C2B"/>
          </a:solidFill>
          <a:ln/>
        </p:spPr>
        <p:txBody>
          <a:bodyPr/>
          <a:lstStyle/>
          <a:p>
            <a:endParaRPr lang="ko-KR" altLang="en-US"/>
          </a:p>
        </p:txBody>
      </p:sp>
      <p:sp>
        <p:nvSpPr>
          <p:cNvPr id="21" name="Text 19"/>
          <p:cNvSpPr/>
          <p:nvPr/>
        </p:nvSpPr>
        <p:spPr>
          <a:xfrm>
            <a:off x="4572000" y="2350008"/>
            <a:ext cx="914400" cy="457200"/>
          </a:xfrm>
          <a:prstGeom prst="rect">
            <a:avLst/>
          </a:prstGeom>
          <a:noFill/>
          <a:ln/>
        </p:spPr>
        <p:txBody>
          <a:bodyPr wrap="square" lIns="0" tIns="0" rIns="0" bIns="0" rtlCol="0" anchor="ctr"/>
          <a:lstStyle/>
          <a:p>
            <a:pPr marL="0" indent="0" algn="l">
              <a:buNone/>
            </a:pPr>
            <a:r>
              <a:rPr lang="en-US" sz="2600" b="1" dirty="0">
                <a:solidFill>
                  <a:srgbClr val="8A1C2B"/>
                </a:solidFill>
                <a:latin typeface="Batang" pitchFamily="34" charset="0"/>
                <a:ea typeface="Batang" pitchFamily="34" charset="-122"/>
                <a:cs typeface="Batang" pitchFamily="34" charset="-120"/>
              </a:rPr>
              <a:t>♩</a:t>
            </a:r>
            <a:endParaRPr lang="en-US" sz="2600" dirty="0"/>
          </a:p>
        </p:txBody>
      </p:sp>
      <p:sp>
        <p:nvSpPr>
          <p:cNvPr id="22" name="Text 20"/>
          <p:cNvSpPr/>
          <p:nvPr/>
        </p:nvSpPr>
        <p:spPr>
          <a:xfrm>
            <a:off x="4572000"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첫 실행만 빌드</a:t>
            </a:r>
            <a:endParaRPr lang="en-US" sz="1550" dirty="0"/>
          </a:p>
        </p:txBody>
      </p:sp>
      <p:sp>
        <p:nvSpPr>
          <p:cNvPr id="23" name="Text 21"/>
          <p:cNvSpPr/>
          <p:nvPr/>
        </p:nvSpPr>
        <p:spPr>
          <a:xfrm>
            <a:off x="4572000" y="3374136"/>
            <a:ext cx="3026664" cy="1828800"/>
          </a:xfrm>
          <a:prstGeom prst="rect">
            <a:avLst/>
          </a:prstGeom>
          <a:noFill/>
          <a:ln/>
        </p:spPr>
        <p:txBody>
          <a:bodyPr wrap="square" lIns="0" tIns="0" rIns="0" bIns="0" rtlCol="0" anchor="t"/>
          <a:lstStyle/>
          <a:p>
            <a:pPr marL="0" indent="0" algn="l">
              <a:lnSpc>
                <a:spcPct val="118000"/>
              </a:lnSpc>
              <a:buNone/>
            </a:pPr>
            <a:r>
              <a:rPr lang="en-US" sz="1300" dirty="0">
                <a:solidFill>
                  <a:srgbClr val="6C7180"/>
                </a:solidFill>
                <a:latin typeface="Malgun Gothic" pitchFamily="34" charset="0"/>
                <a:ea typeface="Malgun Gothic" pitchFamily="34" charset="-122"/>
                <a:cs typeface="Malgun Gothic" pitchFamily="34" charset="-120"/>
              </a:rPr>
              <a:t>그 </a:t>
            </a:r>
            <a:r>
              <a:rPr lang="en-US" sz="1300" dirty="0" err="1">
                <a:solidFill>
                  <a:srgbClr val="6C7180"/>
                </a:solidFill>
                <a:latin typeface="Malgun Gothic" pitchFamily="34" charset="0"/>
                <a:ea typeface="Malgun Gothic" pitchFamily="34" charset="-122"/>
                <a:cs typeface="Malgun Gothic" pitchFamily="34" charset="-120"/>
              </a:rPr>
              <a:t>다음부터는</a:t>
            </a:r>
            <a:r>
              <a:rPr lang="en-US" sz="1300" dirty="0">
                <a:solidFill>
                  <a:srgbClr val="6C7180"/>
                </a:solidFill>
                <a:latin typeface="Malgun Gothic" pitchFamily="34" charset="0"/>
                <a:ea typeface="Malgun Gothic" pitchFamily="34" charset="-122"/>
                <a:cs typeface="Malgun Gothic" pitchFamily="34" charset="-120"/>
              </a:rPr>
              <a:t> 캐시로 </a:t>
            </a:r>
            <a:r>
              <a:rPr lang="en-US" sz="1300" dirty="0" err="1">
                <a:solidFill>
                  <a:srgbClr val="6C7180"/>
                </a:solidFill>
                <a:latin typeface="Malgun Gothic" pitchFamily="34" charset="0"/>
                <a:ea typeface="Malgun Gothic" pitchFamily="34" charset="-122"/>
                <a:cs typeface="Malgun Gothic" pitchFamily="34" charset="-120"/>
              </a:rPr>
              <a:t>즉시</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시작</a:t>
            </a:r>
            <a:r>
              <a:rPr lang="ko-KR" altLang="en-US" sz="1300" dirty="0">
                <a:solidFill>
                  <a:srgbClr val="6C7180"/>
                </a:solidFill>
                <a:latin typeface="Malgun Gothic" pitchFamily="34" charset="0"/>
                <a:ea typeface="Malgun Gothic" pitchFamily="34" charset="-122"/>
                <a:cs typeface="Malgun Gothic" pitchFamily="34" charset="-120"/>
              </a:rPr>
              <a:t>합니다</a:t>
            </a:r>
            <a:r>
              <a:rPr lang="en-US" sz="1300" dirty="0">
                <a:solidFill>
                  <a:srgbClr val="6C7180"/>
                </a:solidFill>
                <a:latin typeface="Malgun Gothic" pitchFamily="34" charset="0"/>
                <a:ea typeface="Malgun Gothic" pitchFamily="34" charset="-122"/>
                <a:cs typeface="Malgun Gothic" pitchFamily="34" charset="-120"/>
              </a:rPr>
              <a:t>. 반복 실행 비용이 </a:t>
            </a:r>
            <a:r>
              <a:rPr lang="en-US" sz="1300" dirty="0" err="1">
                <a:solidFill>
                  <a:srgbClr val="6C7180"/>
                </a:solidFill>
                <a:latin typeface="Malgun Gothic" pitchFamily="34" charset="0"/>
                <a:ea typeface="Malgun Gothic" pitchFamily="34" charset="-122"/>
                <a:cs typeface="Malgun Gothic" pitchFamily="34" charset="-120"/>
              </a:rPr>
              <a:t>사실상</a:t>
            </a:r>
            <a:r>
              <a:rPr lang="en-US" sz="1300" dirty="0">
                <a:solidFill>
                  <a:srgbClr val="6C7180"/>
                </a:solidFill>
                <a:latin typeface="Malgun Gothic" pitchFamily="34" charset="0"/>
                <a:ea typeface="Malgun Gothic" pitchFamily="34" charset="-122"/>
                <a:cs typeface="Malgun Gothic" pitchFamily="34" charset="-120"/>
              </a:rPr>
              <a:t> 0</a:t>
            </a:r>
            <a:r>
              <a:rPr lang="ko-KR" altLang="en-US" sz="1300" dirty="0">
                <a:solidFill>
                  <a:srgbClr val="6C7180"/>
                </a:solidFill>
                <a:latin typeface="Malgun Gothic" pitchFamily="34" charset="0"/>
                <a:ea typeface="Malgun Gothic" pitchFamily="34" charset="-122"/>
                <a:cs typeface="Malgun Gothic" pitchFamily="34" charset="-120"/>
              </a:rPr>
              <a:t>으로 수렴합니다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24" name="Text 22"/>
          <p:cNvSpPr/>
          <p:nvPr/>
        </p:nvSpPr>
        <p:spPr>
          <a:xfrm>
            <a:off x="4572000" y="4663440"/>
            <a:ext cx="3026664" cy="457200"/>
          </a:xfrm>
          <a:prstGeom prst="rect">
            <a:avLst/>
          </a:prstGeom>
          <a:noFill/>
          <a:ln/>
        </p:spPr>
        <p:txBody>
          <a:bodyPr wrap="square" lIns="0" tIns="0" rIns="0" bIns="0" rtlCol="0" anchor="ctr"/>
          <a:lstStyle/>
          <a:p>
            <a:pPr marL="0" indent="0">
              <a:buNone/>
            </a:pPr>
            <a:r>
              <a:rPr lang="en-US" sz="1150" b="1" dirty="0">
                <a:solidFill>
                  <a:srgbClr val="8A1C2B"/>
                </a:solidFill>
                <a:latin typeface="Consolas" pitchFamily="34" charset="0"/>
                <a:ea typeface="Consolas" pitchFamily="34" charset="-122"/>
                <a:cs typeface="Consolas" pitchFamily="34" charset="-120"/>
              </a:rPr>
              <a:t>build → cache → run</a:t>
            </a:r>
            <a:endParaRPr lang="en-US" sz="1150" dirty="0"/>
          </a:p>
        </p:txBody>
      </p:sp>
      <p:sp>
        <p:nvSpPr>
          <p:cNvPr id="25" name="Shape 23"/>
          <p:cNvSpPr/>
          <p:nvPr/>
        </p:nvSpPr>
        <p:spPr>
          <a:xfrm>
            <a:off x="8083296" y="2148840"/>
            <a:ext cx="3538728" cy="32004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6" name="Shape 24"/>
          <p:cNvSpPr/>
          <p:nvPr/>
        </p:nvSpPr>
        <p:spPr>
          <a:xfrm>
            <a:off x="8083296" y="2148840"/>
            <a:ext cx="3538728" cy="64008"/>
          </a:xfrm>
          <a:prstGeom prst="rect">
            <a:avLst/>
          </a:prstGeom>
          <a:solidFill>
            <a:srgbClr val="1F2330"/>
          </a:solidFill>
          <a:ln/>
        </p:spPr>
        <p:txBody>
          <a:bodyPr/>
          <a:lstStyle/>
          <a:p>
            <a:endParaRPr lang="ko-KR" altLang="en-US"/>
          </a:p>
        </p:txBody>
      </p:sp>
      <p:sp>
        <p:nvSpPr>
          <p:cNvPr id="27" name="Text 25"/>
          <p:cNvSpPr/>
          <p:nvPr/>
        </p:nvSpPr>
        <p:spPr>
          <a:xfrm>
            <a:off x="8339328" y="2350008"/>
            <a:ext cx="914400" cy="457200"/>
          </a:xfrm>
          <a:prstGeom prst="rect">
            <a:avLst/>
          </a:prstGeom>
          <a:noFill/>
          <a:ln/>
        </p:spPr>
        <p:txBody>
          <a:bodyPr wrap="square" lIns="0" tIns="0" rIns="0" bIns="0" rtlCol="0" anchor="ctr"/>
          <a:lstStyle/>
          <a:p>
            <a:pPr marL="0" indent="0" algn="l">
              <a:buNone/>
            </a:pPr>
            <a:r>
              <a:rPr lang="en-US" sz="2600" b="1" dirty="0">
                <a:solidFill>
                  <a:srgbClr val="1F2330"/>
                </a:solidFill>
                <a:latin typeface="Batang" pitchFamily="34" charset="0"/>
                <a:ea typeface="Batang" pitchFamily="34" charset="-122"/>
                <a:cs typeface="Batang" pitchFamily="34" charset="-120"/>
              </a:rPr>
              <a:t>♪</a:t>
            </a:r>
            <a:endParaRPr lang="en-US" sz="2600" dirty="0"/>
          </a:p>
        </p:txBody>
      </p:sp>
      <p:sp>
        <p:nvSpPr>
          <p:cNvPr id="28" name="Text 26"/>
          <p:cNvSpPr/>
          <p:nvPr/>
        </p:nvSpPr>
        <p:spPr>
          <a:xfrm>
            <a:off x="8339328"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정식 프로젝트로 졸업</a:t>
            </a:r>
            <a:endParaRPr lang="en-US" sz="1550" dirty="0"/>
          </a:p>
        </p:txBody>
      </p:sp>
      <p:sp>
        <p:nvSpPr>
          <p:cNvPr id="29" name="Text 27"/>
          <p:cNvSpPr/>
          <p:nvPr/>
        </p:nvSpPr>
        <p:spPr>
          <a:xfrm>
            <a:off x="8339328" y="3374136"/>
            <a:ext cx="3026664" cy="1828800"/>
          </a:xfrm>
          <a:prstGeom prst="rect">
            <a:avLst/>
          </a:prstGeom>
          <a:noFill/>
          <a:ln/>
        </p:spPr>
        <p:txBody>
          <a:bodyPr wrap="square" lIns="0" tIns="0" rIns="0" bIns="0" rtlCol="0" anchor="t"/>
          <a:lstStyle/>
          <a:p>
            <a:pPr marL="0" indent="0" algn="l">
              <a:lnSpc>
                <a:spcPct val="118000"/>
              </a:lnSpc>
              <a:buNone/>
            </a:pPr>
            <a:r>
              <a:rPr lang="en-US" sz="1300" dirty="0">
                <a:solidFill>
                  <a:srgbClr val="6C7180"/>
                </a:solidFill>
                <a:latin typeface="Malgun Gothic" pitchFamily="34" charset="0"/>
                <a:ea typeface="Malgun Gothic" pitchFamily="34" charset="-122"/>
                <a:cs typeface="Malgun Gothic" pitchFamily="34" charset="-120"/>
              </a:rPr>
              <a:t>단일 파일은 막다른 </a:t>
            </a:r>
            <a:r>
              <a:rPr lang="en-US" sz="1300" dirty="0" err="1">
                <a:solidFill>
                  <a:srgbClr val="6C7180"/>
                </a:solidFill>
                <a:latin typeface="Malgun Gothic" pitchFamily="34" charset="0"/>
                <a:ea typeface="Malgun Gothic" pitchFamily="34" charset="-122"/>
                <a:cs typeface="Malgun Gothic" pitchFamily="34" charset="-120"/>
              </a:rPr>
              <a:t>길이</a:t>
            </a:r>
            <a:r>
              <a:rPr lang="en-US" sz="1300" dirty="0">
                <a:solidFill>
                  <a:srgbClr val="6C7180"/>
                </a:solidFill>
                <a:latin typeface="Malgun Gothic" pitchFamily="34" charset="0"/>
                <a:ea typeface="Malgun Gothic" pitchFamily="34" charset="-122"/>
                <a:cs typeface="Malgun Gothic" pitchFamily="34" charset="-120"/>
              </a:rPr>
              <a:t> 아</a:t>
            </a:r>
            <a:r>
              <a:rPr lang="ko-KR" altLang="en-US" sz="1300" dirty="0" err="1">
                <a:solidFill>
                  <a:srgbClr val="6C7180"/>
                </a:solidFill>
                <a:latin typeface="Malgun Gothic" pitchFamily="34" charset="0"/>
                <a:ea typeface="Malgun Gothic" pitchFamily="34" charset="-122"/>
                <a:cs typeface="Malgun Gothic" pitchFamily="34" charset="-120"/>
              </a:rPr>
              <a:t>닙니다</a:t>
            </a:r>
            <a:r>
              <a:rPr lang="en-US" sz="1300" dirty="0">
                <a:solidFill>
                  <a:srgbClr val="6C7180"/>
                </a:solidFill>
                <a:latin typeface="Malgun Gothic" pitchFamily="34" charset="0"/>
                <a:ea typeface="Malgun Gothic" pitchFamily="34" charset="-122"/>
                <a:cs typeface="Malgun Gothic" pitchFamily="34" charset="-120"/>
              </a:rPr>
              <a:t>. 명령 한 </a:t>
            </a:r>
            <a:r>
              <a:rPr lang="en-US" sz="1300" dirty="0" err="1">
                <a:solidFill>
                  <a:srgbClr val="6C7180"/>
                </a:solidFill>
                <a:latin typeface="Malgun Gothic" pitchFamily="34" charset="0"/>
                <a:ea typeface="Malgun Gothic" pitchFamily="34" charset="-122"/>
                <a:cs typeface="Malgun Gothic" pitchFamily="34" charset="-120"/>
              </a:rPr>
              <a:t>번으로</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폴더</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csproj</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MSBuild</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설정으로</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변환</a:t>
            </a:r>
            <a:r>
              <a:rPr lang="ko-KR" altLang="en-US" sz="1300" dirty="0">
                <a:solidFill>
                  <a:srgbClr val="6C7180"/>
                </a:solidFill>
                <a:latin typeface="Malgun Gothic" pitchFamily="34" charset="0"/>
                <a:ea typeface="Malgun Gothic" pitchFamily="34" charset="-122"/>
                <a:cs typeface="Malgun Gothic" pitchFamily="34" charset="-120"/>
              </a:rPr>
              <a:t>합니다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30" name="Text 28"/>
          <p:cNvSpPr/>
          <p:nvPr/>
        </p:nvSpPr>
        <p:spPr>
          <a:xfrm>
            <a:off x="8339328" y="4663440"/>
            <a:ext cx="3026664" cy="457200"/>
          </a:xfrm>
          <a:prstGeom prst="rect">
            <a:avLst/>
          </a:prstGeom>
          <a:noFill/>
          <a:ln/>
        </p:spPr>
        <p:txBody>
          <a:bodyPr wrap="square" lIns="0" tIns="0" rIns="0" bIns="0" rtlCol="0" anchor="ctr"/>
          <a:lstStyle/>
          <a:p>
            <a:pPr marL="0" indent="0">
              <a:buNone/>
            </a:pPr>
            <a:r>
              <a:rPr lang="en-US" sz="1100" b="1" dirty="0">
                <a:solidFill>
                  <a:srgbClr val="1F2330"/>
                </a:solidFill>
                <a:latin typeface="Consolas" pitchFamily="34" charset="0"/>
                <a:ea typeface="Consolas" pitchFamily="34" charset="-122"/>
                <a:cs typeface="Consolas" pitchFamily="34" charset="-120"/>
              </a:rPr>
              <a:t>dotnet project convert app.cs</a:t>
            </a:r>
            <a:endParaRPr lang="en-US" sz="1100" dirty="0"/>
          </a:p>
        </p:txBody>
      </p:sp>
    </p:spTree>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3  ·  기본기</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.NET 10</a:t>
            </a:r>
            <a:r>
              <a:rPr lang="ko-KR" altLang="en-US" sz="3300" b="1" dirty="0">
                <a:solidFill>
                  <a:srgbClr val="1F2330"/>
                </a:solidFill>
                <a:latin typeface="Batang" pitchFamily="34" charset="0"/>
                <a:ea typeface="Batang" pitchFamily="34" charset="-122"/>
                <a:cs typeface="Batang" pitchFamily="34" charset="-120"/>
              </a:rPr>
              <a:t>이 다른 닷넷과 다른 점</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08</a:t>
            </a:r>
            <a:endParaRPr lang="en-US" sz="900" dirty="0"/>
          </a:p>
        </p:txBody>
      </p:sp>
      <p:sp>
        <p:nvSpPr>
          <p:cNvPr id="13" name="Shape 11"/>
          <p:cNvSpPr/>
          <p:nvPr/>
        </p:nvSpPr>
        <p:spPr>
          <a:xfrm>
            <a:off x="548640" y="2286000"/>
            <a:ext cx="5440680" cy="2286000"/>
          </a:xfrm>
          <a:prstGeom prst="rect">
            <a:avLst/>
          </a:prstGeom>
          <a:solidFill>
            <a:schemeClr val="bg2"/>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286000"/>
            <a:ext cx="5440680" cy="64008"/>
          </a:xfrm>
          <a:prstGeom prst="rect">
            <a:avLst/>
          </a:prstGeom>
          <a:solidFill>
            <a:srgbClr val="8A1C2B"/>
          </a:solidFill>
          <a:ln/>
        </p:spPr>
        <p:txBody>
          <a:bodyPr/>
          <a:lstStyle/>
          <a:p>
            <a:endParaRPr lang="ko-KR" altLang="en-US"/>
          </a:p>
        </p:txBody>
      </p:sp>
      <p:sp>
        <p:nvSpPr>
          <p:cNvPr id="15" name="Text 13"/>
          <p:cNvSpPr/>
          <p:nvPr/>
        </p:nvSpPr>
        <p:spPr>
          <a:xfrm>
            <a:off x="777240" y="2606040"/>
            <a:ext cx="4937760" cy="640080"/>
          </a:xfrm>
          <a:prstGeom prst="rect">
            <a:avLst/>
          </a:prstGeom>
          <a:noFill/>
          <a:ln/>
        </p:spPr>
        <p:txBody>
          <a:bodyPr wrap="square" lIns="0" tIns="0" rIns="0" bIns="0" rtlCol="0" anchor="ctr"/>
          <a:lstStyle/>
          <a:p>
            <a:pPr marL="0" indent="0">
              <a:buNone/>
            </a:pPr>
            <a:r>
              <a:rPr lang="en-US" sz="3400" b="1" dirty="0">
                <a:solidFill>
                  <a:srgbClr val="8A1C2B"/>
                </a:solidFill>
                <a:latin typeface="Batang" pitchFamily="34" charset="0"/>
                <a:ea typeface="Batang" pitchFamily="34" charset="-122"/>
                <a:cs typeface="Batang" pitchFamily="34" charset="-120"/>
              </a:rPr>
              <a:t>Before .NET 10</a:t>
            </a:r>
            <a:endParaRPr lang="en-US" sz="3400" dirty="0"/>
          </a:p>
        </p:txBody>
      </p:sp>
      <p:sp>
        <p:nvSpPr>
          <p:cNvPr id="16" name="Text 14"/>
          <p:cNvSpPr/>
          <p:nvPr/>
        </p:nvSpPr>
        <p:spPr>
          <a:xfrm>
            <a:off x="777240" y="3429000"/>
            <a:ext cx="4937760" cy="822960"/>
          </a:xfrm>
          <a:prstGeom prst="rect">
            <a:avLst/>
          </a:prstGeom>
          <a:noFill/>
          <a:ln/>
        </p:spPr>
        <p:txBody>
          <a:bodyPr wrap="square" lIns="0" tIns="0" rIns="0" bIns="0" rtlCol="0" anchor="t"/>
          <a:lstStyle/>
          <a:p>
            <a:pPr marL="0" indent="0">
              <a:buNone/>
            </a:pPr>
            <a:r>
              <a:rPr lang="ko-KR" altLang="en-US" sz="1800" dirty="0"/>
              <a:t>모든 것은 프로젝트로 통합니다</a:t>
            </a:r>
            <a:r>
              <a:rPr lang="en-US" altLang="ko-KR" sz="1800" dirty="0"/>
              <a:t>.</a:t>
            </a:r>
            <a:endParaRPr lang="en-US" sz="1800" dirty="0"/>
          </a:p>
        </p:txBody>
      </p:sp>
      <p:sp>
        <p:nvSpPr>
          <p:cNvPr id="17" name="Shape 15"/>
          <p:cNvSpPr/>
          <p:nvPr/>
        </p:nvSpPr>
        <p:spPr>
          <a:xfrm>
            <a:off x="6172200" y="2286000"/>
            <a:ext cx="5440680" cy="2286000"/>
          </a:xfrm>
          <a:prstGeom prst="rect">
            <a:avLst/>
          </a:prstGeom>
          <a:solidFill>
            <a:schemeClr val="accent2">
              <a:lumMod val="20000"/>
              <a:lumOff val="80000"/>
            </a:schemeClr>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8" name="Shape 16"/>
          <p:cNvSpPr/>
          <p:nvPr/>
        </p:nvSpPr>
        <p:spPr>
          <a:xfrm>
            <a:off x="6172200" y="2286000"/>
            <a:ext cx="5440680" cy="64008"/>
          </a:xfrm>
          <a:prstGeom prst="rect">
            <a:avLst/>
          </a:prstGeom>
          <a:solidFill>
            <a:schemeClr val="accent2"/>
          </a:solidFill>
          <a:ln/>
        </p:spPr>
        <p:txBody>
          <a:bodyPr/>
          <a:lstStyle/>
          <a:p>
            <a:endParaRPr lang="ko-KR" altLang="en-US"/>
          </a:p>
        </p:txBody>
      </p:sp>
      <p:sp>
        <p:nvSpPr>
          <p:cNvPr id="19" name="Text 17"/>
          <p:cNvSpPr/>
          <p:nvPr/>
        </p:nvSpPr>
        <p:spPr>
          <a:xfrm>
            <a:off x="6400800" y="2606040"/>
            <a:ext cx="4937760" cy="640080"/>
          </a:xfrm>
          <a:prstGeom prst="rect">
            <a:avLst/>
          </a:prstGeom>
          <a:noFill/>
          <a:ln/>
        </p:spPr>
        <p:txBody>
          <a:bodyPr wrap="square" lIns="0" tIns="0" rIns="0" bIns="0" rtlCol="0" anchor="ctr"/>
          <a:lstStyle/>
          <a:p>
            <a:pPr marL="0" indent="0">
              <a:buNone/>
            </a:pPr>
            <a:r>
              <a:rPr lang="en-US" sz="3400" b="1" dirty="0">
                <a:solidFill>
                  <a:schemeClr val="accent2"/>
                </a:solidFill>
                <a:latin typeface="Batang" pitchFamily="34" charset="0"/>
                <a:ea typeface="Batang" pitchFamily="34" charset="-122"/>
                <a:cs typeface="Batang" pitchFamily="34" charset="-120"/>
              </a:rPr>
              <a:t>After .NET 10</a:t>
            </a:r>
            <a:endParaRPr lang="en-US" sz="3400" dirty="0">
              <a:solidFill>
                <a:schemeClr val="accent2"/>
              </a:solidFill>
            </a:endParaRPr>
          </a:p>
        </p:txBody>
      </p:sp>
      <p:sp>
        <p:nvSpPr>
          <p:cNvPr id="20" name="Text 18"/>
          <p:cNvSpPr/>
          <p:nvPr/>
        </p:nvSpPr>
        <p:spPr>
          <a:xfrm>
            <a:off x="6400800" y="3429000"/>
            <a:ext cx="4937760" cy="822960"/>
          </a:xfrm>
          <a:prstGeom prst="rect">
            <a:avLst/>
          </a:prstGeom>
          <a:noFill/>
          <a:ln/>
        </p:spPr>
        <p:txBody>
          <a:bodyPr wrap="square" lIns="0" tIns="0" rIns="0" bIns="0" rtlCol="0" anchor="t"/>
          <a:lstStyle/>
          <a:p>
            <a:pPr marL="0" indent="0">
              <a:buNone/>
            </a:pPr>
            <a:r>
              <a:rPr lang="ko-KR" altLang="en-US" dirty="0">
                <a:solidFill>
                  <a:srgbClr val="1F2330"/>
                </a:solidFill>
                <a:latin typeface="Malgun Gothic" pitchFamily="34" charset="0"/>
                <a:ea typeface="Malgun Gothic" pitchFamily="34" charset="-122"/>
              </a:rPr>
              <a:t>파일 하나로 시작해도 충분합니다</a:t>
            </a:r>
            <a:r>
              <a:rPr lang="en-US" altLang="ko-KR" dirty="0">
                <a:solidFill>
                  <a:srgbClr val="1F2330"/>
                </a:solidFill>
                <a:latin typeface="Malgun Gothic" pitchFamily="34" charset="0"/>
                <a:ea typeface="Malgun Gothic" pitchFamily="34" charset="-122"/>
              </a:rPr>
              <a:t>.</a:t>
            </a:r>
            <a:endParaRPr lang="en-US" sz="1800" dirty="0"/>
          </a:p>
        </p:txBody>
      </p:sp>
      <p:sp>
        <p:nvSpPr>
          <p:cNvPr id="21" name="Text 19"/>
          <p:cNvSpPr/>
          <p:nvPr/>
        </p:nvSpPr>
        <p:spPr>
          <a:xfrm>
            <a:off x="548640" y="5074920"/>
            <a:ext cx="11064240" cy="548640"/>
          </a:xfrm>
          <a:prstGeom prst="rect">
            <a:avLst/>
          </a:prstGeom>
          <a:noFill/>
          <a:ln/>
        </p:spPr>
        <p:txBody>
          <a:bodyPr wrap="square" lIns="0" tIns="0" rIns="0" bIns="0" rtlCol="0" anchor="ctr"/>
          <a:lstStyle/>
          <a:p>
            <a:pPr marL="0" indent="0" algn="ctr">
              <a:buNone/>
            </a:pPr>
            <a:r>
              <a:rPr lang="en-US" sz="1600" b="1" dirty="0">
                <a:solidFill>
                  <a:srgbClr val="1F2330"/>
                </a:solidFill>
                <a:latin typeface="Malgun Gothic" pitchFamily="34" charset="0"/>
                <a:ea typeface="Malgun Gothic" pitchFamily="34" charset="-122"/>
                <a:cs typeface="Malgun Gothic" pitchFamily="34" charset="-120"/>
              </a:rPr>
              <a:t>오늘의 무대는 “파일 한 장”. 그 한 장으로 어디까지 갈 수 있는지가 오늘의 주제입니다.</a:t>
            </a:r>
            <a:endParaRPr lang="en-US" sz="1600" dirty="0"/>
          </a:p>
        </p:txBody>
      </p:sp>
      <p:sp>
        <p:nvSpPr>
          <p:cNvPr id="22" name="별: 꼭짓점 4개 21">
            <a:extLst>
              <a:ext uri="{FF2B5EF4-FFF2-40B4-BE49-F238E27FC236}">
                <a16:creationId xmlns:a16="http://schemas.microsoft.com/office/drawing/2014/main" id="{CEC6D6E5-C8FC-9703-50A7-87F63DED6D3A}"/>
              </a:ext>
            </a:extLst>
          </p:cNvPr>
          <p:cNvSpPr/>
          <p:nvPr/>
        </p:nvSpPr>
        <p:spPr>
          <a:xfrm rot="1800000">
            <a:off x="11277295" y="2105526"/>
            <a:ext cx="564185" cy="564185"/>
          </a:xfrm>
          <a:prstGeom prst="star4">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ko-KR" altLang="en-US"/>
          </a:p>
        </p:txBody>
      </p:sp>
    </p:spTree>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4  ·  전환점</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ko-KR" altLang="en-US" sz="3300" dirty="0"/>
              <a:t>그런데 정말 파일 </a:t>
            </a:r>
            <a:r>
              <a:rPr lang="en-US" altLang="ko-KR" sz="3300" dirty="0"/>
              <a:t>1</a:t>
            </a:r>
            <a:r>
              <a:rPr lang="ko-KR" altLang="en-US" sz="3300" dirty="0"/>
              <a:t>개면 될까요</a:t>
            </a:r>
            <a:r>
              <a:rPr lang="en-US" altLang="ko-KR" sz="3300" dirty="0"/>
              <a:t>?</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09</a:t>
            </a:r>
            <a:endParaRPr lang="en-US" sz="900" dirty="0"/>
          </a:p>
        </p:txBody>
      </p:sp>
      <p:sp>
        <p:nvSpPr>
          <p:cNvPr id="13" name="Shape 11"/>
          <p:cNvSpPr/>
          <p:nvPr/>
        </p:nvSpPr>
        <p:spPr>
          <a:xfrm>
            <a:off x="548640" y="2057400"/>
            <a:ext cx="6355080" cy="301752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3017520"/>
          </a:xfrm>
          <a:prstGeom prst="rect">
            <a:avLst/>
          </a:prstGeom>
          <a:solidFill>
            <a:srgbClr val="8A1C2B"/>
          </a:solidFill>
          <a:ln/>
        </p:spPr>
        <p:txBody>
          <a:bodyPr/>
          <a:lstStyle/>
          <a:p>
            <a:endParaRPr lang="ko-KR" altLang="en-US"/>
          </a:p>
        </p:txBody>
      </p:sp>
      <p:sp>
        <p:nvSpPr>
          <p:cNvPr id="15" name="Text 13"/>
          <p:cNvSpPr/>
          <p:nvPr/>
        </p:nvSpPr>
        <p:spPr>
          <a:xfrm>
            <a:off x="804672" y="2185416"/>
            <a:ext cx="5897880" cy="2761488"/>
          </a:xfrm>
          <a:prstGeom prst="rect">
            <a:avLst/>
          </a:prstGeom>
          <a:noFill/>
          <a:ln/>
        </p:spPr>
        <p:txBody>
          <a:bodyPr wrap="square" lIns="0" tIns="0" rIns="0" bIns="0" rtlCol="0" anchor="t"/>
          <a:lstStyle/>
          <a:p>
            <a:pPr marL="0" indent="0" algn="l">
              <a:lnSpc>
                <a:spcPct val="132000"/>
              </a:lnSpc>
              <a:buNone/>
            </a:pPr>
            <a:r>
              <a:rPr lang="en-US" sz="1450" b="1" dirty="0">
                <a:solidFill>
                  <a:srgbClr val="8A1C2B"/>
                </a:solidFill>
                <a:latin typeface="Consolas" pitchFamily="34" charset="0"/>
                <a:ea typeface="Consolas" pitchFamily="34" charset="-122"/>
                <a:cs typeface="Consolas" pitchFamily="34" charset="-120"/>
              </a:rPr>
              <a:t>#:sdk Microsoft.NET.Sdk.Web</a:t>
            </a:r>
            <a:endParaRPr lang="en-US" sz="1450" dirty="0"/>
          </a:p>
          <a:p>
            <a:pPr marL="0" indent="0" algn="l">
              <a:lnSpc>
                <a:spcPct val="132000"/>
              </a:lnSpc>
              <a:buNone/>
            </a:pPr>
            <a:r>
              <a:rPr lang="en-US" sz="1450" dirty="0">
                <a:solidFill>
                  <a:srgbClr val="1F2330"/>
                </a:solidFill>
                <a:latin typeface="Consolas" pitchFamily="34" charset="0"/>
                <a:ea typeface="Consolas" pitchFamily="34" charset="-122"/>
                <a:cs typeface="Consolas" pitchFamily="34" charset="-120"/>
              </a:rPr>
              <a:t> </a:t>
            </a:r>
            <a:endParaRPr lang="en-US" sz="1450" dirty="0"/>
          </a:p>
          <a:p>
            <a:pPr marL="0" indent="0" algn="l">
              <a:lnSpc>
                <a:spcPct val="132000"/>
              </a:lnSpc>
              <a:buNone/>
            </a:pPr>
            <a:r>
              <a:rPr lang="en-US" sz="1450" dirty="0">
                <a:solidFill>
                  <a:srgbClr val="1F2330"/>
                </a:solidFill>
                <a:latin typeface="Consolas" pitchFamily="34" charset="0"/>
                <a:ea typeface="Consolas" pitchFamily="34" charset="-122"/>
                <a:cs typeface="Consolas" pitchFamily="34" charset="-120"/>
              </a:rPr>
              <a:t>var builder = WebApplication.CreateBuilder(args);</a:t>
            </a:r>
            <a:endParaRPr lang="en-US" sz="1450" dirty="0"/>
          </a:p>
          <a:p>
            <a:pPr marL="0" indent="0" algn="l">
              <a:lnSpc>
                <a:spcPct val="132000"/>
              </a:lnSpc>
              <a:buNone/>
            </a:pPr>
            <a:r>
              <a:rPr lang="en-US" sz="1450" dirty="0">
                <a:solidFill>
                  <a:srgbClr val="1F2330"/>
                </a:solidFill>
                <a:latin typeface="Consolas" pitchFamily="34" charset="0"/>
                <a:ea typeface="Consolas" pitchFamily="34" charset="-122"/>
                <a:cs typeface="Consolas" pitchFamily="34" charset="-120"/>
              </a:rPr>
              <a:t>var app = builder.Build();</a:t>
            </a:r>
            <a:endParaRPr lang="en-US" sz="1450" dirty="0"/>
          </a:p>
          <a:p>
            <a:pPr marL="0" indent="0" algn="l">
              <a:lnSpc>
                <a:spcPct val="132000"/>
              </a:lnSpc>
              <a:buNone/>
            </a:pPr>
            <a:r>
              <a:rPr lang="en-US" sz="1450" dirty="0">
                <a:solidFill>
                  <a:srgbClr val="1F2330"/>
                </a:solidFill>
                <a:latin typeface="Consolas" pitchFamily="34" charset="0"/>
                <a:ea typeface="Consolas" pitchFamily="34" charset="-122"/>
                <a:cs typeface="Consolas" pitchFamily="34" charset="-120"/>
              </a:rPr>
              <a:t>app.MapGet("/", () =&gt; "Hello");</a:t>
            </a:r>
            <a:endParaRPr lang="en-US" sz="1450" dirty="0"/>
          </a:p>
          <a:p>
            <a:pPr marL="0" indent="0" algn="l">
              <a:lnSpc>
                <a:spcPct val="132000"/>
              </a:lnSpc>
              <a:buNone/>
            </a:pPr>
            <a:r>
              <a:rPr lang="en-US" sz="1450" dirty="0">
                <a:solidFill>
                  <a:srgbClr val="1F2330"/>
                </a:solidFill>
                <a:latin typeface="Consolas" pitchFamily="34" charset="0"/>
                <a:ea typeface="Consolas" pitchFamily="34" charset="-122"/>
                <a:cs typeface="Consolas" pitchFamily="34" charset="-120"/>
              </a:rPr>
              <a:t>app.Run();</a:t>
            </a:r>
            <a:endParaRPr lang="en-US" sz="1450" dirty="0"/>
          </a:p>
        </p:txBody>
      </p:sp>
      <p:sp>
        <p:nvSpPr>
          <p:cNvPr id="16" name="Text 14"/>
          <p:cNvSpPr/>
          <p:nvPr/>
        </p:nvSpPr>
        <p:spPr>
          <a:xfrm>
            <a:off x="566928" y="5212080"/>
            <a:ext cx="6309360" cy="548640"/>
          </a:xfrm>
          <a:prstGeom prst="rect">
            <a:avLst/>
          </a:prstGeom>
          <a:noFill/>
          <a:ln/>
        </p:spPr>
        <p:txBody>
          <a:bodyPr wrap="square" lIns="0" tIns="0" rIns="0" bIns="0" rtlCol="0" anchor="ctr"/>
          <a:lstStyle/>
          <a:p>
            <a:pPr marL="0" indent="0">
              <a:buNone/>
            </a:pPr>
            <a:r>
              <a:rPr lang="en-US" sz="1250" i="1" dirty="0">
                <a:solidFill>
                  <a:srgbClr val="6C7180"/>
                </a:solidFill>
                <a:latin typeface="Malgun Gothic" pitchFamily="34" charset="0"/>
                <a:ea typeface="Malgun Gothic" pitchFamily="34" charset="-122"/>
                <a:cs typeface="Malgun Gothic" pitchFamily="34" charset="-120"/>
              </a:rPr>
              <a:t>← 빌더 만들고, 빌드하고, 매핑하고, </a:t>
            </a:r>
            <a:r>
              <a:rPr lang="en-US" sz="1250" i="1" dirty="0" err="1">
                <a:solidFill>
                  <a:srgbClr val="6C7180"/>
                </a:solidFill>
                <a:latin typeface="Malgun Gothic" pitchFamily="34" charset="0"/>
                <a:ea typeface="Malgun Gothic" pitchFamily="34" charset="-122"/>
                <a:cs typeface="Malgun Gothic" pitchFamily="34" charset="-120"/>
              </a:rPr>
              <a:t>실행하는</a:t>
            </a:r>
            <a:r>
              <a:rPr lang="en-US" sz="1250" i="1" dirty="0">
                <a:solidFill>
                  <a:srgbClr val="6C7180"/>
                </a:solidFill>
                <a:latin typeface="Malgun Gothic" pitchFamily="34" charset="0"/>
                <a:ea typeface="Malgun Gothic" pitchFamily="34" charset="-122"/>
                <a:cs typeface="Malgun Gothic" pitchFamily="34" charset="-120"/>
              </a:rPr>
              <a:t> 네 </a:t>
            </a:r>
            <a:r>
              <a:rPr lang="en-US" sz="1250" i="1" dirty="0" err="1">
                <a:solidFill>
                  <a:srgbClr val="6C7180"/>
                </a:solidFill>
                <a:latin typeface="Malgun Gothic" pitchFamily="34" charset="0"/>
                <a:ea typeface="Malgun Gothic" pitchFamily="34" charset="-122"/>
                <a:cs typeface="Malgun Gothic" pitchFamily="34" charset="-120"/>
              </a:rPr>
              <a:t>단계</a:t>
            </a:r>
            <a:r>
              <a:rPr lang="ko-KR" altLang="en-US" sz="1250" i="1" dirty="0">
                <a:solidFill>
                  <a:srgbClr val="6C7180"/>
                </a:solidFill>
                <a:latin typeface="Malgun Gothic" pitchFamily="34" charset="0"/>
                <a:ea typeface="Malgun Gothic" pitchFamily="34" charset="-122"/>
                <a:cs typeface="Malgun Gothic" pitchFamily="34" charset="-120"/>
              </a:rPr>
              <a:t>를</a:t>
            </a:r>
            <a:r>
              <a:rPr lang="en-US" sz="1250" i="1" dirty="0">
                <a:solidFill>
                  <a:srgbClr val="6C7180"/>
                </a:solidFill>
                <a:latin typeface="Malgun Gothic" pitchFamily="34" charset="0"/>
                <a:ea typeface="Malgun Gothic" pitchFamily="34" charset="-122"/>
                <a:cs typeface="Malgun Gothic" pitchFamily="34" charset="-120"/>
              </a:rPr>
              <a:t> 여전히 매번 </a:t>
            </a:r>
            <a:r>
              <a:rPr lang="en-US" sz="1250" i="1" dirty="0" err="1">
                <a:solidFill>
                  <a:srgbClr val="6C7180"/>
                </a:solidFill>
                <a:latin typeface="Malgun Gothic" pitchFamily="34" charset="0"/>
                <a:ea typeface="Malgun Gothic" pitchFamily="34" charset="-122"/>
                <a:cs typeface="Malgun Gothic" pitchFamily="34" charset="-120"/>
              </a:rPr>
              <a:t>직접</a:t>
            </a:r>
            <a:r>
              <a:rPr lang="en-US" sz="1250" i="1" dirty="0">
                <a:solidFill>
                  <a:srgbClr val="6C7180"/>
                </a:solidFill>
                <a:latin typeface="Malgun Gothic" pitchFamily="34" charset="0"/>
                <a:ea typeface="Malgun Gothic" pitchFamily="34" charset="-122"/>
                <a:cs typeface="Malgun Gothic" pitchFamily="34" charset="-120"/>
              </a:rPr>
              <a:t> </a:t>
            </a:r>
            <a:r>
              <a:rPr lang="ko-KR" altLang="en-US" sz="1250" i="1" dirty="0" err="1">
                <a:solidFill>
                  <a:srgbClr val="6C7180"/>
                </a:solidFill>
                <a:latin typeface="Malgun Gothic" pitchFamily="34" charset="0"/>
                <a:ea typeface="Malgun Gothic" pitchFamily="34" charset="-122"/>
                <a:cs typeface="Malgun Gothic" pitchFamily="34" charset="-120"/>
              </a:rPr>
              <a:t>씁니</a:t>
            </a:r>
            <a:r>
              <a:rPr lang="en-US" sz="1250" i="1" dirty="0">
                <a:solidFill>
                  <a:srgbClr val="6C7180"/>
                </a:solidFill>
                <a:latin typeface="Malgun Gothic" pitchFamily="34" charset="0"/>
                <a:ea typeface="Malgun Gothic" pitchFamily="34" charset="-122"/>
                <a:cs typeface="Malgun Gothic" pitchFamily="34" charset="-120"/>
              </a:rPr>
              <a:t>다.</a:t>
            </a:r>
            <a:endParaRPr lang="en-US" sz="1250" dirty="0"/>
          </a:p>
        </p:txBody>
      </p:sp>
      <p:sp>
        <p:nvSpPr>
          <p:cNvPr id="17" name="Text 15"/>
          <p:cNvSpPr/>
          <p:nvPr/>
        </p:nvSpPr>
        <p:spPr>
          <a:xfrm>
            <a:off x="7223760" y="2148840"/>
            <a:ext cx="4389120" cy="457200"/>
          </a:xfrm>
          <a:prstGeom prst="rect">
            <a:avLst/>
          </a:prstGeom>
          <a:noFill/>
          <a:ln/>
        </p:spPr>
        <p:txBody>
          <a:bodyPr wrap="square" lIns="0" tIns="0" rIns="0" bIns="0" rtlCol="0" anchor="ctr"/>
          <a:lstStyle/>
          <a:p>
            <a:pPr marL="0" indent="0">
              <a:buNone/>
            </a:pPr>
            <a:r>
              <a:rPr lang="en-US" sz="1700" b="1" dirty="0">
                <a:solidFill>
                  <a:srgbClr val="1F2330"/>
                </a:solidFill>
                <a:latin typeface="Malgun Gothic" pitchFamily="34" charset="0"/>
                <a:ea typeface="Malgun Gothic" pitchFamily="34" charset="-122"/>
                <a:cs typeface="Malgun Gothic" pitchFamily="34" charset="-120"/>
              </a:rPr>
              <a:t>무대 세팅은 사라졌지만…</a:t>
            </a:r>
            <a:endParaRPr lang="en-US" sz="1700" dirty="0"/>
          </a:p>
        </p:txBody>
      </p:sp>
      <p:sp>
        <p:nvSpPr>
          <p:cNvPr id="18" name="Shape 16"/>
          <p:cNvSpPr/>
          <p:nvPr/>
        </p:nvSpPr>
        <p:spPr>
          <a:xfrm>
            <a:off x="7223760" y="2834640"/>
            <a:ext cx="109728" cy="109728"/>
          </a:xfrm>
          <a:prstGeom prst="ellipse">
            <a:avLst/>
          </a:prstGeom>
          <a:solidFill>
            <a:srgbClr val="8A1C2B"/>
          </a:solidFill>
          <a:ln/>
        </p:spPr>
        <p:txBody>
          <a:bodyPr/>
          <a:lstStyle/>
          <a:p>
            <a:endParaRPr lang="ko-KR" altLang="en-US"/>
          </a:p>
        </p:txBody>
      </p:sp>
      <p:sp>
        <p:nvSpPr>
          <p:cNvPr id="19" name="Text 17"/>
          <p:cNvSpPr/>
          <p:nvPr/>
        </p:nvSpPr>
        <p:spPr>
          <a:xfrm>
            <a:off x="7498080" y="2743200"/>
            <a:ext cx="4114800" cy="64008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File-based Apps는 “프로젝트라는 무대 </a:t>
            </a:r>
            <a:r>
              <a:rPr lang="en-US" sz="1350" dirty="0" err="1">
                <a:solidFill>
                  <a:srgbClr val="6C7180"/>
                </a:solidFill>
                <a:latin typeface="Malgun Gothic" pitchFamily="34" charset="0"/>
                <a:ea typeface="Malgun Gothic" pitchFamily="34" charset="-122"/>
                <a:cs typeface="Malgun Gothic" pitchFamily="34" charset="-120"/>
              </a:rPr>
              <a:t>세팅”을</a:t>
            </a:r>
            <a:r>
              <a:rPr lang="en-US" sz="1350" dirty="0">
                <a:solidFill>
                  <a:srgbClr val="6C7180"/>
                </a:solidFill>
                <a:latin typeface="Malgun Gothic" pitchFamily="34" charset="0"/>
                <a:ea typeface="Malgun Gothic" pitchFamily="34" charset="-122"/>
                <a:cs typeface="Malgun Gothic" pitchFamily="34" charset="-120"/>
              </a:rPr>
              <a:t> 없</a:t>
            </a:r>
            <a:r>
              <a:rPr lang="ko-KR" altLang="en-US" sz="1350" dirty="0" err="1">
                <a:solidFill>
                  <a:srgbClr val="6C7180"/>
                </a:solidFill>
                <a:latin typeface="Malgun Gothic" pitchFamily="34" charset="0"/>
                <a:ea typeface="Malgun Gothic" pitchFamily="34" charset="-122"/>
                <a:cs typeface="Malgun Gothic" pitchFamily="34" charset="-120"/>
              </a:rPr>
              <a:t>앱니다</a:t>
            </a:r>
            <a:r>
              <a:rPr lang="en-US" sz="1350" dirty="0">
                <a:solidFill>
                  <a:srgbClr val="6C7180"/>
                </a:solidFill>
                <a:latin typeface="Malgun Gothic" pitchFamily="34" charset="0"/>
                <a:ea typeface="Malgun Gothic" pitchFamily="34" charset="-122"/>
                <a:cs typeface="Malgun Gothic" pitchFamily="34" charset="-120"/>
              </a:rPr>
              <a:t>.</a:t>
            </a:r>
            <a:endParaRPr lang="en-US" sz="1350" dirty="0"/>
          </a:p>
        </p:txBody>
      </p:sp>
      <p:sp>
        <p:nvSpPr>
          <p:cNvPr id="20" name="Shape 18"/>
          <p:cNvSpPr/>
          <p:nvPr/>
        </p:nvSpPr>
        <p:spPr>
          <a:xfrm>
            <a:off x="7223760" y="3611880"/>
            <a:ext cx="109728" cy="109728"/>
          </a:xfrm>
          <a:prstGeom prst="ellipse">
            <a:avLst/>
          </a:prstGeom>
          <a:solidFill>
            <a:srgbClr val="8A1C2B"/>
          </a:solidFill>
          <a:ln/>
        </p:spPr>
        <p:txBody>
          <a:bodyPr/>
          <a:lstStyle/>
          <a:p>
            <a:endParaRPr lang="ko-KR" altLang="en-US"/>
          </a:p>
        </p:txBody>
      </p:sp>
      <p:sp>
        <p:nvSpPr>
          <p:cNvPr id="21" name="Text 19"/>
          <p:cNvSpPr/>
          <p:nvPr/>
        </p:nvSpPr>
        <p:spPr>
          <a:xfrm>
            <a:off x="7498080" y="3520440"/>
            <a:ext cx="4114800" cy="64008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하지만 독주자가 매번 같은 음계 연습부터 시작하는 </a:t>
            </a:r>
            <a:r>
              <a:rPr lang="en-US" sz="1350" dirty="0" err="1">
                <a:solidFill>
                  <a:srgbClr val="6C7180"/>
                </a:solidFill>
                <a:latin typeface="Malgun Gothic" pitchFamily="34" charset="0"/>
                <a:ea typeface="Malgun Gothic" pitchFamily="34" charset="-122"/>
                <a:cs typeface="Malgun Gothic" pitchFamily="34" charset="-120"/>
              </a:rPr>
              <a:t>보일러플레이트는</a:t>
            </a:r>
            <a:r>
              <a:rPr lang="en-US" sz="1350" dirty="0">
                <a:solidFill>
                  <a:srgbClr val="6C7180"/>
                </a:solidFill>
                <a:latin typeface="Malgun Gothic" pitchFamily="34" charset="0"/>
                <a:ea typeface="Malgun Gothic" pitchFamily="34" charset="-122"/>
                <a:cs typeface="Malgun Gothic" pitchFamily="34" charset="-120"/>
              </a:rPr>
              <a:t> </a:t>
            </a:r>
            <a:r>
              <a:rPr lang="en-US" sz="1350" dirty="0" err="1">
                <a:solidFill>
                  <a:srgbClr val="6C7180"/>
                </a:solidFill>
                <a:latin typeface="Malgun Gothic" pitchFamily="34" charset="0"/>
                <a:ea typeface="Malgun Gothic" pitchFamily="34" charset="-122"/>
                <a:cs typeface="Malgun Gothic" pitchFamily="34" charset="-120"/>
              </a:rPr>
              <a:t>그대로</a:t>
            </a:r>
            <a:r>
              <a:rPr lang="ko-KR" altLang="en-US" sz="1350" dirty="0" err="1">
                <a:solidFill>
                  <a:srgbClr val="6C7180"/>
                </a:solidFill>
                <a:latin typeface="Malgun Gothic" pitchFamily="34" charset="0"/>
                <a:ea typeface="Malgun Gothic" pitchFamily="34" charset="-122"/>
                <a:cs typeface="Malgun Gothic" pitchFamily="34" charset="-120"/>
              </a:rPr>
              <a:t>입니</a:t>
            </a:r>
            <a:r>
              <a:rPr lang="en-US" sz="1350" dirty="0">
                <a:solidFill>
                  <a:srgbClr val="6C7180"/>
                </a:solidFill>
                <a:latin typeface="Malgun Gothic" pitchFamily="34" charset="0"/>
                <a:ea typeface="Malgun Gothic" pitchFamily="34" charset="-122"/>
                <a:cs typeface="Malgun Gothic" pitchFamily="34" charset="-120"/>
              </a:rPr>
              <a:t>다.</a:t>
            </a:r>
            <a:endParaRPr lang="en-US" sz="1350" dirty="0"/>
          </a:p>
        </p:txBody>
      </p:sp>
      <p:sp>
        <p:nvSpPr>
          <p:cNvPr id="22" name="Shape 20"/>
          <p:cNvSpPr/>
          <p:nvPr/>
        </p:nvSpPr>
        <p:spPr>
          <a:xfrm>
            <a:off x="7223760" y="4389120"/>
            <a:ext cx="109728" cy="109728"/>
          </a:xfrm>
          <a:prstGeom prst="ellipse">
            <a:avLst/>
          </a:prstGeom>
          <a:solidFill>
            <a:srgbClr val="8A1C2B"/>
          </a:solidFill>
          <a:ln/>
        </p:spPr>
        <p:txBody>
          <a:bodyPr/>
          <a:lstStyle/>
          <a:p>
            <a:endParaRPr lang="ko-KR" altLang="en-US"/>
          </a:p>
        </p:txBody>
      </p:sp>
      <p:sp>
        <p:nvSpPr>
          <p:cNvPr id="23" name="Text 21"/>
          <p:cNvSpPr/>
          <p:nvPr/>
        </p:nvSpPr>
        <p:spPr>
          <a:xfrm>
            <a:off x="7498080" y="4297680"/>
            <a:ext cx="4114800" cy="64008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카덴차의 </a:t>
            </a:r>
            <a:r>
              <a:rPr lang="en-US" sz="1350" dirty="0" err="1">
                <a:solidFill>
                  <a:srgbClr val="6C7180"/>
                </a:solidFill>
                <a:latin typeface="Malgun Gothic" pitchFamily="34" charset="0"/>
                <a:ea typeface="Malgun Gothic" pitchFamily="34" charset="-122"/>
                <a:cs typeface="Malgun Gothic" pitchFamily="34" charset="-120"/>
              </a:rPr>
              <a:t>핵심은</a:t>
            </a:r>
            <a:r>
              <a:rPr lang="en-US" sz="1350" dirty="0">
                <a:solidFill>
                  <a:srgbClr val="6C7180"/>
                </a:solidFill>
                <a:latin typeface="Malgun Gothic" pitchFamily="34" charset="0"/>
                <a:ea typeface="Malgun Gothic" pitchFamily="34" charset="-122"/>
                <a:cs typeface="Malgun Gothic" pitchFamily="34" charset="-120"/>
              </a:rPr>
              <a:t> </a:t>
            </a:r>
            <a:r>
              <a:rPr lang="en-US" sz="1350" dirty="0" err="1">
                <a:solidFill>
                  <a:srgbClr val="6C7180"/>
                </a:solidFill>
                <a:latin typeface="Malgun Gothic" pitchFamily="34" charset="0"/>
                <a:ea typeface="Malgun Gothic" pitchFamily="34" charset="-122"/>
                <a:cs typeface="Malgun Gothic" pitchFamily="34" charset="-120"/>
              </a:rPr>
              <a:t>즉흥성</a:t>
            </a:r>
            <a:r>
              <a:rPr lang="ko-KR" altLang="en-US" sz="1350" dirty="0">
                <a:solidFill>
                  <a:srgbClr val="6C7180"/>
                </a:solidFill>
                <a:latin typeface="Malgun Gothic" pitchFamily="34" charset="0"/>
                <a:ea typeface="Malgun Gothic" pitchFamily="34" charset="-122"/>
                <a:cs typeface="Malgun Gothic" pitchFamily="34" charset="-120"/>
              </a:rPr>
              <a:t>입니다</a:t>
            </a:r>
            <a:r>
              <a:rPr lang="en-US" altLang="ko-KR" sz="1350" dirty="0">
                <a:solidFill>
                  <a:srgbClr val="6C7180"/>
                </a:solidFill>
                <a:latin typeface="Malgun Gothic" pitchFamily="34" charset="0"/>
                <a:ea typeface="Malgun Gothic" pitchFamily="34" charset="-122"/>
                <a:cs typeface="Malgun Gothic" pitchFamily="34" charset="-120"/>
              </a:rPr>
              <a:t>.</a:t>
            </a:r>
            <a:r>
              <a:rPr lang="en-US" sz="1350" dirty="0">
                <a:solidFill>
                  <a:srgbClr val="6C7180"/>
                </a:solidFill>
                <a:latin typeface="Malgun Gothic" pitchFamily="34" charset="0"/>
                <a:ea typeface="Malgun Gothic" pitchFamily="34" charset="-122"/>
                <a:cs typeface="Malgun Gothic" pitchFamily="34" charset="-120"/>
              </a:rPr>
              <a:t> </a:t>
            </a:r>
            <a:r>
              <a:rPr lang="en-US" sz="1350" dirty="0" err="1">
                <a:solidFill>
                  <a:srgbClr val="6C7180"/>
                </a:solidFill>
                <a:latin typeface="Malgun Gothic" pitchFamily="34" charset="0"/>
                <a:ea typeface="Malgun Gothic" pitchFamily="34" charset="-122"/>
                <a:cs typeface="Malgun Gothic" pitchFamily="34" charset="-120"/>
              </a:rPr>
              <a:t>매번</a:t>
            </a:r>
            <a:r>
              <a:rPr lang="en-US" sz="1350" dirty="0">
                <a:solidFill>
                  <a:srgbClr val="6C7180"/>
                </a:solidFill>
                <a:latin typeface="Malgun Gothic" pitchFamily="34" charset="0"/>
                <a:ea typeface="Malgun Gothic" pitchFamily="34" charset="-122"/>
                <a:cs typeface="Malgun Gothic" pitchFamily="34" charset="-120"/>
              </a:rPr>
              <a:t> 음계 연습부터라면 </a:t>
            </a:r>
            <a:r>
              <a:rPr lang="en-US" sz="1350" dirty="0" err="1">
                <a:solidFill>
                  <a:srgbClr val="6C7180"/>
                </a:solidFill>
                <a:latin typeface="Malgun Gothic" pitchFamily="34" charset="0"/>
                <a:ea typeface="Malgun Gothic" pitchFamily="34" charset="-122"/>
                <a:cs typeface="Malgun Gothic" pitchFamily="34" charset="-120"/>
              </a:rPr>
              <a:t>즉흥이</a:t>
            </a:r>
            <a:r>
              <a:rPr lang="en-US" sz="1350" dirty="0">
                <a:solidFill>
                  <a:srgbClr val="6C7180"/>
                </a:solidFill>
                <a:latin typeface="Malgun Gothic" pitchFamily="34" charset="0"/>
                <a:ea typeface="Malgun Gothic" pitchFamily="34" charset="-122"/>
                <a:cs typeface="Malgun Gothic" pitchFamily="34" charset="-120"/>
              </a:rPr>
              <a:t> 아</a:t>
            </a:r>
            <a:r>
              <a:rPr lang="ko-KR" altLang="en-US" sz="1350" dirty="0" err="1">
                <a:solidFill>
                  <a:srgbClr val="6C7180"/>
                </a:solidFill>
                <a:latin typeface="Malgun Gothic" pitchFamily="34" charset="0"/>
                <a:ea typeface="Malgun Gothic" pitchFamily="34" charset="-122"/>
                <a:cs typeface="Malgun Gothic" pitchFamily="34" charset="-120"/>
              </a:rPr>
              <a:t>닙니다</a:t>
            </a:r>
            <a:r>
              <a:rPr lang="en-US" sz="1350" dirty="0">
                <a:solidFill>
                  <a:srgbClr val="6C7180"/>
                </a:solidFill>
                <a:latin typeface="Malgun Gothic" pitchFamily="34" charset="0"/>
                <a:ea typeface="Malgun Gothic" pitchFamily="34" charset="-122"/>
                <a:cs typeface="Malgun Gothic" pitchFamily="34" charset="-120"/>
              </a:rPr>
              <a:t>.</a:t>
            </a:r>
            <a:endParaRPr lang="en-US" sz="1350" dirty="0"/>
          </a:p>
        </p:txBody>
      </p:sp>
      <p:sp>
        <p:nvSpPr>
          <p:cNvPr id="24" name="Text 22"/>
          <p:cNvSpPr/>
          <p:nvPr/>
        </p:nvSpPr>
        <p:spPr>
          <a:xfrm>
            <a:off x="7223760" y="5120640"/>
            <a:ext cx="4389120" cy="731520"/>
          </a:xfrm>
          <a:prstGeom prst="rect">
            <a:avLst/>
          </a:prstGeom>
          <a:noFill/>
          <a:ln/>
        </p:spPr>
        <p:txBody>
          <a:bodyPr wrap="square" lIns="0" tIns="0" rIns="0" bIns="0" rtlCol="0" anchor="ctr"/>
          <a:lstStyle/>
          <a:p>
            <a:pPr marL="0" indent="0">
              <a:lnSpc>
                <a:spcPct val="110000"/>
              </a:lnSpc>
              <a:buNone/>
            </a:pPr>
            <a:r>
              <a:rPr lang="en-US" sz="1500" b="1" dirty="0">
                <a:solidFill>
                  <a:srgbClr val="8A1C2B"/>
                </a:solidFill>
                <a:latin typeface="Malgun Gothic" pitchFamily="34" charset="0"/>
                <a:ea typeface="Malgun Gothic" pitchFamily="34" charset="-122"/>
                <a:cs typeface="Malgun Gothic" pitchFamily="34" charset="-120"/>
              </a:rPr>
              <a:t>→ </a:t>
            </a:r>
            <a:r>
              <a:rPr lang="en-US" sz="1500" b="1" dirty="0" err="1">
                <a:solidFill>
                  <a:srgbClr val="8A1C2B"/>
                </a:solidFill>
                <a:latin typeface="Malgun Gothic" pitchFamily="34" charset="0"/>
                <a:ea typeface="Malgun Gothic" pitchFamily="34" charset="-122"/>
                <a:cs typeface="Malgun Gothic" pitchFamily="34" charset="-120"/>
              </a:rPr>
              <a:t>반복되는</a:t>
            </a:r>
            <a:r>
              <a:rPr lang="en-US" sz="1500" b="1" dirty="0">
                <a:solidFill>
                  <a:srgbClr val="8A1C2B"/>
                </a:solidFill>
                <a:latin typeface="Malgun Gothic" pitchFamily="34" charset="0"/>
                <a:ea typeface="Malgun Gothic" pitchFamily="34" charset="-122"/>
                <a:cs typeface="Malgun Gothic" pitchFamily="34" charset="-120"/>
              </a:rPr>
              <a:t> </a:t>
            </a:r>
            <a:r>
              <a:rPr lang="ko-KR" altLang="en-US" sz="1500" b="1" dirty="0">
                <a:solidFill>
                  <a:srgbClr val="8A1C2B"/>
                </a:solidFill>
                <a:latin typeface="Malgun Gothic" pitchFamily="34" charset="0"/>
                <a:ea typeface="Malgun Gothic" pitchFamily="34" charset="-122"/>
                <a:cs typeface="Malgun Gothic" pitchFamily="34" charset="-120"/>
              </a:rPr>
              <a:t>준비를</a:t>
            </a:r>
            <a:r>
              <a:rPr lang="en-US" sz="1500" b="1" dirty="0">
                <a:solidFill>
                  <a:srgbClr val="8A1C2B"/>
                </a:solidFill>
                <a:latin typeface="Malgun Gothic" pitchFamily="34" charset="0"/>
                <a:ea typeface="Malgun Gothic" pitchFamily="34" charset="-122"/>
                <a:cs typeface="Malgun Gothic" pitchFamily="34" charset="-120"/>
              </a:rPr>
              <a:t> Cadenza SDK</a:t>
            </a:r>
            <a:r>
              <a:rPr lang="ko-KR" altLang="en-US" sz="1500" b="1" dirty="0">
                <a:solidFill>
                  <a:srgbClr val="8A1C2B"/>
                </a:solidFill>
                <a:latin typeface="Malgun Gothic" pitchFamily="34" charset="0"/>
                <a:ea typeface="Malgun Gothic" pitchFamily="34" charset="-122"/>
                <a:cs typeface="Malgun Gothic" pitchFamily="34" charset="-120"/>
              </a:rPr>
              <a:t>가 한 번에 처리합니다</a:t>
            </a:r>
            <a:r>
              <a:rPr lang="en-US" altLang="ko-KR" sz="1500" b="1" dirty="0">
                <a:solidFill>
                  <a:srgbClr val="8A1C2B"/>
                </a:solidFill>
                <a:latin typeface="Malgun Gothic" pitchFamily="34" charset="0"/>
                <a:ea typeface="Malgun Gothic" pitchFamily="34" charset="-122"/>
                <a:cs typeface="Malgun Gothic" pitchFamily="34" charset="-120"/>
              </a:rPr>
              <a:t>.</a:t>
            </a:r>
            <a:endParaRPr lang="en-US" sz="1500" dirty="0"/>
          </a:p>
        </p:txBody>
      </p:sp>
    </p:spTree>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5  ·  CADENZA</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Cadenza — </a:t>
            </a:r>
            <a:r>
              <a:rPr lang="ko-KR" altLang="en-US" sz="3300" b="1" dirty="0">
                <a:solidFill>
                  <a:srgbClr val="1F2330"/>
                </a:solidFill>
                <a:latin typeface="Batang" pitchFamily="34" charset="0"/>
                <a:ea typeface="Batang" pitchFamily="34" charset="-122"/>
                <a:cs typeface="Batang" pitchFamily="34" charset="-120"/>
              </a:rPr>
              <a:t>파일 </a:t>
            </a:r>
            <a:r>
              <a:rPr lang="en-US" altLang="ko-KR" sz="3300" b="1" dirty="0">
                <a:solidFill>
                  <a:srgbClr val="1F2330"/>
                </a:solidFill>
                <a:latin typeface="Batang" pitchFamily="34" charset="0"/>
                <a:ea typeface="Batang" pitchFamily="34" charset="-122"/>
                <a:cs typeface="Batang" pitchFamily="34" charset="-120"/>
              </a:rPr>
              <a:t>1</a:t>
            </a:r>
            <a:r>
              <a:rPr lang="ko-KR" altLang="en-US" sz="3300" b="1" dirty="0">
                <a:solidFill>
                  <a:srgbClr val="1F2330"/>
                </a:solidFill>
                <a:latin typeface="Batang" pitchFamily="34" charset="0"/>
                <a:ea typeface="Batang" pitchFamily="34" charset="-122"/>
                <a:cs typeface="Batang" pitchFamily="34" charset="-120"/>
              </a:rPr>
              <a:t>개로 끝내는 코딩</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10</a:t>
            </a:r>
            <a:endParaRPr lang="en-US" sz="900" dirty="0"/>
          </a:p>
        </p:txBody>
      </p:sp>
      <p:sp>
        <p:nvSpPr>
          <p:cNvPr id="13" name="Shape 11"/>
          <p:cNvSpPr/>
          <p:nvPr/>
        </p:nvSpPr>
        <p:spPr>
          <a:xfrm>
            <a:off x="548640" y="2194560"/>
            <a:ext cx="3383280" cy="2926080"/>
          </a:xfrm>
          <a:prstGeom prst="rect">
            <a:avLst/>
          </a:prstGeom>
          <a:solidFill>
            <a:srgbClr val="171A23"/>
          </a:solidFill>
          <a:ln/>
          <a:effectLst>
            <a:outerShdw blurRad="88900" dist="38100" dir="8100000" algn="bl" rotWithShape="0">
              <a:srgbClr val="000000">
                <a:alpha val="10000"/>
              </a:srgbClr>
            </a:outerShdw>
          </a:effectLst>
        </p:spPr>
        <p:txBody>
          <a:bodyPr/>
          <a:lstStyle/>
          <a:p>
            <a:endParaRPr lang="ko-KR" altLang="en-US"/>
          </a:p>
        </p:txBody>
      </p:sp>
      <p:sp>
        <p:nvSpPr>
          <p:cNvPr id="14" name="Text 12"/>
          <p:cNvSpPr/>
          <p:nvPr/>
        </p:nvSpPr>
        <p:spPr>
          <a:xfrm>
            <a:off x="548640" y="2578608"/>
            <a:ext cx="3383280" cy="2103120"/>
          </a:xfrm>
          <a:prstGeom prst="rect">
            <a:avLst/>
          </a:prstGeom>
          <a:noFill/>
          <a:ln/>
        </p:spPr>
        <p:txBody>
          <a:bodyPr wrap="square" lIns="0" tIns="0" rIns="0" bIns="0" rtlCol="0" anchor="ctr"/>
          <a:lstStyle/>
          <a:p>
            <a:pPr marL="0" indent="0" algn="ctr">
              <a:buNone/>
            </a:pPr>
            <a:r>
              <a:rPr lang="en-US" sz="9600" b="1" dirty="0">
                <a:solidFill>
                  <a:srgbClr val="ECE7D8"/>
                </a:solidFill>
                <a:latin typeface="Batang" pitchFamily="34" charset="0"/>
                <a:ea typeface="Batang" pitchFamily="34" charset="-122"/>
                <a:cs typeface="Batang" pitchFamily="34" charset="-120"/>
              </a:rPr>
              <a:t>C</a:t>
            </a:r>
            <a:r>
              <a:rPr lang="en-US" sz="8000" b="1" dirty="0">
                <a:solidFill>
                  <a:srgbClr val="A9823F"/>
                </a:solidFill>
                <a:latin typeface="Batang" pitchFamily="34" charset="0"/>
                <a:ea typeface="Batang" pitchFamily="34" charset="-122"/>
                <a:cs typeface="Batang" pitchFamily="34" charset="-120"/>
              </a:rPr>
              <a:t>♯</a:t>
            </a:r>
            <a:endParaRPr lang="en-US" sz="9600" dirty="0"/>
          </a:p>
        </p:txBody>
      </p:sp>
      <p:sp>
        <p:nvSpPr>
          <p:cNvPr id="16" name="Text 14"/>
          <p:cNvSpPr/>
          <p:nvPr/>
        </p:nvSpPr>
        <p:spPr>
          <a:xfrm>
            <a:off x="4343400" y="2286000"/>
            <a:ext cx="7269480" cy="365760"/>
          </a:xfrm>
          <a:prstGeom prst="rect">
            <a:avLst/>
          </a:prstGeom>
          <a:noFill/>
          <a:ln/>
        </p:spPr>
        <p:txBody>
          <a:bodyPr wrap="square" lIns="0" tIns="0" rIns="0" bIns="0" rtlCol="0" anchor="ctr"/>
          <a:lstStyle/>
          <a:p>
            <a:pPr marL="0" indent="0">
              <a:buNone/>
            </a:pPr>
            <a:r>
              <a:rPr lang="en-US" sz="1600" b="1" dirty="0">
                <a:solidFill>
                  <a:srgbClr val="8A1C2B"/>
                </a:solidFill>
                <a:latin typeface="Malgun Gothic" pitchFamily="34" charset="0"/>
                <a:ea typeface="Malgun Gothic" pitchFamily="34" charset="-122"/>
                <a:cs typeface="Malgun Gothic" pitchFamily="34" charset="-120"/>
              </a:rPr>
              <a:t>반주 없이, 한 명이 완성된 곡</a:t>
            </a:r>
            <a:endParaRPr lang="en-US" sz="1600" dirty="0"/>
          </a:p>
        </p:txBody>
      </p:sp>
      <p:sp>
        <p:nvSpPr>
          <p:cNvPr id="17" name="Text 15"/>
          <p:cNvSpPr/>
          <p:nvPr/>
        </p:nvSpPr>
        <p:spPr>
          <a:xfrm>
            <a:off x="4343400" y="2670048"/>
            <a:ext cx="7269480" cy="54864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솔루션도 csproj도 없이 파일 한 장이 완결된 프로그램. 단일 파일 .cs = .NET 음악의 카덴차.</a:t>
            </a:r>
            <a:endParaRPr lang="en-US" sz="1350" dirty="0"/>
          </a:p>
        </p:txBody>
      </p:sp>
      <p:sp>
        <p:nvSpPr>
          <p:cNvPr id="18" name="Text 16"/>
          <p:cNvSpPr/>
          <p:nvPr/>
        </p:nvSpPr>
        <p:spPr>
          <a:xfrm>
            <a:off x="4343400" y="3264408"/>
            <a:ext cx="7269480" cy="365760"/>
          </a:xfrm>
          <a:prstGeom prst="rect">
            <a:avLst/>
          </a:prstGeom>
          <a:noFill/>
          <a:ln/>
        </p:spPr>
        <p:txBody>
          <a:bodyPr wrap="square" lIns="0" tIns="0" rIns="0" bIns="0" rtlCol="0" anchor="ctr"/>
          <a:lstStyle/>
          <a:p>
            <a:pPr marL="0" indent="0">
              <a:buNone/>
            </a:pPr>
            <a:r>
              <a:rPr lang="en-US" sz="1600" b="1" dirty="0">
                <a:solidFill>
                  <a:srgbClr val="8A1C2B"/>
                </a:solidFill>
                <a:latin typeface="Malgun Gothic" pitchFamily="34" charset="0"/>
                <a:ea typeface="Malgun Gothic" pitchFamily="34" charset="-122"/>
                <a:cs typeface="Malgun Gothic" pitchFamily="34" charset="-120"/>
              </a:rPr>
              <a:t>협주곡을 부정하지 않는다</a:t>
            </a:r>
            <a:endParaRPr lang="en-US" sz="1600" dirty="0"/>
          </a:p>
        </p:txBody>
      </p:sp>
      <p:sp>
        <p:nvSpPr>
          <p:cNvPr id="19" name="Text 17"/>
          <p:cNvSpPr/>
          <p:nvPr/>
        </p:nvSpPr>
        <p:spPr>
          <a:xfrm>
            <a:off x="4343400" y="3648456"/>
            <a:ext cx="7269480" cy="54864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Cadenza SDK는 csproj 기반 개발을 부정하지 않는다 — 같은 생태계의 다른 모드, 자유롭게 오간다.</a:t>
            </a:r>
            <a:endParaRPr lang="en-US" sz="1350" dirty="0"/>
          </a:p>
        </p:txBody>
      </p:sp>
      <p:sp>
        <p:nvSpPr>
          <p:cNvPr id="20" name="Text 18"/>
          <p:cNvSpPr/>
          <p:nvPr/>
        </p:nvSpPr>
        <p:spPr>
          <a:xfrm>
            <a:off x="4343400" y="4242816"/>
            <a:ext cx="7269480" cy="365760"/>
          </a:xfrm>
          <a:prstGeom prst="rect">
            <a:avLst/>
          </a:prstGeom>
          <a:noFill/>
          <a:ln/>
        </p:spPr>
        <p:txBody>
          <a:bodyPr wrap="square" lIns="0" tIns="0" rIns="0" bIns="0" rtlCol="0" anchor="ctr"/>
          <a:lstStyle/>
          <a:p>
            <a:pPr marL="0" indent="0">
              <a:buNone/>
            </a:pPr>
            <a:r>
              <a:rPr lang="en-US" sz="1600" b="1" dirty="0">
                <a:solidFill>
                  <a:srgbClr val="8A1C2B"/>
                </a:solidFill>
                <a:latin typeface="Malgun Gothic" pitchFamily="34" charset="0"/>
                <a:ea typeface="Malgun Gothic" pitchFamily="34" charset="-122"/>
                <a:cs typeface="Malgun Gothic" pitchFamily="34" charset="-120"/>
              </a:rPr>
              <a:t>같은 음악 우주의 자매</a:t>
            </a:r>
            <a:endParaRPr lang="en-US" sz="1600" dirty="0"/>
          </a:p>
        </p:txBody>
      </p:sp>
      <p:sp>
        <p:nvSpPr>
          <p:cNvPr id="21" name="Text 19"/>
          <p:cNvSpPr/>
          <p:nvPr/>
        </p:nvSpPr>
        <p:spPr>
          <a:xfrm>
            <a:off x="4343400" y="4626864"/>
            <a:ext cx="7269480" cy="548640"/>
          </a:xfrm>
          <a:prstGeom prst="rect">
            <a:avLst/>
          </a:prstGeom>
          <a:noFill/>
          <a:ln/>
        </p:spPr>
        <p:txBody>
          <a:bodyPr wrap="square" lIns="0" tIns="0" rIns="0" bIns="0" rtlCol="0" anchor="t"/>
          <a:lstStyle/>
          <a:p>
            <a:pPr marL="0" indent="0">
              <a:lnSpc>
                <a:spcPct val="115000"/>
              </a:lnSpc>
              <a:buNone/>
            </a:pPr>
            <a:r>
              <a:rPr lang="en-US" sz="1350" dirty="0">
                <a:solidFill>
                  <a:srgbClr val="6C7180"/>
                </a:solidFill>
                <a:latin typeface="Malgun Gothic" pitchFamily="34" charset="0"/>
                <a:ea typeface="Malgun Gothic" pitchFamily="34" charset="-122"/>
                <a:cs typeface="Malgun Gothic" pitchFamily="34" charset="-120"/>
              </a:rPr>
              <a:t>C#의 # 은 음악 기호 ♯. Cadenza와 C#은 의도적으로 같은 음악 우주에서 이름을 가져왔다.</a:t>
            </a:r>
            <a:endParaRPr lang="en-US" sz="1350" dirty="0"/>
          </a:p>
        </p:txBody>
      </p:sp>
    </p:spTree>
  </p:cSld>
  <p:clrMapOvr>
    <a:masterClrMapping/>
  </p:clrMapOvr>
  <p:transition spd="med">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5  ·  CADENZA</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#:sdk 한 줄로 무대를 고른다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11</a:t>
            </a:r>
            <a:endParaRPr lang="en-US" sz="900" dirty="0"/>
          </a:p>
        </p:txBody>
      </p:sp>
      <p:sp>
        <p:nvSpPr>
          <p:cNvPr id="13" name="Shape 11"/>
          <p:cNvSpPr/>
          <p:nvPr/>
        </p:nvSpPr>
        <p:spPr>
          <a:xfrm>
            <a:off x="548640" y="2057400"/>
            <a:ext cx="11064240" cy="0"/>
          </a:xfrm>
          <a:prstGeom prst="line">
            <a:avLst/>
          </a:prstGeom>
          <a:noFill/>
          <a:ln w="9525">
            <a:solidFill>
              <a:srgbClr val="D8D1BE"/>
            </a:solidFill>
            <a:prstDash val="solid"/>
          </a:ln>
        </p:spPr>
        <p:txBody>
          <a:bodyPr/>
          <a:lstStyle/>
          <a:p>
            <a:endParaRPr lang="ko-KR" altLang="en-US"/>
          </a:p>
        </p:txBody>
      </p:sp>
      <p:sp>
        <p:nvSpPr>
          <p:cNvPr id="14" name="Text 12"/>
          <p:cNvSpPr/>
          <p:nvPr/>
        </p:nvSpPr>
        <p:spPr>
          <a:xfrm>
            <a:off x="658368" y="2057400"/>
            <a:ext cx="3438144" cy="566928"/>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a:t>
            </a:r>
            <a:endParaRPr lang="en-US" sz="1500" dirty="0"/>
          </a:p>
        </p:txBody>
      </p:sp>
      <p:sp>
        <p:nvSpPr>
          <p:cNvPr id="15" name="Text 13"/>
          <p:cNvSpPr/>
          <p:nvPr/>
        </p:nvSpPr>
        <p:spPr>
          <a:xfrm>
            <a:off x="4315968" y="2057400"/>
            <a:ext cx="7187184" cy="566928"/>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콘솔, CLI 유틸리티</a:t>
            </a:r>
            <a:endParaRPr lang="en-US" sz="1500" dirty="0"/>
          </a:p>
        </p:txBody>
      </p:sp>
      <p:sp>
        <p:nvSpPr>
          <p:cNvPr id="16" name="Shape 14"/>
          <p:cNvSpPr/>
          <p:nvPr/>
        </p:nvSpPr>
        <p:spPr>
          <a:xfrm>
            <a:off x="548640" y="2624328"/>
            <a:ext cx="11064240" cy="0"/>
          </a:xfrm>
          <a:prstGeom prst="line">
            <a:avLst/>
          </a:prstGeom>
          <a:noFill/>
          <a:ln w="9525">
            <a:solidFill>
              <a:srgbClr val="D8D1BE"/>
            </a:solidFill>
            <a:prstDash val="solid"/>
          </a:ln>
        </p:spPr>
        <p:txBody>
          <a:bodyPr/>
          <a:lstStyle/>
          <a:p>
            <a:endParaRPr lang="ko-KR" altLang="en-US"/>
          </a:p>
        </p:txBody>
      </p:sp>
      <p:sp>
        <p:nvSpPr>
          <p:cNvPr id="17" name="Text 15"/>
          <p:cNvSpPr/>
          <p:nvPr/>
        </p:nvSpPr>
        <p:spPr>
          <a:xfrm>
            <a:off x="658368" y="2624328"/>
            <a:ext cx="3438144" cy="566928"/>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Cadenza.Worker</a:t>
            </a:r>
            <a:endParaRPr lang="en-US" sz="1500" dirty="0"/>
          </a:p>
        </p:txBody>
      </p:sp>
      <p:sp>
        <p:nvSpPr>
          <p:cNvPr id="18" name="Text 16"/>
          <p:cNvSpPr/>
          <p:nvPr/>
        </p:nvSpPr>
        <p:spPr>
          <a:xfrm>
            <a:off x="4315968" y="2624328"/>
            <a:ext cx="7187184" cy="566928"/>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백그라운드 서비스, 데몬</a:t>
            </a:r>
            <a:endParaRPr lang="en-US" sz="1500" dirty="0"/>
          </a:p>
        </p:txBody>
      </p:sp>
      <p:sp>
        <p:nvSpPr>
          <p:cNvPr id="19" name="Shape 17"/>
          <p:cNvSpPr/>
          <p:nvPr/>
        </p:nvSpPr>
        <p:spPr>
          <a:xfrm>
            <a:off x="548640" y="3191256"/>
            <a:ext cx="11064240" cy="0"/>
          </a:xfrm>
          <a:prstGeom prst="line">
            <a:avLst/>
          </a:prstGeom>
          <a:noFill/>
          <a:ln w="9525">
            <a:solidFill>
              <a:srgbClr val="D8D1BE"/>
            </a:solidFill>
            <a:prstDash val="solid"/>
          </a:ln>
        </p:spPr>
        <p:txBody>
          <a:bodyPr/>
          <a:lstStyle/>
          <a:p>
            <a:endParaRPr lang="ko-KR" altLang="en-US"/>
          </a:p>
        </p:txBody>
      </p:sp>
      <p:sp>
        <p:nvSpPr>
          <p:cNvPr id="20" name="Text 18"/>
          <p:cNvSpPr/>
          <p:nvPr/>
        </p:nvSpPr>
        <p:spPr>
          <a:xfrm>
            <a:off x="658368" y="3191256"/>
            <a:ext cx="3438144" cy="566928"/>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Cadenza.Web</a:t>
            </a:r>
            <a:endParaRPr lang="en-US" sz="1500" dirty="0"/>
          </a:p>
        </p:txBody>
      </p:sp>
      <p:sp>
        <p:nvSpPr>
          <p:cNvPr id="21" name="Text 19"/>
          <p:cNvSpPr/>
          <p:nvPr/>
        </p:nvSpPr>
        <p:spPr>
          <a:xfrm>
            <a:off x="4315968" y="3191256"/>
            <a:ext cx="7187184" cy="566928"/>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웹 API, Minimal API</a:t>
            </a:r>
            <a:endParaRPr lang="en-US" sz="1500" dirty="0"/>
          </a:p>
        </p:txBody>
      </p:sp>
      <p:sp>
        <p:nvSpPr>
          <p:cNvPr id="22" name="Shape 20"/>
          <p:cNvSpPr/>
          <p:nvPr/>
        </p:nvSpPr>
        <p:spPr>
          <a:xfrm>
            <a:off x="548640" y="3758184"/>
            <a:ext cx="11064240" cy="0"/>
          </a:xfrm>
          <a:prstGeom prst="line">
            <a:avLst/>
          </a:prstGeom>
          <a:noFill/>
          <a:ln w="9525">
            <a:solidFill>
              <a:srgbClr val="D8D1BE"/>
            </a:solidFill>
            <a:prstDash val="solid"/>
          </a:ln>
        </p:spPr>
        <p:txBody>
          <a:bodyPr/>
          <a:lstStyle/>
          <a:p>
            <a:endParaRPr lang="ko-KR" altLang="en-US"/>
          </a:p>
        </p:txBody>
      </p:sp>
      <p:sp>
        <p:nvSpPr>
          <p:cNvPr id="23" name="Text 21"/>
          <p:cNvSpPr/>
          <p:nvPr/>
        </p:nvSpPr>
        <p:spPr>
          <a:xfrm>
            <a:off x="658368" y="3758184"/>
            <a:ext cx="3438144" cy="566928"/>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Cadenza.Mcp</a:t>
            </a:r>
            <a:endParaRPr lang="en-US" sz="1500" dirty="0"/>
          </a:p>
        </p:txBody>
      </p:sp>
      <p:sp>
        <p:nvSpPr>
          <p:cNvPr id="24" name="Text 22"/>
          <p:cNvSpPr/>
          <p:nvPr/>
        </p:nvSpPr>
        <p:spPr>
          <a:xfrm>
            <a:off x="4315968" y="3758184"/>
            <a:ext cx="7187184" cy="566928"/>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MCP 서버 (Claude, Cursor, VS Code)</a:t>
            </a:r>
            <a:endParaRPr lang="en-US" sz="1500" dirty="0"/>
          </a:p>
        </p:txBody>
      </p:sp>
      <p:sp>
        <p:nvSpPr>
          <p:cNvPr id="25" name="Shape 23"/>
          <p:cNvSpPr/>
          <p:nvPr/>
        </p:nvSpPr>
        <p:spPr>
          <a:xfrm>
            <a:off x="548640" y="4325112"/>
            <a:ext cx="11064240" cy="0"/>
          </a:xfrm>
          <a:prstGeom prst="line">
            <a:avLst/>
          </a:prstGeom>
          <a:noFill/>
          <a:ln w="9525">
            <a:solidFill>
              <a:srgbClr val="D8D1BE"/>
            </a:solidFill>
            <a:prstDash val="solid"/>
          </a:ln>
        </p:spPr>
        <p:txBody>
          <a:bodyPr/>
          <a:lstStyle/>
          <a:p>
            <a:endParaRPr lang="ko-KR" altLang="en-US"/>
          </a:p>
        </p:txBody>
      </p:sp>
      <p:sp>
        <p:nvSpPr>
          <p:cNvPr id="26" name="Text 24"/>
          <p:cNvSpPr/>
          <p:nvPr/>
        </p:nvSpPr>
        <p:spPr>
          <a:xfrm>
            <a:off x="658368" y="4325112"/>
            <a:ext cx="3438144" cy="566928"/>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Cadenza.Agent</a:t>
            </a:r>
            <a:endParaRPr lang="en-US" sz="1500" dirty="0"/>
          </a:p>
        </p:txBody>
      </p:sp>
      <p:sp>
        <p:nvSpPr>
          <p:cNvPr id="27" name="Text 25"/>
          <p:cNvSpPr/>
          <p:nvPr/>
        </p:nvSpPr>
        <p:spPr>
          <a:xfrm>
            <a:off x="4315968" y="4325112"/>
            <a:ext cx="7187184" cy="566928"/>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로컬 AI 에이전트, OpenAI 호환 서버</a:t>
            </a:r>
            <a:endParaRPr lang="en-US" sz="1500" dirty="0"/>
          </a:p>
        </p:txBody>
      </p:sp>
      <p:sp>
        <p:nvSpPr>
          <p:cNvPr id="28" name="Shape 26"/>
          <p:cNvSpPr/>
          <p:nvPr/>
        </p:nvSpPr>
        <p:spPr>
          <a:xfrm>
            <a:off x="548640" y="4892040"/>
            <a:ext cx="11064240" cy="0"/>
          </a:xfrm>
          <a:prstGeom prst="line">
            <a:avLst/>
          </a:prstGeom>
          <a:noFill/>
          <a:ln w="9525">
            <a:solidFill>
              <a:srgbClr val="D8D1BE"/>
            </a:solidFill>
            <a:prstDash val="solid"/>
          </a:ln>
        </p:spPr>
        <p:txBody>
          <a:bodyPr/>
          <a:lstStyle/>
          <a:p>
            <a:endParaRPr lang="ko-KR" altLang="en-US"/>
          </a:p>
        </p:txBody>
      </p:sp>
      <p:sp>
        <p:nvSpPr>
          <p:cNvPr id="29" name="Text 27"/>
          <p:cNvSpPr/>
          <p:nvPr/>
        </p:nvSpPr>
        <p:spPr>
          <a:xfrm>
            <a:off x="548640" y="5440680"/>
            <a:ext cx="11064240" cy="640080"/>
          </a:xfrm>
          <a:prstGeom prst="rect">
            <a:avLst/>
          </a:prstGeom>
          <a:noFill/>
          <a:ln/>
        </p:spPr>
        <p:txBody>
          <a:bodyPr wrap="square" lIns="0" tIns="0" rIns="0" bIns="0" rtlCol="0" anchor="ctr"/>
          <a:lstStyle/>
          <a:p>
            <a:pPr marL="0" indent="0" algn="l">
              <a:lnSpc>
                <a:spcPct val="110000"/>
              </a:lnSpc>
              <a:buNone/>
            </a:pPr>
            <a:r>
              <a:rPr lang="en-US" sz="1400" i="1" dirty="0">
                <a:solidFill>
                  <a:srgbClr val="8A1C2B"/>
                </a:solidFill>
                <a:latin typeface="Malgun Gothic" pitchFamily="34" charset="0"/>
                <a:ea typeface="Malgun Gothic" pitchFamily="34" charset="-122"/>
                <a:cs typeface="Malgun Gothic" pitchFamily="34" charset="-120"/>
              </a:rPr>
              <a:t>버전은 정확히 적어야 합니다 — 1.* 같은 와일드카드는 쓸 수 없</a:t>
            </a:r>
            <a:r>
              <a:rPr lang="ko-KR" altLang="en-US" sz="1400" i="1" dirty="0">
                <a:solidFill>
                  <a:srgbClr val="8A1C2B"/>
                </a:solidFill>
                <a:latin typeface="Malgun Gothic" pitchFamily="34" charset="0"/>
                <a:ea typeface="Malgun Gothic" pitchFamily="34" charset="-122"/>
                <a:cs typeface="Malgun Gothic" pitchFamily="34" charset="-120"/>
              </a:rPr>
              <a:t>습니다</a:t>
            </a:r>
            <a:r>
              <a:rPr lang="en-US" sz="1400" i="1" dirty="0">
                <a:solidFill>
                  <a:srgbClr val="8A1C2B"/>
                </a:solidFill>
                <a:latin typeface="Malgun Gothic" pitchFamily="34" charset="0"/>
                <a:ea typeface="Malgun Gothic" pitchFamily="34" charset="-122"/>
                <a:cs typeface="Malgun Gothic" pitchFamily="34" charset="-120"/>
              </a:rPr>
              <a:t>.</a:t>
            </a:r>
          </a:p>
          <a:p>
            <a:pPr marL="0" indent="0" algn="l">
              <a:lnSpc>
                <a:spcPct val="110000"/>
              </a:lnSpc>
              <a:buNone/>
            </a:pPr>
            <a:r>
              <a:rPr lang="en-US" sz="1400" i="1" dirty="0" err="1">
                <a:solidFill>
                  <a:srgbClr val="8A1C2B"/>
                </a:solidFill>
                <a:latin typeface="Malgun Gothic" pitchFamily="34" charset="0"/>
                <a:ea typeface="Malgun Gothic" pitchFamily="34" charset="-122"/>
                <a:cs typeface="Malgun Gothic" pitchFamily="34" charset="-120"/>
              </a:rPr>
              <a:t>MSBuild의</a:t>
            </a:r>
            <a:r>
              <a:rPr lang="en-US" sz="1400" i="1" dirty="0">
                <a:solidFill>
                  <a:srgbClr val="8A1C2B"/>
                </a:solidFill>
                <a:latin typeface="Malgun Gothic" pitchFamily="34" charset="0"/>
                <a:ea typeface="Malgun Gothic" pitchFamily="34" charset="-122"/>
                <a:cs typeface="Malgun Gothic" pitchFamily="34" charset="-120"/>
              </a:rPr>
              <a:t> SDK 참조는 floating </a:t>
            </a:r>
            <a:r>
              <a:rPr lang="en-US" sz="1400" i="1" dirty="0" err="1">
                <a:solidFill>
                  <a:srgbClr val="8A1C2B"/>
                </a:solidFill>
                <a:latin typeface="Malgun Gothic" pitchFamily="34" charset="0"/>
                <a:ea typeface="Malgun Gothic" pitchFamily="34" charset="-122"/>
                <a:cs typeface="Malgun Gothic" pitchFamily="34" charset="-120"/>
              </a:rPr>
              <a:t>버전을</a:t>
            </a:r>
            <a:r>
              <a:rPr lang="en-US" sz="1400" i="1" dirty="0">
                <a:solidFill>
                  <a:srgbClr val="8A1C2B"/>
                </a:solidFill>
                <a:latin typeface="Malgun Gothic" pitchFamily="34" charset="0"/>
                <a:ea typeface="Malgun Gothic" pitchFamily="34" charset="-122"/>
                <a:cs typeface="Malgun Gothic" pitchFamily="34" charset="-120"/>
              </a:rPr>
              <a:t> </a:t>
            </a:r>
            <a:r>
              <a:rPr lang="en-US" sz="1400" i="1" dirty="0" err="1">
                <a:solidFill>
                  <a:srgbClr val="8A1C2B"/>
                </a:solidFill>
                <a:latin typeface="Malgun Gothic" pitchFamily="34" charset="0"/>
                <a:ea typeface="Malgun Gothic" pitchFamily="34" charset="-122"/>
                <a:cs typeface="Malgun Gothic" pitchFamily="34" charset="-120"/>
              </a:rPr>
              <a:t>지원</a:t>
            </a:r>
            <a:r>
              <a:rPr lang="en-US" sz="1400" i="1" dirty="0">
                <a:solidFill>
                  <a:srgbClr val="8A1C2B"/>
                </a:solidFill>
                <a:latin typeface="Malgun Gothic" pitchFamily="34" charset="0"/>
                <a:ea typeface="Malgun Gothic" pitchFamily="34" charset="-122"/>
                <a:cs typeface="Malgun Gothic" pitchFamily="34" charset="-120"/>
              </a:rPr>
              <a:t> </a:t>
            </a:r>
            <a:r>
              <a:rPr lang="en-US" sz="1400" i="1" dirty="0" err="1">
                <a:solidFill>
                  <a:srgbClr val="8A1C2B"/>
                </a:solidFill>
                <a:latin typeface="Malgun Gothic" pitchFamily="34" charset="0"/>
                <a:ea typeface="Malgun Gothic" pitchFamily="34" charset="-122"/>
                <a:cs typeface="Malgun Gothic" pitchFamily="34" charset="-120"/>
              </a:rPr>
              <a:t>하지</a:t>
            </a:r>
            <a:r>
              <a:rPr lang="en-US" sz="1400" i="1" dirty="0">
                <a:solidFill>
                  <a:srgbClr val="8A1C2B"/>
                </a:solidFill>
                <a:latin typeface="Malgun Gothic" pitchFamily="34" charset="0"/>
                <a:ea typeface="Malgun Gothic" pitchFamily="34" charset="-122"/>
                <a:cs typeface="Malgun Gothic" pitchFamily="34" charset="-120"/>
              </a:rPr>
              <a:t> 않</a:t>
            </a:r>
            <a:r>
              <a:rPr lang="ko-KR" altLang="en-US" sz="1400" i="1" dirty="0">
                <a:solidFill>
                  <a:srgbClr val="8A1C2B"/>
                </a:solidFill>
                <a:latin typeface="Malgun Gothic" pitchFamily="34" charset="0"/>
                <a:ea typeface="Malgun Gothic" pitchFamily="34" charset="-122"/>
                <a:cs typeface="Malgun Gothic" pitchFamily="34" charset="-120"/>
              </a:rPr>
              <a:t>기 때문입니다</a:t>
            </a:r>
            <a:r>
              <a:rPr lang="en-US" altLang="ko-KR" sz="1400" i="1" dirty="0">
                <a:solidFill>
                  <a:srgbClr val="8A1C2B"/>
                </a:solidFill>
                <a:latin typeface="Malgun Gothic" pitchFamily="34" charset="0"/>
                <a:ea typeface="Malgun Gothic" pitchFamily="34" charset="-122"/>
                <a:cs typeface="Malgun Gothic" pitchFamily="34" charset="-120"/>
              </a:rPr>
              <a:t>.</a:t>
            </a:r>
            <a:endParaRPr lang="en-US" sz="1400" dirty="0"/>
          </a:p>
        </p:txBody>
      </p:sp>
    </p:spTree>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5  ·  CADENZA</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타이핑은 짧게, 의미는 분명하게</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12</a:t>
            </a:r>
            <a:endParaRPr lang="en-US" sz="900" dirty="0"/>
          </a:p>
        </p:txBody>
      </p:sp>
      <p:sp>
        <p:nvSpPr>
          <p:cNvPr id="13" name="Text 11"/>
          <p:cNvSpPr/>
          <p:nvPr/>
        </p:nvSpPr>
        <p:spPr>
          <a:xfrm>
            <a:off x="566928" y="2011680"/>
            <a:ext cx="5486400" cy="320040"/>
          </a:xfrm>
          <a:prstGeom prst="rect">
            <a:avLst/>
          </a:prstGeom>
          <a:noFill/>
          <a:ln/>
        </p:spPr>
        <p:txBody>
          <a:bodyPr wrap="square" lIns="0" tIns="0" rIns="0" bIns="0" rtlCol="0" anchor="ctr"/>
          <a:lstStyle/>
          <a:p>
            <a:pPr marL="0" indent="0">
              <a:buNone/>
            </a:pPr>
            <a:r>
              <a:rPr lang="en-US" sz="1200" b="1" kern="0" spc="200" dirty="0">
                <a:solidFill>
                  <a:srgbClr val="6C7180"/>
                </a:solidFill>
                <a:latin typeface="Malgun Gothic" pitchFamily="34" charset="0"/>
                <a:ea typeface="Malgun Gothic" pitchFamily="34" charset="-122"/>
                <a:cs typeface="Malgun Gothic" pitchFamily="34" charset="-120"/>
              </a:rPr>
              <a:t>before</a:t>
            </a:r>
            <a:endParaRPr lang="en-US" sz="1200" dirty="0"/>
          </a:p>
        </p:txBody>
      </p:sp>
      <p:sp>
        <p:nvSpPr>
          <p:cNvPr id="14" name="Shape 12"/>
          <p:cNvSpPr/>
          <p:nvPr/>
        </p:nvSpPr>
        <p:spPr>
          <a:xfrm>
            <a:off x="548640" y="2331720"/>
            <a:ext cx="11064240" cy="96012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5" name="Shape 13"/>
          <p:cNvSpPr/>
          <p:nvPr/>
        </p:nvSpPr>
        <p:spPr>
          <a:xfrm>
            <a:off x="548640" y="2331720"/>
            <a:ext cx="64008" cy="960120"/>
          </a:xfrm>
          <a:prstGeom prst="rect">
            <a:avLst/>
          </a:prstGeom>
          <a:solidFill>
            <a:srgbClr val="8A1C2B"/>
          </a:solidFill>
          <a:ln/>
        </p:spPr>
        <p:txBody>
          <a:bodyPr/>
          <a:lstStyle/>
          <a:p>
            <a:endParaRPr lang="ko-KR" altLang="en-US"/>
          </a:p>
        </p:txBody>
      </p:sp>
      <p:sp>
        <p:nvSpPr>
          <p:cNvPr id="16" name="Text 14"/>
          <p:cNvSpPr/>
          <p:nvPr/>
        </p:nvSpPr>
        <p:spPr>
          <a:xfrm>
            <a:off x="804672" y="2459736"/>
            <a:ext cx="10607040" cy="704088"/>
          </a:xfrm>
          <a:prstGeom prst="rect">
            <a:avLst/>
          </a:prstGeom>
          <a:noFill/>
          <a:ln/>
        </p:spPr>
        <p:txBody>
          <a:bodyPr wrap="square" lIns="0" tIns="0" rIns="0" bIns="0" rtlCol="0" anchor="t"/>
          <a:lstStyle/>
          <a:p>
            <a:pPr marL="0" indent="0" algn="l">
              <a:lnSpc>
                <a:spcPct val="132000"/>
              </a:lnSpc>
              <a:buNone/>
            </a:pPr>
            <a:r>
              <a:rPr lang="en-US" sz="1450" dirty="0">
                <a:solidFill>
                  <a:srgbClr val="6C7180"/>
                </a:solidFill>
                <a:latin typeface="Consolas" pitchFamily="34" charset="0"/>
                <a:ea typeface="Consolas" pitchFamily="34" charset="-122"/>
                <a:cs typeface="Consolas" pitchFamily="34" charset="-120"/>
              </a:rPr>
              <a:t>var files = Directory.EnumerateFiles(".", "*.md", SearchOption.AllDirectories);</a:t>
            </a:r>
            <a:endParaRPr lang="en-US" sz="1450" dirty="0"/>
          </a:p>
        </p:txBody>
      </p:sp>
      <p:sp>
        <p:nvSpPr>
          <p:cNvPr id="17" name="Text 15"/>
          <p:cNvSpPr/>
          <p:nvPr/>
        </p:nvSpPr>
        <p:spPr>
          <a:xfrm>
            <a:off x="566928" y="3520440"/>
            <a:ext cx="5486400" cy="320040"/>
          </a:xfrm>
          <a:prstGeom prst="rect">
            <a:avLst/>
          </a:prstGeom>
          <a:noFill/>
          <a:ln/>
        </p:spPr>
        <p:txBody>
          <a:bodyPr wrap="square" lIns="0" tIns="0" rIns="0" bIns="0" rtlCol="0" anchor="ctr"/>
          <a:lstStyle/>
          <a:p>
            <a:pPr marL="0" indent="0">
              <a:buNone/>
            </a:pPr>
            <a:r>
              <a:rPr lang="en-US" sz="1200" b="1" kern="0" spc="200" dirty="0">
                <a:solidFill>
                  <a:srgbClr val="8A1C2B"/>
                </a:solidFill>
                <a:latin typeface="Malgun Gothic" pitchFamily="34" charset="0"/>
                <a:ea typeface="Malgun Gothic" pitchFamily="34" charset="-122"/>
                <a:cs typeface="Malgun Gothic" pitchFamily="34" charset="-120"/>
              </a:rPr>
              <a:t>after</a:t>
            </a:r>
            <a:endParaRPr lang="en-US" sz="1200" dirty="0"/>
          </a:p>
        </p:txBody>
      </p:sp>
      <p:sp>
        <p:nvSpPr>
          <p:cNvPr id="18" name="Shape 16"/>
          <p:cNvSpPr/>
          <p:nvPr/>
        </p:nvSpPr>
        <p:spPr>
          <a:xfrm>
            <a:off x="548640" y="3840480"/>
            <a:ext cx="11064240" cy="91440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9" name="Shape 17"/>
          <p:cNvSpPr/>
          <p:nvPr/>
        </p:nvSpPr>
        <p:spPr>
          <a:xfrm>
            <a:off x="548640" y="3840480"/>
            <a:ext cx="64008" cy="914400"/>
          </a:xfrm>
          <a:prstGeom prst="rect">
            <a:avLst/>
          </a:prstGeom>
          <a:solidFill>
            <a:srgbClr val="8A1C2B"/>
          </a:solidFill>
          <a:ln/>
        </p:spPr>
        <p:txBody>
          <a:bodyPr/>
          <a:lstStyle/>
          <a:p>
            <a:endParaRPr lang="ko-KR" altLang="en-US"/>
          </a:p>
        </p:txBody>
      </p:sp>
      <p:sp>
        <p:nvSpPr>
          <p:cNvPr id="20" name="Text 18"/>
          <p:cNvSpPr/>
          <p:nvPr/>
        </p:nvSpPr>
        <p:spPr>
          <a:xfrm>
            <a:off x="804672" y="3968496"/>
            <a:ext cx="10607040" cy="658368"/>
          </a:xfrm>
          <a:prstGeom prst="rect">
            <a:avLst/>
          </a:prstGeom>
          <a:noFill/>
          <a:ln/>
        </p:spPr>
        <p:txBody>
          <a:bodyPr wrap="square" lIns="0" tIns="0" rIns="0" bIns="0" rtlCol="0" anchor="t"/>
          <a:lstStyle/>
          <a:p>
            <a:pPr marL="0" indent="0" algn="l">
              <a:lnSpc>
                <a:spcPct val="132000"/>
              </a:lnSpc>
              <a:buNone/>
            </a:pPr>
            <a:r>
              <a:rPr lang="en-US" sz="1600" b="1" dirty="0">
                <a:solidFill>
                  <a:srgbClr val="1F2330"/>
                </a:solidFill>
                <a:latin typeface="Consolas" pitchFamily="34" charset="0"/>
                <a:ea typeface="Consolas" pitchFamily="34" charset="-122"/>
                <a:cs typeface="Consolas" pitchFamily="34" charset="-120"/>
              </a:rPr>
              <a:t>var files = Glob("**/*.md");</a:t>
            </a:r>
            <a:endParaRPr lang="en-US" sz="1600" dirty="0"/>
          </a:p>
        </p:txBody>
      </p:sp>
      <p:sp>
        <p:nvSpPr>
          <p:cNvPr id="21" name="Text 19"/>
          <p:cNvSpPr/>
          <p:nvPr/>
        </p:nvSpPr>
        <p:spPr>
          <a:xfrm>
            <a:off x="548640" y="5029200"/>
            <a:ext cx="3502152" cy="320040"/>
          </a:xfrm>
          <a:prstGeom prst="rect">
            <a:avLst/>
          </a:prstGeom>
          <a:noFill/>
          <a:ln/>
        </p:spPr>
        <p:txBody>
          <a:bodyPr wrap="square" lIns="0" tIns="0" rIns="0" bIns="0" rtlCol="0" anchor="ctr"/>
          <a:lstStyle/>
          <a:p>
            <a:pPr marL="0" indent="0">
              <a:buNone/>
            </a:pPr>
            <a:r>
              <a:rPr lang="en-US" sz="1300" b="1" dirty="0">
                <a:solidFill>
                  <a:srgbClr val="8A1C2B"/>
                </a:solidFill>
                <a:latin typeface="Consolas" pitchFamily="34" charset="0"/>
                <a:ea typeface="Consolas" pitchFamily="34" charset="-122"/>
                <a:cs typeface="Consolas" pitchFamily="34" charset="-120"/>
              </a:rPr>
              <a:t>global using static</a:t>
            </a:r>
            <a:endParaRPr lang="en-US" sz="1300" dirty="0"/>
          </a:p>
        </p:txBody>
      </p:sp>
      <p:sp>
        <p:nvSpPr>
          <p:cNvPr id="22" name="Text 20"/>
          <p:cNvSpPr/>
          <p:nvPr/>
        </p:nvSpPr>
        <p:spPr>
          <a:xfrm>
            <a:off x="548640" y="5376672"/>
            <a:ext cx="3456432" cy="822960"/>
          </a:xfrm>
          <a:prstGeom prst="rect">
            <a:avLst/>
          </a:prstGeom>
          <a:noFill/>
          <a:ln/>
        </p:spPr>
        <p:txBody>
          <a:bodyPr wrap="square" lIns="0" tIns="0" rIns="0" bIns="0" rtlCol="0" anchor="t"/>
          <a:lstStyle/>
          <a:p>
            <a:pPr marL="0" indent="0">
              <a:lnSpc>
                <a:spcPct val="112000"/>
              </a:lnSpc>
              <a:buNone/>
            </a:pPr>
            <a:r>
              <a:rPr lang="en-US" sz="1200" dirty="0">
                <a:solidFill>
                  <a:srgbClr val="6C7180"/>
                </a:solidFill>
                <a:latin typeface="Malgun Gothic" pitchFamily="34" charset="0"/>
                <a:ea typeface="Malgun Gothic" pitchFamily="34" charset="-122"/>
                <a:cs typeface="Malgun Gothic" pitchFamily="34" charset="-120"/>
              </a:rPr>
              <a:t>SDK가 정적 클래스를 전역으로 </a:t>
            </a:r>
            <a:r>
              <a:rPr lang="en-US" sz="1200" dirty="0" err="1">
                <a:solidFill>
                  <a:srgbClr val="6C7180"/>
                </a:solidFill>
                <a:latin typeface="Malgun Gothic" pitchFamily="34" charset="0"/>
                <a:ea typeface="Malgun Gothic" pitchFamily="34" charset="-122"/>
                <a:cs typeface="Malgun Gothic" pitchFamily="34" charset="-120"/>
              </a:rPr>
              <a:t>미리</a:t>
            </a:r>
            <a:r>
              <a:rPr lang="en-US" sz="1200" dirty="0">
                <a:solidFill>
                  <a:srgbClr val="6C7180"/>
                </a:solidFill>
                <a:latin typeface="Malgun Gothic" pitchFamily="34" charset="0"/>
                <a:ea typeface="Malgun Gothic" pitchFamily="34" charset="-122"/>
                <a:cs typeface="Malgun Gothic" pitchFamily="34" charset="-120"/>
              </a:rPr>
              <a:t> </a:t>
            </a:r>
            <a:r>
              <a:rPr lang="en-US" sz="1200" dirty="0" err="1">
                <a:solidFill>
                  <a:srgbClr val="6C7180"/>
                </a:solidFill>
                <a:latin typeface="Malgun Gothic" pitchFamily="34" charset="0"/>
                <a:ea typeface="Malgun Gothic" pitchFamily="34" charset="-122"/>
                <a:cs typeface="Malgun Gothic" pitchFamily="34" charset="-120"/>
              </a:rPr>
              <a:t>임포트</a:t>
            </a:r>
            <a:r>
              <a:rPr lang="ko-KR" altLang="en-US" sz="1200" dirty="0">
                <a:solidFill>
                  <a:srgbClr val="6C7180"/>
                </a:solidFill>
                <a:latin typeface="Malgun Gothic" pitchFamily="34" charset="0"/>
                <a:ea typeface="Malgun Gothic" pitchFamily="34" charset="-122"/>
                <a:cs typeface="Malgun Gothic" pitchFamily="34" charset="-120"/>
              </a:rPr>
              <a:t>하여</a:t>
            </a:r>
            <a:r>
              <a:rPr lang="en-US" sz="1200" dirty="0">
                <a:solidFill>
                  <a:srgbClr val="6C7180"/>
                </a:solidFill>
                <a:latin typeface="Malgun Gothic" pitchFamily="34" charset="0"/>
                <a:ea typeface="Malgun Gothic" pitchFamily="34" charset="-122"/>
                <a:cs typeface="Malgun Gothic" pitchFamily="34" charset="-120"/>
              </a:rPr>
              <a:t> </a:t>
            </a:r>
            <a:r>
              <a:rPr lang="en-US" sz="1200" dirty="0" err="1">
                <a:solidFill>
                  <a:srgbClr val="6C7180"/>
                </a:solidFill>
                <a:latin typeface="Malgun Gothic" pitchFamily="34" charset="0"/>
                <a:ea typeface="Malgun Gothic" pitchFamily="34" charset="-122"/>
                <a:cs typeface="Malgun Gothic" pitchFamily="34" charset="-120"/>
              </a:rPr>
              <a:t>접두사</a:t>
            </a:r>
            <a:r>
              <a:rPr lang="ko-KR" altLang="en-US" sz="1200" dirty="0">
                <a:solidFill>
                  <a:srgbClr val="6C7180"/>
                </a:solidFill>
                <a:latin typeface="Malgun Gothic" pitchFamily="34" charset="0"/>
                <a:ea typeface="Malgun Gothic" pitchFamily="34" charset="-122"/>
                <a:cs typeface="Malgun Gothic" pitchFamily="34" charset="-120"/>
              </a:rPr>
              <a:t>를 기억하는 부담을 줄입니다</a:t>
            </a:r>
            <a:r>
              <a:rPr lang="en-US" sz="1200" dirty="0">
                <a:solidFill>
                  <a:srgbClr val="6C7180"/>
                </a:solidFill>
                <a:latin typeface="Malgun Gothic" pitchFamily="34" charset="0"/>
                <a:ea typeface="Malgun Gothic" pitchFamily="34" charset="-122"/>
                <a:cs typeface="Malgun Gothic" pitchFamily="34" charset="-120"/>
              </a:rPr>
              <a:t>.</a:t>
            </a:r>
            <a:endParaRPr lang="en-US" sz="1200" dirty="0"/>
          </a:p>
        </p:txBody>
      </p:sp>
      <p:sp>
        <p:nvSpPr>
          <p:cNvPr id="23" name="Text 21"/>
          <p:cNvSpPr/>
          <p:nvPr/>
        </p:nvSpPr>
        <p:spPr>
          <a:xfrm>
            <a:off x="4233672" y="5029200"/>
            <a:ext cx="3502152" cy="320040"/>
          </a:xfrm>
          <a:prstGeom prst="rect">
            <a:avLst/>
          </a:prstGeom>
          <a:noFill/>
          <a:ln/>
        </p:spPr>
        <p:txBody>
          <a:bodyPr wrap="square" lIns="0" tIns="0" rIns="0" bIns="0" rtlCol="0" anchor="ctr"/>
          <a:lstStyle/>
          <a:p>
            <a:pPr marL="0" indent="0">
              <a:buNone/>
            </a:pPr>
            <a:r>
              <a:rPr lang="en-US" sz="1300" b="1" dirty="0">
                <a:solidFill>
                  <a:srgbClr val="8A1C2B"/>
                </a:solidFill>
                <a:latin typeface="Consolas" pitchFamily="34" charset="0"/>
                <a:ea typeface="Consolas" pitchFamily="34" charset="-122"/>
                <a:cs typeface="Consolas" pitchFamily="34" charset="-120"/>
              </a:rPr>
              <a:t>작게 유지하는 Tier 1</a:t>
            </a:r>
            <a:endParaRPr lang="en-US" sz="1300" dirty="0"/>
          </a:p>
        </p:txBody>
      </p:sp>
      <p:sp>
        <p:nvSpPr>
          <p:cNvPr id="24" name="Text 22"/>
          <p:cNvSpPr/>
          <p:nvPr/>
        </p:nvSpPr>
        <p:spPr>
          <a:xfrm>
            <a:off x="4233672" y="5376672"/>
            <a:ext cx="3456432" cy="822960"/>
          </a:xfrm>
          <a:prstGeom prst="rect">
            <a:avLst/>
          </a:prstGeom>
          <a:noFill/>
          <a:ln/>
        </p:spPr>
        <p:txBody>
          <a:bodyPr wrap="square" lIns="0" tIns="0" rIns="0" bIns="0" rtlCol="0" anchor="t"/>
          <a:lstStyle/>
          <a:p>
            <a:pPr marL="0" indent="0">
              <a:lnSpc>
                <a:spcPct val="112000"/>
              </a:lnSpc>
              <a:buNone/>
            </a:pPr>
            <a:r>
              <a:rPr lang="en-US" sz="1200" dirty="0">
                <a:solidFill>
                  <a:srgbClr val="6C7180"/>
                </a:solidFill>
                <a:latin typeface="Malgun Gothic" pitchFamily="34" charset="0"/>
                <a:ea typeface="Malgun Gothic" pitchFamily="34" charset="-122"/>
                <a:cs typeface="Malgun Gothic" pitchFamily="34" charset="-120"/>
              </a:rPr>
              <a:t>README </a:t>
            </a:r>
            <a:r>
              <a:rPr lang="ko-KR" altLang="en-US" sz="1200" dirty="0">
                <a:solidFill>
                  <a:srgbClr val="6C7180"/>
                </a:solidFill>
                <a:latin typeface="Malgun Gothic" pitchFamily="34" charset="0"/>
                <a:ea typeface="Malgun Gothic" pitchFamily="34" charset="-122"/>
                <a:cs typeface="Malgun Gothic" pitchFamily="34" charset="-120"/>
              </a:rPr>
              <a:t>파일</a:t>
            </a:r>
            <a:r>
              <a:rPr lang="en-US" sz="1200" dirty="0">
                <a:solidFill>
                  <a:srgbClr val="6C7180"/>
                </a:solidFill>
                <a:latin typeface="Malgun Gothic" pitchFamily="34" charset="0"/>
                <a:ea typeface="Malgun Gothic" pitchFamily="34" charset="-122"/>
                <a:cs typeface="Malgun Gothic" pitchFamily="34" charset="-120"/>
              </a:rPr>
              <a:t> 한 화면에 </a:t>
            </a:r>
            <a:r>
              <a:rPr lang="en-US" sz="1200" dirty="0" err="1">
                <a:solidFill>
                  <a:srgbClr val="6C7180"/>
                </a:solidFill>
                <a:latin typeface="Malgun Gothic" pitchFamily="34" charset="0"/>
                <a:ea typeface="Malgun Gothic" pitchFamily="34" charset="-122"/>
                <a:cs typeface="Malgun Gothic" pitchFamily="34" charset="-120"/>
              </a:rPr>
              <a:t>들어오는</a:t>
            </a:r>
            <a:r>
              <a:rPr lang="en-US" sz="1200" dirty="0">
                <a:solidFill>
                  <a:srgbClr val="6C7180"/>
                </a:solidFill>
                <a:latin typeface="Malgun Gothic" pitchFamily="34" charset="0"/>
                <a:ea typeface="Malgun Gothic" pitchFamily="34" charset="-122"/>
                <a:cs typeface="Malgun Gothic" pitchFamily="34" charset="-120"/>
              </a:rPr>
              <a:t> </a:t>
            </a:r>
            <a:r>
              <a:rPr lang="en-US" sz="1200" dirty="0" err="1">
                <a:solidFill>
                  <a:srgbClr val="6C7180"/>
                </a:solidFill>
                <a:latin typeface="Malgun Gothic" pitchFamily="34" charset="0"/>
                <a:ea typeface="Malgun Gothic" pitchFamily="34" charset="-122"/>
                <a:cs typeface="Malgun Gothic" pitchFamily="34" charset="-120"/>
              </a:rPr>
              <a:t>크기</a:t>
            </a:r>
            <a:r>
              <a:rPr lang="ko-KR" altLang="en-US" sz="1200" dirty="0">
                <a:solidFill>
                  <a:srgbClr val="6C7180"/>
                </a:solidFill>
                <a:latin typeface="Malgun Gothic" pitchFamily="34" charset="0"/>
                <a:ea typeface="Malgun Gothic" pitchFamily="34" charset="-122"/>
                <a:cs typeface="Malgun Gothic" pitchFamily="34" charset="-120"/>
              </a:rPr>
              <a:t>의 코드를 유지하도록 </a:t>
            </a:r>
            <a:r>
              <a:rPr lang="ko-KR" altLang="en-US" sz="1200" dirty="0" err="1">
                <a:solidFill>
                  <a:srgbClr val="6C7180"/>
                </a:solidFill>
                <a:latin typeface="Malgun Gothic" pitchFamily="34" charset="0"/>
                <a:ea typeface="Malgun Gothic" pitchFamily="34" charset="-122"/>
                <a:cs typeface="Malgun Gothic" pitchFamily="34" charset="-120"/>
              </a:rPr>
              <a:t>돕습니다</a:t>
            </a:r>
            <a:r>
              <a:rPr lang="en-US" altLang="ko-KR" sz="1200" dirty="0">
                <a:solidFill>
                  <a:srgbClr val="6C7180"/>
                </a:solidFill>
                <a:latin typeface="Malgun Gothic" pitchFamily="34" charset="0"/>
                <a:ea typeface="Malgun Gothic" pitchFamily="34" charset="-122"/>
                <a:cs typeface="Malgun Gothic" pitchFamily="34" charset="-120"/>
              </a:rPr>
              <a:t>.</a:t>
            </a:r>
            <a:endParaRPr lang="en-US" sz="1200" dirty="0"/>
          </a:p>
        </p:txBody>
      </p:sp>
      <p:sp>
        <p:nvSpPr>
          <p:cNvPr id="25" name="Text 23"/>
          <p:cNvSpPr/>
          <p:nvPr/>
        </p:nvSpPr>
        <p:spPr>
          <a:xfrm>
            <a:off x="7918704" y="5029200"/>
            <a:ext cx="3502152" cy="320040"/>
          </a:xfrm>
          <a:prstGeom prst="rect">
            <a:avLst/>
          </a:prstGeom>
          <a:noFill/>
          <a:ln/>
        </p:spPr>
        <p:txBody>
          <a:bodyPr wrap="square" lIns="0" tIns="0" rIns="0" bIns="0" rtlCol="0" anchor="ctr"/>
          <a:lstStyle/>
          <a:p>
            <a:pPr marL="0" indent="0">
              <a:buNone/>
            </a:pPr>
            <a:r>
              <a:rPr lang="en-US" sz="1300" b="1" dirty="0">
                <a:solidFill>
                  <a:srgbClr val="8A1C2B"/>
                </a:solidFill>
                <a:latin typeface="Consolas" pitchFamily="34" charset="0"/>
                <a:ea typeface="Consolas" pitchFamily="34" charset="-122"/>
                <a:cs typeface="Consolas" pitchFamily="34" charset="-120"/>
              </a:rPr>
              <a:t>PascalCase는 유지</a:t>
            </a:r>
            <a:endParaRPr lang="en-US" sz="1300" dirty="0"/>
          </a:p>
        </p:txBody>
      </p:sp>
      <p:sp>
        <p:nvSpPr>
          <p:cNvPr id="26" name="Text 24"/>
          <p:cNvSpPr/>
          <p:nvPr/>
        </p:nvSpPr>
        <p:spPr>
          <a:xfrm>
            <a:off x="7918704" y="5376672"/>
            <a:ext cx="3456432" cy="822960"/>
          </a:xfrm>
          <a:prstGeom prst="rect">
            <a:avLst/>
          </a:prstGeom>
          <a:noFill/>
          <a:ln/>
        </p:spPr>
        <p:txBody>
          <a:bodyPr wrap="square" lIns="0" tIns="0" rIns="0" bIns="0" rtlCol="0" anchor="t"/>
          <a:lstStyle/>
          <a:p>
            <a:pPr marL="0" indent="0">
              <a:lnSpc>
                <a:spcPct val="112000"/>
              </a:lnSpc>
              <a:buNone/>
            </a:pPr>
            <a:r>
              <a:rPr lang="en-US" sz="1200" dirty="0">
                <a:solidFill>
                  <a:srgbClr val="6C7180"/>
                </a:solidFill>
                <a:latin typeface="Malgun Gothic" pitchFamily="34" charset="0"/>
                <a:ea typeface="Malgun Gothic" pitchFamily="34" charset="-122"/>
                <a:cs typeface="Malgun Gothic" pitchFamily="34" charset="-120"/>
              </a:rPr>
              <a:t>C#의 </a:t>
            </a:r>
            <a:r>
              <a:rPr lang="en-US" sz="1200" dirty="0" err="1">
                <a:solidFill>
                  <a:srgbClr val="6C7180"/>
                </a:solidFill>
                <a:latin typeface="Malgun Gothic" pitchFamily="34" charset="0"/>
                <a:ea typeface="Malgun Gothic" pitchFamily="34" charset="-122"/>
                <a:cs typeface="Malgun Gothic" pitchFamily="34" charset="-120"/>
              </a:rPr>
              <a:t>정체성을</a:t>
            </a:r>
            <a:r>
              <a:rPr lang="en-US" sz="1200" dirty="0">
                <a:solidFill>
                  <a:srgbClr val="6C7180"/>
                </a:solidFill>
                <a:latin typeface="Malgun Gothic" pitchFamily="34" charset="0"/>
                <a:ea typeface="Malgun Gothic" pitchFamily="34" charset="-122"/>
                <a:cs typeface="Malgun Gothic" pitchFamily="34" charset="-120"/>
              </a:rPr>
              <a:t> 지</a:t>
            </a:r>
            <a:r>
              <a:rPr lang="ko-KR" altLang="en-US" sz="1200" dirty="0">
                <a:solidFill>
                  <a:srgbClr val="6C7180"/>
                </a:solidFill>
                <a:latin typeface="Malgun Gothic" pitchFamily="34" charset="0"/>
                <a:ea typeface="Malgun Gothic" pitchFamily="34" charset="-122"/>
                <a:cs typeface="Malgun Gothic" pitchFamily="34" charset="-120"/>
              </a:rPr>
              <a:t>킵니다</a:t>
            </a:r>
            <a:r>
              <a:rPr lang="en-US" altLang="ko-KR" sz="1200" dirty="0">
                <a:solidFill>
                  <a:srgbClr val="6C7180"/>
                </a:solidFill>
                <a:latin typeface="Malgun Gothic" pitchFamily="34" charset="0"/>
                <a:ea typeface="Malgun Gothic" pitchFamily="34" charset="-122"/>
                <a:cs typeface="Malgun Gothic" pitchFamily="34" charset="-120"/>
              </a:rPr>
              <a:t>.</a:t>
            </a:r>
            <a:r>
              <a:rPr lang="en-US" sz="1200" dirty="0">
                <a:solidFill>
                  <a:srgbClr val="6C7180"/>
                </a:solidFill>
                <a:latin typeface="Malgun Gothic" pitchFamily="34" charset="0"/>
                <a:ea typeface="Malgun Gothic" pitchFamily="34" charset="-122"/>
                <a:cs typeface="Malgun Gothic" pitchFamily="34" charset="-120"/>
              </a:rPr>
              <a:t> </a:t>
            </a:r>
            <a:r>
              <a:rPr lang="ko-KR" altLang="en-US" sz="1200" dirty="0">
                <a:solidFill>
                  <a:srgbClr val="6C7180"/>
                </a:solidFill>
                <a:latin typeface="Malgun Gothic" pitchFamily="34" charset="0"/>
                <a:ea typeface="Malgun Gothic" pitchFamily="34" charset="-122"/>
                <a:cs typeface="Malgun Gothic" pitchFamily="34" charset="-120"/>
              </a:rPr>
              <a:t>생소한 </a:t>
            </a:r>
            <a:r>
              <a:rPr lang="en-US" sz="1200" dirty="0" err="1">
                <a:solidFill>
                  <a:srgbClr val="6C7180"/>
                </a:solidFill>
                <a:latin typeface="Malgun Gothic" pitchFamily="34" charset="0"/>
                <a:ea typeface="Malgun Gothic" pitchFamily="34" charset="-122"/>
                <a:cs typeface="Malgun Gothic" pitchFamily="34" charset="-120"/>
              </a:rPr>
              <a:t>스크립트</a:t>
            </a:r>
            <a:r>
              <a:rPr lang="en-US" sz="1200" dirty="0">
                <a:solidFill>
                  <a:srgbClr val="6C7180"/>
                </a:solidFill>
                <a:latin typeface="Malgun Gothic" pitchFamily="34" charset="0"/>
                <a:ea typeface="Malgun Gothic" pitchFamily="34" charset="-122"/>
                <a:cs typeface="Malgun Gothic" pitchFamily="34" charset="-120"/>
              </a:rPr>
              <a:t> 언어처럼 보이게 </a:t>
            </a:r>
            <a:r>
              <a:rPr lang="en-US" sz="1200" dirty="0" err="1">
                <a:solidFill>
                  <a:srgbClr val="6C7180"/>
                </a:solidFill>
                <a:latin typeface="Malgun Gothic" pitchFamily="34" charset="0"/>
                <a:ea typeface="Malgun Gothic" pitchFamily="34" charset="-122"/>
                <a:cs typeface="Malgun Gothic" pitchFamily="34" charset="-120"/>
              </a:rPr>
              <a:t>하지</a:t>
            </a:r>
            <a:r>
              <a:rPr lang="en-US" sz="1200" dirty="0">
                <a:solidFill>
                  <a:srgbClr val="6C7180"/>
                </a:solidFill>
                <a:latin typeface="Malgun Gothic" pitchFamily="34" charset="0"/>
                <a:ea typeface="Malgun Gothic" pitchFamily="34" charset="-122"/>
                <a:cs typeface="Malgun Gothic" pitchFamily="34" charset="-120"/>
              </a:rPr>
              <a:t> 않</a:t>
            </a:r>
            <a:r>
              <a:rPr lang="ko-KR" altLang="en-US" sz="1200" dirty="0">
                <a:solidFill>
                  <a:srgbClr val="6C7180"/>
                </a:solidFill>
                <a:latin typeface="Malgun Gothic" pitchFamily="34" charset="0"/>
                <a:ea typeface="Malgun Gothic" pitchFamily="34" charset="-122"/>
                <a:cs typeface="Malgun Gothic" pitchFamily="34" charset="-120"/>
              </a:rPr>
              <a:t>습니다</a:t>
            </a:r>
            <a:r>
              <a:rPr lang="en-US" altLang="ko-KR" sz="1200" dirty="0">
                <a:solidFill>
                  <a:srgbClr val="6C7180"/>
                </a:solidFill>
                <a:latin typeface="Malgun Gothic" pitchFamily="34" charset="0"/>
                <a:ea typeface="Malgun Gothic" pitchFamily="34" charset="-122"/>
                <a:cs typeface="Malgun Gothic" pitchFamily="34" charset="-120"/>
              </a:rPr>
              <a:t>.</a:t>
            </a:r>
            <a:endParaRPr lang="en-US" sz="1200" dirty="0"/>
          </a:p>
        </p:txBody>
      </p:sp>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5  ·  CADENZA</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Run 하나가 네 무대를 연주한다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13</a:t>
            </a:r>
            <a:endParaRPr lang="en-US" sz="900" dirty="0"/>
          </a:p>
        </p:txBody>
      </p:sp>
      <p:sp>
        <p:nvSpPr>
          <p:cNvPr id="13" name="Shape 11"/>
          <p:cNvSpPr/>
          <p:nvPr/>
        </p:nvSpPr>
        <p:spPr>
          <a:xfrm>
            <a:off x="548640" y="2057400"/>
            <a:ext cx="11064240" cy="0"/>
          </a:xfrm>
          <a:prstGeom prst="line">
            <a:avLst/>
          </a:prstGeom>
          <a:noFill/>
          <a:ln w="9525">
            <a:solidFill>
              <a:srgbClr val="D8D1BE"/>
            </a:solidFill>
            <a:prstDash val="solid"/>
          </a:ln>
        </p:spPr>
        <p:txBody>
          <a:bodyPr/>
          <a:lstStyle/>
          <a:p>
            <a:endParaRPr lang="ko-KR" altLang="en-US"/>
          </a:p>
        </p:txBody>
      </p:sp>
      <p:sp>
        <p:nvSpPr>
          <p:cNvPr id="14" name="Text 12"/>
          <p:cNvSpPr/>
          <p:nvPr/>
        </p:nvSpPr>
        <p:spPr>
          <a:xfrm>
            <a:off x="658368" y="2057400"/>
            <a:ext cx="3438144" cy="640080"/>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a:t>
            </a:r>
            <a:endParaRPr lang="en-US" sz="1500" dirty="0"/>
          </a:p>
        </p:txBody>
      </p:sp>
      <p:sp>
        <p:nvSpPr>
          <p:cNvPr id="15" name="Text 13"/>
          <p:cNvSpPr/>
          <p:nvPr/>
        </p:nvSpPr>
        <p:spPr>
          <a:xfrm>
            <a:off x="4315968" y="2057400"/>
            <a:ext cx="7187184" cy="640080"/>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Run → 셸 명령 실행</a:t>
            </a:r>
            <a:endParaRPr lang="en-US" sz="1500" dirty="0"/>
          </a:p>
        </p:txBody>
      </p:sp>
      <p:sp>
        <p:nvSpPr>
          <p:cNvPr id="16" name="Shape 14"/>
          <p:cNvSpPr/>
          <p:nvPr/>
        </p:nvSpPr>
        <p:spPr>
          <a:xfrm>
            <a:off x="548640" y="2697480"/>
            <a:ext cx="11064240" cy="0"/>
          </a:xfrm>
          <a:prstGeom prst="line">
            <a:avLst/>
          </a:prstGeom>
          <a:noFill/>
          <a:ln w="9525">
            <a:solidFill>
              <a:srgbClr val="D8D1BE"/>
            </a:solidFill>
            <a:prstDash val="solid"/>
          </a:ln>
        </p:spPr>
        <p:txBody>
          <a:bodyPr/>
          <a:lstStyle/>
          <a:p>
            <a:endParaRPr lang="ko-KR" altLang="en-US"/>
          </a:p>
        </p:txBody>
      </p:sp>
      <p:sp>
        <p:nvSpPr>
          <p:cNvPr id="17" name="Text 15"/>
          <p:cNvSpPr/>
          <p:nvPr/>
        </p:nvSpPr>
        <p:spPr>
          <a:xfrm>
            <a:off x="658368" y="2697480"/>
            <a:ext cx="3438144" cy="640080"/>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Cadenza.Worker</a:t>
            </a:r>
            <a:endParaRPr lang="en-US" sz="1500" dirty="0"/>
          </a:p>
        </p:txBody>
      </p:sp>
      <p:sp>
        <p:nvSpPr>
          <p:cNvPr id="18" name="Text 16"/>
          <p:cNvSpPr/>
          <p:nvPr/>
        </p:nvSpPr>
        <p:spPr>
          <a:xfrm>
            <a:off x="4315968" y="2697480"/>
            <a:ext cx="7187184" cy="640080"/>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Run → 백그라운드 호스트 시작</a:t>
            </a:r>
            <a:endParaRPr lang="en-US" sz="1500" dirty="0"/>
          </a:p>
        </p:txBody>
      </p:sp>
      <p:sp>
        <p:nvSpPr>
          <p:cNvPr id="19" name="Shape 17"/>
          <p:cNvSpPr/>
          <p:nvPr/>
        </p:nvSpPr>
        <p:spPr>
          <a:xfrm>
            <a:off x="548640" y="3337560"/>
            <a:ext cx="11064240" cy="0"/>
          </a:xfrm>
          <a:prstGeom prst="line">
            <a:avLst/>
          </a:prstGeom>
          <a:noFill/>
          <a:ln w="9525">
            <a:solidFill>
              <a:srgbClr val="D8D1BE"/>
            </a:solidFill>
            <a:prstDash val="solid"/>
          </a:ln>
        </p:spPr>
        <p:txBody>
          <a:bodyPr/>
          <a:lstStyle/>
          <a:p>
            <a:endParaRPr lang="ko-KR" altLang="en-US"/>
          </a:p>
        </p:txBody>
      </p:sp>
      <p:sp>
        <p:nvSpPr>
          <p:cNvPr id="20" name="Text 18"/>
          <p:cNvSpPr/>
          <p:nvPr/>
        </p:nvSpPr>
        <p:spPr>
          <a:xfrm>
            <a:off x="658368" y="3337560"/>
            <a:ext cx="3438144" cy="640080"/>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Cadenza.Web</a:t>
            </a:r>
            <a:endParaRPr lang="en-US" sz="1500" dirty="0"/>
          </a:p>
        </p:txBody>
      </p:sp>
      <p:sp>
        <p:nvSpPr>
          <p:cNvPr id="21" name="Text 19"/>
          <p:cNvSpPr/>
          <p:nvPr/>
        </p:nvSpPr>
        <p:spPr>
          <a:xfrm>
            <a:off x="4315968" y="3337560"/>
            <a:ext cx="7187184" cy="640080"/>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Run → 웹 서버 시작</a:t>
            </a:r>
            <a:endParaRPr lang="en-US" sz="1500" dirty="0"/>
          </a:p>
        </p:txBody>
      </p:sp>
      <p:sp>
        <p:nvSpPr>
          <p:cNvPr id="22" name="Shape 20"/>
          <p:cNvSpPr/>
          <p:nvPr/>
        </p:nvSpPr>
        <p:spPr>
          <a:xfrm>
            <a:off x="548640" y="3977640"/>
            <a:ext cx="11064240" cy="0"/>
          </a:xfrm>
          <a:prstGeom prst="line">
            <a:avLst/>
          </a:prstGeom>
          <a:noFill/>
          <a:ln w="9525">
            <a:solidFill>
              <a:srgbClr val="D8D1BE"/>
            </a:solidFill>
            <a:prstDash val="solid"/>
          </a:ln>
        </p:spPr>
        <p:txBody>
          <a:bodyPr/>
          <a:lstStyle/>
          <a:p>
            <a:endParaRPr lang="ko-KR" altLang="en-US"/>
          </a:p>
        </p:txBody>
      </p:sp>
      <p:sp>
        <p:nvSpPr>
          <p:cNvPr id="23" name="Text 21"/>
          <p:cNvSpPr/>
          <p:nvPr/>
        </p:nvSpPr>
        <p:spPr>
          <a:xfrm>
            <a:off x="658368" y="3977640"/>
            <a:ext cx="3438144" cy="640080"/>
          </a:xfrm>
          <a:prstGeom prst="rect">
            <a:avLst/>
          </a:prstGeom>
          <a:noFill/>
          <a:ln/>
        </p:spPr>
        <p:txBody>
          <a:bodyPr wrap="square" lIns="0" tIns="0" rIns="0" bIns="0" rtlCol="0" anchor="ctr"/>
          <a:lstStyle/>
          <a:p>
            <a:pPr marL="0" indent="0" algn="l">
              <a:buNone/>
            </a:pPr>
            <a:r>
              <a:rPr lang="en-US" sz="1500" b="1" dirty="0">
                <a:solidFill>
                  <a:srgbClr val="1F2330"/>
                </a:solidFill>
                <a:latin typeface="Consolas" pitchFamily="34" charset="0"/>
                <a:ea typeface="Consolas" pitchFamily="34" charset="-122"/>
                <a:cs typeface="Consolas" pitchFamily="34" charset="-120"/>
              </a:rPr>
              <a:t>Cadenza.Mcp</a:t>
            </a:r>
            <a:endParaRPr lang="en-US" sz="1500" dirty="0"/>
          </a:p>
        </p:txBody>
      </p:sp>
      <p:sp>
        <p:nvSpPr>
          <p:cNvPr id="24" name="Text 22"/>
          <p:cNvSpPr/>
          <p:nvPr/>
        </p:nvSpPr>
        <p:spPr>
          <a:xfrm>
            <a:off x="4315968" y="3977640"/>
            <a:ext cx="7187184" cy="640080"/>
          </a:xfrm>
          <a:prstGeom prst="rect">
            <a:avLst/>
          </a:prstGeom>
          <a:noFill/>
          <a:ln/>
        </p:spPr>
        <p:txBody>
          <a:bodyPr wrap="square" lIns="0" tIns="0" rIns="0" bIns="0" rtlCol="0" anchor="ctr"/>
          <a:lstStyle/>
          <a:p>
            <a:pPr marL="0" indent="0" algn="l">
              <a:buNone/>
            </a:pPr>
            <a:r>
              <a:rPr lang="en-US" sz="1500" dirty="0">
                <a:solidFill>
                  <a:srgbClr val="6C7180"/>
                </a:solidFill>
                <a:latin typeface="Malgun Gothic" pitchFamily="34" charset="0"/>
                <a:ea typeface="Malgun Gothic" pitchFamily="34" charset="-122"/>
                <a:cs typeface="Malgun Gothic" pitchFamily="34" charset="-120"/>
              </a:rPr>
              <a:t>Run → MCP 서버 시작</a:t>
            </a:r>
            <a:endParaRPr lang="en-US" sz="1500" dirty="0"/>
          </a:p>
        </p:txBody>
      </p:sp>
      <p:sp>
        <p:nvSpPr>
          <p:cNvPr id="25" name="Shape 23"/>
          <p:cNvSpPr/>
          <p:nvPr/>
        </p:nvSpPr>
        <p:spPr>
          <a:xfrm>
            <a:off x="548640" y="4617720"/>
            <a:ext cx="11064240" cy="0"/>
          </a:xfrm>
          <a:prstGeom prst="line">
            <a:avLst/>
          </a:prstGeom>
          <a:noFill/>
          <a:ln w="9525">
            <a:solidFill>
              <a:srgbClr val="D8D1BE"/>
            </a:solidFill>
            <a:prstDash val="solid"/>
          </a:ln>
        </p:spPr>
        <p:txBody>
          <a:bodyPr/>
          <a:lstStyle/>
          <a:p>
            <a:endParaRPr lang="ko-KR" altLang="en-US"/>
          </a:p>
        </p:txBody>
      </p:sp>
      <p:sp>
        <p:nvSpPr>
          <p:cNvPr id="26" name="Text 24"/>
          <p:cNvSpPr/>
          <p:nvPr/>
        </p:nvSpPr>
        <p:spPr>
          <a:xfrm>
            <a:off x="548640" y="4983480"/>
            <a:ext cx="11064240" cy="914400"/>
          </a:xfrm>
          <a:prstGeom prst="rect">
            <a:avLst/>
          </a:prstGeom>
          <a:noFill/>
          <a:ln/>
        </p:spPr>
        <p:txBody>
          <a:bodyPr wrap="square" lIns="0" tIns="0" rIns="0" bIns="0" rtlCol="0" anchor="t"/>
          <a:lstStyle/>
          <a:p>
            <a:pPr marL="0" indent="0" algn="l">
              <a:lnSpc>
                <a:spcPct val="125000"/>
              </a:lnSpc>
              <a:buNone/>
            </a:pPr>
            <a:r>
              <a:rPr lang="en-US" sz="1450" dirty="0">
                <a:solidFill>
                  <a:srgbClr val="1F2330"/>
                </a:solidFill>
                <a:latin typeface="Malgun Gothic" pitchFamily="34" charset="0"/>
                <a:ea typeface="Malgun Gothic" pitchFamily="34" charset="-122"/>
                <a:cs typeface="Malgun Gothic" pitchFamily="34" charset="-120"/>
              </a:rPr>
              <a:t>같은 단어, 무대마다 다른 연주. 혼란스럽지 </a:t>
            </a:r>
            <a:r>
              <a:rPr lang="en-US" sz="1450" dirty="0" err="1">
                <a:solidFill>
                  <a:srgbClr val="1F2330"/>
                </a:solidFill>
                <a:latin typeface="Malgun Gothic" pitchFamily="34" charset="0"/>
                <a:ea typeface="Malgun Gothic" pitchFamily="34" charset="-122"/>
                <a:cs typeface="Malgun Gothic" pitchFamily="34" charset="-120"/>
              </a:rPr>
              <a:t>않은</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이유</a:t>
            </a:r>
            <a:r>
              <a:rPr lang="en-US" sz="1450" dirty="0">
                <a:solidFill>
                  <a:srgbClr val="1F2330"/>
                </a:solidFill>
                <a:latin typeface="Malgun Gothic" pitchFamily="34" charset="0"/>
                <a:ea typeface="Malgun Gothic" pitchFamily="34" charset="-122"/>
                <a:cs typeface="Malgun Gothic" pitchFamily="34" charset="-120"/>
              </a:rPr>
              <a:t>: #:sdk 선언이 항상 파일 첫 줄에 있어 Run의 </a:t>
            </a:r>
            <a:r>
              <a:rPr lang="en-US" sz="1450" dirty="0" err="1">
                <a:solidFill>
                  <a:srgbClr val="1F2330"/>
                </a:solidFill>
                <a:latin typeface="Malgun Gothic" pitchFamily="34" charset="0"/>
                <a:ea typeface="Malgun Gothic" pitchFamily="34" charset="-122"/>
                <a:cs typeface="Malgun Gothic" pitchFamily="34" charset="-120"/>
              </a:rPr>
              <a:t>의미를</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결정</a:t>
            </a:r>
            <a:r>
              <a:rPr lang="ko-KR" altLang="en-US" sz="1450" dirty="0" err="1">
                <a:solidFill>
                  <a:srgbClr val="1F2330"/>
                </a:solidFill>
                <a:latin typeface="Malgun Gothic" pitchFamily="34" charset="0"/>
                <a:ea typeface="Malgun Gothic" pitchFamily="34" charset="-122"/>
                <a:cs typeface="Malgun Gothic" pitchFamily="34" charset="-120"/>
              </a:rPr>
              <a:t>합니</a:t>
            </a:r>
            <a:r>
              <a:rPr lang="en-US" sz="1450" dirty="0">
                <a:solidFill>
                  <a:srgbClr val="1F2330"/>
                </a:solidFill>
                <a:latin typeface="Malgun Gothic" pitchFamily="34" charset="0"/>
                <a:ea typeface="Malgun Gothic" pitchFamily="34" charset="-122"/>
                <a:cs typeface="Malgun Gothic" pitchFamily="34" charset="-120"/>
              </a:rPr>
              <a:t>다. </a:t>
            </a:r>
            <a:r>
              <a:rPr lang="en-US" sz="1450" dirty="0" err="1">
                <a:solidFill>
                  <a:srgbClr val="1F2330"/>
                </a:solidFill>
                <a:latin typeface="Malgun Gothic" pitchFamily="34" charset="0"/>
                <a:ea typeface="Malgun Gothic" pitchFamily="34" charset="-122"/>
                <a:cs typeface="Malgun Gothic" pitchFamily="34" charset="-120"/>
              </a:rPr>
              <a:t>파이썬의</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sheban처럼</a:t>
            </a:r>
            <a:r>
              <a:rPr lang="en-US" sz="1450" dirty="0">
                <a:solidFill>
                  <a:srgbClr val="1F2330"/>
                </a:solidFill>
                <a:latin typeface="Malgun Gothic" pitchFamily="34" charset="0"/>
                <a:ea typeface="Malgun Gothic" pitchFamily="34" charset="-122"/>
                <a:cs typeface="Malgun Gothic" pitchFamily="34" charset="-120"/>
              </a:rPr>
              <a:t>, 한 파일 안에서 Run의 의미는 </a:t>
            </a:r>
            <a:r>
              <a:rPr lang="en-US" sz="1450" dirty="0" err="1">
                <a:solidFill>
                  <a:srgbClr val="1F2330"/>
                </a:solidFill>
                <a:latin typeface="Malgun Gothic" pitchFamily="34" charset="0"/>
                <a:ea typeface="Malgun Gothic" pitchFamily="34" charset="-122"/>
                <a:cs typeface="Malgun Gothic" pitchFamily="34" charset="-120"/>
              </a:rPr>
              <a:t>언제나</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하나</a:t>
            </a:r>
            <a:r>
              <a:rPr lang="ko-KR" altLang="en-US" sz="1450" dirty="0">
                <a:solidFill>
                  <a:srgbClr val="1F2330"/>
                </a:solidFill>
                <a:latin typeface="Malgun Gothic" pitchFamily="34" charset="0"/>
                <a:ea typeface="Malgun Gothic" pitchFamily="34" charset="-122"/>
                <a:cs typeface="Malgun Gothic" pitchFamily="34" charset="-120"/>
              </a:rPr>
              <a:t>입니다</a:t>
            </a:r>
            <a:r>
              <a:rPr lang="en-US" sz="1450" dirty="0">
                <a:solidFill>
                  <a:srgbClr val="1F2330"/>
                </a:solidFill>
                <a:latin typeface="Malgun Gothic" pitchFamily="34" charset="0"/>
                <a:ea typeface="Malgun Gothic" pitchFamily="34" charset="-122"/>
                <a:cs typeface="Malgun Gothic" pitchFamily="34" charset="-120"/>
              </a:rPr>
              <a:t>.</a:t>
            </a:r>
            <a:endParaRPr lang="en-US" sz="1450" dirty="0"/>
          </a:p>
        </p:txBody>
      </p:sp>
    </p:spTree>
  </p:cSld>
  <p:clrMapOvr>
    <a:masterClrMapping/>
  </p:clrMapOvr>
  <p:transition spd="med">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A23"/>
        </a:solidFill>
        <a:effectLst/>
      </p:bgPr>
    </p:bg>
    <p:spTree>
      <p:nvGrpSpPr>
        <p:cNvPr id="1" name=""/>
        <p:cNvGrpSpPr/>
        <p:nvPr/>
      </p:nvGrpSpPr>
      <p:grpSpPr>
        <a:xfrm>
          <a:off x="0" y="0"/>
          <a:ext cx="0" cy="0"/>
          <a:chOff x="0" y="0"/>
          <a:chExt cx="0" cy="0"/>
        </a:xfrm>
      </p:grpSpPr>
      <p:sp>
        <p:nvSpPr>
          <p:cNvPr id="2" name="Shape 0"/>
          <p:cNvSpPr/>
          <p:nvPr/>
        </p:nvSpPr>
        <p:spPr>
          <a:xfrm>
            <a:off x="822960" y="1463040"/>
            <a:ext cx="10545775" cy="0"/>
          </a:xfrm>
          <a:prstGeom prst="line">
            <a:avLst/>
          </a:prstGeom>
          <a:noFill/>
          <a:ln w="9525">
            <a:solidFill>
              <a:srgbClr val="30343F"/>
            </a:solidFill>
            <a:prstDash val="solid"/>
          </a:ln>
        </p:spPr>
        <p:txBody>
          <a:bodyPr/>
          <a:lstStyle/>
          <a:p>
            <a:endParaRPr lang="ko-KR" altLang="en-US"/>
          </a:p>
        </p:txBody>
      </p:sp>
      <p:sp>
        <p:nvSpPr>
          <p:cNvPr id="3" name="Shape 1"/>
          <p:cNvSpPr/>
          <p:nvPr/>
        </p:nvSpPr>
        <p:spPr>
          <a:xfrm>
            <a:off x="822960" y="1609344"/>
            <a:ext cx="10545775" cy="0"/>
          </a:xfrm>
          <a:prstGeom prst="line">
            <a:avLst/>
          </a:prstGeom>
          <a:noFill/>
          <a:ln w="9525">
            <a:solidFill>
              <a:srgbClr val="30343F"/>
            </a:solidFill>
            <a:prstDash val="solid"/>
          </a:ln>
        </p:spPr>
        <p:txBody>
          <a:bodyPr/>
          <a:lstStyle/>
          <a:p>
            <a:endParaRPr lang="ko-KR" altLang="en-US"/>
          </a:p>
        </p:txBody>
      </p:sp>
      <p:sp>
        <p:nvSpPr>
          <p:cNvPr id="4" name="Shape 2"/>
          <p:cNvSpPr/>
          <p:nvPr/>
        </p:nvSpPr>
        <p:spPr>
          <a:xfrm>
            <a:off x="822960" y="1755648"/>
            <a:ext cx="10545775" cy="0"/>
          </a:xfrm>
          <a:prstGeom prst="line">
            <a:avLst/>
          </a:prstGeom>
          <a:noFill/>
          <a:ln w="9525">
            <a:solidFill>
              <a:srgbClr val="30343F"/>
            </a:solidFill>
            <a:prstDash val="solid"/>
          </a:ln>
        </p:spPr>
        <p:txBody>
          <a:bodyPr/>
          <a:lstStyle/>
          <a:p>
            <a:endParaRPr lang="ko-KR" altLang="en-US"/>
          </a:p>
        </p:txBody>
      </p:sp>
      <p:sp>
        <p:nvSpPr>
          <p:cNvPr id="5" name="Shape 3"/>
          <p:cNvSpPr/>
          <p:nvPr/>
        </p:nvSpPr>
        <p:spPr>
          <a:xfrm>
            <a:off x="822960" y="1901952"/>
            <a:ext cx="10545775" cy="0"/>
          </a:xfrm>
          <a:prstGeom prst="line">
            <a:avLst/>
          </a:prstGeom>
          <a:noFill/>
          <a:ln w="9525">
            <a:solidFill>
              <a:srgbClr val="30343F"/>
            </a:solidFill>
            <a:prstDash val="solid"/>
          </a:ln>
        </p:spPr>
        <p:txBody>
          <a:bodyPr/>
          <a:lstStyle/>
          <a:p>
            <a:endParaRPr lang="ko-KR" altLang="en-US"/>
          </a:p>
        </p:txBody>
      </p:sp>
      <p:sp>
        <p:nvSpPr>
          <p:cNvPr id="6" name="Shape 4"/>
          <p:cNvSpPr/>
          <p:nvPr/>
        </p:nvSpPr>
        <p:spPr>
          <a:xfrm>
            <a:off x="822960" y="2048256"/>
            <a:ext cx="10545775" cy="0"/>
          </a:xfrm>
          <a:prstGeom prst="line">
            <a:avLst/>
          </a:prstGeom>
          <a:noFill/>
          <a:ln w="9525">
            <a:solidFill>
              <a:srgbClr val="30343F"/>
            </a:solidFill>
            <a:prstDash val="solid"/>
          </a:ln>
        </p:spPr>
        <p:txBody>
          <a:bodyPr/>
          <a:lstStyle/>
          <a:p>
            <a:endParaRPr lang="ko-KR" altLang="en-US"/>
          </a:p>
        </p:txBody>
      </p:sp>
      <p:sp>
        <p:nvSpPr>
          <p:cNvPr id="7" name="Text 5"/>
          <p:cNvSpPr/>
          <p:nvPr/>
        </p:nvSpPr>
        <p:spPr>
          <a:xfrm>
            <a:off x="822960" y="822960"/>
            <a:ext cx="7315200" cy="365760"/>
          </a:xfrm>
          <a:prstGeom prst="rect">
            <a:avLst/>
          </a:prstGeom>
          <a:noFill/>
          <a:ln/>
        </p:spPr>
        <p:txBody>
          <a:bodyPr wrap="square" lIns="0" tIns="0" rIns="0" bIns="0" rtlCol="0" anchor="ctr"/>
          <a:lstStyle/>
          <a:p>
            <a:pPr marL="0" indent="0">
              <a:buNone/>
            </a:pPr>
            <a:r>
              <a:rPr lang="en-US" sz="1300" b="1" kern="0" spc="300" dirty="0">
                <a:solidFill>
                  <a:srgbClr val="A9823F"/>
                </a:solidFill>
                <a:latin typeface="Malgun Gothic" pitchFamily="34" charset="0"/>
                <a:ea typeface="Malgun Gothic" pitchFamily="34" charset="-122"/>
                <a:cs typeface="Malgun Gothic" pitchFamily="34" charset="-120"/>
              </a:rPr>
              <a:t>6  ·  라이브 데모</a:t>
            </a:r>
            <a:endParaRPr lang="en-US" sz="1300" dirty="0"/>
          </a:p>
        </p:txBody>
      </p:sp>
      <p:sp>
        <p:nvSpPr>
          <p:cNvPr id="8" name="Text 6"/>
          <p:cNvSpPr/>
          <p:nvPr/>
        </p:nvSpPr>
        <p:spPr>
          <a:xfrm>
            <a:off x="731520" y="2468880"/>
            <a:ext cx="10698480" cy="1097280"/>
          </a:xfrm>
          <a:prstGeom prst="rect">
            <a:avLst/>
          </a:prstGeom>
          <a:noFill/>
          <a:ln/>
        </p:spPr>
        <p:txBody>
          <a:bodyPr wrap="square" lIns="0" tIns="0" rIns="0" bIns="0" rtlCol="0" anchor="ctr"/>
          <a:lstStyle/>
          <a:p>
            <a:pPr marL="0" indent="0" algn="ctr">
              <a:buNone/>
            </a:pPr>
            <a:r>
              <a:rPr lang="en-US" sz="5200" b="1" dirty="0">
                <a:solidFill>
                  <a:srgbClr val="ECE7D8"/>
                </a:solidFill>
                <a:latin typeface="Batang" pitchFamily="34" charset="0"/>
                <a:ea typeface="Batang" pitchFamily="34" charset="-122"/>
                <a:cs typeface="Batang" pitchFamily="34" charset="-120"/>
              </a:rPr>
              <a:t>파일 하나로 즉흥 연주</a:t>
            </a:r>
            <a:endParaRPr lang="en-US" sz="5200" dirty="0"/>
          </a:p>
        </p:txBody>
      </p:sp>
      <p:sp>
        <p:nvSpPr>
          <p:cNvPr id="9" name="Text 7"/>
          <p:cNvSpPr/>
          <p:nvPr/>
        </p:nvSpPr>
        <p:spPr>
          <a:xfrm>
            <a:off x="731520" y="3749040"/>
            <a:ext cx="10698480" cy="548640"/>
          </a:xfrm>
          <a:prstGeom prst="rect">
            <a:avLst/>
          </a:prstGeom>
          <a:noFill/>
          <a:ln/>
        </p:spPr>
        <p:txBody>
          <a:bodyPr wrap="square" lIns="0" tIns="0" rIns="0" bIns="0" rtlCol="0" anchor="ctr"/>
          <a:lstStyle/>
          <a:p>
            <a:pPr marL="0" indent="0" algn="ctr">
              <a:buNone/>
            </a:pPr>
            <a:r>
              <a:rPr lang="en-US" sz="2000" kern="0" spc="100" dirty="0">
                <a:solidFill>
                  <a:srgbClr val="A9823F"/>
                </a:solidFill>
                <a:latin typeface="Consolas" pitchFamily="34" charset="0"/>
                <a:ea typeface="Consolas" pitchFamily="34" charset="-122"/>
                <a:cs typeface="Consolas" pitchFamily="34" charset="-120"/>
              </a:rPr>
              <a:t>콘솔  →  웹  →  워커  →  MCP 서버</a:t>
            </a:r>
            <a:endParaRPr lang="en-US" sz="2000" dirty="0"/>
          </a:p>
        </p:txBody>
      </p:sp>
      <p:sp>
        <p:nvSpPr>
          <p:cNvPr id="10" name="Text 8"/>
          <p:cNvSpPr/>
          <p:nvPr/>
        </p:nvSpPr>
        <p:spPr>
          <a:xfrm>
            <a:off x="731520" y="4572000"/>
            <a:ext cx="10698480" cy="457200"/>
          </a:xfrm>
          <a:prstGeom prst="rect">
            <a:avLst/>
          </a:prstGeom>
          <a:noFill/>
          <a:ln/>
        </p:spPr>
        <p:txBody>
          <a:bodyPr wrap="square" lIns="0" tIns="0" rIns="0" bIns="0" rtlCol="0" anchor="ctr"/>
          <a:lstStyle/>
          <a:p>
            <a:pPr marL="0" indent="0" algn="ctr">
              <a:buNone/>
            </a:pPr>
            <a:r>
              <a:rPr lang="en-US" sz="1500" i="1" dirty="0">
                <a:solidFill>
                  <a:srgbClr val="9AA0AD"/>
                </a:solidFill>
                <a:latin typeface="Malgun Gothic" pitchFamily="34" charset="0"/>
                <a:ea typeface="Malgun Gothic" pitchFamily="34" charset="-122"/>
                <a:cs typeface="Malgun Gothic" pitchFamily="34" charset="-120"/>
              </a:rPr>
              <a:t>매번 “첫 줄을 보세요.”  —  #:sdk 한 줄이 </a:t>
            </a:r>
            <a:r>
              <a:rPr lang="en-US" sz="1500" i="1" dirty="0" err="1">
                <a:solidFill>
                  <a:srgbClr val="9AA0AD"/>
                </a:solidFill>
                <a:latin typeface="Malgun Gothic" pitchFamily="34" charset="0"/>
                <a:ea typeface="Malgun Gothic" pitchFamily="34" charset="-122"/>
                <a:cs typeface="Malgun Gothic" pitchFamily="34" charset="-120"/>
              </a:rPr>
              <a:t>무대를</a:t>
            </a:r>
            <a:r>
              <a:rPr lang="en-US" sz="1500" i="1" dirty="0">
                <a:solidFill>
                  <a:srgbClr val="9AA0AD"/>
                </a:solidFill>
                <a:latin typeface="Malgun Gothic" pitchFamily="34" charset="0"/>
                <a:ea typeface="Malgun Gothic" pitchFamily="34" charset="-122"/>
                <a:cs typeface="Malgun Gothic" pitchFamily="34" charset="-120"/>
              </a:rPr>
              <a:t> 바</a:t>
            </a:r>
            <a:r>
              <a:rPr lang="ko-KR" altLang="en-US" sz="1500" i="1" dirty="0" err="1">
                <a:solidFill>
                  <a:srgbClr val="9AA0AD"/>
                </a:solidFill>
                <a:latin typeface="Malgun Gothic" pitchFamily="34" charset="0"/>
                <a:ea typeface="Malgun Gothic" pitchFamily="34" charset="-122"/>
                <a:cs typeface="Malgun Gothic" pitchFamily="34" charset="-120"/>
              </a:rPr>
              <a:t>꿉니</a:t>
            </a:r>
            <a:r>
              <a:rPr lang="en-US" sz="1500" i="1" dirty="0">
                <a:solidFill>
                  <a:srgbClr val="9AA0AD"/>
                </a:solidFill>
                <a:latin typeface="Malgun Gothic" pitchFamily="34" charset="0"/>
                <a:ea typeface="Malgun Gothic" pitchFamily="34" charset="-122"/>
                <a:cs typeface="Malgun Gothic" pitchFamily="34" charset="-120"/>
              </a:rPr>
              <a:t>다.</a:t>
            </a:r>
            <a:endParaRPr lang="en-US" sz="15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9AA0AD"/>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9AA0AD"/>
                </a:solidFill>
                <a:latin typeface="Consolas" pitchFamily="34" charset="0"/>
                <a:ea typeface="Consolas" pitchFamily="34" charset="-122"/>
                <a:cs typeface="Consolas" pitchFamily="34" charset="-120"/>
              </a:rPr>
              <a:t>14</a:t>
            </a:r>
            <a:endParaRPr lang="en-US" sz="900" dirty="0"/>
          </a:p>
        </p:txBody>
      </p:sp>
    </p:spTree>
  </p:cSld>
  <p:clrMapOvr>
    <a:masterClrMapping/>
  </p:clrMapOvr>
  <p:transition spd="med">
    <p:wip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데모 1  ·  CONSOLE</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콘솔 — 폴더에게 묻다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15</a:t>
            </a:r>
            <a:endParaRPr lang="en-US" sz="900" dirty="0"/>
          </a:p>
        </p:txBody>
      </p:sp>
      <p:sp>
        <p:nvSpPr>
          <p:cNvPr id="13" name="Shape 11"/>
          <p:cNvSpPr/>
          <p:nvPr/>
        </p:nvSpPr>
        <p:spPr>
          <a:xfrm>
            <a:off x="548640" y="2057400"/>
            <a:ext cx="6903720" cy="196596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1965960"/>
          </a:xfrm>
          <a:prstGeom prst="rect">
            <a:avLst/>
          </a:prstGeom>
          <a:solidFill>
            <a:srgbClr val="8A1C2B"/>
          </a:solidFill>
          <a:ln/>
        </p:spPr>
        <p:txBody>
          <a:bodyPr/>
          <a:lstStyle/>
          <a:p>
            <a:endParaRPr lang="ko-KR" altLang="en-US"/>
          </a:p>
        </p:txBody>
      </p:sp>
      <p:sp>
        <p:nvSpPr>
          <p:cNvPr id="15" name="Text 13"/>
          <p:cNvSpPr/>
          <p:nvPr/>
        </p:nvSpPr>
        <p:spPr>
          <a:xfrm>
            <a:off x="804672" y="2185416"/>
            <a:ext cx="6446520" cy="1709928"/>
          </a:xfrm>
          <a:prstGeom prst="rect">
            <a:avLst/>
          </a:prstGeom>
          <a:noFill/>
          <a:ln/>
        </p:spPr>
        <p:txBody>
          <a:bodyPr wrap="square" lIns="0" tIns="0" rIns="0" bIns="0" rtlCol="0" anchor="t"/>
          <a:lstStyle/>
          <a:p>
            <a:pPr marL="0" indent="0" algn="l">
              <a:lnSpc>
                <a:spcPct val="132000"/>
              </a:lnSpc>
              <a:buNone/>
            </a:pPr>
            <a:r>
              <a:rPr lang="en-US" sz="1350" b="1" dirty="0">
                <a:solidFill>
                  <a:srgbClr val="8A1C2B"/>
                </a:solidFill>
                <a:latin typeface="Consolas" pitchFamily="34" charset="0"/>
                <a:ea typeface="Consolas" pitchFamily="34" charset="-122"/>
                <a:cs typeface="Consolas" pitchFamily="34" charset="-120"/>
              </a:rPr>
              <a:t>#:sdk Cadenza@1.0.15</a:t>
            </a:r>
            <a:endParaRPr lang="en-US" sz="1350" dirty="0"/>
          </a:p>
          <a:p>
            <a:pPr marL="0" indent="0" algn="l">
              <a:lnSpc>
                <a:spcPct val="132000"/>
              </a:lnSpc>
              <a:buNone/>
            </a:pPr>
            <a:r>
              <a:rPr lang="en-US" sz="1350" dirty="0">
                <a:solidFill>
                  <a:srgbClr val="1F2330"/>
                </a:solidFill>
                <a:latin typeface="Consolas" pitchFamily="34" charset="0"/>
                <a:ea typeface="Consolas" pitchFamily="34" charset="-122"/>
                <a:cs typeface="Consolas" pitchFamily="34" charset="-120"/>
              </a:rPr>
              <a:t> </a:t>
            </a:r>
            <a:endParaRPr lang="en-US" sz="1350" dirty="0"/>
          </a:p>
          <a:p>
            <a:pPr marL="0" indent="0" algn="l">
              <a:lnSpc>
                <a:spcPct val="132000"/>
              </a:lnSpc>
              <a:buNone/>
            </a:pPr>
            <a:r>
              <a:rPr lang="en-US" sz="1350" dirty="0">
                <a:solidFill>
                  <a:srgbClr val="1F2330"/>
                </a:solidFill>
                <a:latin typeface="Consolas" pitchFamily="34" charset="0"/>
                <a:ea typeface="Consolas" pitchFamily="34" charset="-122"/>
                <a:cs typeface="Consolas" pitchFamily="34" charset="-120"/>
              </a:rPr>
              <a:t>foreach (var file in Glob("**/*.md"))</a:t>
            </a:r>
            <a:endParaRPr lang="en-US" sz="1350" dirty="0"/>
          </a:p>
          <a:p>
            <a:pPr marL="0" indent="0" algn="l">
              <a:lnSpc>
                <a:spcPct val="132000"/>
              </a:lnSpc>
              <a:buNone/>
            </a:pPr>
            <a:r>
              <a:rPr lang="en-US" sz="1350" dirty="0">
                <a:solidFill>
                  <a:srgbClr val="1F2330"/>
                </a:solidFill>
                <a:latin typeface="Consolas" pitchFamily="34" charset="0"/>
                <a:ea typeface="Consolas" pitchFamily="34" charset="-122"/>
                <a:cs typeface="Consolas" pitchFamily="34" charset="-120"/>
              </a:rPr>
              <a:t>    WriteLine($"{file}: {ReadText(file).Length:N0} chars");</a:t>
            </a:r>
            <a:endParaRPr lang="en-US" sz="1350" dirty="0"/>
          </a:p>
        </p:txBody>
      </p:sp>
      <p:sp>
        <p:nvSpPr>
          <p:cNvPr id="16" name="Text 14"/>
          <p:cNvSpPr/>
          <p:nvPr/>
        </p:nvSpPr>
        <p:spPr>
          <a:xfrm>
            <a:off x="566928" y="4114800"/>
            <a:ext cx="6858000" cy="365760"/>
          </a:xfrm>
          <a:prstGeom prst="rect">
            <a:avLst/>
          </a:prstGeom>
          <a:noFill/>
          <a:ln/>
        </p:spPr>
        <p:txBody>
          <a:bodyPr wrap="square" lIns="0" tIns="0" rIns="0" bIns="0" rtlCol="0" anchor="ctr"/>
          <a:lstStyle/>
          <a:p>
            <a:pPr marL="0" indent="0">
              <a:buNone/>
            </a:pPr>
            <a:r>
              <a:rPr lang="en-US" sz="1300" b="1" dirty="0">
                <a:solidFill>
                  <a:srgbClr val="A9823F"/>
                </a:solidFill>
                <a:latin typeface="Consolas" pitchFamily="34" charset="0"/>
                <a:ea typeface="Consolas" pitchFamily="34" charset="-122"/>
                <a:cs typeface="Consolas" pitchFamily="34" charset="-120"/>
              </a:rPr>
              <a:t>$ dotnet run ask-the-folder.cs</a:t>
            </a:r>
            <a:endParaRPr lang="en-US" sz="1300" dirty="0"/>
          </a:p>
        </p:txBody>
      </p:sp>
      <p:sp>
        <p:nvSpPr>
          <p:cNvPr id="17" name="Text 15"/>
          <p:cNvSpPr/>
          <p:nvPr/>
        </p:nvSpPr>
        <p:spPr>
          <a:xfrm>
            <a:off x="566928" y="4526280"/>
            <a:ext cx="6858000" cy="822960"/>
          </a:xfrm>
          <a:prstGeom prst="rect">
            <a:avLst/>
          </a:prstGeom>
          <a:noFill/>
          <a:ln/>
        </p:spPr>
        <p:txBody>
          <a:bodyPr wrap="square" lIns="0" tIns="0" rIns="0" bIns="0" rtlCol="0" anchor="t"/>
          <a:lstStyle/>
          <a:p>
            <a:pPr marL="0" indent="0">
              <a:lnSpc>
                <a:spcPct val="120000"/>
              </a:lnSpc>
              <a:buNone/>
            </a:pPr>
            <a:r>
              <a:rPr lang="en-US" sz="1300" dirty="0">
                <a:solidFill>
                  <a:srgbClr val="6C7180"/>
                </a:solidFill>
                <a:latin typeface="Malgun Gothic" pitchFamily="34" charset="0"/>
                <a:ea typeface="Malgun Gothic" pitchFamily="34" charset="-122"/>
                <a:cs typeface="Malgun Gothic" pitchFamily="34" charset="-120"/>
              </a:rPr>
              <a:t>세 줄. csproj도, using도, </a:t>
            </a:r>
            <a:r>
              <a:rPr lang="en-US" sz="1300" dirty="0" err="1">
                <a:solidFill>
                  <a:srgbClr val="6C7180"/>
                </a:solidFill>
                <a:latin typeface="Malgun Gothic" pitchFamily="34" charset="0"/>
                <a:ea typeface="Malgun Gothic" pitchFamily="34" charset="-122"/>
                <a:cs typeface="Malgun Gothic" pitchFamily="34" charset="-120"/>
              </a:rPr>
              <a:t>Main도</a:t>
            </a:r>
            <a:r>
              <a:rPr lang="en-US" sz="1300" dirty="0">
                <a:solidFill>
                  <a:srgbClr val="6C7180"/>
                </a:solidFill>
                <a:latin typeface="Malgun Gothic" pitchFamily="34" charset="0"/>
                <a:ea typeface="Malgun Gothic" pitchFamily="34" charset="-122"/>
                <a:cs typeface="Malgun Gothic" pitchFamily="34" charset="-120"/>
              </a:rPr>
              <a:t> 없</a:t>
            </a:r>
            <a:r>
              <a:rPr lang="ko-KR" altLang="en-US" sz="1300" dirty="0" err="1">
                <a:solidFill>
                  <a:srgbClr val="6C7180"/>
                </a:solidFill>
                <a:latin typeface="Malgun Gothic" pitchFamily="34" charset="0"/>
                <a:ea typeface="Malgun Gothic" pitchFamily="34" charset="-122"/>
                <a:cs typeface="Malgun Gothic" pitchFamily="34" charset="-120"/>
              </a:rPr>
              <a:t>습니</a:t>
            </a:r>
            <a:r>
              <a:rPr lang="en-US" sz="1300" dirty="0">
                <a:solidFill>
                  <a:srgbClr val="6C7180"/>
                </a:solidFill>
                <a:latin typeface="Malgun Gothic" pitchFamily="34" charset="0"/>
                <a:ea typeface="Malgun Gothic" pitchFamily="34" charset="-122"/>
                <a:cs typeface="Malgun Gothic" pitchFamily="34" charset="-120"/>
              </a:rPr>
              <a:t>다. Glob으로 하위 폴더까지, ReadText로 </a:t>
            </a:r>
            <a:r>
              <a:rPr lang="en-US" sz="1300" dirty="0" err="1">
                <a:solidFill>
                  <a:srgbClr val="6C7180"/>
                </a:solidFill>
                <a:latin typeface="Malgun Gothic" pitchFamily="34" charset="0"/>
                <a:ea typeface="Malgun Gothic" pitchFamily="34" charset="-122"/>
                <a:cs typeface="Malgun Gothic" pitchFamily="34" charset="-120"/>
              </a:rPr>
              <a:t>글자</a:t>
            </a:r>
            <a:r>
              <a:rPr lang="en-US" sz="1300" dirty="0">
                <a:solidFill>
                  <a:srgbClr val="6C7180"/>
                </a:solidFill>
                <a:latin typeface="Malgun Gothic" pitchFamily="34" charset="0"/>
                <a:ea typeface="Malgun Gothic" pitchFamily="34" charset="-122"/>
                <a:cs typeface="Malgun Gothic" pitchFamily="34" charset="-120"/>
              </a:rPr>
              <a:t> 수</a:t>
            </a:r>
            <a:r>
              <a:rPr lang="ko-KR" altLang="en-US" sz="1300" dirty="0">
                <a:solidFill>
                  <a:srgbClr val="6C7180"/>
                </a:solidFill>
                <a:latin typeface="Malgun Gothic" pitchFamily="34" charset="0"/>
                <a:ea typeface="Malgun Gothic" pitchFamily="34" charset="-122"/>
                <a:cs typeface="Malgun Gothic" pitchFamily="34" charset="-120"/>
              </a:rPr>
              <a:t>를 가져올 수 있습니다</a:t>
            </a:r>
            <a:r>
              <a:rPr lang="en-US" altLang="ko-KR" sz="1300" dirty="0">
                <a:solidFill>
                  <a:srgbClr val="6C7180"/>
                </a:solidFill>
                <a:latin typeface="Malgun Gothic" pitchFamily="34" charset="0"/>
                <a:ea typeface="Malgun Gothic" pitchFamily="34" charset="-122"/>
                <a:cs typeface="Malgun Gothic" pitchFamily="34" charset="-120"/>
              </a:rPr>
              <a:t>. </a:t>
            </a:r>
            <a:r>
              <a:rPr lang="ko-KR" altLang="en-US" sz="1300" dirty="0">
                <a:solidFill>
                  <a:srgbClr val="6C7180"/>
                </a:solidFill>
                <a:latin typeface="Malgun Gothic" pitchFamily="34" charset="0"/>
                <a:ea typeface="Malgun Gothic" pitchFamily="34" charset="-122"/>
                <a:cs typeface="Malgun Gothic" pitchFamily="34" charset="-120"/>
              </a:rPr>
              <a:t>이 때 이들이 무슨 클래스에 있는지 기억하지 않아도 바로 쓸 수 있습니다</a:t>
            </a:r>
            <a:r>
              <a:rPr lang="en-US" altLang="ko-KR"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18" name="Text 16"/>
          <p:cNvSpPr/>
          <p:nvPr/>
        </p:nvSpPr>
        <p:spPr>
          <a:xfrm>
            <a:off x="7726680" y="2103120"/>
            <a:ext cx="3886200" cy="365760"/>
          </a:xfrm>
          <a:prstGeom prst="rect">
            <a:avLst/>
          </a:prstGeom>
          <a:noFill/>
          <a:ln/>
        </p:spPr>
        <p:txBody>
          <a:bodyPr wrap="square" lIns="0" tIns="0" rIns="0" bIns="0" rtlCol="0" anchor="ctr"/>
          <a:lstStyle/>
          <a:p>
            <a:pPr marL="0" indent="0">
              <a:buNone/>
            </a:pPr>
            <a:r>
              <a:rPr lang="en-US" sz="1500" b="1" dirty="0">
                <a:solidFill>
                  <a:srgbClr val="8A1C2B"/>
                </a:solidFill>
                <a:latin typeface="Malgun Gothic" pitchFamily="34" charset="0"/>
                <a:ea typeface="Malgun Gothic" pitchFamily="34" charset="-122"/>
                <a:cs typeface="Malgun Gothic" pitchFamily="34" charset="-120"/>
              </a:rPr>
              <a:t>한 걸음 더 — 배포 가드</a:t>
            </a:r>
            <a:endParaRPr lang="en-US" sz="1500" dirty="0"/>
          </a:p>
        </p:txBody>
      </p:sp>
      <p:sp>
        <p:nvSpPr>
          <p:cNvPr id="19" name="Shape 17"/>
          <p:cNvSpPr/>
          <p:nvPr/>
        </p:nvSpPr>
        <p:spPr>
          <a:xfrm>
            <a:off x="7726680" y="2514600"/>
            <a:ext cx="3886200" cy="228600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0" name="Shape 18"/>
          <p:cNvSpPr/>
          <p:nvPr/>
        </p:nvSpPr>
        <p:spPr>
          <a:xfrm>
            <a:off x="7726680" y="2514600"/>
            <a:ext cx="64008" cy="2286000"/>
          </a:xfrm>
          <a:prstGeom prst="rect">
            <a:avLst/>
          </a:prstGeom>
          <a:solidFill>
            <a:srgbClr val="8A1C2B"/>
          </a:solidFill>
          <a:ln/>
        </p:spPr>
        <p:txBody>
          <a:bodyPr/>
          <a:lstStyle/>
          <a:p>
            <a:endParaRPr lang="ko-KR" altLang="en-US"/>
          </a:p>
        </p:txBody>
      </p:sp>
      <p:sp>
        <p:nvSpPr>
          <p:cNvPr id="21" name="Text 19"/>
          <p:cNvSpPr/>
          <p:nvPr/>
        </p:nvSpPr>
        <p:spPr>
          <a:xfrm>
            <a:off x="7982712" y="2642616"/>
            <a:ext cx="3429000" cy="2029968"/>
          </a:xfrm>
          <a:prstGeom prst="rect">
            <a:avLst/>
          </a:prstGeom>
          <a:noFill/>
          <a:ln/>
        </p:spPr>
        <p:txBody>
          <a:bodyPr wrap="square" lIns="0" tIns="0" rIns="0" bIns="0" rtlCol="0" anchor="t"/>
          <a:lstStyle/>
          <a:p>
            <a:pPr marL="0" indent="0" algn="l">
              <a:lnSpc>
                <a:spcPct val="132000"/>
              </a:lnSpc>
              <a:buNone/>
            </a:pPr>
            <a:r>
              <a:rPr lang="en-US" sz="1150" b="1" dirty="0">
                <a:solidFill>
                  <a:srgbClr val="8A1C2B"/>
                </a:solidFill>
                <a:latin typeface="Consolas" pitchFamily="34" charset="0"/>
                <a:ea typeface="Consolas" pitchFamily="34" charset="-122"/>
                <a:cs typeface="Consolas" pitchFamily="34" charset="-120"/>
              </a:rPr>
              <a:t>#:sdk Cadenza@1.0.15</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var s = Capture(</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"git status --porcelain");</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if (!IsNullOrWhiteSpace(s))</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Env.Exit(1);</a:t>
            </a:r>
            <a:endParaRPr lang="en-US" sz="1150" dirty="0"/>
          </a:p>
        </p:txBody>
      </p:sp>
      <p:sp>
        <p:nvSpPr>
          <p:cNvPr id="22" name="Text 20"/>
          <p:cNvSpPr/>
          <p:nvPr/>
        </p:nvSpPr>
        <p:spPr>
          <a:xfrm>
            <a:off x="7726680" y="4937760"/>
            <a:ext cx="3886200" cy="822960"/>
          </a:xfrm>
          <a:prstGeom prst="rect">
            <a:avLst/>
          </a:prstGeom>
          <a:noFill/>
          <a:ln/>
        </p:spPr>
        <p:txBody>
          <a:bodyPr wrap="square" lIns="0" tIns="0" rIns="0" bIns="0" rtlCol="0" anchor="t"/>
          <a:lstStyle/>
          <a:p>
            <a:pPr marL="0" indent="0">
              <a:lnSpc>
                <a:spcPct val="118000"/>
              </a:lnSpc>
              <a:buNone/>
            </a:pPr>
            <a:r>
              <a:rPr lang="en-US" sz="1200" dirty="0">
                <a:solidFill>
                  <a:srgbClr val="6C7180"/>
                </a:solidFill>
                <a:latin typeface="Malgun Gothic" pitchFamily="34" charset="0"/>
                <a:ea typeface="Malgun Gothic" pitchFamily="34" charset="-122"/>
                <a:cs typeface="Malgun Gothic" pitchFamily="34" charset="-120"/>
              </a:rPr>
              <a:t>Capture가 셸 명령 출력을 </a:t>
            </a:r>
            <a:r>
              <a:rPr lang="en-US" sz="1200" dirty="0" err="1">
                <a:solidFill>
                  <a:srgbClr val="6C7180"/>
                </a:solidFill>
                <a:latin typeface="Malgun Gothic" pitchFamily="34" charset="0"/>
                <a:ea typeface="Malgun Gothic" pitchFamily="34" charset="-122"/>
                <a:cs typeface="Malgun Gothic" pitchFamily="34" charset="-120"/>
              </a:rPr>
              <a:t>그대로</a:t>
            </a:r>
            <a:r>
              <a:rPr lang="en-US" sz="1200" dirty="0">
                <a:solidFill>
                  <a:srgbClr val="6C7180"/>
                </a:solidFill>
                <a:latin typeface="Malgun Gothic" pitchFamily="34" charset="0"/>
                <a:ea typeface="Malgun Gothic" pitchFamily="34" charset="-122"/>
                <a:cs typeface="Malgun Gothic" pitchFamily="34" charset="-120"/>
              </a:rPr>
              <a:t> </a:t>
            </a:r>
            <a:r>
              <a:rPr lang="en-US" sz="1200" dirty="0" err="1">
                <a:solidFill>
                  <a:srgbClr val="6C7180"/>
                </a:solidFill>
                <a:latin typeface="Malgun Gothic" pitchFamily="34" charset="0"/>
                <a:ea typeface="Malgun Gothic" pitchFamily="34" charset="-122"/>
                <a:cs typeface="Malgun Gothic" pitchFamily="34" charset="-120"/>
              </a:rPr>
              <a:t>문자열로</a:t>
            </a:r>
            <a:r>
              <a:rPr lang="en-US" sz="1200" dirty="0">
                <a:solidFill>
                  <a:srgbClr val="6C7180"/>
                </a:solidFill>
                <a:latin typeface="Malgun Gothic" pitchFamily="34" charset="0"/>
                <a:ea typeface="Malgun Gothic" pitchFamily="34" charset="-122"/>
                <a:cs typeface="Malgun Gothic" pitchFamily="34" charset="-120"/>
              </a:rPr>
              <a:t> </a:t>
            </a:r>
            <a:r>
              <a:rPr lang="ko-KR" altLang="en-US" sz="1200" dirty="0">
                <a:solidFill>
                  <a:srgbClr val="6C7180"/>
                </a:solidFill>
                <a:latin typeface="Malgun Gothic" pitchFamily="34" charset="0"/>
                <a:ea typeface="Malgun Gothic" pitchFamily="34" charset="-122"/>
                <a:cs typeface="Malgun Gothic" pitchFamily="34" charset="-120"/>
              </a:rPr>
              <a:t>반환합니다</a:t>
            </a:r>
            <a:r>
              <a:rPr lang="en-US" sz="1200" dirty="0">
                <a:solidFill>
                  <a:srgbClr val="6C7180"/>
                </a:solidFill>
                <a:latin typeface="Malgun Gothic" pitchFamily="34" charset="0"/>
                <a:ea typeface="Malgun Gothic" pitchFamily="34" charset="-122"/>
                <a:cs typeface="Malgun Gothic" pitchFamily="34" charset="-120"/>
              </a:rPr>
              <a:t>. Process도, 스트림 </a:t>
            </a:r>
            <a:r>
              <a:rPr lang="en-US" sz="1200" dirty="0" err="1">
                <a:solidFill>
                  <a:srgbClr val="6C7180"/>
                </a:solidFill>
                <a:latin typeface="Malgun Gothic" pitchFamily="34" charset="0"/>
                <a:ea typeface="Malgun Gothic" pitchFamily="34" charset="-122"/>
                <a:cs typeface="Malgun Gothic" pitchFamily="34" charset="-120"/>
              </a:rPr>
              <a:t>리다이렉션도</a:t>
            </a:r>
            <a:r>
              <a:rPr lang="en-US" sz="1200" dirty="0">
                <a:solidFill>
                  <a:srgbClr val="6C7180"/>
                </a:solidFill>
                <a:latin typeface="Malgun Gothic" pitchFamily="34" charset="0"/>
                <a:ea typeface="Malgun Gothic" pitchFamily="34" charset="-122"/>
                <a:cs typeface="Malgun Gothic" pitchFamily="34" charset="-120"/>
              </a:rPr>
              <a:t> 없</a:t>
            </a:r>
            <a:r>
              <a:rPr lang="ko-KR" altLang="en-US" sz="1200" dirty="0" err="1">
                <a:solidFill>
                  <a:srgbClr val="6C7180"/>
                </a:solidFill>
                <a:latin typeface="Malgun Gothic" pitchFamily="34" charset="0"/>
                <a:ea typeface="Malgun Gothic" pitchFamily="34" charset="-122"/>
                <a:cs typeface="Malgun Gothic" pitchFamily="34" charset="-120"/>
              </a:rPr>
              <a:t>습니</a:t>
            </a:r>
            <a:r>
              <a:rPr lang="en-US" sz="1200" dirty="0">
                <a:solidFill>
                  <a:srgbClr val="6C7180"/>
                </a:solidFill>
                <a:latin typeface="Malgun Gothic" pitchFamily="34" charset="0"/>
                <a:ea typeface="Malgun Gothic" pitchFamily="34" charset="-122"/>
                <a:cs typeface="Malgun Gothic" pitchFamily="34" charset="-120"/>
              </a:rPr>
              <a:t>다.</a:t>
            </a:r>
            <a:endParaRPr lang="en-US" sz="1200" dirty="0"/>
          </a:p>
        </p:txBody>
      </p:sp>
    </p:spTree>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데모 2  ·  WEB</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웹 — 한 파일짜리 API</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16</a:t>
            </a:r>
            <a:endParaRPr lang="en-US" sz="900" dirty="0"/>
          </a:p>
        </p:txBody>
      </p:sp>
      <p:sp>
        <p:nvSpPr>
          <p:cNvPr id="13" name="Shape 11"/>
          <p:cNvSpPr/>
          <p:nvPr/>
        </p:nvSpPr>
        <p:spPr>
          <a:xfrm>
            <a:off x="548640" y="2057400"/>
            <a:ext cx="6903720" cy="242316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2423160"/>
          </a:xfrm>
          <a:prstGeom prst="rect">
            <a:avLst/>
          </a:prstGeom>
          <a:solidFill>
            <a:srgbClr val="8A1C2B"/>
          </a:solidFill>
          <a:ln/>
        </p:spPr>
        <p:txBody>
          <a:bodyPr/>
          <a:lstStyle/>
          <a:p>
            <a:endParaRPr lang="ko-KR" altLang="en-US"/>
          </a:p>
        </p:txBody>
      </p:sp>
      <p:sp>
        <p:nvSpPr>
          <p:cNvPr id="15" name="Text 13"/>
          <p:cNvSpPr/>
          <p:nvPr/>
        </p:nvSpPr>
        <p:spPr>
          <a:xfrm>
            <a:off x="804672" y="2185416"/>
            <a:ext cx="6446520" cy="2167128"/>
          </a:xfrm>
          <a:prstGeom prst="rect">
            <a:avLst/>
          </a:prstGeom>
          <a:noFill/>
          <a:ln/>
        </p:spPr>
        <p:txBody>
          <a:bodyPr wrap="square" lIns="0" tIns="0" rIns="0" bIns="0" rtlCol="0" anchor="t"/>
          <a:lstStyle/>
          <a:p>
            <a:pPr marL="0" indent="0" algn="l">
              <a:lnSpc>
                <a:spcPct val="132000"/>
              </a:lnSpc>
              <a:buNone/>
            </a:pPr>
            <a:r>
              <a:rPr lang="en-US" sz="1300" b="1" dirty="0">
                <a:solidFill>
                  <a:srgbClr val="8A1C2B"/>
                </a:solidFill>
                <a:latin typeface="Consolas" pitchFamily="34" charset="0"/>
                <a:ea typeface="Consolas" pitchFamily="34" charset="-122"/>
                <a:cs typeface="Consolas" pitchFamily="34" charset="-120"/>
              </a:rPr>
              <a:t>#:sdk Cadenza.Web@1.0.15</a:t>
            </a:r>
            <a:endParaRPr lang="en-US" sz="1300" dirty="0"/>
          </a:p>
          <a:p>
            <a:pPr marL="0" indent="0" algn="l">
              <a:lnSpc>
                <a:spcPct val="132000"/>
              </a:lnSpc>
              <a:buNone/>
            </a:pPr>
            <a:r>
              <a:rPr lang="en-US" sz="1300" dirty="0">
                <a:solidFill>
                  <a:srgbClr val="1F2330"/>
                </a:solidFill>
                <a:latin typeface="Consolas" pitchFamily="34" charset="0"/>
                <a:ea typeface="Consolas" pitchFamily="34" charset="-122"/>
                <a:cs typeface="Consolas" pitchFamily="34" charset="-120"/>
              </a:rPr>
              <a:t> </a:t>
            </a:r>
            <a:endParaRPr lang="en-US" sz="1300" dirty="0"/>
          </a:p>
          <a:p>
            <a:pPr marL="0" indent="0" algn="l">
              <a:lnSpc>
                <a:spcPct val="132000"/>
              </a:lnSpc>
              <a:buNone/>
            </a:pPr>
            <a:r>
              <a:rPr lang="en-US" sz="1300" dirty="0">
                <a:solidFill>
                  <a:srgbClr val="1F2330"/>
                </a:solidFill>
                <a:latin typeface="Consolas" pitchFamily="34" charset="0"/>
                <a:ea typeface="Consolas" pitchFamily="34" charset="-122"/>
                <a:cs typeface="Consolas" pitchFamily="34" charset="-120"/>
              </a:rPr>
              <a:t>Get("/", () =&gt; "Hello from Cadenza.Web");</a:t>
            </a:r>
            <a:endParaRPr lang="en-US" sz="1300" dirty="0"/>
          </a:p>
          <a:p>
            <a:pPr marL="0" indent="0" algn="l">
              <a:lnSpc>
                <a:spcPct val="132000"/>
              </a:lnSpc>
              <a:buNone/>
            </a:pPr>
            <a:r>
              <a:rPr lang="en-US" sz="1300" dirty="0">
                <a:solidFill>
                  <a:srgbClr val="1F2330"/>
                </a:solidFill>
                <a:latin typeface="Consolas" pitchFamily="34" charset="0"/>
                <a:ea typeface="Consolas" pitchFamily="34" charset="-122"/>
                <a:cs typeface="Consolas" pitchFamily="34" charset="-120"/>
              </a:rPr>
              <a:t>Get("/health",</a:t>
            </a:r>
            <a:endParaRPr lang="en-US" sz="1300" dirty="0"/>
          </a:p>
          <a:p>
            <a:pPr marL="0" indent="0" algn="l">
              <a:lnSpc>
                <a:spcPct val="132000"/>
              </a:lnSpc>
              <a:buNone/>
            </a:pPr>
            <a:r>
              <a:rPr lang="en-US" sz="1300" dirty="0">
                <a:solidFill>
                  <a:srgbClr val="1F2330"/>
                </a:solidFill>
                <a:latin typeface="Consolas" pitchFamily="34" charset="0"/>
                <a:ea typeface="Consolas" pitchFamily="34" charset="-122"/>
                <a:cs typeface="Consolas" pitchFamily="34" charset="-120"/>
              </a:rPr>
              <a:t>    () =&gt; new { status = "ok", time = DateTime.UtcNow });</a:t>
            </a:r>
            <a:endParaRPr lang="en-US" sz="1300" dirty="0"/>
          </a:p>
          <a:p>
            <a:pPr marL="0" indent="0" algn="l">
              <a:lnSpc>
                <a:spcPct val="132000"/>
              </a:lnSpc>
              <a:buNone/>
            </a:pPr>
            <a:r>
              <a:rPr lang="en-US" sz="1300" dirty="0">
                <a:solidFill>
                  <a:srgbClr val="1F2330"/>
                </a:solidFill>
                <a:latin typeface="Consolas" pitchFamily="34" charset="0"/>
                <a:ea typeface="Consolas" pitchFamily="34" charset="-122"/>
                <a:cs typeface="Consolas" pitchFamily="34" charset="-120"/>
              </a:rPr>
              <a:t>await Run();</a:t>
            </a:r>
            <a:endParaRPr lang="en-US" sz="1300" dirty="0"/>
          </a:p>
        </p:txBody>
      </p:sp>
      <p:sp>
        <p:nvSpPr>
          <p:cNvPr id="16" name="Text 14"/>
          <p:cNvSpPr/>
          <p:nvPr/>
        </p:nvSpPr>
        <p:spPr>
          <a:xfrm>
            <a:off x="566928" y="4572000"/>
            <a:ext cx="6858000" cy="365760"/>
          </a:xfrm>
          <a:prstGeom prst="rect">
            <a:avLst/>
          </a:prstGeom>
          <a:noFill/>
          <a:ln/>
        </p:spPr>
        <p:txBody>
          <a:bodyPr wrap="square" lIns="0" tIns="0" rIns="0" bIns="0" rtlCol="0" anchor="ctr"/>
          <a:lstStyle/>
          <a:p>
            <a:pPr marL="0" indent="0">
              <a:buNone/>
            </a:pPr>
            <a:r>
              <a:rPr lang="en-US" sz="1300" b="1" dirty="0">
                <a:solidFill>
                  <a:srgbClr val="A9823F"/>
                </a:solidFill>
                <a:latin typeface="Consolas" pitchFamily="34" charset="0"/>
                <a:ea typeface="Consolas" pitchFamily="34" charset="-122"/>
                <a:cs typeface="Consolas" pitchFamily="34" charset="-120"/>
              </a:rPr>
              <a:t>$ dotnet run web-minimal.cs</a:t>
            </a:r>
            <a:endParaRPr lang="en-US" sz="1300" dirty="0"/>
          </a:p>
        </p:txBody>
      </p:sp>
      <p:sp>
        <p:nvSpPr>
          <p:cNvPr id="17" name="Shape 15"/>
          <p:cNvSpPr/>
          <p:nvPr/>
        </p:nvSpPr>
        <p:spPr>
          <a:xfrm>
            <a:off x="7726680" y="2194560"/>
            <a:ext cx="109728" cy="109728"/>
          </a:xfrm>
          <a:prstGeom prst="ellipse">
            <a:avLst/>
          </a:prstGeom>
          <a:solidFill>
            <a:srgbClr val="8A1C2B"/>
          </a:solidFill>
          <a:ln/>
        </p:spPr>
        <p:txBody>
          <a:bodyPr/>
          <a:lstStyle/>
          <a:p>
            <a:endParaRPr lang="ko-KR" altLang="en-US"/>
          </a:p>
        </p:txBody>
      </p:sp>
      <p:sp>
        <p:nvSpPr>
          <p:cNvPr id="18" name="Text 16"/>
          <p:cNvSpPr/>
          <p:nvPr/>
        </p:nvSpPr>
        <p:spPr>
          <a:xfrm>
            <a:off x="8001000" y="2103120"/>
            <a:ext cx="3611880" cy="822960"/>
          </a:xfrm>
          <a:prstGeom prst="rect">
            <a:avLst/>
          </a:prstGeom>
          <a:noFill/>
          <a:ln/>
        </p:spPr>
        <p:txBody>
          <a:bodyPr wrap="square" lIns="0" tIns="0" rIns="0" bIns="0" rtlCol="0" anchor="t"/>
          <a:lstStyle/>
          <a:p>
            <a:pPr marL="0" indent="0">
              <a:lnSpc>
                <a:spcPct val="118000"/>
              </a:lnSpc>
              <a:buNone/>
            </a:pPr>
            <a:r>
              <a:rPr lang="en-US" sz="1300" dirty="0">
                <a:solidFill>
                  <a:srgbClr val="6C7180"/>
                </a:solidFill>
                <a:latin typeface="Malgun Gothic" pitchFamily="34" charset="0"/>
                <a:ea typeface="Malgun Gothic" pitchFamily="34" charset="-122"/>
                <a:cs typeface="Malgun Gothic" pitchFamily="34" charset="-120"/>
              </a:rPr>
              <a:t>CreateBuilder · Build · Run 골격이 다 </a:t>
            </a:r>
            <a:r>
              <a:rPr lang="en-US" sz="1300" dirty="0" err="1">
                <a:solidFill>
                  <a:srgbClr val="6C7180"/>
                </a:solidFill>
                <a:latin typeface="Malgun Gothic" pitchFamily="34" charset="0"/>
                <a:ea typeface="Malgun Gothic" pitchFamily="34" charset="-122"/>
                <a:cs typeface="Malgun Gothic" pitchFamily="34" charset="-120"/>
              </a:rPr>
              <a:t>사라졌</a:t>
            </a:r>
            <a:r>
              <a:rPr lang="ko-KR" altLang="en-US" sz="1300" dirty="0" err="1">
                <a:solidFill>
                  <a:srgbClr val="6C7180"/>
                </a:solidFill>
                <a:latin typeface="Malgun Gothic" pitchFamily="34" charset="0"/>
                <a:ea typeface="Malgun Gothic" pitchFamily="34" charset="-122"/>
                <a:cs typeface="Malgun Gothic" pitchFamily="34" charset="-120"/>
              </a:rPr>
              <a:t>습니</a:t>
            </a:r>
            <a:r>
              <a:rPr lang="en-US" sz="1300" dirty="0">
                <a:solidFill>
                  <a:srgbClr val="6C7180"/>
                </a:solidFill>
                <a:latin typeface="Malgun Gothic" pitchFamily="34" charset="0"/>
                <a:ea typeface="Malgun Gothic" pitchFamily="34" charset="-122"/>
                <a:cs typeface="Malgun Gothic" pitchFamily="34" charset="-120"/>
              </a:rPr>
              <a:t>다.</a:t>
            </a:r>
            <a:endParaRPr lang="en-US" sz="1300" dirty="0"/>
          </a:p>
        </p:txBody>
      </p:sp>
      <p:sp>
        <p:nvSpPr>
          <p:cNvPr id="19" name="Shape 17"/>
          <p:cNvSpPr/>
          <p:nvPr/>
        </p:nvSpPr>
        <p:spPr>
          <a:xfrm>
            <a:off x="7726680" y="3108960"/>
            <a:ext cx="109728" cy="109728"/>
          </a:xfrm>
          <a:prstGeom prst="ellipse">
            <a:avLst/>
          </a:prstGeom>
          <a:solidFill>
            <a:srgbClr val="8A1C2B"/>
          </a:solidFill>
          <a:ln/>
        </p:spPr>
        <p:txBody>
          <a:bodyPr/>
          <a:lstStyle/>
          <a:p>
            <a:endParaRPr lang="ko-KR" altLang="en-US"/>
          </a:p>
        </p:txBody>
      </p:sp>
      <p:sp>
        <p:nvSpPr>
          <p:cNvPr id="20" name="Text 18"/>
          <p:cNvSpPr/>
          <p:nvPr/>
        </p:nvSpPr>
        <p:spPr>
          <a:xfrm>
            <a:off x="8001000" y="3017520"/>
            <a:ext cx="3611880" cy="822960"/>
          </a:xfrm>
          <a:prstGeom prst="rect">
            <a:avLst/>
          </a:prstGeom>
          <a:noFill/>
          <a:ln/>
        </p:spPr>
        <p:txBody>
          <a:bodyPr wrap="square" lIns="0" tIns="0" rIns="0" bIns="0" rtlCol="0" anchor="t"/>
          <a:lstStyle/>
          <a:p>
            <a:pPr marL="0" indent="0">
              <a:lnSpc>
                <a:spcPct val="118000"/>
              </a:lnSpc>
              <a:buNone/>
            </a:pPr>
            <a:r>
              <a:rPr lang="en-US" sz="1300" dirty="0">
                <a:solidFill>
                  <a:srgbClr val="6C7180"/>
                </a:solidFill>
                <a:latin typeface="Malgun Gothic" pitchFamily="34" charset="0"/>
                <a:ea typeface="Malgun Gothic" pitchFamily="34" charset="-122"/>
                <a:cs typeface="Malgun Gothic" pitchFamily="34" charset="-120"/>
              </a:rPr>
              <a:t>익명 객체를 반환하면 JSON으로 </a:t>
            </a:r>
            <a:r>
              <a:rPr lang="en-US" sz="1300" dirty="0" err="1">
                <a:solidFill>
                  <a:srgbClr val="6C7180"/>
                </a:solidFill>
                <a:latin typeface="Malgun Gothic" pitchFamily="34" charset="0"/>
                <a:ea typeface="Malgun Gothic" pitchFamily="34" charset="-122"/>
                <a:cs typeface="Malgun Gothic" pitchFamily="34" charset="-120"/>
              </a:rPr>
              <a:t>알아서</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직렬화</a:t>
            </a:r>
            <a:r>
              <a:rPr lang="ko-KR" altLang="en-US" sz="1300" dirty="0">
                <a:solidFill>
                  <a:srgbClr val="6C7180"/>
                </a:solidFill>
                <a:latin typeface="Malgun Gothic" pitchFamily="34" charset="0"/>
                <a:ea typeface="Malgun Gothic" pitchFamily="34" charset="-122"/>
                <a:cs typeface="Malgun Gothic" pitchFamily="34" charset="-120"/>
              </a:rPr>
              <a:t>합니다</a:t>
            </a:r>
            <a:r>
              <a:rPr lang="en-US" altLang="ko-KR" sz="1300" dirty="0">
                <a:solidFill>
                  <a:srgbClr val="6C7180"/>
                </a:solidFill>
                <a:latin typeface="Malgun Gothic" pitchFamily="34" charset="0"/>
                <a:ea typeface="Malgun Gothic" pitchFamily="34" charset="-122"/>
                <a:cs typeface="Malgun Gothic" pitchFamily="34" charset="-120"/>
              </a:rPr>
              <a:t>.</a:t>
            </a:r>
            <a:r>
              <a:rPr lang="en-US" sz="1300" dirty="0">
                <a:solidFill>
                  <a:srgbClr val="6C7180"/>
                </a:solidFill>
                <a:latin typeface="Malgun Gothic" pitchFamily="34" charset="0"/>
                <a:ea typeface="Malgun Gothic" pitchFamily="34" charset="-122"/>
                <a:cs typeface="Malgun Gothic" pitchFamily="34" charset="-120"/>
              </a:rPr>
              <a:t> Minimal API 그대로 위에 </a:t>
            </a:r>
            <a:r>
              <a:rPr lang="en-US" sz="1300" dirty="0" err="1">
                <a:solidFill>
                  <a:srgbClr val="6C7180"/>
                </a:solidFill>
                <a:latin typeface="Malgun Gothic" pitchFamily="34" charset="0"/>
                <a:ea typeface="Malgun Gothic" pitchFamily="34" charset="-122"/>
                <a:cs typeface="Malgun Gothic" pitchFamily="34" charset="-120"/>
              </a:rPr>
              <a:t>짧은</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이름만</a:t>
            </a:r>
            <a:r>
              <a:rPr lang="en-US" sz="1300" dirty="0">
                <a:solidFill>
                  <a:srgbClr val="6C7180"/>
                </a:solidFill>
                <a:latin typeface="Malgun Gothic" pitchFamily="34" charset="0"/>
                <a:ea typeface="Malgun Gothic" pitchFamily="34" charset="-122"/>
                <a:cs typeface="Malgun Gothic" pitchFamily="34" charset="-120"/>
              </a:rPr>
              <a:t> </a:t>
            </a:r>
            <a:r>
              <a:rPr lang="ko-KR" altLang="en-US" sz="1300" dirty="0">
                <a:solidFill>
                  <a:srgbClr val="6C7180"/>
                </a:solidFill>
                <a:latin typeface="Malgun Gothic" pitchFamily="34" charset="0"/>
                <a:ea typeface="Malgun Gothic" pitchFamily="34" charset="-122"/>
                <a:cs typeface="Malgun Gothic" pitchFamily="34" charset="-120"/>
              </a:rPr>
              <a:t>붙입니다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21" name="Shape 19"/>
          <p:cNvSpPr/>
          <p:nvPr/>
        </p:nvSpPr>
        <p:spPr>
          <a:xfrm>
            <a:off x="7726680" y="4023360"/>
            <a:ext cx="109728" cy="109728"/>
          </a:xfrm>
          <a:prstGeom prst="ellipse">
            <a:avLst/>
          </a:prstGeom>
          <a:solidFill>
            <a:srgbClr val="8A1C2B"/>
          </a:solidFill>
          <a:ln/>
        </p:spPr>
        <p:txBody>
          <a:bodyPr/>
          <a:lstStyle/>
          <a:p>
            <a:endParaRPr lang="ko-KR" altLang="en-US"/>
          </a:p>
        </p:txBody>
      </p:sp>
      <p:sp>
        <p:nvSpPr>
          <p:cNvPr id="22" name="Text 20"/>
          <p:cNvSpPr/>
          <p:nvPr/>
        </p:nvSpPr>
        <p:spPr>
          <a:xfrm>
            <a:off x="8001000" y="3931920"/>
            <a:ext cx="3611880" cy="822960"/>
          </a:xfrm>
          <a:prstGeom prst="rect">
            <a:avLst/>
          </a:prstGeom>
          <a:noFill/>
          <a:ln/>
        </p:spPr>
        <p:txBody>
          <a:bodyPr wrap="square" lIns="0" tIns="0" rIns="0" bIns="0" rtlCol="0" anchor="t"/>
          <a:lstStyle/>
          <a:p>
            <a:pPr marL="0" indent="0">
              <a:lnSpc>
                <a:spcPct val="118000"/>
              </a:lnSpc>
              <a:buNone/>
            </a:pPr>
            <a:r>
              <a:rPr lang="en-US" sz="1300" dirty="0">
                <a:solidFill>
                  <a:srgbClr val="6C7180"/>
                </a:solidFill>
                <a:latin typeface="Malgun Gothic" pitchFamily="34" charset="0"/>
                <a:ea typeface="Malgun Gothic" pitchFamily="34" charset="-122"/>
                <a:cs typeface="Malgun Gothic" pitchFamily="34" charset="-120"/>
              </a:rPr>
              <a:t>첫 </a:t>
            </a:r>
            <a:r>
              <a:rPr lang="en-US" sz="1300" dirty="0" err="1">
                <a:solidFill>
                  <a:srgbClr val="6C7180"/>
                </a:solidFill>
                <a:latin typeface="Malgun Gothic" pitchFamily="34" charset="0"/>
                <a:ea typeface="Malgun Gothic" pitchFamily="34" charset="-122"/>
                <a:cs typeface="Malgun Gothic" pitchFamily="34" charset="-120"/>
              </a:rPr>
              <a:t>줄의</a:t>
            </a:r>
            <a:r>
              <a:rPr lang="en-US" sz="1300" dirty="0">
                <a:solidFill>
                  <a:srgbClr val="6C7180"/>
                </a:solidFill>
                <a:latin typeface="Malgun Gothic" pitchFamily="34" charset="0"/>
                <a:ea typeface="Malgun Gothic" pitchFamily="34" charset="-122"/>
                <a:cs typeface="Malgun Gothic" pitchFamily="34" charset="-120"/>
              </a:rPr>
              <a:t> 힘: 콘솔의 Run은 셸을, 여기 Run은 </a:t>
            </a:r>
            <a:r>
              <a:rPr lang="en-US" sz="1300" dirty="0" err="1">
                <a:solidFill>
                  <a:srgbClr val="6C7180"/>
                </a:solidFill>
                <a:latin typeface="Malgun Gothic" pitchFamily="34" charset="0"/>
                <a:ea typeface="Malgun Gothic" pitchFamily="34" charset="-122"/>
                <a:cs typeface="Malgun Gothic" pitchFamily="34" charset="-120"/>
              </a:rPr>
              <a:t>서버를</a:t>
            </a:r>
            <a:r>
              <a:rPr lang="en-US" sz="1300" dirty="0">
                <a:solidFill>
                  <a:srgbClr val="6C7180"/>
                </a:solidFill>
                <a:latin typeface="Malgun Gothic" pitchFamily="34" charset="0"/>
                <a:ea typeface="Malgun Gothic" pitchFamily="34" charset="-122"/>
                <a:cs typeface="Malgun Gothic" pitchFamily="34" charset="-120"/>
              </a:rPr>
              <a:t> 띄</a:t>
            </a:r>
            <a:r>
              <a:rPr lang="ko-KR" altLang="en-US" sz="1300" dirty="0">
                <a:solidFill>
                  <a:srgbClr val="6C7180"/>
                </a:solidFill>
                <a:latin typeface="Malgun Gothic" pitchFamily="34" charset="0"/>
                <a:ea typeface="Malgun Gothic" pitchFamily="34" charset="-122"/>
                <a:cs typeface="Malgun Gothic" pitchFamily="34" charset="-120"/>
              </a:rPr>
              <a:t>우는 용도로 </a:t>
            </a:r>
            <a:r>
              <a:rPr lang="ko-KR" altLang="en-US" sz="1300" dirty="0" err="1">
                <a:solidFill>
                  <a:srgbClr val="6C7180"/>
                </a:solidFill>
                <a:latin typeface="Malgun Gothic" pitchFamily="34" charset="0"/>
                <a:ea typeface="Malgun Gothic" pitchFamily="34" charset="-122"/>
                <a:cs typeface="Malgun Gothic" pitchFamily="34" charset="-120"/>
              </a:rPr>
              <a:t>사용합니</a:t>
            </a:r>
            <a:r>
              <a:rPr lang="en-US" sz="1300" dirty="0">
                <a:solidFill>
                  <a:srgbClr val="6C7180"/>
                </a:solidFill>
                <a:latin typeface="Malgun Gothic" pitchFamily="34" charset="0"/>
                <a:ea typeface="Malgun Gothic" pitchFamily="34" charset="-122"/>
                <a:cs typeface="Malgun Gothic" pitchFamily="34" charset="-120"/>
              </a:rPr>
              <a:t>다.</a:t>
            </a:r>
            <a:endParaRPr lang="en-US" sz="1300" dirty="0"/>
          </a:p>
        </p:txBody>
      </p:sp>
    </p:spTree>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데모 3  ·  WORKER</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워커 — 멈추지 않는 심장박동</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17</a:t>
            </a:r>
            <a:endParaRPr lang="en-US" sz="900" dirty="0"/>
          </a:p>
        </p:txBody>
      </p:sp>
      <p:sp>
        <p:nvSpPr>
          <p:cNvPr id="13" name="Shape 11"/>
          <p:cNvSpPr/>
          <p:nvPr/>
        </p:nvSpPr>
        <p:spPr>
          <a:xfrm>
            <a:off x="548640" y="2057400"/>
            <a:ext cx="6903720" cy="274320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2743200"/>
          </a:xfrm>
          <a:prstGeom prst="rect">
            <a:avLst/>
          </a:prstGeom>
          <a:solidFill>
            <a:srgbClr val="8A1C2B"/>
          </a:solidFill>
          <a:ln/>
        </p:spPr>
        <p:txBody>
          <a:bodyPr/>
          <a:lstStyle/>
          <a:p>
            <a:endParaRPr lang="ko-KR" altLang="en-US"/>
          </a:p>
        </p:txBody>
      </p:sp>
      <p:sp>
        <p:nvSpPr>
          <p:cNvPr id="15" name="Text 13"/>
          <p:cNvSpPr/>
          <p:nvPr/>
        </p:nvSpPr>
        <p:spPr>
          <a:xfrm>
            <a:off x="804672" y="2185416"/>
            <a:ext cx="6446520" cy="2487168"/>
          </a:xfrm>
          <a:prstGeom prst="rect">
            <a:avLst/>
          </a:prstGeom>
          <a:noFill/>
          <a:ln/>
        </p:spPr>
        <p:txBody>
          <a:bodyPr wrap="square" lIns="0" tIns="0" rIns="0" bIns="0" rtlCol="0" anchor="t"/>
          <a:lstStyle/>
          <a:p>
            <a:pPr marL="0" indent="0" algn="l">
              <a:lnSpc>
                <a:spcPct val="132000"/>
              </a:lnSpc>
              <a:buNone/>
            </a:pPr>
            <a:r>
              <a:rPr lang="en-US" sz="1250" b="1" dirty="0">
                <a:solidFill>
                  <a:srgbClr val="8A1C2B"/>
                </a:solidFill>
                <a:latin typeface="Consolas" pitchFamily="34" charset="0"/>
                <a:ea typeface="Consolas" pitchFamily="34" charset="-122"/>
                <a:cs typeface="Consolas" pitchFamily="34" charset="-120"/>
              </a:rPr>
              <a:t>#:sdk Cadenza.Worker@1.0.15</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await Run(async (ct) =&gt;</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while (!ct.IsCancellationRequested)</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Log.Info($"Heartbeat {DateTime.UtcNow:O}");</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await Task.Delay(FromSeconds(3), ct);</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a:t>
            </a:r>
            <a:endParaRPr lang="en-US" sz="1250" dirty="0"/>
          </a:p>
        </p:txBody>
      </p:sp>
      <p:sp>
        <p:nvSpPr>
          <p:cNvPr id="16" name="Shape 14"/>
          <p:cNvSpPr/>
          <p:nvPr/>
        </p:nvSpPr>
        <p:spPr>
          <a:xfrm>
            <a:off x="7726680" y="2194560"/>
            <a:ext cx="109728" cy="109728"/>
          </a:xfrm>
          <a:prstGeom prst="ellipse">
            <a:avLst/>
          </a:prstGeom>
          <a:solidFill>
            <a:srgbClr val="8A1C2B"/>
          </a:solidFill>
          <a:ln/>
        </p:spPr>
        <p:txBody>
          <a:bodyPr/>
          <a:lstStyle/>
          <a:p>
            <a:endParaRPr lang="ko-KR" altLang="en-US"/>
          </a:p>
        </p:txBody>
      </p:sp>
      <p:sp>
        <p:nvSpPr>
          <p:cNvPr id="17" name="Text 15"/>
          <p:cNvSpPr/>
          <p:nvPr/>
        </p:nvSpPr>
        <p:spPr>
          <a:xfrm>
            <a:off x="8001000" y="2103120"/>
            <a:ext cx="3611880" cy="868680"/>
          </a:xfrm>
          <a:prstGeom prst="rect">
            <a:avLst/>
          </a:prstGeom>
          <a:noFill/>
          <a:ln/>
        </p:spPr>
        <p:txBody>
          <a:bodyPr wrap="square" lIns="0" tIns="0" rIns="0" bIns="0" rtlCol="0" anchor="t"/>
          <a:lstStyle/>
          <a:p>
            <a:pPr marL="0" indent="0">
              <a:lnSpc>
                <a:spcPct val="118000"/>
              </a:lnSpc>
              <a:buNone/>
            </a:pPr>
            <a:r>
              <a:rPr lang="en-US" sz="1300" dirty="0">
                <a:solidFill>
                  <a:srgbClr val="6C7180"/>
                </a:solidFill>
                <a:latin typeface="Malgun Gothic" pitchFamily="34" charset="0"/>
                <a:ea typeface="Malgun Gothic" pitchFamily="34" charset="-122"/>
                <a:cs typeface="Malgun Gothic" pitchFamily="34" charset="-120"/>
              </a:rPr>
              <a:t>3초마다 </a:t>
            </a:r>
            <a:r>
              <a:rPr lang="en-US" sz="1300" dirty="0" err="1">
                <a:solidFill>
                  <a:srgbClr val="6C7180"/>
                </a:solidFill>
                <a:latin typeface="Malgun Gothic" pitchFamily="34" charset="0"/>
                <a:ea typeface="Malgun Gothic" pitchFamily="34" charset="-122"/>
                <a:cs typeface="Malgun Gothic" pitchFamily="34" charset="-120"/>
              </a:rPr>
              <a:t>로그</a:t>
            </a:r>
            <a:r>
              <a:rPr lang="ko-KR" altLang="en-US" sz="1300" dirty="0">
                <a:solidFill>
                  <a:srgbClr val="6C7180"/>
                </a:solidFill>
                <a:latin typeface="Malgun Gothic" pitchFamily="34" charset="0"/>
                <a:ea typeface="Malgun Gothic" pitchFamily="34" charset="-122"/>
                <a:cs typeface="Malgun Gothic" pitchFamily="34" charset="-120"/>
              </a:rPr>
              <a:t>를 남깁니다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18" name="Shape 16"/>
          <p:cNvSpPr/>
          <p:nvPr/>
        </p:nvSpPr>
        <p:spPr>
          <a:xfrm>
            <a:off x="7726680" y="3108960"/>
            <a:ext cx="109728" cy="109728"/>
          </a:xfrm>
          <a:prstGeom prst="ellipse">
            <a:avLst/>
          </a:prstGeom>
          <a:solidFill>
            <a:srgbClr val="8A1C2B"/>
          </a:solidFill>
          <a:ln/>
        </p:spPr>
        <p:txBody>
          <a:bodyPr/>
          <a:lstStyle/>
          <a:p>
            <a:endParaRPr lang="ko-KR" altLang="en-US"/>
          </a:p>
        </p:txBody>
      </p:sp>
      <p:sp>
        <p:nvSpPr>
          <p:cNvPr id="19" name="Text 17"/>
          <p:cNvSpPr/>
          <p:nvPr/>
        </p:nvSpPr>
        <p:spPr>
          <a:xfrm>
            <a:off x="8001000" y="3017520"/>
            <a:ext cx="3611880" cy="868680"/>
          </a:xfrm>
          <a:prstGeom prst="rect">
            <a:avLst/>
          </a:prstGeom>
          <a:noFill/>
          <a:ln/>
        </p:spPr>
        <p:txBody>
          <a:bodyPr wrap="square" lIns="0" tIns="0" rIns="0" bIns="0" rtlCol="0" anchor="t"/>
          <a:lstStyle/>
          <a:p>
            <a:pPr marL="0" indent="0">
              <a:lnSpc>
                <a:spcPct val="118000"/>
              </a:lnSpc>
              <a:buNone/>
            </a:pPr>
            <a:r>
              <a:rPr lang="en-US" sz="1300" dirty="0">
                <a:solidFill>
                  <a:srgbClr val="6C7180"/>
                </a:solidFill>
                <a:latin typeface="Malgun Gothic" pitchFamily="34" charset="0"/>
                <a:ea typeface="Malgun Gothic" pitchFamily="34" charset="-122"/>
                <a:cs typeface="Malgun Gothic" pitchFamily="34" charset="-120"/>
              </a:rPr>
              <a:t>핵심은 Run이 </a:t>
            </a:r>
            <a:r>
              <a:rPr lang="en-US" sz="1300" dirty="0" err="1">
                <a:solidFill>
                  <a:srgbClr val="6C7180"/>
                </a:solidFill>
                <a:latin typeface="Malgun Gothic" pitchFamily="34" charset="0"/>
                <a:ea typeface="Malgun Gothic" pitchFamily="34" charset="-122"/>
                <a:cs typeface="Malgun Gothic" pitchFamily="34" charset="-120"/>
              </a:rPr>
              <a:t>넘기는</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CancellationToken</a:t>
            </a:r>
            <a:r>
              <a:rPr lang="ko-KR" altLang="en-US" sz="1300" dirty="0">
                <a:solidFill>
                  <a:srgbClr val="6C7180"/>
                </a:solidFill>
                <a:latin typeface="Malgun Gothic" pitchFamily="34" charset="0"/>
                <a:ea typeface="Malgun Gothic" pitchFamily="34" charset="-122"/>
                <a:cs typeface="Malgun Gothic" pitchFamily="34" charset="-120"/>
              </a:rPr>
              <a:t>에 있습니다</a:t>
            </a:r>
            <a:r>
              <a:rPr lang="en-US" altLang="ko-KR" sz="1300" dirty="0">
                <a:solidFill>
                  <a:srgbClr val="6C7180"/>
                </a:solidFill>
                <a:latin typeface="Malgun Gothic" pitchFamily="34" charset="0"/>
                <a:ea typeface="Malgun Gothic" pitchFamily="34" charset="-122"/>
                <a:cs typeface="Malgun Gothic" pitchFamily="34" charset="-120"/>
              </a:rPr>
              <a:t>.</a:t>
            </a:r>
            <a:r>
              <a:rPr lang="en-US" sz="1300" dirty="0">
                <a:solidFill>
                  <a:srgbClr val="6C7180"/>
                </a:solidFill>
                <a:latin typeface="Malgun Gothic" pitchFamily="34" charset="0"/>
                <a:ea typeface="Malgun Gothic" pitchFamily="34" charset="-122"/>
                <a:cs typeface="Malgun Gothic" pitchFamily="34" charset="-120"/>
              </a:rPr>
              <a:t> Ctrl+C에 루프가 </a:t>
            </a:r>
            <a:r>
              <a:rPr lang="en-US" sz="1300" dirty="0" err="1">
                <a:solidFill>
                  <a:srgbClr val="6C7180"/>
                </a:solidFill>
                <a:latin typeface="Malgun Gothic" pitchFamily="34" charset="0"/>
                <a:ea typeface="Malgun Gothic" pitchFamily="34" charset="-122"/>
                <a:cs typeface="Malgun Gothic" pitchFamily="34" charset="-120"/>
              </a:rPr>
              <a:t>우아하게</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종료</a:t>
            </a:r>
            <a:r>
              <a:rPr lang="ko-KR" altLang="en-US" sz="1300" dirty="0">
                <a:solidFill>
                  <a:srgbClr val="6C7180"/>
                </a:solidFill>
                <a:latin typeface="Malgun Gothic" pitchFamily="34" charset="0"/>
                <a:ea typeface="Malgun Gothic" pitchFamily="34" charset="-122"/>
                <a:cs typeface="Malgun Gothic" pitchFamily="34" charset="-120"/>
              </a:rPr>
              <a:t>할 수 있게 </a:t>
            </a:r>
            <a:r>
              <a:rPr lang="ko-KR" altLang="en-US" sz="1300" dirty="0" err="1">
                <a:solidFill>
                  <a:srgbClr val="6C7180"/>
                </a:solidFill>
                <a:latin typeface="Malgun Gothic" pitchFamily="34" charset="0"/>
                <a:ea typeface="Malgun Gothic" pitchFamily="34" charset="-122"/>
                <a:cs typeface="Malgun Gothic" pitchFamily="34" charset="-120"/>
              </a:rPr>
              <a:t>돕습니다</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강제</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종료가</a:t>
            </a:r>
            <a:r>
              <a:rPr lang="ko-KR" altLang="en-US" sz="1300" dirty="0">
                <a:solidFill>
                  <a:srgbClr val="6C7180"/>
                </a:solidFill>
                <a:latin typeface="Malgun Gothic" pitchFamily="34" charset="0"/>
                <a:ea typeface="Malgun Gothic" pitchFamily="34" charset="-122"/>
                <a:cs typeface="Malgun Gothic" pitchFamily="34" charset="-120"/>
              </a:rPr>
              <a:t> </a:t>
            </a:r>
            <a:r>
              <a:rPr lang="ko-KR" altLang="en-US" sz="1300" dirty="0" err="1">
                <a:solidFill>
                  <a:srgbClr val="6C7180"/>
                </a:solidFill>
                <a:latin typeface="Malgun Gothic" pitchFamily="34" charset="0"/>
                <a:ea typeface="Malgun Gothic" pitchFamily="34" charset="-122"/>
                <a:cs typeface="Malgun Gothic" pitchFamily="34" charset="-120"/>
              </a:rPr>
              <a:t>아닙니</a:t>
            </a:r>
            <a:r>
              <a:rPr lang="en-US" sz="1300" dirty="0">
                <a:solidFill>
                  <a:srgbClr val="6C7180"/>
                </a:solidFill>
                <a:latin typeface="Malgun Gothic" pitchFamily="34" charset="0"/>
                <a:ea typeface="Malgun Gothic" pitchFamily="34" charset="-122"/>
                <a:cs typeface="Malgun Gothic" pitchFamily="34" charset="-120"/>
              </a:rPr>
              <a:t>다.</a:t>
            </a:r>
            <a:endParaRPr lang="en-US" sz="1300" dirty="0"/>
          </a:p>
        </p:txBody>
      </p:sp>
      <p:sp>
        <p:nvSpPr>
          <p:cNvPr id="20" name="Shape 18"/>
          <p:cNvSpPr/>
          <p:nvPr/>
        </p:nvSpPr>
        <p:spPr>
          <a:xfrm>
            <a:off x="7726680" y="4023360"/>
            <a:ext cx="109728" cy="109728"/>
          </a:xfrm>
          <a:prstGeom prst="ellipse">
            <a:avLst/>
          </a:prstGeom>
          <a:solidFill>
            <a:srgbClr val="8A1C2B"/>
          </a:solidFill>
          <a:ln/>
        </p:spPr>
        <p:txBody>
          <a:bodyPr/>
          <a:lstStyle/>
          <a:p>
            <a:endParaRPr lang="ko-KR" altLang="en-US"/>
          </a:p>
        </p:txBody>
      </p:sp>
      <p:sp>
        <p:nvSpPr>
          <p:cNvPr id="21" name="Text 19"/>
          <p:cNvSpPr/>
          <p:nvPr/>
        </p:nvSpPr>
        <p:spPr>
          <a:xfrm>
            <a:off x="8001000" y="3931920"/>
            <a:ext cx="3611880" cy="868680"/>
          </a:xfrm>
          <a:prstGeom prst="rect">
            <a:avLst/>
          </a:prstGeom>
          <a:noFill/>
          <a:ln/>
        </p:spPr>
        <p:txBody>
          <a:bodyPr wrap="square" lIns="0" tIns="0" rIns="0" bIns="0" rtlCol="0" anchor="t"/>
          <a:lstStyle/>
          <a:p>
            <a:pPr marL="0" indent="0">
              <a:lnSpc>
                <a:spcPct val="118000"/>
              </a:lnSpc>
              <a:buNone/>
            </a:pPr>
            <a:r>
              <a:rPr lang="ko-KR" altLang="en-US" sz="1300" dirty="0">
                <a:solidFill>
                  <a:srgbClr val="6C7180"/>
                </a:solidFill>
                <a:latin typeface="Malgun Gothic" pitchFamily="34" charset="0"/>
                <a:ea typeface="Malgun Gothic" pitchFamily="34" charset="-122"/>
                <a:cs typeface="Malgun Gothic" pitchFamily="34" charset="-120"/>
              </a:rPr>
              <a:t>구조화된 </a:t>
            </a:r>
            <a:r>
              <a:rPr lang="en-US" sz="1300" dirty="0" err="1">
                <a:solidFill>
                  <a:srgbClr val="6C7180"/>
                </a:solidFill>
                <a:latin typeface="Malgun Gothic" pitchFamily="34" charset="0"/>
                <a:ea typeface="Malgun Gothic" pitchFamily="34" charset="-122"/>
                <a:cs typeface="Malgun Gothic" pitchFamily="34" charset="-120"/>
              </a:rPr>
              <a:t>출력</a:t>
            </a:r>
            <a:r>
              <a:rPr lang="ko-KR" altLang="en-US" sz="1300" dirty="0">
                <a:solidFill>
                  <a:srgbClr val="6C7180"/>
                </a:solidFill>
                <a:latin typeface="Malgun Gothic" pitchFamily="34" charset="0"/>
                <a:ea typeface="Malgun Gothic" pitchFamily="34" charset="-122"/>
                <a:cs typeface="Malgun Gothic" pitchFamily="34" charset="-120"/>
              </a:rPr>
              <a:t>을 위해</a:t>
            </a:r>
            <a:r>
              <a:rPr lang="en-US" sz="1300" dirty="0">
                <a:solidFill>
                  <a:srgbClr val="6C7180"/>
                </a:solidFill>
                <a:latin typeface="Malgun Gothic" pitchFamily="34" charset="0"/>
                <a:ea typeface="Malgun Gothic" pitchFamily="34" charset="-122"/>
                <a:cs typeface="Malgun Gothic" pitchFamily="34" charset="-120"/>
              </a:rPr>
              <a:t> WriteLine이 아니라 </a:t>
            </a:r>
            <a:r>
              <a:rPr lang="en-US" sz="1300" dirty="0" err="1">
                <a:solidFill>
                  <a:srgbClr val="6C7180"/>
                </a:solidFill>
                <a:latin typeface="Malgun Gothic" pitchFamily="34" charset="0"/>
                <a:ea typeface="Malgun Gothic" pitchFamily="34" charset="-122"/>
                <a:cs typeface="Malgun Gothic" pitchFamily="34" charset="-120"/>
              </a:rPr>
              <a:t>Log.Info</a:t>
            </a:r>
            <a:r>
              <a:rPr lang="ko-KR" altLang="en-US" sz="1300" dirty="0">
                <a:solidFill>
                  <a:srgbClr val="6C7180"/>
                </a:solidFill>
                <a:latin typeface="Malgun Gothic" pitchFamily="34" charset="0"/>
                <a:ea typeface="Malgun Gothic" pitchFamily="34" charset="-122"/>
                <a:cs typeface="Malgun Gothic" pitchFamily="34" charset="-120"/>
              </a:rPr>
              <a:t>로 남깁니다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Tree>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데모 4  ·  MCP SERVER</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000" b="1" dirty="0">
                <a:solidFill>
                  <a:srgbClr val="1F2330"/>
                </a:solidFill>
                <a:latin typeface="Batang" pitchFamily="34" charset="0"/>
                <a:ea typeface="Batang" pitchFamily="34" charset="-122"/>
                <a:cs typeface="Batang" pitchFamily="34" charset="-120"/>
              </a:rPr>
              <a:t>MCP 서버 — AI에게 도구를 쥐여주다</a:t>
            </a:r>
            <a:endParaRPr lang="en-US" sz="30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18</a:t>
            </a:r>
            <a:endParaRPr lang="en-US" sz="900" dirty="0"/>
          </a:p>
        </p:txBody>
      </p:sp>
      <p:sp>
        <p:nvSpPr>
          <p:cNvPr id="13" name="Shape 11"/>
          <p:cNvSpPr/>
          <p:nvPr/>
        </p:nvSpPr>
        <p:spPr>
          <a:xfrm>
            <a:off x="548640" y="2057400"/>
            <a:ext cx="6903720" cy="251460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4008" cy="2514600"/>
          </a:xfrm>
          <a:prstGeom prst="rect">
            <a:avLst/>
          </a:prstGeom>
          <a:solidFill>
            <a:srgbClr val="8A1C2B"/>
          </a:solidFill>
          <a:ln/>
        </p:spPr>
        <p:txBody>
          <a:bodyPr/>
          <a:lstStyle/>
          <a:p>
            <a:endParaRPr lang="ko-KR" altLang="en-US"/>
          </a:p>
        </p:txBody>
      </p:sp>
      <p:sp>
        <p:nvSpPr>
          <p:cNvPr id="15" name="Text 13"/>
          <p:cNvSpPr/>
          <p:nvPr/>
        </p:nvSpPr>
        <p:spPr>
          <a:xfrm>
            <a:off x="804672" y="2185416"/>
            <a:ext cx="6446520" cy="2258568"/>
          </a:xfrm>
          <a:prstGeom prst="rect">
            <a:avLst/>
          </a:prstGeom>
          <a:noFill/>
          <a:ln/>
        </p:spPr>
        <p:txBody>
          <a:bodyPr wrap="square" lIns="0" tIns="0" rIns="0" bIns="0" rtlCol="0" anchor="t"/>
          <a:lstStyle/>
          <a:p>
            <a:pPr marL="0" indent="0" algn="l">
              <a:lnSpc>
                <a:spcPct val="132000"/>
              </a:lnSpc>
              <a:buNone/>
            </a:pPr>
            <a:r>
              <a:rPr lang="en-US" sz="1250" b="1" dirty="0">
                <a:solidFill>
                  <a:srgbClr val="8A1C2B"/>
                </a:solidFill>
                <a:latin typeface="Consolas" pitchFamily="34" charset="0"/>
                <a:ea typeface="Consolas" pitchFamily="34" charset="-122"/>
                <a:cs typeface="Consolas" pitchFamily="34" charset="-120"/>
              </a:rPr>
              <a:t>#:sdk Cadenza.Mcp@1.0.15</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Tool("read_file", "Read a text file",</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(string path) =&gt; ReadText(path));</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Tool("list_files", "List by glob",</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    (string p) =&gt; Glob(p).ToArray());</a:t>
            </a:r>
            <a:endParaRPr lang="en-US" sz="1250" dirty="0"/>
          </a:p>
          <a:p>
            <a:pPr marL="0" indent="0" algn="l">
              <a:lnSpc>
                <a:spcPct val="132000"/>
              </a:lnSpc>
              <a:buNone/>
            </a:pPr>
            <a:r>
              <a:rPr lang="en-US" sz="1250" dirty="0">
                <a:solidFill>
                  <a:srgbClr val="1F2330"/>
                </a:solidFill>
                <a:latin typeface="Consolas" pitchFamily="34" charset="0"/>
                <a:ea typeface="Consolas" pitchFamily="34" charset="-122"/>
                <a:cs typeface="Consolas" pitchFamily="34" charset="-120"/>
              </a:rPr>
              <a:t>await Run();</a:t>
            </a:r>
            <a:endParaRPr lang="en-US" sz="1250" dirty="0"/>
          </a:p>
        </p:txBody>
      </p:sp>
      <p:sp>
        <p:nvSpPr>
          <p:cNvPr id="16" name="Text 14"/>
          <p:cNvSpPr/>
          <p:nvPr/>
        </p:nvSpPr>
        <p:spPr>
          <a:xfrm>
            <a:off x="566928" y="4709160"/>
            <a:ext cx="6858000" cy="731520"/>
          </a:xfrm>
          <a:prstGeom prst="rect">
            <a:avLst/>
          </a:prstGeom>
          <a:noFill/>
          <a:ln/>
        </p:spPr>
        <p:txBody>
          <a:bodyPr wrap="square" lIns="0" tIns="0" rIns="0" bIns="0" rtlCol="0" anchor="t"/>
          <a:lstStyle/>
          <a:p>
            <a:pPr marL="0" indent="0">
              <a:lnSpc>
                <a:spcPct val="120000"/>
              </a:lnSpc>
              <a:buNone/>
            </a:pPr>
            <a:r>
              <a:rPr lang="en-US" sz="1250" dirty="0">
                <a:solidFill>
                  <a:srgbClr val="6C7180"/>
                </a:solidFill>
                <a:latin typeface="Malgun Gothic" pitchFamily="34" charset="0"/>
                <a:ea typeface="Malgun Gothic" pitchFamily="34" charset="-122"/>
                <a:cs typeface="Malgun Gothic" pitchFamily="34" charset="-120"/>
              </a:rPr>
              <a:t>Tool로 이름·설명·동작(람다)을 </a:t>
            </a:r>
            <a:r>
              <a:rPr lang="en-US" sz="1250" dirty="0" err="1">
                <a:solidFill>
                  <a:srgbClr val="6C7180"/>
                </a:solidFill>
                <a:latin typeface="Malgun Gothic" pitchFamily="34" charset="0"/>
                <a:ea typeface="Malgun Gothic" pitchFamily="34" charset="-122"/>
                <a:cs typeface="Malgun Gothic" pitchFamily="34" charset="-120"/>
              </a:rPr>
              <a:t>등록</a:t>
            </a:r>
            <a:r>
              <a:rPr lang="ko-KR" altLang="en-US" sz="1250" dirty="0">
                <a:solidFill>
                  <a:srgbClr val="6C7180"/>
                </a:solidFill>
                <a:latin typeface="Malgun Gothic" pitchFamily="34" charset="0"/>
                <a:ea typeface="Malgun Gothic" pitchFamily="34" charset="-122"/>
                <a:cs typeface="Malgun Gothic" pitchFamily="34" charset="-120"/>
              </a:rPr>
              <a:t>합니다</a:t>
            </a:r>
            <a:r>
              <a:rPr lang="en-US" sz="1250" dirty="0">
                <a:solidFill>
                  <a:srgbClr val="6C7180"/>
                </a:solidFill>
                <a:latin typeface="Malgun Gothic" pitchFamily="34" charset="0"/>
                <a:ea typeface="Malgun Gothic" pitchFamily="34" charset="-122"/>
                <a:cs typeface="Malgun Gothic" pitchFamily="34" charset="-120"/>
              </a:rPr>
              <a:t>. AI가 설명을 읽고 언제 부를지 </a:t>
            </a:r>
            <a:r>
              <a:rPr lang="en-US" sz="1250" dirty="0" err="1">
                <a:solidFill>
                  <a:srgbClr val="6C7180"/>
                </a:solidFill>
                <a:latin typeface="Malgun Gothic" pitchFamily="34" charset="0"/>
                <a:ea typeface="Malgun Gothic" pitchFamily="34" charset="-122"/>
                <a:cs typeface="Malgun Gothic" pitchFamily="34" charset="-120"/>
              </a:rPr>
              <a:t>스스로</a:t>
            </a:r>
            <a:r>
              <a:rPr lang="en-US" sz="1250" dirty="0">
                <a:solidFill>
                  <a:srgbClr val="6C7180"/>
                </a:solidFill>
                <a:latin typeface="Malgun Gothic" pitchFamily="34" charset="0"/>
                <a:ea typeface="Malgun Gothic" pitchFamily="34" charset="-122"/>
                <a:cs typeface="Malgun Gothic" pitchFamily="34" charset="-120"/>
              </a:rPr>
              <a:t> </a:t>
            </a:r>
            <a:r>
              <a:rPr lang="en-US" sz="1250" dirty="0" err="1">
                <a:solidFill>
                  <a:srgbClr val="6C7180"/>
                </a:solidFill>
                <a:latin typeface="Malgun Gothic" pitchFamily="34" charset="0"/>
                <a:ea typeface="Malgun Gothic" pitchFamily="34" charset="-122"/>
                <a:cs typeface="Malgun Gothic" pitchFamily="34" charset="-120"/>
              </a:rPr>
              <a:t>판단</a:t>
            </a:r>
            <a:r>
              <a:rPr lang="ko-KR" altLang="en-US" sz="1250" dirty="0">
                <a:solidFill>
                  <a:srgbClr val="6C7180"/>
                </a:solidFill>
                <a:latin typeface="Malgun Gothic" pitchFamily="34" charset="0"/>
                <a:ea typeface="Malgun Gothic" pitchFamily="34" charset="-122"/>
                <a:cs typeface="Malgun Gothic" pitchFamily="34" charset="-120"/>
              </a:rPr>
              <a:t>합니다</a:t>
            </a:r>
            <a:r>
              <a:rPr lang="en-US" sz="1250" dirty="0">
                <a:solidFill>
                  <a:srgbClr val="6C7180"/>
                </a:solidFill>
                <a:latin typeface="Malgun Gothic" pitchFamily="34" charset="0"/>
                <a:ea typeface="Malgun Gothic" pitchFamily="34" charset="-122"/>
                <a:cs typeface="Malgun Gothic" pitchFamily="34" charset="-120"/>
              </a:rPr>
              <a:t>. Run이 stdio로 MCP </a:t>
            </a:r>
            <a:r>
              <a:rPr lang="en-US" sz="1250" dirty="0" err="1">
                <a:solidFill>
                  <a:srgbClr val="6C7180"/>
                </a:solidFill>
                <a:latin typeface="Malgun Gothic" pitchFamily="34" charset="0"/>
                <a:ea typeface="Malgun Gothic" pitchFamily="34" charset="-122"/>
                <a:cs typeface="Malgun Gothic" pitchFamily="34" charset="-120"/>
              </a:rPr>
              <a:t>서버를</a:t>
            </a:r>
            <a:r>
              <a:rPr lang="en-US" sz="1250" dirty="0">
                <a:solidFill>
                  <a:srgbClr val="6C7180"/>
                </a:solidFill>
                <a:latin typeface="Malgun Gothic" pitchFamily="34" charset="0"/>
                <a:ea typeface="Malgun Gothic" pitchFamily="34" charset="-122"/>
                <a:cs typeface="Malgun Gothic" pitchFamily="34" charset="-120"/>
              </a:rPr>
              <a:t> </a:t>
            </a:r>
            <a:r>
              <a:rPr lang="en-US" sz="1250" dirty="0" err="1">
                <a:solidFill>
                  <a:srgbClr val="6C7180"/>
                </a:solidFill>
                <a:latin typeface="Malgun Gothic" pitchFamily="34" charset="0"/>
                <a:ea typeface="Malgun Gothic" pitchFamily="34" charset="-122"/>
                <a:cs typeface="Malgun Gothic" pitchFamily="34" charset="-120"/>
              </a:rPr>
              <a:t>가동</a:t>
            </a:r>
            <a:r>
              <a:rPr lang="ko-KR" altLang="en-US" sz="1250" dirty="0">
                <a:solidFill>
                  <a:srgbClr val="6C7180"/>
                </a:solidFill>
                <a:latin typeface="Malgun Gothic" pitchFamily="34" charset="0"/>
                <a:ea typeface="Malgun Gothic" pitchFamily="34" charset="-122"/>
                <a:cs typeface="Malgun Gothic" pitchFamily="34" charset="-120"/>
              </a:rPr>
              <a:t>합니다</a:t>
            </a:r>
            <a:r>
              <a:rPr lang="en-US" sz="1250" dirty="0">
                <a:solidFill>
                  <a:srgbClr val="6C7180"/>
                </a:solidFill>
                <a:latin typeface="Malgun Gothic" pitchFamily="34" charset="0"/>
                <a:ea typeface="Malgun Gothic" pitchFamily="34" charset="-122"/>
                <a:cs typeface="Malgun Gothic" pitchFamily="34" charset="-120"/>
              </a:rPr>
              <a:t>.</a:t>
            </a:r>
            <a:endParaRPr lang="en-US" sz="1250" dirty="0"/>
          </a:p>
        </p:txBody>
      </p:sp>
      <p:sp>
        <p:nvSpPr>
          <p:cNvPr id="17" name="Shape 15"/>
          <p:cNvSpPr/>
          <p:nvPr/>
        </p:nvSpPr>
        <p:spPr>
          <a:xfrm>
            <a:off x="7726680" y="2103120"/>
            <a:ext cx="3886200" cy="1691640"/>
          </a:xfrm>
          <a:prstGeom prst="rect">
            <a:avLst/>
          </a:prstGeom>
          <a:solidFill>
            <a:srgbClr val="F0E0E1"/>
          </a:solidFill>
          <a:ln w="12700">
            <a:solidFill>
              <a:srgbClr val="8A1C2B"/>
            </a:solidFill>
            <a:prstDash val="solid"/>
          </a:ln>
        </p:spPr>
        <p:txBody>
          <a:bodyPr/>
          <a:lstStyle/>
          <a:p>
            <a:endParaRPr lang="ko-KR" altLang="en-US"/>
          </a:p>
        </p:txBody>
      </p:sp>
      <p:sp>
        <p:nvSpPr>
          <p:cNvPr id="18" name="Text 16"/>
          <p:cNvSpPr/>
          <p:nvPr/>
        </p:nvSpPr>
        <p:spPr>
          <a:xfrm>
            <a:off x="7955280" y="2240280"/>
            <a:ext cx="3429000" cy="365760"/>
          </a:xfrm>
          <a:prstGeom prst="rect">
            <a:avLst/>
          </a:prstGeom>
          <a:noFill/>
          <a:ln/>
        </p:spPr>
        <p:txBody>
          <a:bodyPr wrap="square" lIns="0" tIns="0" rIns="0" bIns="0" rtlCol="0" anchor="ctr"/>
          <a:lstStyle/>
          <a:p>
            <a:pPr marL="0" indent="0">
              <a:buNone/>
            </a:pPr>
            <a:r>
              <a:rPr lang="en-US" sz="1400" b="1" dirty="0">
                <a:solidFill>
                  <a:srgbClr val="8A1C2B"/>
                </a:solidFill>
                <a:latin typeface="Malgun Gothic" pitchFamily="34" charset="0"/>
                <a:ea typeface="Malgun Gothic" pitchFamily="34" charset="-122"/>
                <a:cs typeface="Malgun Gothic" pitchFamily="34" charset="-120"/>
              </a:rPr>
              <a:t>함정 — WriteLine 금지</a:t>
            </a:r>
            <a:endParaRPr lang="en-US" sz="1400" dirty="0"/>
          </a:p>
        </p:txBody>
      </p:sp>
      <p:sp>
        <p:nvSpPr>
          <p:cNvPr id="19" name="Text 17"/>
          <p:cNvSpPr/>
          <p:nvPr/>
        </p:nvSpPr>
        <p:spPr>
          <a:xfrm>
            <a:off x="7955280" y="2651760"/>
            <a:ext cx="3429000" cy="1097280"/>
          </a:xfrm>
          <a:prstGeom prst="rect">
            <a:avLst/>
          </a:prstGeom>
          <a:noFill/>
          <a:ln/>
        </p:spPr>
        <p:txBody>
          <a:bodyPr wrap="square" lIns="0" tIns="0" rIns="0" bIns="0" rtlCol="0" anchor="t"/>
          <a:lstStyle/>
          <a:p>
            <a:pPr marL="0" indent="0">
              <a:lnSpc>
                <a:spcPct val="118000"/>
              </a:lnSpc>
              <a:buNone/>
            </a:pPr>
            <a:r>
              <a:rPr lang="en-US" sz="1200" dirty="0">
                <a:solidFill>
                  <a:srgbClr val="1F2330"/>
                </a:solidFill>
                <a:latin typeface="Malgun Gothic" pitchFamily="34" charset="0"/>
                <a:ea typeface="Malgun Gothic" pitchFamily="34" charset="-122"/>
                <a:cs typeface="Malgun Gothic" pitchFamily="34" charset="-120"/>
              </a:rPr>
              <a:t>stdio MCP 서버는 표준 출력으로 JSON-</a:t>
            </a:r>
            <a:r>
              <a:rPr lang="en-US" sz="1200" dirty="0" err="1">
                <a:solidFill>
                  <a:srgbClr val="1F2330"/>
                </a:solidFill>
                <a:latin typeface="Malgun Gothic" pitchFamily="34" charset="0"/>
                <a:ea typeface="Malgun Gothic" pitchFamily="34" charset="-122"/>
                <a:cs typeface="Malgun Gothic" pitchFamily="34" charset="-120"/>
              </a:rPr>
              <a:t>RPC를</a:t>
            </a:r>
            <a:r>
              <a:rPr lang="en-US" sz="1200" dirty="0">
                <a:solidFill>
                  <a:srgbClr val="1F2330"/>
                </a:solidFill>
                <a:latin typeface="Malgun Gothic" pitchFamily="34" charset="0"/>
                <a:ea typeface="Malgun Gothic" pitchFamily="34" charset="-122"/>
                <a:cs typeface="Malgun Gothic" pitchFamily="34" charset="-120"/>
              </a:rPr>
              <a:t> </a:t>
            </a:r>
            <a:r>
              <a:rPr lang="en-US" sz="1200" dirty="0" err="1">
                <a:solidFill>
                  <a:srgbClr val="1F2330"/>
                </a:solidFill>
                <a:latin typeface="Malgun Gothic" pitchFamily="34" charset="0"/>
                <a:ea typeface="Malgun Gothic" pitchFamily="34" charset="-122"/>
                <a:cs typeface="Malgun Gothic" pitchFamily="34" charset="-120"/>
              </a:rPr>
              <a:t>주고받</a:t>
            </a:r>
            <a:r>
              <a:rPr lang="ko-KR" altLang="en-US" sz="1200" dirty="0">
                <a:solidFill>
                  <a:srgbClr val="1F2330"/>
                </a:solidFill>
                <a:latin typeface="Malgun Gothic" pitchFamily="34" charset="0"/>
                <a:ea typeface="Malgun Gothic" pitchFamily="34" charset="-122"/>
                <a:cs typeface="Malgun Gothic" pitchFamily="34" charset="-120"/>
              </a:rPr>
              <a:t>습니다</a:t>
            </a:r>
            <a:r>
              <a:rPr lang="en-US" sz="1200" dirty="0">
                <a:solidFill>
                  <a:srgbClr val="1F2330"/>
                </a:solidFill>
                <a:latin typeface="Malgun Gothic" pitchFamily="34" charset="0"/>
                <a:ea typeface="Malgun Gothic" pitchFamily="34" charset="-122"/>
                <a:cs typeface="Malgun Gothic" pitchFamily="34" charset="-120"/>
              </a:rPr>
              <a:t>다. </a:t>
            </a:r>
            <a:r>
              <a:rPr lang="ko-KR" altLang="en-US" sz="1200" dirty="0">
                <a:solidFill>
                  <a:srgbClr val="1F2330"/>
                </a:solidFill>
                <a:latin typeface="Malgun Gothic" pitchFamily="34" charset="0"/>
                <a:ea typeface="Malgun Gothic" pitchFamily="34" charset="-122"/>
                <a:cs typeface="Malgun Gothic" pitchFamily="34" charset="-120"/>
              </a:rPr>
              <a:t>그래서 </a:t>
            </a:r>
            <a:r>
              <a:rPr lang="en-US" sz="1200" dirty="0" err="1">
                <a:solidFill>
                  <a:srgbClr val="1F2330"/>
                </a:solidFill>
                <a:latin typeface="Malgun Gothic" pitchFamily="34" charset="0"/>
                <a:ea typeface="Malgun Gothic" pitchFamily="34" charset="-122"/>
                <a:cs typeface="Malgun Gothic" pitchFamily="34" charset="-120"/>
              </a:rPr>
              <a:t>표준</a:t>
            </a:r>
            <a:r>
              <a:rPr lang="en-US" sz="1200" dirty="0">
                <a:solidFill>
                  <a:srgbClr val="1F2330"/>
                </a:solidFill>
                <a:latin typeface="Malgun Gothic" pitchFamily="34" charset="0"/>
                <a:ea typeface="Malgun Gothic" pitchFamily="34" charset="-122"/>
                <a:cs typeface="Malgun Gothic" pitchFamily="34" charset="-120"/>
              </a:rPr>
              <a:t> </a:t>
            </a:r>
            <a:r>
              <a:rPr lang="en-US" sz="1200" dirty="0" err="1">
                <a:solidFill>
                  <a:srgbClr val="1F2330"/>
                </a:solidFill>
                <a:latin typeface="Malgun Gothic" pitchFamily="34" charset="0"/>
                <a:ea typeface="Malgun Gothic" pitchFamily="34" charset="-122"/>
                <a:cs typeface="Malgun Gothic" pitchFamily="34" charset="-120"/>
              </a:rPr>
              <a:t>출력에</a:t>
            </a:r>
            <a:r>
              <a:rPr lang="en-US" sz="1200" dirty="0">
                <a:solidFill>
                  <a:srgbClr val="1F2330"/>
                </a:solidFill>
                <a:latin typeface="Malgun Gothic" pitchFamily="34" charset="0"/>
                <a:ea typeface="Malgun Gothic" pitchFamily="34" charset="-122"/>
                <a:cs typeface="Malgun Gothic" pitchFamily="34" charset="-120"/>
              </a:rPr>
              <a:t> </a:t>
            </a:r>
            <a:r>
              <a:rPr lang="ko-KR" altLang="en-US" sz="1200" dirty="0">
                <a:solidFill>
                  <a:srgbClr val="1F2330"/>
                </a:solidFill>
                <a:latin typeface="Malgun Gothic" pitchFamily="34" charset="0"/>
                <a:ea typeface="Malgun Gothic" pitchFamily="34" charset="-122"/>
                <a:cs typeface="Malgun Gothic" pitchFamily="34" charset="-120"/>
              </a:rPr>
              <a:t>다른 문자열을 </a:t>
            </a:r>
            <a:r>
              <a:rPr lang="en-US" sz="1200" dirty="0" err="1">
                <a:solidFill>
                  <a:srgbClr val="1F2330"/>
                </a:solidFill>
                <a:latin typeface="Malgun Gothic" pitchFamily="34" charset="0"/>
                <a:ea typeface="Malgun Gothic" pitchFamily="34" charset="-122"/>
                <a:cs typeface="Malgun Gothic" pitchFamily="34" charset="-120"/>
              </a:rPr>
              <a:t>쓰면</a:t>
            </a:r>
            <a:r>
              <a:rPr lang="en-US" sz="1200" dirty="0">
                <a:solidFill>
                  <a:srgbClr val="1F2330"/>
                </a:solidFill>
                <a:latin typeface="Malgun Gothic" pitchFamily="34" charset="0"/>
                <a:ea typeface="Malgun Gothic" pitchFamily="34" charset="-122"/>
                <a:cs typeface="Malgun Gothic" pitchFamily="34" charset="-120"/>
              </a:rPr>
              <a:t> </a:t>
            </a:r>
            <a:r>
              <a:rPr lang="en-US" sz="1200" dirty="0" err="1">
                <a:solidFill>
                  <a:srgbClr val="1F2330"/>
                </a:solidFill>
                <a:latin typeface="Malgun Gothic" pitchFamily="34" charset="0"/>
                <a:ea typeface="Malgun Gothic" pitchFamily="34" charset="-122"/>
                <a:cs typeface="Malgun Gothic" pitchFamily="34" charset="-120"/>
              </a:rPr>
              <a:t>연결이</a:t>
            </a:r>
            <a:r>
              <a:rPr lang="en-US" sz="1200" dirty="0">
                <a:solidFill>
                  <a:srgbClr val="1F2330"/>
                </a:solidFill>
                <a:latin typeface="Malgun Gothic" pitchFamily="34" charset="0"/>
                <a:ea typeface="Malgun Gothic" pitchFamily="34" charset="-122"/>
                <a:cs typeface="Malgun Gothic" pitchFamily="34" charset="-120"/>
              </a:rPr>
              <a:t> 끊</a:t>
            </a:r>
            <a:r>
              <a:rPr lang="ko-KR" altLang="en-US" sz="1200" dirty="0" err="1">
                <a:solidFill>
                  <a:srgbClr val="1F2330"/>
                </a:solidFill>
                <a:latin typeface="Malgun Gothic" pitchFamily="34" charset="0"/>
                <a:ea typeface="Malgun Gothic" pitchFamily="34" charset="-122"/>
                <a:cs typeface="Malgun Gothic" pitchFamily="34" charset="-120"/>
              </a:rPr>
              <a:t>깁니</a:t>
            </a:r>
            <a:r>
              <a:rPr lang="en-US" sz="1200" dirty="0">
                <a:solidFill>
                  <a:srgbClr val="1F2330"/>
                </a:solidFill>
                <a:latin typeface="Malgun Gothic" pitchFamily="34" charset="0"/>
                <a:ea typeface="Malgun Gothic" pitchFamily="34" charset="-122"/>
                <a:cs typeface="Malgun Gothic" pitchFamily="34" charset="-120"/>
              </a:rPr>
              <a:t>다. 진단은 Log.Info(표준 에러)로 </a:t>
            </a:r>
            <a:r>
              <a:rPr lang="ko-KR" altLang="en-US" sz="1200" dirty="0">
                <a:solidFill>
                  <a:srgbClr val="1F2330"/>
                </a:solidFill>
                <a:latin typeface="Malgun Gothic" pitchFamily="34" charset="0"/>
                <a:ea typeface="Malgun Gothic" pitchFamily="34" charset="-122"/>
                <a:cs typeface="Malgun Gothic" pitchFamily="34" charset="-120"/>
              </a:rPr>
              <a:t>남겨야 합니다</a:t>
            </a:r>
            <a:r>
              <a:rPr lang="en-US" altLang="ko-KR" sz="1200" dirty="0">
                <a:solidFill>
                  <a:srgbClr val="1F2330"/>
                </a:solidFill>
                <a:latin typeface="Malgun Gothic" pitchFamily="34" charset="0"/>
                <a:ea typeface="Malgun Gothic" pitchFamily="34" charset="-122"/>
                <a:cs typeface="Malgun Gothic" pitchFamily="34" charset="-120"/>
              </a:rPr>
              <a:t>.</a:t>
            </a:r>
            <a:endParaRPr lang="en-US" sz="1200" dirty="0"/>
          </a:p>
        </p:txBody>
      </p:sp>
      <p:sp>
        <p:nvSpPr>
          <p:cNvPr id="20" name="Text 18"/>
          <p:cNvSpPr/>
          <p:nvPr/>
        </p:nvSpPr>
        <p:spPr>
          <a:xfrm>
            <a:off x="7726680" y="4069080"/>
            <a:ext cx="3886200" cy="868680"/>
          </a:xfrm>
          <a:prstGeom prst="rect">
            <a:avLst/>
          </a:prstGeom>
          <a:noFill/>
          <a:ln/>
        </p:spPr>
        <p:txBody>
          <a:bodyPr wrap="square" lIns="0" tIns="0" rIns="0" bIns="0" rtlCol="0" anchor="t"/>
          <a:lstStyle/>
          <a:p>
            <a:pPr marL="0" indent="0">
              <a:lnSpc>
                <a:spcPct val="120000"/>
              </a:lnSpc>
              <a:buNone/>
            </a:pPr>
            <a:r>
              <a:rPr lang="en-US" sz="1300" dirty="0">
                <a:solidFill>
                  <a:srgbClr val="6C7180"/>
                </a:solidFill>
                <a:latin typeface="Malgun Gothic" pitchFamily="34" charset="0"/>
                <a:ea typeface="Malgun Gothic" pitchFamily="34" charset="-122"/>
                <a:cs typeface="Malgun Gothic" pitchFamily="34" charset="-120"/>
              </a:rPr>
              <a:t>우리가 등록한 list_files · read_file을 Claude가 </a:t>
            </a:r>
            <a:r>
              <a:rPr lang="en-US" sz="1300" dirty="0" err="1">
                <a:solidFill>
                  <a:srgbClr val="6C7180"/>
                </a:solidFill>
                <a:latin typeface="Malgun Gothic" pitchFamily="34" charset="0"/>
                <a:ea typeface="Malgun Gothic" pitchFamily="34" charset="-122"/>
                <a:cs typeface="Malgun Gothic" pitchFamily="34" charset="-120"/>
              </a:rPr>
              <a:t>직접</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호출</a:t>
            </a:r>
            <a:r>
              <a:rPr lang="ko-KR" altLang="en-US" sz="1300" dirty="0">
                <a:solidFill>
                  <a:srgbClr val="6C7180"/>
                </a:solidFill>
                <a:latin typeface="Malgun Gothic" pitchFamily="34" charset="0"/>
                <a:ea typeface="Malgun Gothic" pitchFamily="34" charset="-122"/>
                <a:cs typeface="Malgun Gothic" pitchFamily="34" charset="-120"/>
              </a:rPr>
              <a:t>합니다</a:t>
            </a:r>
            <a:r>
              <a:rPr lang="en-US" altLang="ko-KR" sz="1300" dirty="0">
                <a:solidFill>
                  <a:srgbClr val="6C7180"/>
                </a:solidFill>
                <a:latin typeface="Malgun Gothic" pitchFamily="34" charset="0"/>
                <a:ea typeface="Malgun Gothic" pitchFamily="34" charset="-122"/>
                <a:cs typeface="Malgun Gothic" pitchFamily="34" charset="-120"/>
              </a:rPr>
              <a:t>. </a:t>
            </a:r>
            <a:r>
              <a:rPr lang="ko-KR" altLang="en-US" sz="1300" dirty="0">
                <a:solidFill>
                  <a:srgbClr val="6C7180"/>
                </a:solidFill>
                <a:latin typeface="Malgun Gothic" pitchFamily="34" charset="0"/>
                <a:ea typeface="Malgun Gothic" pitchFamily="34" charset="-122"/>
                <a:cs typeface="Malgun Gothic" pitchFamily="34" charset="-120"/>
              </a:rPr>
              <a:t>이로써</a:t>
            </a:r>
            <a:r>
              <a:rPr lang="en-US" sz="1300" dirty="0">
                <a:solidFill>
                  <a:srgbClr val="6C7180"/>
                </a:solidFill>
                <a:latin typeface="Malgun Gothic" pitchFamily="34" charset="0"/>
                <a:ea typeface="Malgun Gothic" pitchFamily="34" charset="-122"/>
                <a:cs typeface="Malgun Gothic" pitchFamily="34" charset="-120"/>
              </a:rPr>
              <a:t> 우리가 만든 </a:t>
            </a:r>
            <a:r>
              <a:rPr lang="en-US" sz="1300" dirty="0" err="1">
                <a:solidFill>
                  <a:srgbClr val="6C7180"/>
                </a:solidFill>
                <a:latin typeface="Malgun Gothic" pitchFamily="34" charset="0"/>
                <a:ea typeface="Malgun Gothic" pitchFamily="34" charset="-122"/>
                <a:cs typeface="Malgun Gothic" pitchFamily="34" charset="-120"/>
              </a:rPr>
              <a:t>도구를</a:t>
            </a:r>
            <a:r>
              <a:rPr lang="en-US" sz="1300" dirty="0">
                <a:solidFill>
                  <a:srgbClr val="6C7180"/>
                </a:solidFill>
                <a:latin typeface="Malgun Gothic" pitchFamily="34" charset="0"/>
                <a:ea typeface="Malgun Gothic" pitchFamily="34" charset="-122"/>
                <a:cs typeface="Malgun Gothic" pitchFamily="34" charset="-120"/>
              </a:rPr>
              <a:t> AI</a:t>
            </a:r>
            <a:r>
              <a:rPr lang="ko-KR" altLang="en-US" sz="1300" dirty="0">
                <a:solidFill>
                  <a:srgbClr val="6C7180"/>
                </a:solidFill>
                <a:latin typeface="Malgun Gothic" pitchFamily="34" charset="0"/>
                <a:ea typeface="Malgun Gothic" pitchFamily="34" charset="-122"/>
                <a:cs typeface="Malgun Gothic" pitchFamily="34" charset="-120"/>
              </a:rPr>
              <a:t>가 인식하고 쓸 수 있습니다</a:t>
            </a:r>
            <a:r>
              <a:rPr lang="en-US" altLang="ko-KR" sz="1300" dirty="0">
                <a:solidFill>
                  <a:srgbClr val="6C7180"/>
                </a:solidFill>
                <a:latin typeface="Malgun Gothic" pitchFamily="34" charset="0"/>
                <a:ea typeface="Malgun Gothic" pitchFamily="34" charset="-122"/>
                <a:cs typeface="Malgun Gothic" pitchFamily="34" charset="-120"/>
              </a:rPr>
              <a:t>.</a:t>
            </a:r>
            <a:endParaRPr lang="en-US" sz="1300" dirty="0"/>
          </a:p>
        </p:txBody>
      </p:sp>
    </p:spTree>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A23"/>
        </a:solidFill>
        <a:effectLst/>
      </p:bgPr>
    </p:bg>
    <p:spTree>
      <p:nvGrpSpPr>
        <p:cNvPr id="1" name=""/>
        <p:cNvGrpSpPr/>
        <p:nvPr/>
      </p:nvGrpSpPr>
      <p:grpSpPr>
        <a:xfrm>
          <a:off x="0" y="0"/>
          <a:ext cx="0" cy="0"/>
          <a:chOff x="0" y="0"/>
          <a:chExt cx="0" cy="0"/>
        </a:xfrm>
      </p:grpSpPr>
      <p:sp>
        <p:nvSpPr>
          <p:cNvPr id="2" name="Shape 0"/>
          <p:cNvSpPr/>
          <p:nvPr/>
        </p:nvSpPr>
        <p:spPr>
          <a:xfrm>
            <a:off x="822960" y="1463040"/>
            <a:ext cx="10545775" cy="0"/>
          </a:xfrm>
          <a:prstGeom prst="line">
            <a:avLst/>
          </a:prstGeom>
          <a:noFill/>
          <a:ln w="9525">
            <a:solidFill>
              <a:srgbClr val="30343F"/>
            </a:solidFill>
            <a:prstDash val="solid"/>
          </a:ln>
        </p:spPr>
        <p:txBody>
          <a:bodyPr/>
          <a:lstStyle/>
          <a:p>
            <a:endParaRPr lang="ko-KR" altLang="en-US"/>
          </a:p>
        </p:txBody>
      </p:sp>
      <p:sp>
        <p:nvSpPr>
          <p:cNvPr id="3" name="Shape 1"/>
          <p:cNvSpPr/>
          <p:nvPr/>
        </p:nvSpPr>
        <p:spPr>
          <a:xfrm>
            <a:off x="822960" y="1609344"/>
            <a:ext cx="10545775" cy="0"/>
          </a:xfrm>
          <a:prstGeom prst="line">
            <a:avLst/>
          </a:prstGeom>
          <a:noFill/>
          <a:ln w="9525">
            <a:solidFill>
              <a:srgbClr val="30343F"/>
            </a:solidFill>
            <a:prstDash val="solid"/>
          </a:ln>
        </p:spPr>
        <p:txBody>
          <a:bodyPr/>
          <a:lstStyle/>
          <a:p>
            <a:endParaRPr lang="ko-KR" altLang="en-US"/>
          </a:p>
        </p:txBody>
      </p:sp>
      <p:sp>
        <p:nvSpPr>
          <p:cNvPr id="4" name="Shape 2"/>
          <p:cNvSpPr/>
          <p:nvPr/>
        </p:nvSpPr>
        <p:spPr>
          <a:xfrm>
            <a:off x="822960" y="1755648"/>
            <a:ext cx="10545775" cy="0"/>
          </a:xfrm>
          <a:prstGeom prst="line">
            <a:avLst/>
          </a:prstGeom>
          <a:noFill/>
          <a:ln w="9525">
            <a:solidFill>
              <a:srgbClr val="30343F"/>
            </a:solidFill>
            <a:prstDash val="solid"/>
          </a:ln>
        </p:spPr>
        <p:txBody>
          <a:bodyPr/>
          <a:lstStyle/>
          <a:p>
            <a:endParaRPr lang="ko-KR" altLang="en-US"/>
          </a:p>
        </p:txBody>
      </p:sp>
      <p:sp>
        <p:nvSpPr>
          <p:cNvPr id="5" name="Shape 3"/>
          <p:cNvSpPr/>
          <p:nvPr/>
        </p:nvSpPr>
        <p:spPr>
          <a:xfrm>
            <a:off x="822960" y="1901952"/>
            <a:ext cx="10545775" cy="0"/>
          </a:xfrm>
          <a:prstGeom prst="line">
            <a:avLst/>
          </a:prstGeom>
          <a:noFill/>
          <a:ln w="9525">
            <a:solidFill>
              <a:srgbClr val="30343F"/>
            </a:solidFill>
            <a:prstDash val="solid"/>
          </a:ln>
        </p:spPr>
        <p:txBody>
          <a:bodyPr/>
          <a:lstStyle/>
          <a:p>
            <a:endParaRPr lang="ko-KR" altLang="en-US"/>
          </a:p>
        </p:txBody>
      </p:sp>
      <p:sp>
        <p:nvSpPr>
          <p:cNvPr id="6" name="Shape 4"/>
          <p:cNvSpPr/>
          <p:nvPr/>
        </p:nvSpPr>
        <p:spPr>
          <a:xfrm>
            <a:off x="822960" y="2048256"/>
            <a:ext cx="10545775" cy="0"/>
          </a:xfrm>
          <a:prstGeom prst="line">
            <a:avLst/>
          </a:prstGeom>
          <a:noFill/>
          <a:ln w="9525">
            <a:solidFill>
              <a:srgbClr val="30343F"/>
            </a:solidFill>
            <a:prstDash val="solid"/>
          </a:ln>
        </p:spPr>
        <p:txBody>
          <a:bodyPr/>
          <a:lstStyle/>
          <a:p>
            <a:endParaRPr lang="ko-KR" altLang="en-US"/>
          </a:p>
        </p:txBody>
      </p:sp>
      <p:sp>
        <p:nvSpPr>
          <p:cNvPr id="7" name="Text 5"/>
          <p:cNvSpPr/>
          <p:nvPr/>
        </p:nvSpPr>
        <p:spPr>
          <a:xfrm>
            <a:off x="822960" y="822960"/>
            <a:ext cx="7315200" cy="365760"/>
          </a:xfrm>
          <a:prstGeom prst="rect">
            <a:avLst/>
          </a:prstGeom>
          <a:noFill/>
          <a:ln/>
        </p:spPr>
        <p:txBody>
          <a:bodyPr wrap="square" lIns="0" tIns="0" rIns="0" bIns="0" rtlCol="0" anchor="ctr"/>
          <a:lstStyle/>
          <a:p>
            <a:pPr marL="0" indent="0">
              <a:buNone/>
            </a:pPr>
            <a:r>
              <a:rPr lang="en-US" sz="1300" b="1" kern="0" spc="300" dirty="0">
                <a:solidFill>
                  <a:srgbClr val="A9823F"/>
                </a:solidFill>
                <a:latin typeface="Malgun Gothic" pitchFamily="34" charset="0"/>
                <a:ea typeface="Malgun Gothic" pitchFamily="34" charset="-122"/>
                <a:cs typeface="Malgun Gothic" pitchFamily="34" charset="-120"/>
              </a:rPr>
              <a:t>7  ·  클라우드로</a:t>
            </a:r>
            <a:endParaRPr lang="en-US" sz="1300" dirty="0"/>
          </a:p>
        </p:txBody>
      </p:sp>
      <p:sp>
        <p:nvSpPr>
          <p:cNvPr id="8" name="Text 6"/>
          <p:cNvSpPr/>
          <p:nvPr/>
        </p:nvSpPr>
        <p:spPr>
          <a:xfrm>
            <a:off x="731520" y="2331720"/>
            <a:ext cx="10698480" cy="1097280"/>
          </a:xfrm>
          <a:prstGeom prst="rect">
            <a:avLst/>
          </a:prstGeom>
          <a:noFill/>
          <a:ln/>
        </p:spPr>
        <p:txBody>
          <a:bodyPr wrap="square" lIns="0" tIns="0" rIns="0" bIns="0" rtlCol="0" anchor="ctr"/>
          <a:lstStyle/>
          <a:p>
            <a:pPr marL="0" indent="0" algn="ctr">
              <a:buNone/>
            </a:pPr>
            <a:r>
              <a:rPr lang="en-US" sz="5000" b="1" dirty="0" err="1">
                <a:solidFill>
                  <a:srgbClr val="ECE7D8"/>
                </a:solidFill>
                <a:latin typeface="Batang" pitchFamily="34" charset="0"/>
                <a:ea typeface="Batang" pitchFamily="34" charset="-122"/>
                <a:cs typeface="Batang" pitchFamily="34" charset="-120"/>
              </a:rPr>
              <a:t>클라우드</a:t>
            </a:r>
            <a:r>
              <a:rPr lang="ko-KR" altLang="en-US" sz="5000" b="1" dirty="0">
                <a:solidFill>
                  <a:srgbClr val="ECE7D8"/>
                </a:solidFill>
                <a:latin typeface="Batang" pitchFamily="34" charset="0"/>
                <a:ea typeface="Batang" pitchFamily="34" charset="-122"/>
                <a:cs typeface="Batang" pitchFamily="34" charset="-120"/>
              </a:rPr>
              <a:t>와 </a:t>
            </a:r>
            <a:r>
              <a:rPr lang="en-US" altLang="ko-KR" sz="5000" b="1" dirty="0">
                <a:solidFill>
                  <a:srgbClr val="ECE7D8"/>
                </a:solidFill>
                <a:latin typeface="Batang" pitchFamily="34" charset="0"/>
                <a:ea typeface="Batang" pitchFamily="34" charset="-122"/>
                <a:cs typeface="Batang" pitchFamily="34" charset="-120"/>
              </a:rPr>
              <a:t>AI</a:t>
            </a:r>
            <a:r>
              <a:rPr lang="ko-KR" altLang="en-US" sz="5000" b="1" dirty="0">
                <a:solidFill>
                  <a:srgbClr val="ECE7D8"/>
                </a:solidFill>
                <a:latin typeface="Batang" pitchFamily="34" charset="0"/>
                <a:ea typeface="Batang" pitchFamily="34" charset="-122"/>
                <a:cs typeface="Batang" pitchFamily="34" charset="-120"/>
              </a:rPr>
              <a:t>로</a:t>
            </a:r>
            <a:endParaRPr lang="en-US" sz="5000" dirty="0"/>
          </a:p>
        </p:txBody>
      </p:sp>
      <p:sp>
        <p:nvSpPr>
          <p:cNvPr id="9" name="Text 7"/>
          <p:cNvSpPr/>
          <p:nvPr/>
        </p:nvSpPr>
        <p:spPr>
          <a:xfrm>
            <a:off x="731520" y="3611880"/>
            <a:ext cx="10698480" cy="548640"/>
          </a:xfrm>
          <a:prstGeom prst="rect">
            <a:avLst/>
          </a:prstGeom>
          <a:noFill/>
          <a:ln/>
        </p:spPr>
        <p:txBody>
          <a:bodyPr wrap="square" lIns="0" tIns="0" rIns="0" bIns="0" rtlCol="0" anchor="ctr"/>
          <a:lstStyle/>
          <a:p>
            <a:pPr marL="0" indent="0" algn="ctr">
              <a:buNone/>
            </a:pPr>
            <a:r>
              <a:rPr lang="en-US" sz="1900" kern="0" spc="100" dirty="0">
                <a:solidFill>
                  <a:srgbClr val="A9823F"/>
                </a:solidFill>
                <a:latin typeface="Consolas" pitchFamily="34" charset="0"/>
                <a:ea typeface="Consolas" pitchFamily="34" charset="-122"/>
                <a:cs typeface="Consolas" pitchFamily="34" charset="-120"/>
              </a:rPr>
              <a:t>Foundry  +  Agent Framework  +  GitHub Copilot</a:t>
            </a:r>
            <a:endParaRPr lang="en-US" sz="1900" dirty="0"/>
          </a:p>
        </p:txBody>
      </p:sp>
      <p:sp>
        <p:nvSpPr>
          <p:cNvPr id="10" name="Text 8"/>
          <p:cNvSpPr/>
          <p:nvPr/>
        </p:nvSpPr>
        <p:spPr>
          <a:xfrm>
            <a:off x="731520" y="4480560"/>
            <a:ext cx="10698480" cy="457200"/>
          </a:xfrm>
          <a:prstGeom prst="rect">
            <a:avLst/>
          </a:prstGeom>
          <a:noFill/>
          <a:ln/>
        </p:spPr>
        <p:txBody>
          <a:bodyPr wrap="square" lIns="0" tIns="0" rIns="0" bIns="0" rtlCol="0" anchor="ctr"/>
          <a:lstStyle/>
          <a:p>
            <a:pPr marL="0" indent="0" algn="ctr">
              <a:buNone/>
            </a:pPr>
            <a:r>
              <a:rPr lang="en-US" sz="1500" i="1" dirty="0">
                <a:solidFill>
                  <a:srgbClr val="9AA0AD"/>
                </a:solidFill>
                <a:latin typeface="Malgun Gothic" pitchFamily="34" charset="0"/>
                <a:ea typeface="Malgun Gothic" pitchFamily="34" charset="-122"/>
                <a:cs typeface="Malgun Gothic" pitchFamily="34" charset="-120"/>
              </a:rPr>
              <a:t>로컬 유틸리티에서 프로덕션 에이전트 스택으로 — 그래도 여전히 파일 한 장</a:t>
            </a:r>
            <a:r>
              <a:rPr lang="ko-KR" altLang="en-US" sz="1500" i="1" dirty="0">
                <a:solidFill>
                  <a:srgbClr val="9AA0AD"/>
                </a:solidFill>
                <a:latin typeface="Malgun Gothic" pitchFamily="34" charset="0"/>
                <a:ea typeface="Malgun Gothic" pitchFamily="34" charset="-122"/>
                <a:cs typeface="Malgun Gothic" pitchFamily="34" charset="-120"/>
              </a:rPr>
              <a:t>입니다</a:t>
            </a:r>
            <a:r>
              <a:rPr lang="en-US" sz="1500" i="1" dirty="0">
                <a:solidFill>
                  <a:srgbClr val="9AA0AD"/>
                </a:solidFill>
                <a:latin typeface="Malgun Gothic" pitchFamily="34" charset="0"/>
                <a:ea typeface="Malgun Gothic" pitchFamily="34" charset="-122"/>
                <a:cs typeface="Malgun Gothic" pitchFamily="34" charset="-120"/>
              </a:rPr>
              <a:t>.</a:t>
            </a:r>
            <a:endParaRPr lang="en-US" sz="15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9AA0AD"/>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9AA0AD"/>
                </a:solidFill>
                <a:latin typeface="Consolas" pitchFamily="34" charset="0"/>
                <a:ea typeface="Consolas" pitchFamily="34" charset="-122"/>
                <a:cs typeface="Consolas" pitchFamily="34" charset="-120"/>
              </a:rPr>
              <a:t>19</a:t>
            </a:r>
            <a:endParaRPr lang="en-US" sz="900" dirty="0"/>
          </a:p>
        </p:txBody>
      </p:sp>
    </p:spTree>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클라우드로</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같은 철학, 더 큰 무대</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20</a:t>
            </a:r>
            <a:endParaRPr lang="en-US" sz="900" dirty="0"/>
          </a:p>
        </p:txBody>
      </p:sp>
      <p:sp>
        <p:nvSpPr>
          <p:cNvPr id="13" name="Shape 11"/>
          <p:cNvSpPr/>
          <p:nvPr/>
        </p:nvSpPr>
        <p:spPr>
          <a:xfrm>
            <a:off x="548640" y="2240280"/>
            <a:ext cx="4983480" cy="27432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240280"/>
            <a:ext cx="4983480" cy="64008"/>
          </a:xfrm>
          <a:prstGeom prst="rect">
            <a:avLst/>
          </a:prstGeom>
          <a:solidFill>
            <a:srgbClr val="A9823F"/>
          </a:solidFill>
          <a:ln/>
        </p:spPr>
        <p:txBody>
          <a:bodyPr/>
          <a:lstStyle/>
          <a:p>
            <a:endParaRPr lang="ko-KR" altLang="en-US"/>
          </a:p>
        </p:txBody>
      </p:sp>
      <p:sp>
        <p:nvSpPr>
          <p:cNvPr id="15" name="Text 13"/>
          <p:cNvSpPr/>
          <p:nvPr/>
        </p:nvSpPr>
        <p:spPr>
          <a:xfrm>
            <a:off x="777240" y="2514600"/>
            <a:ext cx="4526280" cy="411480"/>
          </a:xfrm>
          <a:prstGeom prst="rect">
            <a:avLst/>
          </a:prstGeom>
          <a:noFill/>
          <a:ln/>
        </p:spPr>
        <p:txBody>
          <a:bodyPr wrap="square" lIns="0" tIns="0" rIns="0" bIns="0" rtlCol="0" anchor="ctr"/>
          <a:lstStyle/>
          <a:p>
            <a:pPr marL="0" indent="0">
              <a:buNone/>
            </a:pPr>
            <a:r>
              <a:rPr lang="en-US" sz="1600" b="1" dirty="0">
                <a:solidFill>
                  <a:srgbClr val="1F2330"/>
                </a:solidFill>
                <a:latin typeface="Malgun Gothic" pitchFamily="34" charset="0"/>
                <a:ea typeface="Malgun Gothic" pitchFamily="34" charset="-122"/>
                <a:cs typeface="Malgun Gothic" pitchFamily="34" charset="-120"/>
              </a:rPr>
              <a:t>지금까지 — 내 노트북 안</a:t>
            </a:r>
            <a:endParaRPr lang="en-US" sz="1600" dirty="0"/>
          </a:p>
        </p:txBody>
      </p:sp>
      <p:sp>
        <p:nvSpPr>
          <p:cNvPr id="16" name="Text 14"/>
          <p:cNvSpPr/>
          <p:nvPr/>
        </p:nvSpPr>
        <p:spPr>
          <a:xfrm>
            <a:off x="777240" y="3108960"/>
            <a:ext cx="4526280" cy="411480"/>
          </a:xfrm>
          <a:prstGeom prst="rect">
            <a:avLst/>
          </a:prstGeom>
          <a:noFill/>
          <a:ln/>
        </p:spPr>
        <p:txBody>
          <a:bodyPr wrap="square" lIns="0" tIns="0" rIns="0" bIns="0" rtlCol="0" anchor="ctr"/>
          <a:lstStyle/>
          <a:p>
            <a:pPr marL="0" indent="0">
              <a:buNone/>
            </a:pPr>
            <a:r>
              <a:rPr lang="en-US" sz="1400" b="1" dirty="0" err="1">
                <a:solidFill>
                  <a:srgbClr val="A9823F"/>
                </a:solidFill>
                <a:latin typeface="Consolas" pitchFamily="34" charset="0"/>
                <a:ea typeface="Consolas" pitchFamily="34" charset="-122"/>
                <a:cs typeface="Consolas" pitchFamily="34" charset="-120"/>
              </a:rPr>
              <a:t>콘솔</a:t>
            </a:r>
            <a:r>
              <a:rPr lang="en-US" sz="1400" b="1" dirty="0">
                <a:solidFill>
                  <a:srgbClr val="A9823F"/>
                </a:solidFill>
                <a:latin typeface="Consolas" pitchFamily="34" charset="0"/>
                <a:ea typeface="Consolas" pitchFamily="34" charset="-122"/>
                <a:cs typeface="Consolas" pitchFamily="34" charset="-120"/>
              </a:rPr>
              <a:t>, 웹, </a:t>
            </a:r>
            <a:r>
              <a:rPr lang="en-US" sz="1400" b="1" dirty="0" err="1">
                <a:solidFill>
                  <a:srgbClr val="A9823F"/>
                </a:solidFill>
                <a:latin typeface="Consolas" pitchFamily="34" charset="0"/>
                <a:ea typeface="Consolas" pitchFamily="34" charset="-122"/>
                <a:cs typeface="Consolas" pitchFamily="34" charset="-120"/>
              </a:rPr>
              <a:t>워커</a:t>
            </a:r>
            <a:r>
              <a:rPr lang="en-US" sz="1400" b="1" dirty="0">
                <a:solidFill>
                  <a:srgbClr val="A9823F"/>
                </a:solidFill>
                <a:latin typeface="Consolas" pitchFamily="34" charset="0"/>
                <a:ea typeface="Consolas" pitchFamily="34" charset="-122"/>
                <a:cs typeface="Consolas" pitchFamily="34" charset="-120"/>
              </a:rPr>
              <a:t>, MCP 서버</a:t>
            </a:r>
            <a:endParaRPr lang="en-US" sz="1400" dirty="0"/>
          </a:p>
        </p:txBody>
      </p:sp>
      <p:sp>
        <p:nvSpPr>
          <p:cNvPr id="17" name="Text 15"/>
          <p:cNvSpPr/>
          <p:nvPr/>
        </p:nvSpPr>
        <p:spPr>
          <a:xfrm>
            <a:off x="777240" y="3703320"/>
            <a:ext cx="4480560" cy="1097280"/>
          </a:xfrm>
          <a:prstGeom prst="rect">
            <a:avLst/>
          </a:prstGeom>
          <a:noFill/>
          <a:ln/>
        </p:spPr>
        <p:txBody>
          <a:bodyPr wrap="square" lIns="0" tIns="0" rIns="0" bIns="0" rtlCol="0" anchor="t"/>
          <a:lstStyle/>
          <a:p>
            <a:pPr marL="0" indent="0">
              <a:lnSpc>
                <a:spcPct val="122000"/>
              </a:lnSpc>
              <a:buNone/>
            </a:pPr>
            <a:r>
              <a:rPr lang="en-US" sz="1350" dirty="0">
                <a:solidFill>
                  <a:srgbClr val="6C7180"/>
                </a:solidFill>
                <a:latin typeface="Malgun Gothic" pitchFamily="34" charset="0"/>
                <a:ea typeface="Malgun Gothic" pitchFamily="34" charset="-122"/>
                <a:cs typeface="Malgun Gothic" pitchFamily="34" charset="-120"/>
              </a:rPr>
              <a:t>폴더를 읽고, 웹 서버를 띄우고, MCP 서버를 가동했다. 전부 로컬이었다.</a:t>
            </a:r>
            <a:endParaRPr lang="en-US" sz="1350" dirty="0"/>
          </a:p>
        </p:txBody>
      </p:sp>
      <p:sp>
        <p:nvSpPr>
          <p:cNvPr id="18" name="Text 16"/>
          <p:cNvSpPr/>
          <p:nvPr/>
        </p:nvSpPr>
        <p:spPr>
          <a:xfrm>
            <a:off x="5532120" y="3063240"/>
            <a:ext cx="1051560" cy="731520"/>
          </a:xfrm>
          <a:prstGeom prst="rect">
            <a:avLst/>
          </a:prstGeom>
          <a:noFill/>
          <a:ln/>
        </p:spPr>
        <p:txBody>
          <a:bodyPr wrap="square" lIns="0" tIns="0" rIns="0" bIns="0" rtlCol="0" anchor="ctr"/>
          <a:lstStyle/>
          <a:p>
            <a:pPr marL="0" indent="0" algn="ctr">
              <a:buNone/>
            </a:pPr>
            <a:r>
              <a:rPr lang="en-US" sz="3400" b="1" dirty="0">
                <a:solidFill>
                  <a:srgbClr val="8A1C2B"/>
                </a:solidFill>
                <a:latin typeface="Malgun Gothic" pitchFamily="34" charset="0"/>
                <a:ea typeface="Malgun Gothic" pitchFamily="34" charset="-122"/>
                <a:cs typeface="Malgun Gothic" pitchFamily="34" charset="-120"/>
              </a:rPr>
              <a:t>→</a:t>
            </a:r>
            <a:endParaRPr lang="en-US" sz="3400" dirty="0"/>
          </a:p>
        </p:txBody>
      </p:sp>
      <p:sp>
        <p:nvSpPr>
          <p:cNvPr id="19" name="Text 17"/>
          <p:cNvSpPr/>
          <p:nvPr/>
        </p:nvSpPr>
        <p:spPr>
          <a:xfrm>
            <a:off x="5486400" y="3794760"/>
            <a:ext cx="1143000" cy="822960"/>
          </a:xfrm>
          <a:prstGeom prst="rect">
            <a:avLst/>
          </a:prstGeom>
          <a:noFill/>
          <a:ln/>
        </p:spPr>
        <p:txBody>
          <a:bodyPr wrap="square" lIns="0" tIns="0" rIns="0" bIns="0" rtlCol="0" anchor="ctr"/>
          <a:lstStyle/>
          <a:p>
            <a:pPr marL="0" indent="0" algn="ctr">
              <a:lnSpc>
                <a:spcPct val="110000"/>
              </a:lnSpc>
              <a:buNone/>
            </a:pPr>
            <a:r>
              <a:rPr lang="en-US" sz="1200" i="1" dirty="0">
                <a:solidFill>
                  <a:srgbClr val="8A1C2B"/>
                </a:solidFill>
                <a:latin typeface="Malgun Gothic" pitchFamily="34" charset="0"/>
                <a:ea typeface="Malgun Gothic" pitchFamily="34" charset="-122"/>
                <a:cs typeface="Malgun Gothic" pitchFamily="34" charset="-120"/>
              </a:rPr>
              <a:t>같은 철학</a:t>
            </a:r>
            <a:endParaRPr lang="en-US" sz="1200" dirty="0"/>
          </a:p>
          <a:p>
            <a:pPr marL="0" indent="0" algn="ctr">
              <a:lnSpc>
                <a:spcPct val="110000"/>
              </a:lnSpc>
              <a:buNone/>
            </a:pPr>
            <a:r>
              <a:rPr lang="en-US" sz="1200" i="1" dirty="0">
                <a:solidFill>
                  <a:srgbClr val="8A1C2B"/>
                </a:solidFill>
                <a:latin typeface="Malgun Gothic" pitchFamily="34" charset="0"/>
                <a:ea typeface="Malgun Gothic" pitchFamily="34" charset="-122"/>
                <a:cs typeface="Malgun Gothic" pitchFamily="34" charset="-120"/>
              </a:rPr>
              <a:t>더 큰 무대</a:t>
            </a:r>
            <a:endParaRPr lang="en-US" sz="1200" dirty="0"/>
          </a:p>
        </p:txBody>
      </p:sp>
      <p:sp>
        <p:nvSpPr>
          <p:cNvPr id="20" name="Shape 18"/>
          <p:cNvSpPr/>
          <p:nvPr/>
        </p:nvSpPr>
        <p:spPr>
          <a:xfrm>
            <a:off x="6675120" y="2240280"/>
            <a:ext cx="4983480" cy="27432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1" name="Shape 19"/>
          <p:cNvSpPr/>
          <p:nvPr/>
        </p:nvSpPr>
        <p:spPr>
          <a:xfrm>
            <a:off x="6675120" y="2240280"/>
            <a:ext cx="4983480" cy="64008"/>
          </a:xfrm>
          <a:prstGeom prst="rect">
            <a:avLst/>
          </a:prstGeom>
          <a:solidFill>
            <a:srgbClr val="8A1C2B"/>
          </a:solidFill>
          <a:ln/>
        </p:spPr>
        <p:txBody>
          <a:bodyPr/>
          <a:lstStyle/>
          <a:p>
            <a:endParaRPr lang="ko-KR" altLang="en-US"/>
          </a:p>
        </p:txBody>
      </p:sp>
      <p:sp>
        <p:nvSpPr>
          <p:cNvPr id="22" name="Text 20"/>
          <p:cNvSpPr/>
          <p:nvPr/>
        </p:nvSpPr>
        <p:spPr>
          <a:xfrm>
            <a:off x="6903720" y="2514600"/>
            <a:ext cx="4526280" cy="411480"/>
          </a:xfrm>
          <a:prstGeom prst="rect">
            <a:avLst/>
          </a:prstGeom>
          <a:noFill/>
          <a:ln/>
        </p:spPr>
        <p:txBody>
          <a:bodyPr wrap="square" lIns="0" tIns="0" rIns="0" bIns="0" rtlCol="0" anchor="ctr"/>
          <a:lstStyle/>
          <a:p>
            <a:pPr marL="0" indent="0">
              <a:buNone/>
            </a:pPr>
            <a:r>
              <a:rPr lang="en-US" sz="1600" b="1" dirty="0">
                <a:solidFill>
                  <a:srgbClr val="1F2330"/>
                </a:solidFill>
                <a:latin typeface="Malgun Gothic" pitchFamily="34" charset="0"/>
                <a:ea typeface="Malgun Gothic" pitchFamily="34" charset="-122"/>
                <a:cs typeface="Malgun Gothic" pitchFamily="34" charset="-120"/>
              </a:rPr>
              <a:t>이제부터 — 프로덕션 클라우드</a:t>
            </a:r>
            <a:endParaRPr lang="en-US" sz="1600" dirty="0"/>
          </a:p>
        </p:txBody>
      </p:sp>
      <p:sp>
        <p:nvSpPr>
          <p:cNvPr id="23" name="Text 21"/>
          <p:cNvSpPr/>
          <p:nvPr/>
        </p:nvSpPr>
        <p:spPr>
          <a:xfrm>
            <a:off x="6903720" y="3108960"/>
            <a:ext cx="4526280" cy="411480"/>
          </a:xfrm>
          <a:prstGeom prst="rect">
            <a:avLst/>
          </a:prstGeom>
          <a:noFill/>
          <a:ln/>
        </p:spPr>
        <p:txBody>
          <a:bodyPr wrap="square" lIns="0" tIns="0" rIns="0" bIns="0" rtlCol="0" anchor="ctr"/>
          <a:lstStyle/>
          <a:p>
            <a:pPr marL="0" indent="0">
              <a:buNone/>
            </a:pPr>
            <a:r>
              <a:rPr lang="en-US" sz="1400" b="1" dirty="0">
                <a:solidFill>
                  <a:srgbClr val="8A1C2B"/>
                </a:solidFill>
                <a:latin typeface="Consolas" pitchFamily="34" charset="0"/>
                <a:ea typeface="Consolas" pitchFamily="34" charset="-122"/>
                <a:cs typeface="Consolas" pitchFamily="34" charset="-120"/>
              </a:rPr>
              <a:t>Agent Framework  +  Foundry</a:t>
            </a:r>
            <a:endParaRPr lang="en-US" sz="1400" dirty="0"/>
          </a:p>
        </p:txBody>
      </p:sp>
      <p:sp>
        <p:nvSpPr>
          <p:cNvPr id="24" name="Text 22"/>
          <p:cNvSpPr/>
          <p:nvPr/>
        </p:nvSpPr>
        <p:spPr>
          <a:xfrm>
            <a:off x="6903720" y="3703320"/>
            <a:ext cx="4480560" cy="1097280"/>
          </a:xfrm>
          <a:prstGeom prst="rect">
            <a:avLst/>
          </a:prstGeom>
          <a:noFill/>
          <a:ln/>
        </p:spPr>
        <p:txBody>
          <a:bodyPr wrap="square" lIns="0" tIns="0" rIns="0" bIns="0" rtlCol="0" anchor="t"/>
          <a:lstStyle/>
          <a:p>
            <a:pPr marL="0" indent="0">
              <a:lnSpc>
                <a:spcPct val="122000"/>
              </a:lnSpc>
              <a:buNone/>
            </a:pPr>
            <a:r>
              <a:rPr lang="en-US" sz="1350" dirty="0">
                <a:solidFill>
                  <a:srgbClr val="6C7180"/>
                </a:solidFill>
                <a:latin typeface="Malgun Gothic" pitchFamily="34" charset="0"/>
                <a:ea typeface="Malgun Gothic" pitchFamily="34" charset="-122"/>
                <a:cs typeface="Malgun Gothic" pitchFamily="34" charset="-120"/>
              </a:rPr>
              <a:t>클라우드에서 도는, 진짜로 일하는 AI 에이전트. 그런데 여전히 파일 한 장으로 만든다.</a:t>
            </a:r>
            <a:endParaRPr lang="en-US" sz="1350" dirty="0"/>
          </a:p>
        </p:txBody>
      </p:sp>
      <p:sp>
        <p:nvSpPr>
          <p:cNvPr id="25" name="Text 23"/>
          <p:cNvSpPr/>
          <p:nvPr/>
        </p:nvSpPr>
        <p:spPr>
          <a:xfrm>
            <a:off x="548640" y="5257800"/>
            <a:ext cx="11064240" cy="457200"/>
          </a:xfrm>
          <a:prstGeom prst="rect">
            <a:avLst/>
          </a:prstGeom>
          <a:noFill/>
          <a:ln/>
        </p:spPr>
        <p:txBody>
          <a:bodyPr wrap="square" lIns="0" tIns="0" rIns="0" bIns="0" rtlCol="0" anchor="ctr"/>
          <a:lstStyle/>
          <a:p>
            <a:pPr marL="0" indent="0" algn="ctr">
              <a:buNone/>
            </a:pPr>
            <a:r>
              <a:rPr lang="ko-KR" altLang="en-US" sz="1600" b="1" dirty="0">
                <a:solidFill>
                  <a:srgbClr val="8A1C2B"/>
                </a:solidFill>
                <a:latin typeface="Malgun Gothic" pitchFamily="34" charset="0"/>
                <a:ea typeface="Malgun Gothic" pitchFamily="34" charset="-122"/>
                <a:cs typeface="Malgun Gothic" pitchFamily="34" charset="-120"/>
              </a:rPr>
              <a:t>이번에는 </a:t>
            </a:r>
            <a:r>
              <a:rPr lang="en-US" altLang="ko-KR" sz="1600" b="1" dirty="0">
                <a:solidFill>
                  <a:srgbClr val="8A1C2B"/>
                </a:solidFill>
                <a:latin typeface="Malgun Gothic" pitchFamily="34" charset="0"/>
                <a:ea typeface="Malgun Gothic" pitchFamily="34" charset="-122"/>
                <a:cs typeface="Malgun Gothic" pitchFamily="34" charset="-120"/>
              </a:rPr>
              <a:t>GitHub Copilot</a:t>
            </a:r>
            <a:r>
              <a:rPr lang="ko-KR" altLang="en-US" sz="1600" b="1" dirty="0">
                <a:solidFill>
                  <a:srgbClr val="8A1C2B"/>
                </a:solidFill>
                <a:latin typeface="Malgun Gothic" pitchFamily="34" charset="0"/>
                <a:ea typeface="Malgun Gothic" pitchFamily="34" charset="-122"/>
                <a:cs typeface="Malgun Gothic" pitchFamily="34" charset="-120"/>
              </a:rPr>
              <a:t>을 이용해서 </a:t>
            </a:r>
            <a:r>
              <a:rPr lang="ko-KR" altLang="en-US" sz="1600" b="1" dirty="0" err="1">
                <a:solidFill>
                  <a:srgbClr val="8A1C2B"/>
                </a:solidFill>
                <a:latin typeface="Malgun Gothic" pitchFamily="34" charset="0"/>
                <a:ea typeface="Malgun Gothic" pitchFamily="34" charset="-122"/>
                <a:cs typeface="Malgun Gothic" pitchFamily="34" charset="-120"/>
              </a:rPr>
              <a:t>바이브</a:t>
            </a:r>
            <a:r>
              <a:rPr lang="ko-KR" altLang="en-US" sz="1600" b="1" dirty="0">
                <a:solidFill>
                  <a:srgbClr val="8A1C2B"/>
                </a:solidFill>
                <a:latin typeface="Malgun Gothic" pitchFamily="34" charset="0"/>
                <a:ea typeface="Malgun Gothic" pitchFamily="34" charset="-122"/>
                <a:cs typeface="Malgun Gothic" pitchFamily="34" charset="-120"/>
              </a:rPr>
              <a:t> 코딩을 해보겠습니다</a:t>
            </a:r>
            <a:r>
              <a:rPr lang="en-US" altLang="ko-KR" sz="1600" b="1" dirty="0">
                <a:solidFill>
                  <a:srgbClr val="8A1C2B"/>
                </a:solidFill>
                <a:latin typeface="Malgun Gothic" pitchFamily="34" charset="0"/>
                <a:ea typeface="Malgun Gothic" pitchFamily="34" charset="-122"/>
                <a:cs typeface="Malgun Gothic" pitchFamily="34" charset="-120"/>
              </a:rPr>
              <a:t>.</a:t>
            </a:r>
            <a:endParaRPr lang="en-US" sz="1600" dirty="0"/>
          </a:p>
        </p:txBody>
      </p:sp>
    </p:spTree>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클라우드로</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ko-KR" altLang="en-US" sz="3300" b="1" dirty="0">
                <a:solidFill>
                  <a:srgbClr val="1F2330"/>
                </a:solidFill>
                <a:latin typeface="Batang" pitchFamily="34" charset="0"/>
                <a:ea typeface="Batang" pitchFamily="34" charset="-122"/>
                <a:cs typeface="Batang" pitchFamily="34" charset="-120"/>
              </a:rPr>
              <a:t>개발자가 알면 좋은 </a:t>
            </a:r>
            <a:r>
              <a:rPr lang="en-US" sz="3300" b="1" dirty="0">
                <a:solidFill>
                  <a:srgbClr val="1F2330"/>
                </a:solidFill>
                <a:latin typeface="Batang" pitchFamily="34" charset="0"/>
                <a:ea typeface="Batang" pitchFamily="34" charset="-122"/>
                <a:cs typeface="Batang" pitchFamily="34" charset="-120"/>
              </a:rPr>
              <a:t>Microsoft AI</a:t>
            </a:r>
            <a:r>
              <a:rPr lang="ko-KR" altLang="en-US" sz="3300" b="1" dirty="0">
                <a:solidFill>
                  <a:srgbClr val="1F2330"/>
                </a:solidFill>
                <a:latin typeface="Batang" pitchFamily="34" charset="0"/>
                <a:ea typeface="Batang" pitchFamily="34" charset="-122"/>
                <a:cs typeface="Batang" pitchFamily="34" charset="-120"/>
              </a:rPr>
              <a:t>의 핵심 두 가지</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21</a:t>
            </a:r>
            <a:endParaRPr lang="en-US" sz="900" dirty="0"/>
          </a:p>
        </p:txBody>
      </p:sp>
      <p:sp>
        <p:nvSpPr>
          <p:cNvPr id="13" name="Shape 11"/>
          <p:cNvSpPr/>
          <p:nvPr/>
        </p:nvSpPr>
        <p:spPr>
          <a:xfrm>
            <a:off x="548640" y="2194560"/>
            <a:ext cx="5440680" cy="27432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194560"/>
            <a:ext cx="5440680" cy="64008"/>
          </a:xfrm>
          <a:prstGeom prst="rect">
            <a:avLst/>
          </a:prstGeom>
          <a:solidFill>
            <a:srgbClr val="8A1C2B"/>
          </a:solidFill>
          <a:ln/>
        </p:spPr>
        <p:txBody>
          <a:bodyPr/>
          <a:lstStyle/>
          <a:p>
            <a:endParaRPr lang="ko-KR" altLang="en-US"/>
          </a:p>
        </p:txBody>
      </p:sp>
      <p:sp>
        <p:nvSpPr>
          <p:cNvPr id="15" name="Text 13"/>
          <p:cNvSpPr/>
          <p:nvPr/>
        </p:nvSpPr>
        <p:spPr>
          <a:xfrm>
            <a:off x="777240" y="2468880"/>
            <a:ext cx="4983480" cy="365760"/>
          </a:xfrm>
          <a:prstGeom prst="rect">
            <a:avLst/>
          </a:prstGeom>
          <a:noFill/>
          <a:ln/>
        </p:spPr>
        <p:txBody>
          <a:bodyPr wrap="square" lIns="0" tIns="0" rIns="0" bIns="0" rtlCol="0" anchor="ctr"/>
          <a:lstStyle/>
          <a:p>
            <a:pPr marL="0" indent="0">
              <a:buNone/>
            </a:pPr>
            <a:r>
              <a:rPr lang="en-US" sz="1700" b="1" dirty="0">
                <a:solidFill>
                  <a:srgbClr val="1F2330"/>
                </a:solidFill>
                <a:latin typeface="Malgun Gothic" pitchFamily="34" charset="0"/>
                <a:ea typeface="Malgun Gothic" pitchFamily="34" charset="-122"/>
                <a:cs typeface="Malgun Gothic" pitchFamily="34" charset="-120"/>
              </a:rPr>
              <a:t>Microsoft Agent Framework</a:t>
            </a:r>
            <a:endParaRPr lang="en-US" sz="1700" dirty="0"/>
          </a:p>
        </p:txBody>
      </p:sp>
      <p:sp>
        <p:nvSpPr>
          <p:cNvPr id="16" name="Text 14"/>
          <p:cNvSpPr/>
          <p:nvPr/>
        </p:nvSpPr>
        <p:spPr>
          <a:xfrm>
            <a:off x="777240" y="2944368"/>
            <a:ext cx="4983480" cy="365760"/>
          </a:xfrm>
          <a:prstGeom prst="rect">
            <a:avLst/>
          </a:prstGeom>
          <a:noFill/>
          <a:ln/>
        </p:spPr>
        <p:txBody>
          <a:bodyPr wrap="square" lIns="0" tIns="0" rIns="0" bIns="0" rtlCol="0" anchor="ctr"/>
          <a:lstStyle/>
          <a:p>
            <a:pPr marL="0" indent="0">
              <a:buNone/>
            </a:pPr>
            <a:r>
              <a:rPr lang="en-US" sz="1450" b="1" dirty="0">
                <a:solidFill>
                  <a:srgbClr val="8A1C2B"/>
                </a:solidFill>
                <a:latin typeface="Malgun Gothic" pitchFamily="34" charset="0"/>
                <a:ea typeface="Malgun Gothic" pitchFamily="34" charset="-122"/>
                <a:cs typeface="Malgun Gothic" pitchFamily="34" charset="-120"/>
              </a:rPr>
              <a:t>= 에이전트를 만드는 법  (SDK)</a:t>
            </a:r>
            <a:endParaRPr lang="en-US" sz="1450" dirty="0"/>
          </a:p>
        </p:txBody>
      </p:sp>
      <p:sp>
        <p:nvSpPr>
          <p:cNvPr id="17" name="Text 15"/>
          <p:cNvSpPr/>
          <p:nvPr/>
        </p:nvSpPr>
        <p:spPr>
          <a:xfrm>
            <a:off x="777240" y="3474720"/>
            <a:ext cx="4937760" cy="1325880"/>
          </a:xfrm>
          <a:prstGeom prst="rect">
            <a:avLst/>
          </a:prstGeom>
          <a:noFill/>
          <a:ln/>
        </p:spPr>
        <p:txBody>
          <a:bodyPr wrap="square" lIns="0" tIns="0" rIns="0" bIns="0" rtlCol="0" anchor="t"/>
          <a:lstStyle/>
          <a:p>
            <a:pPr marL="0" indent="0">
              <a:lnSpc>
                <a:spcPct val="122000"/>
              </a:lnSpc>
              <a:buNone/>
            </a:pPr>
            <a:r>
              <a:rPr lang="en-US" sz="1300" dirty="0">
                <a:solidFill>
                  <a:srgbClr val="6C7180"/>
                </a:solidFill>
                <a:latin typeface="Malgun Gothic" pitchFamily="34" charset="0"/>
                <a:ea typeface="Malgun Gothic" pitchFamily="34" charset="-122"/>
                <a:cs typeface="Malgun Gothic" pitchFamily="34" charset="-120"/>
              </a:rPr>
              <a:t>에이전트를 만드는 오픈소스 SDK이자 런타임. Semantic Kernel과 AutoGen이 하나로 </a:t>
            </a:r>
            <a:r>
              <a:rPr lang="en-US" sz="1300" dirty="0" err="1">
                <a:solidFill>
                  <a:srgbClr val="6C7180"/>
                </a:solidFill>
                <a:latin typeface="Malgun Gothic" pitchFamily="34" charset="0"/>
                <a:ea typeface="Malgun Gothic" pitchFamily="34" charset="-122"/>
                <a:cs typeface="Malgun Gothic" pitchFamily="34" charset="-120"/>
              </a:rPr>
              <a:t>합쳐진</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결과</a:t>
            </a:r>
            <a:r>
              <a:rPr lang="ko-KR" altLang="en-US" sz="1300" dirty="0">
                <a:solidFill>
                  <a:srgbClr val="6C7180"/>
                </a:solidFill>
                <a:latin typeface="Malgun Gothic" pitchFamily="34" charset="0"/>
                <a:ea typeface="Malgun Gothic" pitchFamily="34" charset="-122"/>
                <a:cs typeface="Malgun Gothic" pitchFamily="34" charset="-120"/>
              </a:rPr>
              <a:t>로 탄생했습니다</a:t>
            </a:r>
            <a:r>
              <a:rPr lang="en-US" altLang="ko-KR" sz="1300" dirty="0">
                <a:solidFill>
                  <a:srgbClr val="6C7180"/>
                </a:solidFill>
                <a:latin typeface="Malgun Gothic" pitchFamily="34" charset="0"/>
                <a:ea typeface="Malgun Gothic" pitchFamily="34" charset="-122"/>
                <a:cs typeface="Malgun Gothic" pitchFamily="34" charset="-120"/>
              </a:rPr>
              <a:t>.</a:t>
            </a:r>
            <a:r>
              <a:rPr lang="en-US" sz="1300" dirty="0">
                <a:solidFill>
                  <a:srgbClr val="6C7180"/>
                </a:solidFill>
                <a:latin typeface="Malgun Gothic" pitchFamily="34" charset="0"/>
                <a:ea typeface="Malgun Gothic" pitchFamily="34" charset="-122"/>
                <a:cs typeface="Malgun Gothic" pitchFamily="34" charset="-120"/>
              </a:rPr>
              <a:t> 2026년 4월</a:t>
            </a:r>
            <a:r>
              <a:rPr lang="ko-KR" altLang="en-US" sz="1300" dirty="0">
                <a:solidFill>
                  <a:srgbClr val="6C7180"/>
                </a:solidFill>
                <a:latin typeface="Malgun Gothic" pitchFamily="34" charset="0"/>
                <a:ea typeface="Malgun Gothic" pitchFamily="34" charset="-122"/>
                <a:cs typeface="Malgun Gothic" pitchFamily="34" charset="-120"/>
              </a:rPr>
              <a:t>에</a:t>
            </a:r>
            <a:r>
              <a:rPr lang="en-US" sz="1300" dirty="0">
                <a:solidFill>
                  <a:srgbClr val="6C7180"/>
                </a:solidFill>
                <a:latin typeface="Malgun Gothic" pitchFamily="34" charset="0"/>
                <a:ea typeface="Malgun Gothic" pitchFamily="34" charset="-122"/>
                <a:cs typeface="Malgun Gothic" pitchFamily="34" charset="-120"/>
              </a:rPr>
              <a:t> 1.0 </a:t>
            </a:r>
            <a:r>
              <a:rPr lang="ko-KR" altLang="en-US" sz="1300" dirty="0">
                <a:solidFill>
                  <a:srgbClr val="6C7180"/>
                </a:solidFill>
                <a:latin typeface="Malgun Gothic" pitchFamily="34" charset="0"/>
                <a:ea typeface="Malgun Gothic" pitchFamily="34" charset="-122"/>
                <a:cs typeface="Malgun Gothic" pitchFamily="34" charset="-120"/>
              </a:rPr>
              <a:t>버전이 출시되었고</a:t>
            </a:r>
            <a:r>
              <a:rPr lang="en-US" altLang="ko-KR" sz="1300" dirty="0">
                <a:solidFill>
                  <a:srgbClr val="6C7180"/>
                </a:solidFill>
                <a:latin typeface="Malgun Gothic" pitchFamily="34" charset="0"/>
                <a:ea typeface="Malgun Gothic" pitchFamily="34" charset="-122"/>
                <a:cs typeface="Malgun Gothic" pitchFamily="34" charset="-120"/>
              </a:rPr>
              <a:t>,</a:t>
            </a:r>
            <a:r>
              <a:rPr lang="en-US" sz="1300" dirty="0">
                <a:solidFill>
                  <a:srgbClr val="6C7180"/>
                </a:solidFill>
                <a:latin typeface="Malgun Gothic" pitchFamily="34" charset="0"/>
                <a:ea typeface="Malgun Gothic" pitchFamily="34" charset="-122"/>
                <a:cs typeface="Malgun Gothic" pitchFamily="34" charset="-120"/>
              </a:rPr>
              <a:t> .NET과 Python이 </a:t>
            </a:r>
            <a:r>
              <a:rPr lang="en-US" sz="1300" dirty="0" err="1">
                <a:solidFill>
                  <a:srgbClr val="6C7180"/>
                </a:solidFill>
                <a:latin typeface="Malgun Gothic" pitchFamily="34" charset="0"/>
                <a:ea typeface="Malgun Gothic" pitchFamily="34" charset="-122"/>
                <a:cs typeface="Malgun Gothic" pitchFamily="34" charset="-120"/>
              </a:rPr>
              <a:t>같은</a:t>
            </a:r>
            <a:r>
              <a:rPr lang="en-US" sz="1300" dirty="0">
                <a:solidFill>
                  <a:srgbClr val="6C7180"/>
                </a:solidFill>
                <a:latin typeface="Malgun Gothic" pitchFamily="34" charset="0"/>
                <a:ea typeface="Malgun Gothic" pitchFamily="34" charset="-122"/>
                <a:cs typeface="Malgun Gothic" pitchFamily="34" charset="-120"/>
              </a:rPr>
              <a:t> </a:t>
            </a:r>
            <a:r>
              <a:rPr lang="en-US" sz="1300" dirty="0" err="1">
                <a:solidFill>
                  <a:srgbClr val="6C7180"/>
                </a:solidFill>
                <a:latin typeface="Malgun Gothic" pitchFamily="34" charset="0"/>
                <a:ea typeface="Malgun Gothic" pitchFamily="34" charset="-122"/>
                <a:cs typeface="Malgun Gothic" pitchFamily="34" charset="-120"/>
              </a:rPr>
              <a:t>개념</a:t>
            </a:r>
            <a:r>
              <a:rPr lang="ko-KR" altLang="en-US" sz="1300" dirty="0">
                <a:solidFill>
                  <a:srgbClr val="6C7180"/>
                </a:solidFill>
                <a:latin typeface="Malgun Gothic" pitchFamily="34" charset="0"/>
                <a:ea typeface="Malgun Gothic" pitchFamily="34" charset="-122"/>
                <a:cs typeface="Malgun Gothic" pitchFamily="34" charset="-120"/>
              </a:rPr>
              <a:t>과</a:t>
            </a:r>
            <a:r>
              <a:rPr lang="en-US" sz="1300" dirty="0">
                <a:solidFill>
                  <a:srgbClr val="6C7180"/>
                </a:solidFill>
                <a:latin typeface="Malgun Gothic" pitchFamily="34" charset="0"/>
                <a:ea typeface="Malgun Gothic" pitchFamily="34" charset="-122"/>
                <a:cs typeface="Malgun Gothic" pitchFamily="34" charset="-120"/>
              </a:rPr>
              <a:t> API</a:t>
            </a:r>
            <a:r>
              <a:rPr lang="ko-KR" altLang="en-US" sz="1300" dirty="0">
                <a:solidFill>
                  <a:srgbClr val="6C7180"/>
                </a:solidFill>
                <a:latin typeface="Malgun Gothic" pitchFamily="34" charset="0"/>
                <a:ea typeface="Malgun Gothic" pitchFamily="34" charset="-122"/>
                <a:cs typeface="Malgun Gothic" pitchFamily="34" charset="-120"/>
              </a:rPr>
              <a:t>를 제공하도록 만들어졌습니다</a:t>
            </a:r>
            <a:r>
              <a:rPr lang="en-US" sz="1300" dirty="0">
                <a:solidFill>
                  <a:srgbClr val="6C7180"/>
                </a:solidFill>
                <a:latin typeface="Malgun Gothic" pitchFamily="34" charset="0"/>
                <a:ea typeface="Malgun Gothic" pitchFamily="34" charset="-122"/>
                <a:cs typeface="Malgun Gothic" pitchFamily="34" charset="-120"/>
              </a:rPr>
              <a:t>.</a:t>
            </a:r>
            <a:endParaRPr lang="en-US" sz="1300" dirty="0"/>
          </a:p>
        </p:txBody>
      </p:sp>
      <p:sp>
        <p:nvSpPr>
          <p:cNvPr id="18" name="Shape 16"/>
          <p:cNvSpPr/>
          <p:nvPr/>
        </p:nvSpPr>
        <p:spPr>
          <a:xfrm>
            <a:off x="6217920" y="2194560"/>
            <a:ext cx="5440680" cy="27432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9" name="Shape 17"/>
          <p:cNvSpPr/>
          <p:nvPr/>
        </p:nvSpPr>
        <p:spPr>
          <a:xfrm>
            <a:off x="6217920" y="2194560"/>
            <a:ext cx="5440680" cy="64008"/>
          </a:xfrm>
          <a:prstGeom prst="rect">
            <a:avLst/>
          </a:prstGeom>
          <a:solidFill>
            <a:srgbClr val="A9823F"/>
          </a:solidFill>
          <a:ln/>
        </p:spPr>
        <p:txBody>
          <a:bodyPr/>
          <a:lstStyle/>
          <a:p>
            <a:endParaRPr lang="ko-KR" altLang="en-US"/>
          </a:p>
        </p:txBody>
      </p:sp>
      <p:sp>
        <p:nvSpPr>
          <p:cNvPr id="20" name="Text 18"/>
          <p:cNvSpPr/>
          <p:nvPr/>
        </p:nvSpPr>
        <p:spPr>
          <a:xfrm>
            <a:off x="6446520" y="2468880"/>
            <a:ext cx="4983480" cy="365760"/>
          </a:xfrm>
          <a:prstGeom prst="rect">
            <a:avLst/>
          </a:prstGeom>
          <a:noFill/>
          <a:ln/>
        </p:spPr>
        <p:txBody>
          <a:bodyPr wrap="square" lIns="0" tIns="0" rIns="0" bIns="0" rtlCol="0" anchor="ctr"/>
          <a:lstStyle/>
          <a:p>
            <a:pPr marL="0" indent="0">
              <a:buNone/>
            </a:pPr>
            <a:r>
              <a:rPr lang="en-US" sz="1700" b="1" dirty="0">
                <a:solidFill>
                  <a:srgbClr val="1F2330"/>
                </a:solidFill>
                <a:latin typeface="Malgun Gothic" pitchFamily="34" charset="0"/>
                <a:ea typeface="Malgun Gothic" pitchFamily="34" charset="-122"/>
                <a:cs typeface="Malgun Gothic" pitchFamily="34" charset="-120"/>
              </a:rPr>
              <a:t>Microsoft Foundry</a:t>
            </a:r>
            <a:endParaRPr lang="en-US" sz="1700" dirty="0"/>
          </a:p>
        </p:txBody>
      </p:sp>
      <p:sp>
        <p:nvSpPr>
          <p:cNvPr id="21" name="Text 19"/>
          <p:cNvSpPr/>
          <p:nvPr/>
        </p:nvSpPr>
        <p:spPr>
          <a:xfrm>
            <a:off x="6446520" y="2944368"/>
            <a:ext cx="4983480" cy="365760"/>
          </a:xfrm>
          <a:prstGeom prst="rect">
            <a:avLst/>
          </a:prstGeom>
          <a:noFill/>
          <a:ln/>
        </p:spPr>
        <p:txBody>
          <a:bodyPr wrap="square" lIns="0" tIns="0" rIns="0" bIns="0" rtlCol="0" anchor="ctr"/>
          <a:lstStyle/>
          <a:p>
            <a:pPr marL="0" indent="0">
              <a:buNone/>
            </a:pPr>
            <a:r>
              <a:rPr lang="en-US" sz="1450" b="1" dirty="0">
                <a:solidFill>
                  <a:srgbClr val="A9823F"/>
                </a:solidFill>
                <a:latin typeface="Malgun Gothic" pitchFamily="34" charset="0"/>
                <a:ea typeface="Malgun Gothic" pitchFamily="34" charset="-122"/>
                <a:cs typeface="Malgun Gothic" pitchFamily="34" charset="-120"/>
              </a:rPr>
              <a:t>= 에이전트를 굴리는 곳  (모델 + 플랫폼)</a:t>
            </a:r>
            <a:endParaRPr lang="en-US" sz="1450" dirty="0"/>
          </a:p>
        </p:txBody>
      </p:sp>
      <p:sp>
        <p:nvSpPr>
          <p:cNvPr id="22" name="Text 20"/>
          <p:cNvSpPr/>
          <p:nvPr/>
        </p:nvSpPr>
        <p:spPr>
          <a:xfrm>
            <a:off x="6446520" y="3474720"/>
            <a:ext cx="4937760" cy="1325880"/>
          </a:xfrm>
          <a:prstGeom prst="rect">
            <a:avLst/>
          </a:prstGeom>
          <a:noFill/>
          <a:ln/>
        </p:spPr>
        <p:txBody>
          <a:bodyPr wrap="square" lIns="0" tIns="0" rIns="0" bIns="0" rtlCol="0" anchor="t"/>
          <a:lstStyle/>
          <a:p>
            <a:pPr marL="0" indent="0">
              <a:lnSpc>
                <a:spcPct val="122000"/>
              </a:lnSpc>
              <a:buNone/>
            </a:pPr>
            <a:r>
              <a:rPr lang="ko-KR" altLang="en-US" sz="1300" dirty="0">
                <a:solidFill>
                  <a:srgbClr val="6C7180"/>
                </a:solidFill>
                <a:latin typeface="Malgun Gothic" pitchFamily="34" charset="0"/>
                <a:ea typeface="Malgun Gothic" pitchFamily="34" charset="-122"/>
                <a:cs typeface="Malgun Gothic" pitchFamily="34" charset="-120"/>
              </a:rPr>
              <a:t>이전에는</a:t>
            </a:r>
            <a:r>
              <a:rPr lang="en-US" sz="1300" dirty="0">
                <a:solidFill>
                  <a:srgbClr val="6C7180"/>
                </a:solidFill>
                <a:latin typeface="Malgun Gothic" pitchFamily="34" charset="0"/>
                <a:ea typeface="Malgun Gothic" pitchFamily="34" charset="-122"/>
                <a:cs typeface="Malgun Gothic" pitchFamily="34" charset="-120"/>
              </a:rPr>
              <a:t> Azure AI Foundry</a:t>
            </a:r>
            <a:r>
              <a:rPr lang="ko-KR" altLang="en-US" sz="1300" dirty="0">
                <a:solidFill>
                  <a:srgbClr val="6C7180"/>
                </a:solidFill>
                <a:latin typeface="Malgun Gothic" pitchFamily="34" charset="0"/>
                <a:ea typeface="Malgun Gothic" pitchFamily="34" charset="-122"/>
                <a:cs typeface="Malgun Gothic" pitchFamily="34" charset="-120"/>
              </a:rPr>
              <a:t>로 불렸습니다</a:t>
            </a:r>
            <a:r>
              <a:rPr lang="en-US" sz="1300" dirty="0">
                <a:solidFill>
                  <a:srgbClr val="6C7180"/>
                </a:solidFill>
                <a:latin typeface="Malgun Gothic" pitchFamily="34" charset="0"/>
                <a:ea typeface="Malgun Gothic" pitchFamily="34" charset="-122"/>
                <a:cs typeface="Malgun Gothic" pitchFamily="34" charset="-120"/>
              </a:rPr>
              <a:t>. 모델 카탈로그가 있고, 에이전트를 배포·확장하는 Agent Service가 있고, </a:t>
            </a:r>
            <a:r>
              <a:rPr lang="en-US" sz="1300" dirty="0" err="1">
                <a:solidFill>
                  <a:srgbClr val="6C7180"/>
                </a:solidFill>
                <a:latin typeface="Malgun Gothic" pitchFamily="34" charset="0"/>
                <a:ea typeface="Malgun Gothic" pitchFamily="34" charset="-122"/>
                <a:cs typeface="Malgun Gothic" pitchFamily="34" charset="-120"/>
              </a:rPr>
              <a:t>추적·평가·모니터링까지</a:t>
            </a:r>
            <a:r>
              <a:rPr lang="en-US" sz="1300" dirty="0">
                <a:solidFill>
                  <a:srgbClr val="6C7180"/>
                </a:solidFill>
                <a:latin typeface="Malgun Gothic" pitchFamily="34" charset="0"/>
                <a:ea typeface="Malgun Gothic" pitchFamily="34" charset="-122"/>
                <a:cs typeface="Malgun Gothic" pitchFamily="34" charset="-120"/>
              </a:rPr>
              <a:t> 붙</a:t>
            </a:r>
            <a:r>
              <a:rPr lang="ko-KR" altLang="en-US" sz="1300" dirty="0" err="1">
                <a:solidFill>
                  <a:srgbClr val="6C7180"/>
                </a:solidFill>
                <a:latin typeface="Malgun Gothic" pitchFamily="34" charset="0"/>
                <a:ea typeface="Malgun Gothic" pitchFamily="34" charset="-122"/>
                <a:cs typeface="Malgun Gothic" pitchFamily="34" charset="-120"/>
              </a:rPr>
              <a:t>습니</a:t>
            </a:r>
            <a:r>
              <a:rPr lang="en-US" sz="1300" dirty="0">
                <a:solidFill>
                  <a:srgbClr val="6C7180"/>
                </a:solidFill>
                <a:latin typeface="Malgun Gothic" pitchFamily="34" charset="0"/>
                <a:ea typeface="Malgun Gothic" pitchFamily="34" charset="-122"/>
                <a:cs typeface="Malgun Gothic" pitchFamily="34" charset="-120"/>
              </a:rPr>
              <a:t>다.</a:t>
            </a:r>
            <a:endParaRPr lang="en-US" sz="1300" dirty="0"/>
          </a:p>
        </p:txBody>
      </p:sp>
      <p:sp>
        <p:nvSpPr>
          <p:cNvPr id="23" name="Shape 21"/>
          <p:cNvSpPr/>
          <p:nvPr/>
        </p:nvSpPr>
        <p:spPr>
          <a:xfrm>
            <a:off x="2926080" y="5212080"/>
            <a:ext cx="6309360" cy="548640"/>
          </a:xfrm>
          <a:prstGeom prst="rect">
            <a:avLst/>
          </a:prstGeom>
          <a:solidFill>
            <a:srgbClr val="F0E0E1"/>
          </a:solidFill>
          <a:ln/>
        </p:spPr>
        <p:txBody>
          <a:bodyPr/>
          <a:lstStyle/>
          <a:p>
            <a:endParaRPr lang="ko-KR" altLang="en-US"/>
          </a:p>
        </p:txBody>
      </p:sp>
      <p:sp>
        <p:nvSpPr>
          <p:cNvPr id="24" name="Text 22"/>
          <p:cNvSpPr/>
          <p:nvPr/>
        </p:nvSpPr>
        <p:spPr>
          <a:xfrm>
            <a:off x="2926080" y="5212080"/>
            <a:ext cx="6309360" cy="548640"/>
          </a:xfrm>
          <a:prstGeom prst="rect">
            <a:avLst/>
          </a:prstGeom>
          <a:noFill/>
          <a:ln/>
        </p:spPr>
        <p:txBody>
          <a:bodyPr wrap="square" lIns="0" tIns="0" rIns="0" bIns="0" rtlCol="0" anchor="ctr"/>
          <a:lstStyle/>
          <a:p>
            <a:pPr marL="0" indent="0" algn="ctr">
              <a:buNone/>
            </a:pPr>
            <a:r>
              <a:rPr lang="en-US" sz="1600" b="1" dirty="0">
                <a:solidFill>
                  <a:srgbClr val="8A1C2B"/>
                </a:solidFill>
                <a:latin typeface="Malgun Gothic" pitchFamily="34" charset="0"/>
                <a:ea typeface="Malgun Gothic" pitchFamily="34" charset="-122"/>
                <a:cs typeface="Malgun Gothic" pitchFamily="34" charset="-120"/>
              </a:rPr>
              <a:t>MAF로 빌드하고,  </a:t>
            </a:r>
            <a:r>
              <a:rPr lang="en-US" sz="1600" b="1" dirty="0" err="1">
                <a:solidFill>
                  <a:srgbClr val="8A1C2B"/>
                </a:solidFill>
                <a:latin typeface="Malgun Gothic" pitchFamily="34" charset="0"/>
                <a:ea typeface="Malgun Gothic" pitchFamily="34" charset="-122"/>
                <a:cs typeface="Malgun Gothic" pitchFamily="34" charset="-120"/>
              </a:rPr>
              <a:t>Foundry로</a:t>
            </a:r>
            <a:r>
              <a:rPr lang="en-US" sz="1600" b="1" dirty="0">
                <a:solidFill>
                  <a:srgbClr val="8A1C2B"/>
                </a:solidFill>
                <a:latin typeface="Malgun Gothic" pitchFamily="34" charset="0"/>
                <a:ea typeface="Malgun Gothic" pitchFamily="34" charset="-122"/>
                <a:cs typeface="Malgun Gothic" pitchFamily="34" charset="-120"/>
              </a:rPr>
              <a:t> </a:t>
            </a:r>
            <a:r>
              <a:rPr lang="en-US" sz="1600" b="1" dirty="0" err="1">
                <a:solidFill>
                  <a:srgbClr val="8A1C2B"/>
                </a:solidFill>
                <a:latin typeface="Malgun Gothic" pitchFamily="34" charset="0"/>
                <a:ea typeface="Malgun Gothic" pitchFamily="34" charset="-122"/>
                <a:cs typeface="Malgun Gothic" pitchFamily="34" charset="-120"/>
              </a:rPr>
              <a:t>실행</a:t>
            </a:r>
            <a:r>
              <a:rPr lang="ko-KR" altLang="en-US" sz="1600" b="1" dirty="0" err="1">
                <a:solidFill>
                  <a:srgbClr val="8A1C2B"/>
                </a:solidFill>
                <a:latin typeface="Malgun Gothic" pitchFamily="34" charset="0"/>
                <a:ea typeface="Malgun Gothic" pitchFamily="34" charset="-122"/>
                <a:cs typeface="Malgun Gothic" pitchFamily="34" charset="-120"/>
              </a:rPr>
              <a:t>합니</a:t>
            </a:r>
            <a:r>
              <a:rPr lang="en-US" sz="1600" b="1" dirty="0">
                <a:solidFill>
                  <a:srgbClr val="8A1C2B"/>
                </a:solidFill>
                <a:latin typeface="Malgun Gothic" pitchFamily="34" charset="0"/>
                <a:ea typeface="Malgun Gothic" pitchFamily="34" charset="-122"/>
                <a:cs typeface="Malgun Gothic" pitchFamily="34" charset="-120"/>
              </a:rPr>
              <a:t>다.</a:t>
            </a:r>
            <a:endParaRPr lang="en-US" sz="1600" dirty="0"/>
          </a:p>
        </p:txBody>
      </p:sp>
    </p:spTree>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a:solidFill>
                  <a:srgbClr val="8A1C2B"/>
                </a:solidFill>
                <a:latin typeface="Malgun Gothic" pitchFamily="34" charset="0"/>
                <a:ea typeface="Malgun Gothic" pitchFamily="34" charset="-122"/>
                <a:cs typeface="Malgun Gothic" pitchFamily="34" charset="-120"/>
              </a:rPr>
              <a:t>7  ·  클라우드로</a:t>
            </a:r>
            <a:endParaRPr lang="en-US" sz="125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a:solidFill>
                  <a:srgbClr val="1F2330"/>
                </a:solidFill>
                <a:latin typeface="Batang" pitchFamily="34" charset="0"/>
                <a:ea typeface="Batang" pitchFamily="34" charset="-122"/>
                <a:cs typeface="Batang" pitchFamily="34" charset="-120"/>
              </a:rPr>
              <a:t>Microsoft Foundry </a:t>
            </a:r>
            <a:r>
              <a:rPr lang="ko-KR" altLang="en-US" sz="3300" b="1">
                <a:solidFill>
                  <a:srgbClr val="1F2330"/>
                </a:solidFill>
                <a:latin typeface="Batang" pitchFamily="34" charset="0"/>
                <a:ea typeface="Batang" pitchFamily="34" charset="-122"/>
                <a:cs typeface="Batang" pitchFamily="34" charset="-120"/>
              </a:rPr>
              <a:t>— 에이전트를 굴리는 곳</a:t>
            </a:r>
            <a:endParaRPr lang="en-US" sz="330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a:solidFill>
                  <a:srgbClr val="6C7180"/>
                </a:solidFill>
                <a:latin typeface="Malgun Gothic" pitchFamily="34" charset="0"/>
                <a:ea typeface="Malgun Gothic" pitchFamily="34" charset="-122"/>
                <a:cs typeface="Malgun Gothic" pitchFamily="34" charset="-120"/>
              </a:rPr>
              <a:t>코드로 연주하는 카덴차</a:t>
            </a:r>
            <a:endParaRPr lang="en-US" sz="90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22</a:t>
            </a:r>
            <a:endParaRPr lang="en-US" sz="900"/>
          </a:p>
        </p:txBody>
      </p:sp>
      <p:sp>
        <p:nvSpPr>
          <p:cNvPr id="13" name="Card1"/>
          <p:cNvSpPr/>
          <p:nvPr/>
        </p:nvSpPr>
        <p:spPr>
          <a:xfrm>
            <a:off x="548640" y="2194560"/>
            <a:ext cx="3550920" cy="28956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Card1Bar"/>
          <p:cNvSpPr/>
          <p:nvPr/>
        </p:nvSpPr>
        <p:spPr>
          <a:xfrm>
            <a:off x="548640" y="2194560"/>
            <a:ext cx="3550920" cy="64008"/>
          </a:xfrm>
          <a:prstGeom prst="rect">
            <a:avLst/>
          </a:prstGeom>
          <a:solidFill>
            <a:srgbClr val="8A1C2B"/>
          </a:solidFill>
          <a:ln/>
        </p:spPr>
        <p:txBody>
          <a:bodyPr/>
          <a:lstStyle/>
          <a:p>
            <a:endParaRPr lang="ko-KR" altLang="en-US"/>
          </a:p>
        </p:txBody>
      </p:sp>
      <p:sp>
        <p:nvSpPr>
          <p:cNvPr id="15" name="Card1Title"/>
          <p:cNvSpPr/>
          <p:nvPr/>
        </p:nvSpPr>
        <p:spPr>
          <a:xfrm>
            <a:off x="777240" y="2468880"/>
            <a:ext cx="3093720" cy="365760"/>
          </a:xfrm>
          <a:prstGeom prst="rect">
            <a:avLst/>
          </a:prstGeom>
          <a:noFill/>
          <a:ln/>
        </p:spPr>
        <p:txBody>
          <a:bodyPr wrap="square" lIns="0" tIns="0" rIns="0" bIns="0" rtlCol="0" anchor="ctr"/>
          <a:lstStyle/>
          <a:p>
            <a:pPr marL="0" indent="0">
              <a:buNone/>
            </a:pPr>
            <a:r>
              <a:rPr lang="ko-KR" altLang="en-US" sz="1700" b="1">
                <a:solidFill>
                  <a:srgbClr val="1F2330"/>
                </a:solidFill>
                <a:latin typeface="Malgun Gothic" pitchFamily="34" charset="0"/>
                <a:ea typeface="Malgun Gothic" pitchFamily="34" charset="-122"/>
                <a:cs typeface="Malgun Gothic" pitchFamily="34" charset="-120"/>
              </a:rPr>
              <a:t>모델 카탈로그</a:t>
            </a:r>
            <a:endParaRPr lang="en-US" sz="1700"/>
          </a:p>
        </p:txBody>
      </p:sp>
      <p:sp>
        <p:nvSpPr>
          <p:cNvPr id="16" name="Card1Sub"/>
          <p:cNvSpPr/>
          <p:nvPr/>
        </p:nvSpPr>
        <p:spPr>
          <a:xfrm>
            <a:off x="777240" y="2944368"/>
            <a:ext cx="3093720" cy="365760"/>
          </a:xfrm>
          <a:prstGeom prst="rect">
            <a:avLst/>
          </a:prstGeom>
          <a:noFill/>
          <a:ln/>
        </p:spPr>
        <p:txBody>
          <a:bodyPr wrap="square" lIns="0" tIns="0" rIns="0" bIns="0" rtlCol="0" anchor="ctr"/>
          <a:lstStyle/>
          <a:p>
            <a:pPr marL="0" indent="0">
              <a:buNone/>
            </a:pPr>
            <a:r>
              <a:rPr lang="ko-KR" altLang="en-US" sz="1300" b="1">
                <a:solidFill>
                  <a:srgbClr val="8A1C2B"/>
                </a:solidFill>
                <a:latin typeface="Malgun Gothic" pitchFamily="34" charset="0"/>
                <a:ea typeface="Malgun Gothic" pitchFamily="34" charset="-122"/>
                <a:cs typeface="Malgun Gothic" pitchFamily="34" charset="-120"/>
              </a:rPr>
              <a:t>= 수천 개 모델을 한곳에서</a:t>
            </a:r>
            <a:endParaRPr lang="en-US" sz="1300"/>
          </a:p>
        </p:txBody>
      </p:sp>
      <p:sp>
        <p:nvSpPr>
          <p:cNvPr id="17" name="Card1Body"/>
          <p:cNvSpPr/>
          <p:nvPr/>
        </p:nvSpPr>
        <p:spPr>
          <a:xfrm>
            <a:off x="777240" y="3474720"/>
            <a:ext cx="3093720" cy="1400000"/>
          </a:xfrm>
          <a:prstGeom prst="rect">
            <a:avLst/>
          </a:prstGeom>
          <a:noFill/>
          <a:ln/>
        </p:spPr>
        <p:txBody>
          <a:bodyPr wrap="square" lIns="0" tIns="0" rIns="0" bIns="0" rtlCol="0" anchor="t"/>
          <a:lstStyle/>
          <a:p>
            <a:pPr marL="0" indent="0">
              <a:lnSpc>
                <a:spcPct val="122000"/>
              </a:lnSpc>
              <a:buNone/>
            </a:pPr>
            <a:r>
              <a:rPr lang="ko-KR" altLang="en-US" sz="1300">
                <a:solidFill>
                  <a:srgbClr val="6C7180"/>
                </a:solidFill>
                <a:latin typeface="Malgun Gothic" pitchFamily="34" charset="0"/>
                <a:ea typeface="Malgun Gothic" pitchFamily="34" charset="-122"/>
                <a:cs typeface="Malgun Gothic" pitchFamily="34" charset="-120"/>
              </a:rPr>
              <a:t>OpenAI, Llama, Mistral 등 다양한 파운데이션 모델을 한 카탈로그에서 비교하고 배포합니다.</a:t>
            </a:r>
            <a:endParaRPr lang="en-US" sz="1300"/>
          </a:p>
        </p:txBody>
      </p:sp>
      <p:sp>
        <p:nvSpPr>
          <p:cNvPr id="18" name="Card2"/>
          <p:cNvSpPr/>
          <p:nvPr/>
        </p:nvSpPr>
        <p:spPr>
          <a:xfrm>
            <a:off x="4328160" y="2194560"/>
            <a:ext cx="3550920" cy="28956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9" name="Card2Bar"/>
          <p:cNvSpPr/>
          <p:nvPr/>
        </p:nvSpPr>
        <p:spPr>
          <a:xfrm>
            <a:off x="4328160" y="2194560"/>
            <a:ext cx="3550920" cy="64008"/>
          </a:xfrm>
          <a:prstGeom prst="rect">
            <a:avLst/>
          </a:prstGeom>
          <a:solidFill>
            <a:srgbClr val="A9823F"/>
          </a:solidFill>
          <a:ln/>
        </p:spPr>
        <p:txBody>
          <a:bodyPr/>
          <a:lstStyle/>
          <a:p>
            <a:endParaRPr lang="ko-KR" altLang="en-US"/>
          </a:p>
        </p:txBody>
      </p:sp>
      <p:sp>
        <p:nvSpPr>
          <p:cNvPr id="20" name="Card2Title"/>
          <p:cNvSpPr/>
          <p:nvPr/>
        </p:nvSpPr>
        <p:spPr>
          <a:xfrm>
            <a:off x="4556760" y="2468880"/>
            <a:ext cx="3093720" cy="365760"/>
          </a:xfrm>
          <a:prstGeom prst="rect">
            <a:avLst/>
          </a:prstGeom>
          <a:noFill/>
          <a:ln/>
        </p:spPr>
        <p:txBody>
          <a:bodyPr wrap="square" lIns="0" tIns="0" rIns="0" bIns="0" rtlCol="0" anchor="ctr"/>
          <a:lstStyle/>
          <a:p>
            <a:pPr marL="0" indent="0">
              <a:buNone/>
            </a:pPr>
            <a:r>
              <a:rPr lang="en-US" sz="1700" b="1">
                <a:solidFill>
                  <a:srgbClr val="1F2330"/>
                </a:solidFill>
                <a:latin typeface="Malgun Gothic" pitchFamily="34" charset="0"/>
                <a:ea typeface="Malgun Gothic" pitchFamily="34" charset="-122"/>
                <a:cs typeface="Malgun Gothic" pitchFamily="34" charset="-120"/>
              </a:rPr>
              <a:t>Agent Service</a:t>
            </a:r>
            <a:endParaRPr lang="en-US" sz="1700"/>
          </a:p>
        </p:txBody>
      </p:sp>
      <p:sp>
        <p:nvSpPr>
          <p:cNvPr id="21" name="Card2Sub"/>
          <p:cNvSpPr/>
          <p:nvPr/>
        </p:nvSpPr>
        <p:spPr>
          <a:xfrm>
            <a:off x="4556760" y="2944368"/>
            <a:ext cx="3093720" cy="365760"/>
          </a:xfrm>
          <a:prstGeom prst="rect">
            <a:avLst/>
          </a:prstGeom>
          <a:noFill/>
          <a:ln/>
        </p:spPr>
        <p:txBody>
          <a:bodyPr wrap="square" lIns="0" tIns="0" rIns="0" bIns="0" rtlCol="0" anchor="ctr"/>
          <a:lstStyle/>
          <a:p>
            <a:pPr marL="0" indent="0">
              <a:buNone/>
            </a:pPr>
            <a:r>
              <a:rPr lang="ko-KR" altLang="en-US" sz="1300" b="1">
                <a:solidFill>
                  <a:srgbClr val="A9823F"/>
                </a:solidFill>
                <a:latin typeface="Malgun Gothic" pitchFamily="34" charset="0"/>
                <a:ea typeface="Malgun Gothic" pitchFamily="34" charset="-122"/>
                <a:cs typeface="Malgun Gothic" pitchFamily="34" charset="-120"/>
              </a:rPr>
              <a:t>= 에이전트를 배포·확장</a:t>
            </a:r>
            <a:endParaRPr lang="en-US" sz="1300"/>
          </a:p>
        </p:txBody>
      </p:sp>
      <p:sp>
        <p:nvSpPr>
          <p:cNvPr id="22" name="Card2Body"/>
          <p:cNvSpPr/>
          <p:nvPr/>
        </p:nvSpPr>
        <p:spPr>
          <a:xfrm>
            <a:off x="4556760" y="3474720"/>
            <a:ext cx="3093720" cy="1400000"/>
          </a:xfrm>
          <a:prstGeom prst="rect">
            <a:avLst/>
          </a:prstGeom>
          <a:noFill/>
          <a:ln/>
        </p:spPr>
        <p:txBody>
          <a:bodyPr wrap="square" lIns="0" tIns="0" rIns="0" bIns="0" rtlCol="0" anchor="t"/>
          <a:lstStyle/>
          <a:p>
            <a:pPr marL="0" indent="0">
              <a:lnSpc>
                <a:spcPct val="122000"/>
              </a:lnSpc>
              <a:buNone/>
            </a:pPr>
            <a:r>
              <a:rPr lang="ko-KR" altLang="en-US" sz="1300">
                <a:solidFill>
                  <a:srgbClr val="6C7180"/>
                </a:solidFill>
                <a:latin typeface="Malgun Gothic" pitchFamily="34" charset="0"/>
                <a:ea typeface="Malgun Gothic" pitchFamily="34" charset="-122"/>
                <a:cs typeface="Malgun Gothic" pitchFamily="34" charset="-120"/>
              </a:rPr>
              <a:t>에이전트를 클라우드에서 호스팅하고, 도구·메모리·오케스트레이션과 자동 확장을 관리합니다.</a:t>
            </a:r>
            <a:endParaRPr lang="en-US" sz="1300"/>
          </a:p>
        </p:txBody>
      </p:sp>
      <p:sp>
        <p:nvSpPr>
          <p:cNvPr id="23" name="Card3"/>
          <p:cNvSpPr/>
          <p:nvPr/>
        </p:nvSpPr>
        <p:spPr>
          <a:xfrm>
            <a:off x="8107680" y="2194560"/>
            <a:ext cx="3550920" cy="28956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4" name="Card3Bar"/>
          <p:cNvSpPr/>
          <p:nvPr/>
        </p:nvSpPr>
        <p:spPr>
          <a:xfrm>
            <a:off x="8107680" y="2194560"/>
            <a:ext cx="3550920" cy="64008"/>
          </a:xfrm>
          <a:prstGeom prst="rect">
            <a:avLst/>
          </a:prstGeom>
          <a:solidFill>
            <a:srgbClr val="8A1C2B"/>
          </a:solidFill>
          <a:ln/>
        </p:spPr>
        <p:txBody>
          <a:bodyPr/>
          <a:lstStyle/>
          <a:p>
            <a:endParaRPr lang="ko-KR" altLang="en-US"/>
          </a:p>
        </p:txBody>
      </p:sp>
      <p:sp>
        <p:nvSpPr>
          <p:cNvPr id="25" name="Card3Title"/>
          <p:cNvSpPr/>
          <p:nvPr/>
        </p:nvSpPr>
        <p:spPr>
          <a:xfrm>
            <a:off x="8336280" y="2468880"/>
            <a:ext cx="3093720" cy="365760"/>
          </a:xfrm>
          <a:prstGeom prst="rect">
            <a:avLst/>
          </a:prstGeom>
          <a:noFill/>
          <a:ln/>
        </p:spPr>
        <p:txBody>
          <a:bodyPr wrap="square" lIns="0" tIns="0" rIns="0" bIns="0" rtlCol="0" anchor="ctr"/>
          <a:lstStyle/>
          <a:p>
            <a:pPr marL="0" indent="0">
              <a:buNone/>
            </a:pPr>
            <a:r>
              <a:rPr lang="ko-KR" altLang="en-US" sz="1700" b="1">
                <a:solidFill>
                  <a:srgbClr val="1F2330"/>
                </a:solidFill>
                <a:latin typeface="Malgun Gothic" pitchFamily="34" charset="0"/>
                <a:ea typeface="Malgun Gothic" pitchFamily="34" charset="-122"/>
                <a:cs typeface="Malgun Gothic" pitchFamily="34" charset="-120"/>
              </a:rPr>
              <a:t>관측성 · 거버넌스</a:t>
            </a:r>
            <a:endParaRPr lang="en-US" sz="1700"/>
          </a:p>
        </p:txBody>
      </p:sp>
      <p:sp>
        <p:nvSpPr>
          <p:cNvPr id="26" name="Card3Sub"/>
          <p:cNvSpPr/>
          <p:nvPr/>
        </p:nvSpPr>
        <p:spPr>
          <a:xfrm>
            <a:off x="8336280" y="2944368"/>
            <a:ext cx="3093720" cy="365760"/>
          </a:xfrm>
          <a:prstGeom prst="rect">
            <a:avLst/>
          </a:prstGeom>
          <a:noFill/>
          <a:ln/>
        </p:spPr>
        <p:txBody>
          <a:bodyPr wrap="square" lIns="0" tIns="0" rIns="0" bIns="0" rtlCol="0" anchor="ctr"/>
          <a:lstStyle/>
          <a:p>
            <a:pPr marL="0" indent="0">
              <a:buNone/>
            </a:pPr>
            <a:r>
              <a:rPr lang="ko-KR" altLang="en-US" sz="1300" b="1">
                <a:solidFill>
                  <a:srgbClr val="8A1C2B"/>
                </a:solidFill>
                <a:latin typeface="Malgun Gothic" pitchFamily="34" charset="0"/>
                <a:ea typeface="Malgun Gothic" pitchFamily="34" charset="-122"/>
                <a:cs typeface="Malgun Gothic" pitchFamily="34" charset="-120"/>
              </a:rPr>
              <a:t>= 추적·평가·안전</a:t>
            </a:r>
            <a:endParaRPr lang="en-US" sz="1300"/>
          </a:p>
        </p:txBody>
      </p:sp>
      <p:sp>
        <p:nvSpPr>
          <p:cNvPr id="27" name="Card3Body"/>
          <p:cNvSpPr/>
          <p:nvPr/>
        </p:nvSpPr>
        <p:spPr>
          <a:xfrm>
            <a:off x="8336280" y="3474720"/>
            <a:ext cx="3093720" cy="1400000"/>
          </a:xfrm>
          <a:prstGeom prst="rect">
            <a:avLst/>
          </a:prstGeom>
          <a:noFill/>
          <a:ln/>
        </p:spPr>
        <p:txBody>
          <a:bodyPr wrap="square" lIns="0" tIns="0" rIns="0" bIns="0" rtlCol="0" anchor="t"/>
          <a:lstStyle/>
          <a:p>
            <a:pPr marL="0" indent="0">
              <a:lnSpc>
                <a:spcPct val="122000"/>
              </a:lnSpc>
              <a:buNone/>
            </a:pPr>
            <a:r>
              <a:rPr lang="ko-KR" altLang="en-US" sz="1300">
                <a:solidFill>
                  <a:srgbClr val="6C7180"/>
                </a:solidFill>
                <a:latin typeface="Malgun Gothic" pitchFamily="34" charset="0"/>
                <a:ea typeface="Malgun Gothic" pitchFamily="34" charset="-122"/>
                <a:cs typeface="Malgun Gothic" pitchFamily="34" charset="-120"/>
              </a:rPr>
              <a:t>추적·평가·모니터링과 콘텐츠 안전·접근 제어로 프로덕션 운영을 뛷받침합니다.</a:t>
            </a:r>
            <a:endParaRPr lang="en-US" sz="1300"/>
          </a:p>
        </p:txBody>
      </p:sp>
      <p:sp>
        <p:nvSpPr>
          <p:cNvPr id="28" name="BannerBox"/>
          <p:cNvSpPr/>
          <p:nvPr/>
        </p:nvSpPr>
        <p:spPr>
          <a:xfrm>
            <a:off x="2202180" y="5440680"/>
            <a:ext cx="7757640" cy="548640"/>
          </a:xfrm>
          <a:prstGeom prst="rect">
            <a:avLst/>
          </a:prstGeom>
          <a:solidFill>
            <a:srgbClr val="F0E0E1"/>
          </a:solidFill>
          <a:ln/>
        </p:spPr>
        <p:txBody>
          <a:bodyPr/>
          <a:lstStyle/>
          <a:p>
            <a:endParaRPr lang="ko-KR" altLang="en-US"/>
          </a:p>
        </p:txBody>
      </p:sp>
      <p:sp>
        <p:nvSpPr>
          <p:cNvPr id="29" name="BannerText"/>
          <p:cNvSpPr/>
          <p:nvPr/>
        </p:nvSpPr>
        <p:spPr>
          <a:xfrm>
            <a:off x="2202180" y="5440680"/>
            <a:ext cx="7757640" cy="548640"/>
          </a:xfrm>
          <a:prstGeom prst="rect">
            <a:avLst/>
          </a:prstGeom>
          <a:noFill/>
          <a:ln/>
        </p:spPr>
        <p:txBody>
          <a:bodyPr wrap="square" lIns="0" tIns="0" rIns="0" bIns="0" rtlCol="0" anchor="ctr"/>
          <a:lstStyle/>
          <a:p>
            <a:pPr marL="0" indent="0" algn="ctr">
              <a:buNone/>
            </a:pPr>
            <a:r>
              <a:rPr lang="en-US" altLang="ko-KR" sz="1500" b="1" dirty="0">
                <a:solidFill>
                  <a:srgbClr val="8A1C2B"/>
                </a:solidFill>
                <a:latin typeface="Malgun Gothic" pitchFamily="34" charset="0"/>
                <a:ea typeface="Malgun Gothic" pitchFamily="34" charset="-122"/>
                <a:cs typeface="Malgun Gothic" pitchFamily="34" charset="-120"/>
              </a:rPr>
              <a:t>Microsoft Foundry</a:t>
            </a:r>
            <a:r>
              <a:rPr lang="ko-KR" altLang="en-US" sz="1500" b="1" dirty="0">
                <a:solidFill>
                  <a:srgbClr val="8A1C2B"/>
                </a:solidFill>
                <a:latin typeface="Malgun Gothic" pitchFamily="34" charset="0"/>
                <a:ea typeface="Malgun Gothic" pitchFamily="34" charset="-122"/>
                <a:cs typeface="Malgun Gothic" pitchFamily="34" charset="-120"/>
              </a:rPr>
              <a:t>와 함께 </a:t>
            </a:r>
            <a:r>
              <a:rPr lang="en-US" altLang="ko-KR" sz="1500" b="1" dirty="0">
                <a:solidFill>
                  <a:srgbClr val="8A1C2B"/>
                </a:solidFill>
                <a:latin typeface="Malgun Gothic" pitchFamily="34" charset="0"/>
                <a:ea typeface="Malgun Gothic" pitchFamily="34" charset="-122"/>
                <a:cs typeface="Malgun Gothic" pitchFamily="34" charset="-120"/>
              </a:rPr>
              <a:t>Agent Framework</a:t>
            </a:r>
            <a:r>
              <a:rPr lang="ko-KR" altLang="en-US" sz="1500" b="1" dirty="0">
                <a:solidFill>
                  <a:srgbClr val="8A1C2B"/>
                </a:solidFill>
                <a:latin typeface="Malgun Gothic" pitchFamily="34" charset="0"/>
                <a:ea typeface="Malgun Gothic" pitchFamily="34" charset="-122"/>
                <a:cs typeface="Malgun Gothic" pitchFamily="34" charset="-120"/>
              </a:rPr>
              <a:t>는 최적의 기술 조합이 됩니다</a:t>
            </a:r>
            <a:r>
              <a:rPr lang="en-US" altLang="ko-KR" sz="1500" b="1" dirty="0">
                <a:solidFill>
                  <a:srgbClr val="8A1C2B"/>
                </a:solidFill>
                <a:latin typeface="Malgun Gothic" pitchFamily="34" charset="0"/>
                <a:ea typeface="Malgun Gothic" pitchFamily="34" charset="-122"/>
                <a:cs typeface="Malgun Gothic" pitchFamily="34" charset="-120"/>
              </a:rPr>
              <a:t>.</a:t>
            </a:r>
            <a:endParaRPr lang="en-US" sz="1500" dirty="0"/>
          </a:p>
        </p:txBody>
      </p:sp>
    </p:spTree>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a:solidFill>
                  <a:srgbClr val="8A1C2B"/>
                </a:solidFill>
                <a:latin typeface="Malgun Gothic" pitchFamily="34" charset="0"/>
                <a:ea typeface="Malgun Gothic" pitchFamily="34" charset="-122"/>
                <a:cs typeface="Malgun Gothic" pitchFamily="34" charset="-120"/>
              </a:rPr>
              <a:t>7  ·  클라우드로</a:t>
            </a:r>
            <a:endParaRPr lang="en-US" sz="125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a:solidFill>
                  <a:srgbClr val="1F2330"/>
                </a:solidFill>
                <a:latin typeface="Batang" pitchFamily="34" charset="0"/>
                <a:ea typeface="Batang" pitchFamily="34" charset="-122"/>
                <a:cs typeface="Batang" pitchFamily="34" charset="-120"/>
              </a:rPr>
              <a:t>GitHub Copilot </a:t>
            </a:r>
            <a:r>
              <a:rPr lang="ko-KR" altLang="en-US" sz="3300" b="1">
                <a:solidFill>
                  <a:srgbClr val="1F2330"/>
                </a:solidFill>
                <a:latin typeface="Batang" pitchFamily="34" charset="0"/>
                <a:ea typeface="Batang" pitchFamily="34" charset="-122"/>
                <a:cs typeface="Batang" pitchFamily="34" charset="-120"/>
              </a:rPr>
              <a:t>— AI 페어 프로그래머</a:t>
            </a:r>
            <a:endParaRPr lang="en-US" sz="330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a:solidFill>
                  <a:srgbClr val="6C7180"/>
                </a:solidFill>
                <a:latin typeface="Malgun Gothic" pitchFamily="34" charset="0"/>
                <a:ea typeface="Malgun Gothic" pitchFamily="34" charset="-122"/>
                <a:cs typeface="Malgun Gothic" pitchFamily="34" charset="-120"/>
              </a:rPr>
              <a:t>코드로 연주하는 카덴차</a:t>
            </a:r>
            <a:endParaRPr lang="en-US" sz="90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23</a:t>
            </a:r>
            <a:endParaRPr lang="en-US" sz="900"/>
          </a:p>
        </p:txBody>
      </p:sp>
      <p:sp>
        <p:nvSpPr>
          <p:cNvPr id="13" name="CardL"/>
          <p:cNvSpPr/>
          <p:nvPr/>
        </p:nvSpPr>
        <p:spPr>
          <a:xfrm>
            <a:off x="548640" y="2194560"/>
            <a:ext cx="5440680" cy="28956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CardLBar"/>
          <p:cNvSpPr/>
          <p:nvPr/>
        </p:nvSpPr>
        <p:spPr>
          <a:xfrm>
            <a:off x="548640" y="2194560"/>
            <a:ext cx="5440680" cy="64008"/>
          </a:xfrm>
          <a:prstGeom prst="rect">
            <a:avLst/>
          </a:prstGeom>
          <a:solidFill>
            <a:srgbClr val="8A1C2B"/>
          </a:solidFill>
          <a:ln/>
        </p:spPr>
        <p:txBody>
          <a:bodyPr/>
          <a:lstStyle/>
          <a:p>
            <a:endParaRPr lang="ko-KR" altLang="en-US"/>
          </a:p>
        </p:txBody>
      </p:sp>
      <p:sp>
        <p:nvSpPr>
          <p:cNvPr id="15" name="CardLTitle"/>
          <p:cNvSpPr/>
          <p:nvPr/>
        </p:nvSpPr>
        <p:spPr>
          <a:xfrm>
            <a:off x="777240" y="2468880"/>
            <a:ext cx="4983480" cy="365760"/>
          </a:xfrm>
          <a:prstGeom prst="rect">
            <a:avLst/>
          </a:prstGeom>
          <a:noFill/>
          <a:ln/>
        </p:spPr>
        <p:txBody>
          <a:bodyPr wrap="square" lIns="0" tIns="0" rIns="0" bIns="0" rtlCol="0" anchor="ctr"/>
          <a:lstStyle/>
          <a:p>
            <a:pPr marL="0" indent="0">
              <a:buNone/>
            </a:pPr>
            <a:r>
              <a:rPr lang="ko-KR" altLang="en-US" sz="1700" b="1">
                <a:solidFill>
                  <a:srgbClr val="1F2330"/>
                </a:solidFill>
                <a:latin typeface="Malgun Gothic" pitchFamily="34" charset="0"/>
                <a:ea typeface="Malgun Gothic" pitchFamily="34" charset="-122"/>
                <a:cs typeface="Malgun Gothic" pitchFamily="34" charset="-120"/>
              </a:rPr>
              <a:t>개요</a:t>
            </a:r>
            <a:endParaRPr lang="en-US" sz="1700"/>
          </a:p>
        </p:txBody>
      </p:sp>
      <p:sp>
        <p:nvSpPr>
          <p:cNvPr id="16" name="CardLSub"/>
          <p:cNvSpPr/>
          <p:nvPr/>
        </p:nvSpPr>
        <p:spPr>
          <a:xfrm>
            <a:off x="777240" y="2944368"/>
            <a:ext cx="4983480" cy="365760"/>
          </a:xfrm>
          <a:prstGeom prst="rect">
            <a:avLst/>
          </a:prstGeom>
          <a:noFill/>
          <a:ln/>
        </p:spPr>
        <p:txBody>
          <a:bodyPr wrap="square" lIns="0" tIns="0" rIns="0" bIns="0" rtlCol="0" anchor="ctr"/>
          <a:lstStyle/>
          <a:p>
            <a:pPr marL="0" indent="0">
              <a:buNone/>
            </a:pPr>
            <a:r>
              <a:rPr lang="ko-KR" altLang="en-US" sz="1450" b="1">
                <a:solidFill>
                  <a:srgbClr val="8A1C2B"/>
                </a:solidFill>
                <a:latin typeface="Malgun Gothic" pitchFamily="34" charset="0"/>
                <a:ea typeface="Malgun Gothic" pitchFamily="34" charset="-122"/>
                <a:cs typeface="Malgun Gothic" pitchFamily="34" charset="-120"/>
              </a:rPr>
              <a:t>= 코딩을 돕는 AI 어시스턴트</a:t>
            </a:r>
            <a:endParaRPr lang="en-US" sz="1450"/>
          </a:p>
        </p:txBody>
      </p:sp>
      <p:sp>
        <p:nvSpPr>
          <p:cNvPr id="17" name="CardLBody"/>
          <p:cNvSpPr/>
          <p:nvPr/>
        </p:nvSpPr>
        <p:spPr>
          <a:xfrm>
            <a:off x="777240" y="3474720"/>
            <a:ext cx="4983480" cy="1400000"/>
          </a:xfrm>
          <a:prstGeom prst="rect">
            <a:avLst/>
          </a:prstGeom>
          <a:noFill/>
          <a:ln/>
        </p:spPr>
        <p:txBody>
          <a:bodyPr wrap="square" lIns="0" tIns="0" rIns="0" bIns="0" rtlCol="0" anchor="t"/>
          <a:lstStyle/>
          <a:p>
            <a:pPr marL="0" indent="0">
              <a:lnSpc>
                <a:spcPct val="122000"/>
              </a:lnSpc>
              <a:buNone/>
            </a:pPr>
            <a:r>
              <a:rPr lang="ko-KR" altLang="en-US" sz="1300">
                <a:solidFill>
                  <a:srgbClr val="6C7180"/>
                </a:solidFill>
                <a:latin typeface="Malgun Gothic" pitchFamily="34" charset="0"/>
                <a:ea typeface="Malgun Gothic" pitchFamily="34" charset="-122"/>
                <a:cs typeface="Malgun Gothic" pitchFamily="34" charset="-120"/>
              </a:rPr>
              <a:t>코드 자동완성부터 자연어 채팅, 에이전트 모드까지 — 여러 에디터에서 코드를 제안하고 설명하고 생성하는 AI 코딩 어시스턴트입니다.</a:t>
            </a:r>
            <a:endParaRPr lang="en-US" sz="1300"/>
          </a:p>
        </p:txBody>
      </p:sp>
      <p:sp>
        <p:nvSpPr>
          <p:cNvPr id="18" name="CardR"/>
          <p:cNvSpPr/>
          <p:nvPr/>
        </p:nvSpPr>
        <p:spPr>
          <a:xfrm>
            <a:off x="6217920" y="2194560"/>
            <a:ext cx="5440680" cy="289560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9" name="CardRBar"/>
          <p:cNvSpPr/>
          <p:nvPr/>
        </p:nvSpPr>
        <p:spPr>
          <a:xfrm>
            <a:off x="6217920" y="2194560"/>
            <a:ext cx="5440680" cy="64008"/>
          </a:xfrm>
          <a:prstGeom prst="rect">
            <a:avLst/>
          </a:prstGeom>
          <a:solidFill>
            <a:srgbClr val="A9823F"/>
          </a:solidFill>
          <a:ln/>
        </p:spPr>
        <p:txBody>
          <a:bodyPr/>
          <a:lstStyle/>
          <a:p>
            <a:endParaRPr lang="ko-KR" altLang="en-US"/>
          </a:p>
        </p:txBody>
      </p:sp>
      <p:sp>
        <p:nvSpPr>
          <p:cNvPr id="20" name="CardRTitle"/>
          <p:cNvSpPr/>
          <p:nvPr/>
        </p:nvSpPr>
        <p:spPr>
          <a:xfrm>
            <a:off x="6446520" y="2468880"/>
            <a:ext cx="4983480" cy="365760"/>
          </a:xfrm>
          <a:prstGeom prst="rect">
            <a:avLst/>
          </a:prstGeom>
          <a:noFill/>
          <a:ln/>
        </p:spPr>
        <p:txBody>
          <a:bodyPr wrap="square" lIns="0" tIns="0" rIns="0" bIns="0" rtlCol="0" anchor="ctr"/>
          <a:lstStyle/>
          <a:p>
            <a:pPr marL="0" indent="0">
              <a:buNone/>
            </a:pPr>
            <a:r>
              <a:rPr lang="ko-KR" altLang="en-US" sz="1700" b="1">
                <a:solidFill>
                  <a:srgbClr val="1F2330"/>
                </a:solidFill>
                <a:latin typeface="Malgun Gothic" pitchFamily="34" charset="0"/>
                <a:ea typeface="Malgun Gothic" pitchFamily="34" charset="-122"/>
                <a:cs typeface="Malgun Gothic" pitchFamily="34" charset="-120"/>
              </a:rPr>
              <a:t>주요 장점</a:t>
            </a:r>
            <a:endParaRPr lang="en-US" sz="1700"/>
          </a:p>
        </p:txBody>
      </p:sp>
      <p:sp>
        <p:nvSpPr>
          <p:cNvPr id="21" name="CardRSub"/>
          <p:cNvSpPr/>
          <p:nvPr/>
        </p:nvSpPr>
        <p:spPr>
          <a:xfrm>
            <a:off x="6446520" y="2944368"/>
            <a:ext cx="4983480" cy="365760"/>
          </a:xfrm>
          <a:prstGeom prst="rect">
            <a:avLst/>
          </a:prstGeom>
          <a:noFill/>
          <a:ln/>
        </p:spPr>
        <p:txBody>
          <a:bodyPr wrap="square" lIns="0" tIns="0" rIns="0" bIns="0" rtlCol="0" anchor="ctr"/>
          <a:lstStyle/>
          <a:p>
            <a:pPr marL="0" indent="0">
              <a:buNone/>
            </a:pPr>
            <a:r>
              <a:rPr lang="ko-KR" altLang="en-US" sz="1450" b="1">
                <a:solidFill>
                  <a:srgbClr val="A9823F"/>
                </a:solidFill>
                <a:latin typeface="Malgun Gothic" pitchFamily="34" charset="0"/>
                <a:ea typeface="Malgun Gothic" pitchFamily="34" charset="-122"/>
                <a:cs typeface="Malgun Gothic" pitchFamily="34" charset="-120"/>
              </a:rPr>
              <a:t>= 속도와 흐름을 지켜주는 이유</a:t>
            </a:r>
            <a:endParaRPr lang="en-US" sz="1450"/>
          </a:p>
        </p:txBody>
      </p:sp>
      <p:sp>
        <p:nvSpPr>
          <p:cNvPr id="22" name="CardRBody"/>
          <p:cNvSpPr/>
          <p:nvPr/>
        </p:nvSpPr>
        <p:spPr>
          <a:xfrm>
            <a:off x="6446520" y="3420000"/>
            <a:ext cx="4983480" cy="1520000"/>
          </a:xfrm>
          <a:prstGeom prst="rect">
            <a:avLst/>
          </a:prstGeom>
          <a:noFill/>
          <a:ln/>
        </p:spPr>
        <p:txBody>
          <a:bodyPr wrap="square" lIns="0" tIns="0" rIns="0" bIns="0" rtlCol="0" anchor="t"/>
          <a:lstStyle/>
          <a:p>
            <a:pPr marL="228600" indent="-228600">
              <a:lnSpc>
                <a:spcPct val="118000"/>
              </a:lnSpc>
              <a:spcBef>
                <a:spcPts val="300"/>
              </a:spcBef>
              <a:buFont typeface="Arial" pitchFamily="34" charset="0"/>
              <a:buChar char="•"/>
            </a:pPr>
            <a:r>
              <a:rPr lang="ko-KR" altLang="en-US" sz="1300">
                <a:solidFill>
                  <a:srgbClr val="6C7180"/>
                </a:solidFill>
                <a:latin typeface="Malgun Gothic" pitchFamily="34" charset="0"/>
                <a:ea typeface="Malgun Gothic" pitchFamily="34" charset="-122"/>
                <a:cs typeface="Malgun Gothic" pitchFamily="34" charset="-120"/>
              </a:rPr>
              <a:t>반복되는 보일러플레이트를 줄여 생산성을 높입니다.</a:t>
            </a:r>
            <a:endParaRPr lang="en-US" sz="1300"/>
          </a:p>
          <a:p>
            <a:pPr marL="228600" indent="-228600">
              <a:lnSpc>
                <a:spcPct val="118000"/>
              </a:lnSpc>
              <a:spcBef>
                <a:spcPts val="300"/>
              </a:spcBef>
              <a:buFont typeface="Arial" pitchFamily="34" charset="0"/>
              <a:buChar char="•"/>
            </a:pPr>
            <a:r>
              <a:rPr lang="ko-KR" altLang="en-US" sz="1300">
                <a:solidFill>
                  <a:srgbClr val="6C7180"/>
                </a:solidFill>
                <a:latin typeface="Malgun Gothic" pitchFamily="34" charset="0"/>
                <a:ea typeface="Malgun Gothic" pitchFamily="34" charset="-122"/>
                <a:cs typeface="Malgun Gothic" pitchFamily="34" charset="-120"/>
              </a:rPr>
              <a:t>자연어로 의도만 말하면 코드를 대신 작성합니다.</a:t>
            </a:r>
            <a:endParaRPr lang="en-US" sz="1300"/>
          </a:p>
          <a:p>
            <a:pPr marL="228600" indent="-228600">
              <a:lnSpc>
                <a:spcPct val="118000"/>
              </a:lnSpc>
              <a:spcBef>
                <a:spcPts val="300"/>
              </a:spcBef>
              <a:buFont typeface="Arial" pitchFamily="34" charset="0"/>
              <a:buChar char="•"/>
            </a:pPr>
            <a:r>
              <a:rPr lang="ko-KR" altLang="en-US" sz="1300">
                <a:solidFill>
                  <a:srgbClr val="6C7180"/>
                </a:solidFill>
                <a:latin typeface="Malgun Gothic" pitchFamily="34" charset="0"/>
                <a:ea typeface="Malgun Gothic" pitchFamily="34" charset="-122"/>
                <a:cs typeface="Malgun Gothic" pitchFamily="34" charset="-120"/>
              </a:rPr>
              <a:t>익숙한 에디터와 도구 체인에 자연스럽게 통합됩니다.</a:t>
            </a:r>
            <a:endParaRPr lang="en-US" sz="1300"/>
          </a:p>
          <a:p>
            <a:pPr marL="228600" indent="-228600">
              <a:lnSpc>
                <a:spcPct val="118000"/>
              </a:lnSpc>
              <a:spcBef>
                <a:spcPts val="300"/>
              </a:spcBef>
              <a:buFont typeface="Arial" pitchFamily="34" charset="0"/>
              <a:buChar char="•"/>
            </a:pPr>
            <a:r>
              <a:rPr lang="ko-KR" altLang="en-US" sz="1300">
                <a:solidFill>
                  <a:srgbClr val="6C7180"/>
                </a:solidFill>
                <a:latin typeface="Malgun Gothic" pitchFamily="34" charset="0"/>
                <a:ea typeface="Malgun Gothic" pitchFamily="34" charset="-122"/>
                <a:cs typeface="Malgun Gothic" pitchFamily="34" charset="-120"/>
              </a:rPr>
              <a:t>최신 모델을 골라 쓸 수 있습니다.</a:t>
            </a:r>
          </a:p>
          <a:p>
            <a:pPr marL="228600" indent="-228600">
              <a:lnSpc>
                <a:spcPct val="118000"/>
              </a:lnSpc>
              <a:spcBef>
                <a:spcPts val="300"/>
              </a:spcBef>
              <a:buFont typeface="Arial" pitchFamily="34" charset="0"/>
              <a:buChar char="•"/>
            </a:pPr>
            <a:r>
              <a:rPr lang="en-US" altLang="ko-KR" sz="1300" b="1">
                <a:solidFill>
                  <a:srgbClr val="8A1C2B"/>
                </a:solidFill>
                <a:latin typeface="Malgun Gothic" pitchFamily="34" charset="0"/>
                <a:ea typeface="Malgun Gothic" pitchFamily="34" charset="-122"/>
                <a:cs typeface="Malgun Gothic" pitchFamily="34" charset="-120"/>
              </a:rPr>
              <a:t>Visual Studio 2026 </a:t>
            </a:r>
            <a:r>
              <a:rPr lang="ko-KR" altLang="en-US" sz="1300" b="1">
                <a:solidFill>
                  <a:srgbClr val="8A1C2B"/>
                </a:solidFill>
                <a:latin typeface="Malgun Gothic" pitchFamily="34" charset="0"/>
                <a:ea typeface="Malgun Gothic" pitchFamily="34" charset="-122"/>
                <a:cs typeface="Malgun Gothic" pitchFamily="34" charset="-120"/>
              </a:rPr>
              <a:t>내장 AI 에이전트가 자율주행급 가설 추론·디버깅·유닛 테스트 작성까지 통합합니다.</a:t>
            </a:r>
            <a:endParaRPr lang="en-US" sz="1300" b="1"/>
          </a:p>
        </p:txBody>
      </p:sp>
      <p:sp>
        <p:nvSpPr>
          <p:cNvPr id="28" name="BannerBox"/>
          <p:cNvSpPr/>
          <p:nvPr/>
        </p:nvSpPr>
        <p:spPr>
          <a:xfrm>
            <a:off x="2202180" y="5440680"/>
            <a:ext cx="7757640" cy="548640"/>
          </a:xfrm>
          <a:prstGeom prst="rect">
            <a:avLst/>
          </a:prstGeom>
          <a:solidFill>
            <a:srgbClr val="F0E0E1"/>
          </a:solidFill>
          <a:ln/>
        </p:spPr>
        <p:txBody>
          <a:bodyPr/>
          <a:lstStyle/>
          <a:p>
            <a:endParaRPr lang="ko-KR" altLang="en-US"/>
          </a:p>
        </p:txBody>
      </p:sp>
      <p:sp>
        <p:nvSpPr>
          <p:cNvPr id="29" name="BannerText"/>
          <p:cNvSpPr/>
          <p:nvPr/>
        </p:nvSpPr>
        <p:spPr>
          <a:xfrm>
            <a:off x="2202180" y="5440680"/>
            <a:ext cx="7757640" cy="548640"/>
          </a:xfrm>
          <a:prstGeom prst="rect">
            <a:avLst/>
          </a:prstGeom>
          <a:noFill/>
          <a:ln/>
        </p:spPr>
        <p:txBody>
          <a:bodyPr wrap="square" lIns="0" tIns="0" rIns="0" bIns="0" rtlCol="0" anchor="ctr"/>
          <a:lstStyle/>
          <a:p>
            <a:pPr marL="0" indent="0" algn="ctr">
              <a:buNone/>
            </a:pPr>
            <a:r>
              <a:rPr lang="ko-KR" altLang="en-US" sz="1500" b="1" dirty="0" err="1">
                <a:solidFill>
                  <a:srgbClr val="8A1C2B"/>
                </a:solidFill>
                <a:latin typeface="Malgun Gothic" pitchFamily="34" charset="0"/>
                <a:ea typeface="Malgun Gothic" pitchFamily="34" charset="-122"/>
                <a:cs typeface="Malgun Gothic" pitchFamily="34" charset="-120"/>
              </a:rPr>
              <a:t>Visual</a:t>
            </a:r>
            <a:r>
              <a:rPr lang="ko-KR" altLang="en-US" sz="1500" b="1" dirty="0">
                <a:solidFill>
                  <a:srgbClr val="8A1C2B"/>
                </a:solidFill>
                <a:latin typeface="Malgun Gothic" pitchFamily="34" charset="0"/>
                <a:ea typeface="Malgun Gothic" pitchFamily="34" charset="-122"/>
                <a:cs typeface="Malgun Gothic" pitchFamily="34" charset="-120"/>
              </a:rPr>
              <a:t> </a:t>
            </a:r>
            <a:r>
              <a:rPr lang="ko-KR" altLang="en-US" sz="1500" b="1" dirty="0" err="1">
                <a:solidFill>
                  <a:srgbClr val="8A1C2B"/>
                </a:solidFill>
                <a:latin typeface="Malgun Gothic" pitchFamily="34" charset="0"/>
                <a:ea typeface="Malgun Gothic" pitchFamily="34" charset="-122"/>
                <a:cs typeface="Malgun Gothic" pitchFamily="34" charset="-120"/>
              </a:rPr>
              <a:t>Studio</a:t>
            </a:r>
            <a:r>
              <a:rPr lang="ko-KR" altLang="en-US" sz="1500" b="1" dirty="0">
                <a:solidFill>
                  <a:srgbClr val="8A1C2B"/>
                </a:solidFill>
                <a:latin typeface="Malgun Gothic" pitchFamily="34" charset="0"/>
                <a:ea typeface="Malgun Gothic" pitchFamily="34" charset="-122"/>
                <a:cs typeface="Malgun Gothic" pitchFamily="34" charset="-120"/>
              </a:rPr>
              <a:t> 2026 내장 자율 AI 에이전트</a:t>
            </a:r>
            <a:br>
              <a:rPr lang="en-US" altLang="ko-KR" sz="1500" b="1" dirty="0">
                <a:solidFill>
                  <a:srgbClr val="8A1C2B"/>
                </a:solidFill>
                <a:latin typeface="Malgun Gothic" pitchFamily="34" charset="0"/>
                <a:ea typeface="Malgun Gothic" pitchFamily="34" charset="-122"/>
                <a:cs typeface="Malgun Gothic" pitchFamily="34" charset="-120"/>
              </a:rPr>
            </a:br>
            <a:r>
              <a:rPr lang="ko-KR" altLang="en-US" sz="1500" b="1" dirty="0">
                <a:solidFill>
                  <a:srgbClr val="8A1C2B"/>
                </a:solidFill>
                <a:latin typeface="Malgun Gothic" pitchFamily="34" charset="0"/>
                <a:ea typeface="Malgun Gothic" pitchFamily="34" charset="-122"/>
                <a:cs typeface="Malgun Gothic" pitchFamily="34" charset="-120"/>
              </a:rPr>
              <a:t>GitHub </a:t>
            </a:r>
            <a:r>
              <a:rPr lang="ko-KR" altLang="en-US" sz="1500" b="1" dirty="0" err="1">
                <a:solidFill>
                  <a:srgbClr val="8A1C2B"/>
                </a:solidFill>
                <a:latin typeface="Malgun Gothic" pitchFamily="34" charset="0"/>
                <a:ea typeface="Malgun Gothic" pitchFamily="34" charset="-122"/>
                <a:cs typeface="Malgun Gothic" pitchFamily="34" charset="-120"/>
              </a:rPr>
              <a:t>Copilot과</a:t>
            </a:r>
            <a:r>
              <a:rPr lang="ko-KR" altLang="en-US" sz="1500" b="1" dirty="0">
                <a:solidFill>
                  <a:srgbClr val="8A1C2B"/>
                </a:solidFill>
                <a:latin typeface="Malgun Gothic" pitchFamily="34" charset="0"/>
                <a:ea typeface="Malgun Gothic" pitchFamily="34" charset="-122"/>
                <a:cs typeface="Malgun Gothic" pitchFamily="34" charset="-120"/>
              </a:rPr>
              <a:t> Microsoft 생태계만의 해자(</a:t>
            </a:r>
            <a:r>
              <a:rPr lang="ko-KR" altLang="en-US" sz="1500" b="1" dirty="0" err="1">
                <a:solidFill>
                  <a:srgbClr val="8A1C2B"/>
                </a:solidFill>
                <a:latin typeface="Malgun Gothic" pitchFamily="34" charset="0"/>
                <a:ea typeface="Malgun Gothic" pitchFamily="34" charset="-122"/>
                <a:cs typeface="Malgun Gothic" pitchFamily="34" charset="-120"/>
              </a:rPr>
              <a:t>moat</a:t>
            </a:r>
            <a:r>
              <a:rPr lang="ko-KR" altLang="en-US" sz="1500" b="1" dirty="0">
                <a:solidFill>
                  <a:srgbClr val="8A1C2B"/>
                </a:solidFill>
                <a:latin typeface="Malgun Gothic" pitchFamily="34" charset="0"/>
                <a:ea typeface="Malgun Gothic" pitchFamily="34" charset="-122"/>
                <a:cs typeface="Malgun Gothic" pitchFamily="34" charset="-120"/>
              </a:rPr>
              <a:t>)입니다.</a:t>
            </a:r>
            <a:endParaRPr lang="en-US" sz="1500" dirty="0"/>
          </a:p>
        </p:txBody>
      </p:sp>
    </p:spTree>
  </p:cSld>
  <p:clrMapOvr>
    <a:masterClrMapping/>
  </p:clrMapOvr>
  <p:transition spd="med">
    <p:wipe/>
  </p:transition>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라이브  ·  COPILOT</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빈 파일에서, 의도만 말한다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24</a:t>
            </a:r>
            <a:endParaRPr lang="en-US" sz="900" dirty="0"/>
          </a:p>
        </p:txBody>
      </p:sp>
      <p:sp>
        <p:nvSpPr>
          <p:cNvPr id="13" name="Shape 11"/>
          <p:cNvSpPr/>
          <p:nvPr/>
        </p:nvSpPr>
        <p:spPr>
          <a:xfrm>
            <a:off x="548640" y="2057400"/>
            <a:ext cx="6858000" cy="333756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057400"/>
            <a:ext cx="6858000" cy="457200"/>
          </a:xfrm>
          <a:prstGeom prst="rect">
            <a:avLst/>
          </a:prstGeom>
          <a:solidFill>
            <a:srgbClr val="171A23"/>
          </a:solidFill>
          <a:ln/>
        </p:spPr>
        <p:txBody>
          <a:bodyPr/>
          <a:lstStyle/>
          <a:p>
            <a:endParaRPr lang="ko-KR" altLang="en-US"/>
          </a:p>
        </p:txBody>
      </p:sp>
      <p:sp>
        <p:nvSpPr>
          <p:cNvPr id="15" name="Shape 13"/>
          <p:cNvSpPr/>
          <p:nvPr/>
        </p:nvSpPr>
        <p:spPr>
          <a:xfrm>
            <a:off x="768096" y="2212848"/>
            <a:ext cx="146304" cy="146304"/>
          </a:xfrm>
          <a:prstGeom prst="ellipse">
            <a:avLst/>
          </a:prstGeom>
          <a:solidFill>
            <a:srgbClr val="A9823F"/>
          </a:solidFill>
          <a:ln/>
        </p:spPr>
        <p:txBody>
          <a:bodyPr/>
          <a:lstStyle/>
          <a:p>
            <a:endParaRPr lang="ko-KR" altLang="en-US"/>
          </a:p>
        </p:txBody>
      </p:sp>
      <p:sp>
        <p:nvSpPr>
          <p:cNvPr id="16" name="Text 14"/>
          <p:cNvSpPr/>
          <p:nvPr/>
        </p:nvSpPr>
        <p:spPr>
          <a:xfrm>
            <a:off x="1024128" y="2057400"/>
            <a:ext cx="6217920" cy="457200"/>
          </a:xfrm>
          <a:prstGeom prst="rect">
            <a:avLst/>
          </a:prstGeom>
          <a:noFill/>
          <a:ln/>
        </p:spPr>
        <p:txBody>
          <a:bodyPr wrap="square" lIns="0" tIns="0" rIns="0" bIns="0" rtlCol="0" anchor="ctr"/>
          <a:lstStyle/>
          <a:p>
            <a:pPr marL="0" indent="0" algn="l">
              <a:buNone/>
            </a:pPr>
            <a:r>
              <a:rPr lang="en-US" sz="1200" b="1" dirty="0">
                <a:solidFill>
                  <a:srgbClr val="ECE7D8"/>
                </a:solidFill>
                <a:latin typeface="Malgun Gothic" pitchFamily="34" charset="0"/>
                <a:ea typeface="Malgun Gothic" pitchFamily="34" charset="-122"/>
                <a:cs typeface="Malgun Gothic" pitchFamily="34" charset="-120"/>
              </a:rPr>
              <a:t>GitHub Copilot 채팅  ·  foundry-agent.cs (빈 파일)</a:t>
            </a:r>
            <a:endParaRPr lang="en-US" sz="1200" dirty="0"/>
          </a:p>
        </p:txBody>
      </p:sp>
      <p:sp>
        <p:nvSpPr>
          <p:cNvPr id="17" name="Text 15"/>
          <p:cNvSpPr/>
          <p:nvPr/>
        </p:nvSpPr>
        <p:spPr>
          <a:xfrm>
            <a:off x="841248" y="2715768"/>
            <a:ext cx="6272784" cy="1920240"/>
          </a:xfrm>
          <a:prstGeom prst="rect">
            <a:avLst/>
          </a:prstGeom>
          <a:noFill/>
          <a:ln/>
        </p:spPr>
        <p:txBody>
          <a:bodyPr wrap="square" lIns="0" tIns="0" rIns="0" bIns="0" rtlCol="0" anchor="t"/>
          <a:lstStyle/>
          <a:p>
            <a:pPr marL="0" indent="0" algn="l">
              <a:lnSpc>
                <a:spcPct val="130000"/>
              </a:lnSpc>
              <a:buNone/>
            </a:pPr>
            <a:r>
              <a:rPr lang="en-US" sz="1350" dirty="0">
                <a:solidFill>
                  <a:srgbClr val="1F2330"/>
                </a:solidFill>
                <a:latin typeface="Malgun Gothic" pitchFamily="34" charset="0"/>
                <a:ea typeface="Malgun Gothic" pitchFamily="34" charset="-122"/>
                <a:cs typeface="Malgun Gothic" pitchFamily="34" charset="-120"/>
              </a:rPr>
              <a:t>“Cadenza (github.com/rkttu/cadenza) </a:t>
            </a:r>
            <a:r>
              <a:rPr lang="ko-KR" altLang="en-US" sz="1350" dirty="0">
                <a:solidFill>
                  <a:srgbClr val="1F2330"/>
                </a:solidFill>
                <a:latin typeface="Malgun Gothic" pitchFamily="34" charset="0"/>
                <a:ea typeface="Malgun Gothic" pitchFamily="34" charset="-122"/>
                <a:cs typeface="Malgun Gothic" pitchFamily="34" charset="-120"/>
              </a:rPr>
              <a:t>와 </a:t>
            </a:r>
            <a:r>
              <a:rPr lang="en-US" sz="1350" dirty="0">
                <a:solidFill>
                  <a:srgbClr val="1F2330"/>
                </a:solidFill>
                <a:latin typeface="Malgun Gothic" pitchFamily="34" charset="0"/>
                <a:ea typeface="Malgun Gothic" pitchFamily="34" charset="-122"/>
                <a:cs typeface="Malgun Gothic" pitchFamily="34" charset="-120"/>
              </a:rPr>
              <a:t>.NET 10 file-based app으로 단일 파일 AI 에이전트를 만들어줘. Microsoft Agent Framework와 Microsoft Foundry를 쓰고, AIProjectClient.AsAIAgent로 에이전트를 만든 다음 샘플 프롬프트를 한 번 실행해줘. endpoint와 모델 배포 이름은 환경 변수에서 읽고, 필요한 #:package 디렉티브를 파일 맨 위에 넣어줘.”</a:t>
            </a:r>
            <a:endParaRPr lang="en-US" sz="1350" dirty="0"/>
          </a:p>
        </p:txBody>
      </p:sp>
      <p:sp>
        <p:nvSpPr>
          <p:cNvPr id="18" name="Text 16"/>
          <p:cNvSpPr/>
          <p:nvPr/>
        </p:nvSpPr>
        <p:spPr>
          <a:xfrm>
            <a:off x="841248" y="4828032"/>
            <a:ext cx="6272784" cy="411480"/>
          </a:xfrm>
          <a:prstGeom prst="rect">
            <a:avLst/>
          </a:prstGeom>
          <a:noFill/>
          <a:ln/>
        </p:spPr>
        <p:txBody>
          <a:bodyPr wrap="square" lIns="0" tIns="0" rIns="0" bIns="0" rtlCol="0" anchor="ctr"/>
          <a:lstStyle/>
          <a:p>
            <a:pPr marL="0" indent="0" algn="l">
              <a:buNone/>
            </a:pPr>
            <a:r>
              <a:rPr lang="en-US" sz="1400" b="1" dirty="0">
                <a:solidFill>
                  <a:srgbClr val="8A1C2B"/>
                </a:solidFill>
                <a:latin typeface="Malgun Gothic" pitchFamily="34" charset="0"/>
                <a:ea typeface="Malgun Gothic" pitchFamily="34" charset="-122"/>
                <a:cs typeface="Malgun Gothic" pitchFamily="34" charset="-120"/>
              </a:rPr>
              <a:t>“…그리고 csproj는 만들지 마.”</a:t>
            </a:r>
            <a:endParaRPr lang="en-US" sz="1400" dirty="0"/>
          </a:p>
        </p:txBody>
      </p:sp>
      <p:sp>
        <p:nvSpPr>
          <p:cNvPr id="19" name="Shape 17"/>
          <p:cNvSpPr/>
          <p:nvPr/>
        </p:nvSpPr>
        <p:spPr>
          <a:xfrm>
            <a:off x="7680960" y="2258568"/>
            <a:ext cx="118872" cy="118872"/>
          </a:xfrm>
          <a:prstGeom prst="ellipse">
            <a:avLst/>
          </a:prstGeom>
          <a:solidFill>
            <a:srgbClr val="8A1C2B"/>
          </a:solidFill>
          <a:ln/>
        </p:spPr>
        <p:txBody>
          <a:bodyPr/>
          <a:lstStyle/>
          <a:p>
            <a:endParaRPr lang="ko-KR" altLang="en-US"/>
          </a:p>
        </p:txBody>
      </p:sp>
      <p:sp>
        <p:nvSpPr>
          <p:cNvPr id="20" name="Text 18"/>
          <p:cNvSpPr/>
          <p:nvPr/>
        </p:nvSpPr>
        <p:spPr>
          <a:xfrm>
            <a:off x="7955280" y="2148840"/>
            <a:ext cx="3657600" cy="320040"/>
          </a:xfrm>
          <a:prstGeom prst="rect">
            <a:avLst/>
          </a:prstGeom>
          <a:noFill/>
          <a:ln/>
        </p:spPr>
        <p:txBody>
          <a:bodyPr wrap="square" lIns="0" tIns="0" rIns="0" bIns="0" rtlCol="0" anchor="ctr"/>
          <a:lstStyle/>
          <a:p>
            <a:pPr marL="0" indent="0">
              <a:buNone/>
            </a:pPr>
            <a:r>
              <a:rPr lang="en-US" sz="1450" b="1" dirty="0">
                <a:solidFill>
                  <a:srgbClr val="1F2330"/>
                </a:solidFill>
                <a:latin typeface="Malgun Gothic" pitchFamily="34" charset="0"/>
                <a:ea typeface="Malgun Gothic" pitchFamily="34" charset="-122"/>
                <a:cs typeface="Malgun Gothic" pitchFamily="34" charset="-120"/>
              </a:rPr>
              <a:t>코드가 아니라 말로</a:t>
            </a:r>
            <a:endParaRPr lang="en-US" sz="1450" dirty="0"/>
          </a:p>
        </p:txBody>
      </p:sp>
      <p:sp>
        <p:nvSpPr>
          <p:cNvPr id="21" name="Text 19"/>
          <p:cNvSpPr/>
          <p:nvPr/>
        </p:nvSpPr>
        <p:spPr>
          <a:xfrm>
            <a:off x="7955280" y="2496312"/>
            <a:ext cx="3657600" cy="777240"/>
          </a:xfrm>
          <a:prstGeom prst="rect">
            <a:avLst/>
          </a:prstGeom>
          <a:noFill/>
          <a:ln/>
        </p:spPr>
        <p:txBody>
          <a:bodyPr wrap="square" lIns="0" tIns="0" rIns="0" bIns="0" rtlCol="0" anchor="t"/>
          <a:lstStyle/>
          <a:p>
            <a:pPr marL="0" indent="0">
              <a:lnSpc>
                <a:spcPct val="120000"/>
              </a:lnSpc>
              <a:buNone/>
            </a:pPr>
            <a:r>
              <a:rPr lang="en-US" sz="1250" dirty="0">
                <a:solidFill>
                  <a:srgbClr val="6C7180"/>
                </a:solidFill>
                <a:latin typeface="Malgun Gothic" pitchFamily="34" charset="0"/>
                <a:ea typeface="Malgun Gothic" pitchFamily="34" charset="-122"/>
                <a:cs typeface="Malgun Gothic" pitchFamily="34" charset="-120"/>
              </a:rPr>
              <a:t>사람은 의도만 말하고, Copilot이 단일 파일을 써 준다.</a:t>
            </a:r>
            <a:endParaRPr lang="en-US" sz="1250" dirty="0"/>
          </a:p>
        </p:txBody>
      </p:sp>
      <p:sp>
        <p:nvSpPr>
          <p:cNvPr id="22" name="Shape 20"/>
          <p:cNvSpPr/>
          <p:nvPr/>
        </p:nvSpPr>
        <p:spPr>
          <a:xfrm>
            <a:off x="7680960" y="3319272"/>
            <a:ext cx="118872" cy="118872"/>
          </a:xfrm>
          <a:prstGeom prst="ellipse">
            <a:avLst/>
          </a:prstGeom>
          <a:solidFill>
            <a:srgbClr val="8A1C2B"/>
          </a:solidFill>
          <a:ln/>
        </p:spPr>
        <p:txBody>
          <a:bodyPr/>
          <a:lstStyle/>
          <a:p>
            <a:endParaRPr lang="ko-KR" altLang="en-US"/>
          </a:p>
        </p:txBody>
      </p:sp>
      <p:sp>
        <p:nvSpPr>
          <p:cNvPr id="23" name="Text 21"/>
          <p:cNvSpPr/>
          <p:nvPr/>
        </p:nvSpPr>
        <p:spPr>
          <a:xfrm>
            <a:off x="7955280" y="3209544"/>
            <a:ext cx="3657600" cy="320040"/>
          </a:xfrm>
          <a:prstGeom prst="rect">
            <a:avLst/>
          </a:prstGeom>
          <a:noFill/>
          <a:ln/>
        </p:spPr>
        <p:txBody>
          <a:bodyPr wrap="square" lIns="0" tIns="0" rIns="0" bIns="0" rtlCol="0" anchor="ctr"/>
          <a:lstStyle/>
          <a:p>
            <a:pPr marL="0" indent="0">
              <a:buNone/>
            </a:pPr>
            <a:r>
              <a:rPr lang="en-US" sz="1450" b="1" dirty="0">
                <a:solidFill>
                  <a:srgbClr val="1F2330"/>
                </a:solidFill>
                <a:latin typeface="Malgun Gothic" pitchFamily="34" charset="0"/>
                <a:ea typeface="Malgun Gothic" pitchFamily="34" charset="-122"/>
                <a:cs typeface="Malgun Gothic" pitchFamily="34" charset="-120"/>
              </a:rPr>
              <a:t>마지막 한 줄이 핵심</a:t>
            </a:r>
            <a:endParaRPr lang="en-US" sz="1450" dirty="0"/>
          </a:p>
        </p:txBody>
      </p:sp>
      <p:sp>
        <p:nvSpPr>
          <p:cNvPr id="24" name="Text 22"/>
          <p:cNvSpPr/>
          <p:nvPr/>
        </p:nvSpPr>
        <p:spPr>
          <a:xfrm>
            <a:off x="7955280" y="3557016"/>
            <a:ext cx="3657600" cy="777240"/>
          </a:xfrm>
          <a:prstGeom prst="rect">
            <a:avLst/>
          </a:prstGeom>
          <a:noFill/>
          <a:ln/>
        </p:spPr>
        <p:txBody>
          <a:bodyPr wrap="square" lIns="0" tIns="0" rIns="0" bIns="0" rtlCol="0" anchor="t"/>
          <a:lstStyle/>
          <a:p>
            <a:pPr marL="0" indent="0">
              <a:lnSpc>
                <a:spcPct val="120000"/>
              </a:lnSpc>
              <a:buNone/>
            </a:pPr>
            <a:r>
              <a:rPr lang="en-US" sz="1250" dirty="0">
                <a:solidFill>
                  <a:srgbClr val="6C7180"/>
                </a:solidFill>
                <a:latin typeface="Malgun Gothic" pitchFamily="34" charset="0"/>
                <a:ea typeface="Malgun Gothic" pitchFamily="34" charset="-122"/>
                <a:cs typeface="Malgun Gothic" pitchFamily="34" charset="-120"/>
              </a:rPr>
              <a:t>Copilot의 기본 습관은 정식 프로젝트를 만드는 것. 단일 파일 규칙을 알려 줘야 한다.</a:t>
            </a:r>
            <a:endParaRPr lang="en-US" sz="1250" dirty="0"/>
          </a:p>
        </p:txBody>
      </p:sp>
      <p:sp>
        <p:nvSpPr>
          <p:cNvPr id="25" name="Shape 23"/>
          <p:cNvSpPr/>
          <p:nvPr/>
        </p:nvSpPr>
        <p:spPr>
          <a:xfrm>
            <a:off x="7680960" y="4379976"/>
            <a:ext cx="118872" cy="118872"/>
          </a:xfrm>
          <a:prstGeom prst="ellipse">
            <a:avLst/>
          </a:prstGeom>
          <a:solidFill>
            <a:srgbClr val="8A1C2B"/>
          </a:solidFill>
          <a:ln/>
        </p:spPr>
        <p:txBody>
          <a:bodyPr/>
          <a:lstStyle/>
          <a:p>
            <a:endParaRPr lang="ko-KR" altLang="en-US"/>
          </a:p>
        </p:txBody>
      </p:sp>
      <p:sp>
        <p:nvSpPr>
          <p:cNvPr id="26" name="Text 24"/>
          <p:cNvSpPr/>
          <p:nvPr/>
        </p:nvSpPr>
        <p:spPr>
          <a:xfrm>
            <a:off x="7955280" y="4270248"/>
            <a:ext cx="3657600" cy="320040"/>
          </a:xfrm>
          <a:prstGeom prst="rect">
            <a:avLst/>
          </a:prstGeom>
          <a:noFill/>
          <a:ln/>
        </p:spPr>
        <p:txBody>
          <a:bodyPr wrap="square" lIns="0" tIns="0" rIns="0" bIns="0" rtlCol="0" anchor="ctr"/>
          <a:lstStyle/>
          <a:p>
            <a:pPr marL="0" indent="0">
              <a:buNone/>
            </a:pPr>
            <a:r>
              <a:rPr lang="en-US" sz="1450" b="1" dirty="0">
                <a:solidFill>
                  <a:srgbClr val="1F2330"/>
                </a:solidFill>
                <a:latin typeface="Malgun Gothic" pitchFamily="34" charset="0"/>
                <a:ea typeface="Malgun Gothic" pitchFamily="34" charset="-122"/>
                <a:cs typeface="Malgun Gothic" pitchFamily="34" charset="-120"/>
              </a:rPr>
              <a:t>규칙을 미리 심어 두면</a:t>
            </a:r>
            <a:endParaRPr lang="en-US" sz="1450" dirty="0"/>
          </a:p>
        </p:txBody>
      </p:sp>
      <p:sp>
        <p:nvSpPr>
          <p:cNvPr id="27" name="Text 25"/>
          <p:cNvSpPr/>
          <p:nvPr/>
        </p:nvSpPr>
        <p:spPr>
          <a:xfrm>
            <a:off x="7955280" y="4617720"/>
            <a:ext cx="3657600" cy="777240"/>
          </a:xfrm>
          <a:prstGeom prst="rect">
            <a:avLst/>
          </a:prstGeom>
          <a:noFill/>
          <a:ln/>
        </p:spPr>
        <p:txBody>
          <a:bodyPr wrap="square" lIns="0" tIns="0" rIns="0" bIns="0" rtlCol="0" anchor="t"/>
          <a:lstStyle/>
          <a:p>
            <a:pPr marL="0" indent="0">
              <a:lnSpc>
                <a:spcPct val="120000"/>
              </a:lnSpc>
              <a:buNone/>
            </a:pPr>
            <a:r>
              <a:rPr lang="en-US" sz="1250" dirty="0">
                <a:solidFill>
                  <a:srgbClr val="6C7180"/>
                </a:solidFill>
                <a:latin typeface="Malgun Gothic" pitchFamily="34" charset="0"/>
                <a:ea typeface="Malgun Gothic" pitchFamily="34" charset="-122"/>
                <a:cs typeface="Malgun Gothic" pitchFamily="34" charset="-120"/>
              </a:rPr>
              <a:t>copilot-instructions.md에 file-based app 규칙을 두면 매번 일러줄 필요가 없다.</a:t>
            </a:r>
            <a:endParaRPr lang="en-US" sz="1250" dirty="0"/>
          </a:p>
        </p:txBody>
      </p:sp>
    </p:spTree>
  </p:cSld>
  <p:clrMapOvr>
    <a:masterClrMapping/>
  </p:clrMapOvr>
  <p:transition spd="med">
    <p:wipe/>
  </p:transition>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라이브  ·  COPILOT</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000" b="1" dirty="0">
                <a:solidFill>
                  <a:srgbClr val="1F2330"/>
                </a:solidFill>
                <a:latin typeface="Batang" pitchFamily="34" charset="0"/>
                <a:ea typeface="Batang" pitchFamily="34" charset="-122"/>
                <a:cs typeface="Batang" pitchFamily="34" charset="-120"/>
              </a:rPr>
              <a:t>Copilot이 써 주는 최소 에이전트</a:t>
            </a:r>
            <a:endParaRPr lang="en-US" sz="30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25</a:t>
            </a:r>
            <a:endParaRPr lang="en-US" sz="900" dirty="0"/>
          </a:p>
        </p:txBody>
      </p:sp>
      <p:sp>
        <p:nvSpPr>
          <p:cNvPr id="13" name="Shape 11"/>
          <p:cNvSpPr/>
          <p:nvPr/>
        </p:nvSpPr>
        <p:spPr>
          <a:xfrm>
            <a:off x="548640" y="1874520"/>
            <a:ext cx="11064240" cy="374904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1874520"/>
            <a:ext cx="64008" cy="3749040"/>
          </a:xfrm>
          <a:prstGeom prst="rect">
            <a:avLst/>
          </a:prstGeom>
          <a:solidFill>
            <a:srgbClr val="8A1C2B"/>
          </a:solidFill>
          <a:ln/>
        </p:spPr>
        <p:txBody>
          <a:bodyPr/>
          <a:lstStyle/>
          <a:p>
            <a:endParaRPr lang="ko-KR" altLang="en-US"/>
          </a:p>
        </p:txBody>
      </p:sp>
      <p:sp>
        <p:nvSpPr>
          <p:cNvPr id="15" name="Text 13"/>
          <p:cNvSpPr/>
          <p:nvPr/>
        </p:nvSpPr>
        <p:spPr>
          <a:xfrm>
            <a:off x="804672" y="2002536"/>
            <a:ext cx="10607040" cy="3493008"/>
          </a:xfrm>
          <a:prstGeom prst="rect">
            <a:avLst/>
          </a:prstGeom>
          <a:noFill/>
          <a:ln/>
        </p:spPr>
        <p:txBody>
          <a:bodyPr wrap="square" lIns="0" tIns="0" rIns="0" bIns="0" rtlCol="0" anchor="t"/>
          <a:lstStyle/>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#:package Microsoft.Agents.AI@1.0.0</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#:package Microsoft.Agents.AI.Foundry@1.0.0</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#:package Azure.AI.Projects@1.0.0</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#:package Azure.Identity@1.13.0</a:t>
            </a:r>
            <a:endParaRPr lang="en-US" sz="1200" dirty="0"/>
          </a:p>
          <a:p>
            <a:pPr marL="0" indent="0" algn="l">
              <a:lnSpc>
                <a:spcPct val="132000"/>
              </a:lnSpc>
              <a:buNone/>
            </a:pPr>
            <a:r>
              <a:rPr lang="en-US" sz="1200" dirty="0">
                <a:solidFill>
                  <a:srgbClr val="6C7180"/>
                </a:solidFill>
                <a:latin typeface="Consolas" pitchFamily="34" charset="0"/>
                <a:ea typeface="Consolas" pitchFamily="34" charset="-122"/>
                <a:cs typeface="Consolas" pitchFamily="34" charset="-120"/>
              </a:rPr>
              <a:t>using </a:t>
            </a:r>
            <a:r>
              <a:rPr lang="en-US" sz="1200" dirty="0" err="1">
                <a:solidFill>
                  <a:srgbClr val="6C7180"/>
                </a:solidFill>
                <a:latin typeface="Consolas" pitchFamily="34" charset="0"/>
                <a:ea typeface="Consolas" pitchFamily="34" charset="-122"/>
                <a:cs typeface="Consolas" pitchFamily="34" charset="-120"/>
              </a:rPr>
              <a:t>Azure.AI.Projects</a:t>
            </a:r>
            <a:r>
              <a:rPr lang="en-US" sz="1200" dirty="0">
                <a:solidFill>
                  <a:srgbClr val="6C7180"/>
                </a:solidFill>
                <a:latin typeface="Consolas" pitchFamily="34" charset="0"/>
                <a:ea typeface="Consolas" pitchFamily="34" charset="-122"/>
                <a:cs typeface="Consolas" pitchFamily="34" charset="-120"/>
              </a:rPr>
              <a:t>;</a:t>
            </a:r>
          </a:p>
          <a:p>
            <a:pPr marL="0" indent="0" algn="l">
              <a:lnSpc>
                <a:spcPct val="132000"/>
              </a:lnSpc>
              <a:buNone/>
            </a:pPr>
            <a:r>
              <a:rPr lang="en-US" sz="1200" dirty="0">
                <a:solidFill>
                  <a:srgbClr val="6C7180"/>
                </a:solidFill>
                <a:latin typeface="Consolas" pitchFamily="34" charset="0"/>
                <a:ea typeface="Consolas" pitchFamily="34" charset="-122"/>
                <a:cs typeface="Consolas" pitchFamily="34" charset="-120"/>
              </a:rPr>
              <a:t>using </a:t>
            </a:r>
            <a:r>
              <a:rPr lang="en-US" sz="1200" dirty="0" err="1">
                <a:solidFill>
                  <a:srgbClr val="6C7180"/>
                </a:solidFill>
                <a:latin typeface="Consolas" pitchFamily="34" charset="0"/>
                <a:ea typeface="Consolas" pitchFamily="34" charset="-122"/>
                <a:cs typeface="Consolas" pitchFamily="34" charset="-120"/>
              </a:rPr>
              <a:t>Azure.Identity</a:t>
            </a:r>
            <a:r>
              <a:rPr lang="en-US" sz="1200" dirty="0">
                <a:solidFill>
                  <a:srgbClr val="6C7180"/>
                </a:solidFill>
                <a:latin typeface="Consolas" pitchFamily="34" charset="0"/>
                <a:ea typeface="Consolas" pitchFamily="34" charset="-122"/>
                <a:cs typeface="Consolas" pitchFamily="34" charset="-120"/>
              </a:rPr>
              <a:t>;</a:t>
            </a:r>
          </a:p>
          <a:p>
            <a:pPr marL="0" indent="0" algn="l">
              <a:lnSpc>
                <a:spcPct val="132000"/>
              </a:lnSpc>
              <a:buNone/>
            </a:pPr>
            <a:r>
              <a:rPr lang="en-US" sz="1200" dirty="0">
                <a:solidFill>
                  <a:srgbClr val="6C7180"/>
                </a:solidFill>
                <a:latin typeface="Consolas" pitchFamily="34" charset="0"/>
                <a:ea typeface="Consolas" pitchFamily="34" charset="-122"/>
                <a:cs typeface="Consolas" pitchFamily="34" charset="-120"/>
              </a:rPr>
              <a:t>using Microsoft.Agents.AI;</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var endpoint = Environment.GetEnvironmentVariable("AZURE_AI_PROJECT_ENDPOINT")!;</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var deployment = Environment.GetEnvironmentVariable("AZURE_AI_MODEL_DEPLOYMENT_NAME") ?? "gpt-4o-mini"; </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AIAgent agent = new AIProjectClient(new Uri(endpoint), new DefaultAzureCredential())</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.AsAIAgent(model: deployment, name: "HelloFoundryAgent");</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Console.WriteLine(await agent.RunAsync("Microsoft Agent Framework를 한 문장으로?"));</a:t>
            </a:r>
            <a:endParaRPr lang="en-US" sz="1200" dirty="0"/>
          </a:p>
        </p:txBody>
      </p:sp>
      <p:sp>
        <p:nvSpPr>
          <p:cNvPr id="16" name="Text 14"/>
          <p:cNvSpPr/>
          <p:nvPr/>
        </p:nvSpPr>
        <p:spPr>
          <a:xfrm>
            <a:off x="548640" y="5852160"/>
            <a:ext cx="11064240" cy="411480"/>
          </a:xfrm>
          <a:prstGeom prst="rect">
            <a:avLst/>
          </a:prstGeom>
          <a:noFill/>
          <a:ln/>
        </p:spPr>
        <p:txBody>
          <a:bodyPr wrap="square" lIns="0" tIns="0" rIns="0" bIns="0" rtlCol="0" anchor="ctr"/>
          <a:lstStyle/>
          <a:p>
            <a:pPr marL="0" indent="0" algn="l">
              <a:buNone/>
            </a:pPr>
            <a:r>
              <a:rPr lang="en-US" sz="1300" b="1" dirty="0">
                <a:solidFill>
                  <a:srgbClr val="8A1C2B"/>
                </a:solidFill>
                <a:latin typeface="Malgun Gothic" pitchFamily="34" charset="0"/>
                <a:ea typeface="Malgun Gothic" pitchFamily="34" charset="-122"/>
                <a:cs typeface="Malgun Gothic" pitchFamily="34" charset="-120"/>
              </a:rPr>
              <a:t>맨 위 네 </a:t>
            </a:r>
            <a:r>
              <a:rPr lang="en-US" sz="1300" b="1" dirty="0" err="1">
                <a:solidFill>
                  <a:srgbClr val="8A1C2B"/>
                </a:solidFill>
                <a:latin typeface="Malgun Gothic" pitchFamily="34" charset="0"/>
                <a:ea typeface="Malgun Gothic" pitchFamily="34" charset="-122"/>
                <a:cs typeface="Malgun Gothic" pitchFamily="34" charset="-120"/>
              </a:rPr>
              <a:t>줄이</a:t>
            </a:r>
            <a:r>
              <a:rPr lang="en-US" sz="1300" b="1" dirty="0">
                <a:solidFill>
                  <a:srgbClr val="8A1C2B"/>
                </a:solidFill>
                <a:latin typeface="Malgun Gothic" pitchFamily="34" charset="0"/>
                <a:ea typeface="Malgun Gothic" pitchFamily="34" charset="-122"/>
                <a:cs typeface="Malgun Gothic" pitchFamily="34" charset="-120"/>
              </a:rPr>
              <a:t> </a:t>
            </a:r>
            <a:r>
              <a:rPr lang="en-US" sz="1300" b="1" dirty="0" err="1">
                <a:solidFill>
                  <a:srgbClr val="8A1C2B"/>
                </a:solidFill>
                <a:latin typeface="Malgun Gothic" pitchFamily="34" charset="0"/>
                <a:ea typeface="Malgun Gothic" pitchFamily="34" charset="-122"/>
                <a:cs typeface="Malgun Gothic" pitchFamily="34" charset="-120"/>
              </a:rPr>
              <a:t>핵심</a:t>
            </a:r>
            <a:r>
              <a:rPr lang="ko-KR" altLang="en-US" sz="1300" b="1" dirty="0">
                <a:solidFill>
                  <a:srgbClr val="8A1C2B"/>
                </a:solidFill>
                <a:latin typeface="Malgun Gothic" pitchFamily="34" charset="0"/>
                <a:ea typeface="Malgun Gothic" pitchFamily="34" charset="-122"/>
                <a:cs typeface="Malgun Gothic" pitchFamily="34" charset="-120"/>
              </a:rPr>
              <a:t>입니다</a:t>
            </a:r>
            <a:r>
              <a:rPr lang="en-US" altLang="ko-KR" sz="1300" b="1" dirty="0">
                <a:solidFill>
                  <a:srgbClr val="8A1C2B"/>
                </a:solidFill>
                <a:latin typeface="Malgun Gothic" pitchFamily="34" charset="0"/>
                <a:ea typeface="Malgun Gothic" pitchFamily="34" charset="-122"/>
                <a:cs typeface="Malgun Gothic" pitchFamily="34" charset="-120"/>
              </a:rPr>
              <a:t>.</a:t>
            </a:r>
            <a:r>
              <a:rPr lang="en-US" sz="1300" b="1" dirty="0">
                <a:solidFill>
                  <a:srgbClr val="8A1C2B"/>
                </a:solidFill>
                <a:latin typeface="Malgun Gothic" pitchFamily="34" charset="0"/>
                <a:ea typeface="Malgun Gothic" pitchFamily="34" charset="-122"/>
                <a:cs typeface="Malgun Gothic" pitchFamily="34" charset="-120"/>
              </a:rPr>
              <a:t> MAF </a:t>
            </a:r>
            <a:r>
              <a:rPr lang="en-US" sz="1300" b="1" dirty="0" err="1">
                <a:solidFill>
                  <a:srgbClr val="8A1C2B"/>
                </a:solidFill>
                <a:latin typeface="Malgun Gothic" pitchFamily="34" charset="0"/>
                <a:ea typeface="Malgun Gothic" pitchFamily="34" charset="-122"/>
                <a:cs typeface="Malgun Gothic" pitchFamily="34" charset="-120"/>
              </a:rPr>
              <a:t>코어</a:t>
            </a:r>
            <a:r>
              <a:rPr lang="en-US" sz="1300" b="1" dirty="0">
                <a:solidFill>
                  <a:srgbClr val="8A1C2B"/>
                </a:solidFill>
                <a:latin typeface="Malgun Gothic" pitchFamily="34" charset="0"/>
                <a:ea typeface="Malgun Gothic" pitchFamily="34" charset="-122"/>
                <a:cs typeface="Malgun Gothic" pitchFamily="34" charset="-120"/>
              </a:rPr>
              <a:t>, Foundry </a:t>
            </a:r>
            <a:r>
              <a:rPr lang="en-US" sz="1300" b="1" dirty="0" err="1">
                <a:solidFill>
                  <a:srgbClr val="8A1C2B"/>
                </a:solidFill>
                <a:latin typeface="Malgun Gothic" pitchFamily="34" charset="0"/>
                <a:ea typeface="Malgun Gothic" pitchFamily="34" charset="-122"/>
                <a:cs typeface="Malgun Gothic" pitchFamily="34" charset="-120"/>
              </a:rPr>
              <a:t>연동</a:t>
            </a:r>
            <a:r>
              <a:rPr lang="en-US" sz="1300" b="1" dirty="0">
                <a:solidFill>
                  <a:srgbClr val="8A1C2B"/>
                </a:solidFill>
                <a:latin typeface="Malgun Gothic" pitchFamily="34" charset="0"/>
                <a:ea typeface="Malgun Gothic" pitchFamily="34" charset="-122"/>
                <a:cs typeface="Malgun Gothic" pitchFamily="34" charset="-120"/>
              </a:rPr>
              <a:t>, </a:t>
            </a:r>
            <a:r>
              <a:rPr lang="en-US" sz="1300" b="1" dirty="0" err="1">
                <a:solidFill>
                  <a:srgbClr val="8A1C2B"/>
                </a:solidFill>
                <a:latin typeface="Malgun Gothic" pitchFamily="34" charset="0"/>
                <a:ea typeface="Malgun Gothic" pitchFamily="34" charset="-122"/>
                <a:cs typeface="Malgun Gothic" pitchFamily="34" charset="-120"/>
              </a:rPr>
              <a:t>프로젝트</a:t>
            </a:r>
            <a:r>
              <a:rPr lang="en-US" sz="1300" b="1" dirty="0">
                <a:solidFill>
                  <a:srgbClr val="8A1C2B"/>
                </a:solidFill>
                <a:latin typeface="Malgun Gothic" pitchFamily="34" charset="0"/>
                <a:ea typeface="Malgun Gothic" pitchFamily="34" charset="-122"/>
                <a:cs typeface="Malgun Gothic" pitchFamily="34" charset="-120"/>
              </a:rPr>
              <a:t> </a:t>
            </a:r>
            <a:r>
              <a:rPr lang="en-US" sz="1300" b="1" dirty="0" err="1">
                <a:solidFill>
                  <a:srgbClr val="8A1C2B"/>
                </a:solidFill>
                <a:latin typeface="Malgun Gothic" pitchFamily="34" charset="0"/>
                <a:ea typeface="Malgun Gothic" pitchFamily="34" charset="-122"/>
                <a:cs typeface="Malgun Gothic" pitchFamily="34" charset="-120"/>
              </a:rPr>
              <a:t>클라이언트</a:t>
            </a:r>
            <a:r>
              <a:rPr lang="en-US" sz="1300" b="1" dirty="0">
                <a:solidFill>
                  <a:srgbClr val="8A1C2B"/>
                </a:solidFill>
                <a:latin typeface="Malgun Gothic" pitchFamily="34" charset="0"/>
                <a:ea typeface="Malgun Gothic" pitchFamily="34" charset="-122"/>
                <a:cs typeface="Malgun Gothic" pitchFamily="34" charset="-120"/>
              </a:rPr>
              <a:t>, </a:t>
            </a:r>
            <a:r>
              <a:rPr lang="en-US" sz="1300" b="1" dirty="0" err="1">
                <a:solidFill>
                  <a:srgbClr val="8A1C2B"/>
                </a:solidFill>
                <a:latin typeface="Malgun Gothic" pitchFamily="34" charset="0"/>
                <a:ea typeface="Malgun Gothic" pitchFamily="34" charset="-122"/>
                <a:cs typeface="Malgun Gothic" pitchFamily="34" charset="-120"/>
              </a:rPr>
              <a:t>인증</a:t>
            </a:r>
            <a:r>
              <a:rPr lang="ko-KR" altLang="en-US" sz="1300" b="1" dirty="0">
                <a:solidFill>
                  <a:srgbClr val="8A1C2B"/>
                </a:solidFill>
                <a:latin typeface="Malgun Gothic" pitchFamily="34" charset="0"/>
                <a:ea typeface="Malgun Gothic" pitchFamily="34" charset="-122"/>
                <a:cs typeface="Malgun Gothic" pitchFamily="34" charset="-120"/>
              </a:rPr>
              <a:t>이 모두 들어있습니다</a:t>
            </a:r>
            <a:r>
              <a:rPr lang="en-US" sz="1300" b="1" dirty="0">
                <a:solidFill>
                  <a:srgbClr val="8A1C2B"/>
                </a:solidFill>
                <a:latin typeface="Malgun Gothic" pitchFamily="34" charset="0"/>
                <a:ea typeface="Malgun Gothic" pitchFamily="34" charset="-122"/>
                <a:cs typeface="Malgun Gothic" pitchFamily="34" charset="-120"/>
              </a:rPr>
              <a:t>. </a:t>
            </a:r>
            <a:r>
              <a:rPr lang="ko-KR" altLang="en-US" sz="1300" b="1" dirty="0">
                <a:solidFill>
                  <a:srgbClr val="8A1C2B"/>
                </a:solidFill>
                <a:latin typeface="Malgun Gothic" pitchFamily="34" charset="0"/>
                <a:ea typeface="Malgun Gothic" pitchFamily="34" charset="-122"/>
                <a:cs typeface="Malgun Gothic" pitchFamily="34" charset="-120"/>
              </a:rPr>
              <a:t>여기서 프로젝트</a:t>
            </a:r>
            <a:r>
              <a:rPr lang="en-US" sz="1300" b="1" dirty="0">
                <a:solidFill>
                  <a:srgbClr val="8A1C2B"/>
                </a:solidFill>
                <a:latin typeface="Malgun Gothic" pitchFamily="34" charset="0"/>
                <a:ea typeface="Malgun Gothic" pitchFamily="34" charset="-122"/>
                <a:cs typeface="Malgun Gothic" pitchFamily="34" charset="-120"/>
              </a:rPr>
              <a:t>는 없고, 키도 </a:t>
            </a:r>
            <a:r>
              <a:rPr lang="en-US" sz="1300" b="1" dirty="0" err="1">
                <a:solidFill>
                  <a:srgbClr val="8A1C2B"/>
                </a:solidFill>
                <a:latin typeface="Malgun Gothic" pitchFamily="34" charset="0"/>
                <a:ea typeface="Malgun Gothic" pitchFamily="34" charset="-122"/>
                <a:cs typeface="Malgun Gothic" pitchFamily="34" charset="-120"/>
              </a:rPr>
              <a:t>코드에</a:t>
            </a:r>
            <a:r>
              <a:rPr lang="en-US" sz="1300" b="1" dirty="0">
                <a:solidFill>
                  <a:srgbClr val="8A1C2B"/>
                </a:solidFill>
                <a:latin typeface="Malgun Gothic" pitchFamily="34" charset="0"/>
                <a:ea typeface="Malgun Gothic" pitchFamily="34" charset="-122"/>
                <a:cs typeface="Malgun Gothic" pitchFamily="34" charset="-120"/>
              </a:rPr>
              <a:t> 없</a:t>
            </a:r>
            <a:r>
              <a:rPr lang="ko-KR" altLang="en-US" sz="1300" b="1" dirty="0">
                <a:solidFill>
                  <a:srgbClr val="8A1C2B"/>
                </a:solidFill>
                <a:latin typeface="Malgun Gothic" pitchFamily="34" charset="0"/>
                <a:ea typeface="Malgun Gothic" pitchFamily="34" charset="-122"/>
                <a:cs typeface="Malgun Gothic" pitchFamily="34" charset="-120"/>
              </a:rPr>
              <a:t>습니다</a:t>
            </a:r>
            <a:r>
              <a:rPr lang="en-US" altLang="ko-KR" sz="1300" b="1" dirty="0">
                <a:solidFill>
                  <a:srgbClr val="8A1C2B"/>
                </a:solidFill>
                <a:latin typeface="Malgun Gothic" pitchFamily="34" charset="0"/>
                <a:ea typeface="Malgun Gothic" pitchFamily="34" charset="-122"/>
                <a:cs typeface="Malgun Gothic" pitchFamily="34" charset="-120"/>
              </a:rPr>
              <a:t>.</a:t>
            </a:r>
            <a:r>
              <a:rPr lang="en-US" sz="1300" b="1" dirty="0">
                <a:solidFill>
                  <a:srgbClr val="8A1C2B"/>
                </a:solidFill>
                <a:latin typeface="Malgun Gothic" pitchFamily="34" charset="0"/>
                <a:ea typeface="Malgun Gothic" pitchFamily="34" charset="-122"/>
                <a:cs typeface="Malgun Gothic" pitchFamily="34" charset="-120"/>
              </a:rPr>
              <a:t> DefaultAzureCredential이 az login 자격 </a:t>
            </a:r>
            <a:r>
              <a:rPr lang="en-US" sz="1300" b="1" dirty="0" err="1">
                <a:solidFill>
                  <a:srgbClr val="8A1C2B"/>
                </a:solidFill>
                <a:latin typeface="Malgun Gothic" pitchFamily="34" charset="0"/>
                <a:ea typeface="Malgun Gothic" pitchFamily="34" charset="-122"/>
                <a:cs typeface="Malgun Gothic" pitchFamily="34" charset="-120"/>
              </a:rPr>
              <a:t>증명을</a:t>
            </a:r>
            <a:r>
              <a:rPr lang="en-US" sz="1300" b="1" dirty="0">
                <a:solidFill>
                  <a:srgbClr val="8A1C2B"/>
                </a:solidFill>
                <a:latin typeface="Malgun Gothic" pitchFamily="34" charset="0"/>
                <a:ea typeface="Malgun Gothic" pitchFamily="34" charset="-122"/>
                <a:cs typeface="Malgun Gothic" pitchFamily="34" charset="-120"/>
              </a:rPr>
              <a:t> </a:t>
            </a:r>
            <a:r>
              <a:rPr lang="ko-KR" altLang="en-US" sz="1300" b="1" dirty="0">
                <a:solidFill>
                  <a:srgbClr val="8A1C2B"/>
                </a:solidFill>
                <a:latin typeface="Malgun Gothic" pitchFamily="34" charset="0"/>
                <a:ea typeface="Malgun Gothic" pitchFamily="34" charset="-122"/>
                <a:cs typeface="Malgun Gothic" pitchFamily="34" charset="-120"/>
              </a:rPr>
              <a:t>선택하므로 보안에 대한 고민을 위임합니다</a:t>
            </a:r>
            <a:r>
              <a:rPr lang="en-US" altLang="ko-KR" sz="1300" b="1" dirty="0">
                <a:solidFill>
                  <a:srgbClr val="8A1C2B"/>
                </a:solidFill>
                <a:latin typeface="Malgun Gothic" pitchFamily="34" charset="0"/>
                <a:ea typeface="Malgun Gothic" pitchFamily="34" charset="-122"/>
                <a:cs typeface="Malgun Gothic" pitchFamily="34" charset="-120"/>
              </a:rPr>
              <a:t>.</a:t>
            </a:r>
            <a:endParaRPr lang="en-US" sz="1300" dirty="0"/>
          </a:p>
        </p:txBody>
      </p:sp>
    </p:spTree>
  </p:cSld>
  <p:clrMapOvr>
    <a:masterClrMapping/>
  </p:clrMapOvr>
  <p:transition spd="med">
    <p:wipe/>
  </p:transition>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라이브  ·  COPILOT</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err="1">
                <a:solidFill>
                  <a:srgbClr val="1F2330"/>
                </a:solidFill>
                <a:latin typeface="Batang" pitchFamily="34" charset="0"/>
                <a:ea typeface="Batang" pitchFamily="34" charset="-122"/>
                <a:cs typeface="Batang" pitchFamily="34" charset="-120"/>
              </a:rPr>
              <a:t>도구를</a:t>
            </a:r>
            <a:r>
              <a:rPr lang="en-US" sz="3300" b="1" dirty="0">
                <a:solidFill>
                  <a:srgbClr val="1F2330"/>
                </a:solidFill>
                <a:latin typeface="Batang" pitchFamily="34" charset="0"/>
                <a:ea typeface="Batang" pitchFamily="34" charset="-122"/>
                <a:cs typeface="Batang" pitchFamily="34" charset="-120"/>
              </a:rPr>
              <a:t> 쥐</a:t>
            </a:r>
            <a:r>
              <a:rPr lang="ko-KR" altLang="en-US" sz="3300" b="1" dirty="0">
                <a:solidFill>
                  <a:srgbClr val="1F2330"/>
                </a:solidFill>
                <a:latin typeface="Batang" pitchFamily="34" charset="0"/>
                <a:ea typeface="Batang" pitchFamily="34" charset="-122"/>
                <a:cs typeface="Batang" pitchFamily="34" charset="-120"/>
              </a:rPr>
              <a:t>어</a:t>
            </a:r>
            <a:r>
              <a:rPr lang="en-US" sz="3300" b="1" dirty="0" err="1">
                <a:solidFill>
                  <a:srgbClr val="1F2330"/>
                </a:solidFill>
                <a:latin typeface="Batang" pitchFamily="34" charset="0"/>
                <a:ea typeface="Batang" pitchFamily="34" charset="-122"/>
                <a:cs typeface="Batang" pitchFamily="34" charset="-120"/>
              </a:rPr>
              <a:t>주면</a:t>
            </a:r>
            <a:r>
              <a:rPr lang="en-US" sz="3300" b="1" dirty="0">
                <a:solidFill>
                  <a:srgbClr val="1F2330"/>
                </a:solidFill>
                <a:latin typeface="Batang" pitchFamily="34" charset="0"/>
                <a:ea typeface="Batang" pitchFamily="34" charset="-122"/>
                <a:cs typeface="Batang" pitchFamily="34" charset="-120"/>
              </a:rPr>
              <a:t> 에이전트가 된다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26</a:t>
            </a:r>
            <a:endParaRPr lang="en-US" sz="900" dirty="0"/>
          </a:p>
        </p:txBody>
      </p:sp>
      <p:sp>
        <p:nvSpPr>
          <p:cNvPr id="13" name="Shape 11"/>
          <p:cNvSpPr/>
          <p:nvPr/>
        </p:nvSpPr>
        <p:spPr>
          <a:xfrm>
            <a:off x="548640" y="1847088"/>
            <a:ext cx="11064240" cy="370332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1847088"/>
            <a:ext cx="64008" cy="3703320"/>
          </a:xfrm>
          <a:prstGeom prst="rect">
            <a:avLst/>
          </a:prstGeom>
          <a:solidFill>
            <a:srgbClr val="8A1C2B"/>
          </a:solidFill>
          <a:ln/>
        </p:spPr>
        <p:txBody>
          <a:bodyPr/>
          <a:lstStyle/>
          <a:p>
            <a:endParaRPr lang="ko-KR" altLang="en-US"/>
          </a:p>
        </p:txBody>
      </p:sp>
      <p:sp>
        <p:nvSpPr>
          <p:cNvPr id="15" name="Text 13"/>
          <p:cNvSpPr/>
          <p:nvPr/>
        </p:nvSpPr>
        <p:spPr>
          <a:xfrm>
            <a:off x="804672" y="1975104"/>
            <a:ext cx="10607040" cy="3447288"/>
          </a:xfrm>
          <a:prstGeom prst="rect">
            <a:avLst/>
          </a:prstGeom>
          <a:noFill/>
          <a:ln/>
        </p:spPr>
        <p:txBody>
          <a:bodyPr wrap="square" lIns="0" tIns="0" rIns="0" bIns="0" rtlCol="0" anchor="t"/>
          <a:lstStyle/>
          <a:p>
            <a:pPr marL="0" indent="0" algn="l">
              <a:lnSpc>
                <a:spcPct val="132000"/>
              </a:lnSpc>
              <a:buNone/>
            </a:pPr>
            <a:r>
              <a:rPr lang="en-US" sz="1150" b="1" dirty="0">
                <a:solidFill>
                  <a:srgbClr val="8A1C2B"/>
                </a:solidFill>
                <a:latin typeface="Consolas" pitchFamily="34" charset="0"/>
                <a:ea typeface="Consolas" pitchFamily="34" charset="-122"/>
                <a:cs typeface="Consolas" pitchFamily="34" charset="-120"/>
              </a:rPr>
              <a:t>#:package Microsoft.Agents.AI@1.0.0</a:t>
            </a:r>
            <a:endParaRPr lang="en-US" sz="1150" dirty="0"/>
          </a:p>
          <a:p>
            <a:pPr marL="0" indent="0" algn="l">
              <a:lnSpc>
                <a:spcPct val="132000"/>
              </a:lnSpc>
              <a:buNone/>
            </a:pPr>
            <a:r>
              <a:rPr lang="en-US" sz="1150" dirty="0">
                <a:solidFill>
                  <a:srgbClr val="6C7180"/>
                </a:solidFill>
                <a:latin typeface="Consolas" pitchFamily="34" charset="0"/>
                <a:ea typeface="Consolas" pitchFamily="34" charset="-122"/>
                <a:cs typeface="Consolas" pitchFamily="34" charset="-120"/>
              </a:rPr>
              <a:t>// + Microsoft.Agents.AI.Foundry, Azure.AI.Projects, Azure.Identity (앞과 동일)</a:t>
            </a:r>
            <a:endParaRPr lang="en-US" sz="1150" dirty="0"/>
          </a:p>
          <a:p>
            <a:pPr marL="0" indent="0" algn="l">
              <a:lnSpc>
                <a:spcPct val="132000"/>
              </a:lnSpc>
              <a:buNone/>
            </a:pPr>
            <a:r>
              <a:rPr lang="en-US" sz="1150" dirty="0">
                <a:solidFill>
                  <a:srgbClr val="6C7180"/>
                </a:solidFill>
                <a:latin typeface="Consolas" pitchFamily="34" charset="0"/>
                <a:ea typeface="Consolas" pitchFamily="34" charset="-122"/>
                <a:cs typeface="Consolas" pitchFamily="34" charset="-120"/>
              </a:rPr>
              <a:t>using System.ComponentModel;  using Microsoft.Extensions.AI;</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a:t>
            </a:r>
            <a:endParaRPr lang="en-US" sz="1150" dirty="0"/>
          </a:p>
          <a:p>
            <a:pPr marL="0" indent="0" algn="l">
              <a:lnSpc>
                <a:spcPct val="132000"/>
              </a:lnSpc>
              <a:buNone/>
            </a:pPr>
            <a:r>
              <a:rPr lang="en-US" sz="1150" b="1" dirty="0">
                <a:solidFill>
                  <a:srgbClr val="A9823F"/>
                </a:solidFill>
                <a:latin typeface="Consolas" pitchFamily="34" charset="0"/>
                <a:ea typeface="Consolas" pitchFamily="34" charset="-122"/>
                <a:cs typeface="Consolas" pitchFamily="34" charset="-120"/>
              </a:rPr>
              <a:t>[Description("주어진 타임존의 현재 시각을 반환합니다.")]</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static string GetTime([Description("타임존 (예: UTC, KST)")] string tz)</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=&gt; $"{tz} 기준 현재 시각: {DateTime.UtcNow:HH:mm} UTC";</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var client = new AIProjectClient(new Uri(endpoint), new DefaultAzureCredential());</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AITool[] tools = [AIFunctionFactory.Create(GetTime)];</a:t>
            </a:r>
            <a:endParaRPr lang="en-US" sz="1150" dirty="0"/>
          </a:p>
          <a:p>
            <a:pPr marL="0" indent="0" algn="l">
              <a:lnSpc>
                <a:spcPct val="132000"/>
              </a:lnSpc>
              <a:buNone/>
            </a:pPr>
            <a:r>
              <a:rPr lang="en-US" sz="1150" b="1" dirty="0">
                <a:solidFill>
                  <a:srgbClr val="8A1C2B"/>
                </a:solidFill>
                <a:latin typeface="Consolas" pitchFamily="34" charset="0"/>
                <a:ea typeface="Consolas" pitchFamily="34" charset="-122"/>
                <a:cs typeface="Consolas" pitchFamily="34" charset="-120"/>
              </a:rPr>
              <a:t>AIAgent agent = await client.CreateAIAgentAsync(</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name: "TimeAgent", model: deployment, tools: tools,</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    instructions: "시간 도구를 쓸 수 있는 친절한 비서입니다.");</a:t>
            </a:r>
            <a:endParaRPr lang="en-US" sz="1150" dirty="0"/>
          </a:p>
          <a:p>
            <a:pPr marL="0" indent="0" algn="l">
              <a:lnSpc>
                <a:spcPct val="132000"/>
              </a:lnSpc>
              <a:buNone/>
            </a:pPr>
            <a:r>
              <a:rPr lang="en-US" sz="1150" dirty="0">
                <a:solidFill>
                  <a:srgbClr val="1F2330"/>
                </a:solidFill>
                <a:latin typeface="Consolas" pitchFamily="34" charset="0"/>
                <a:ea typeface="Consolas" pitchFamily="34" charset="-122"/>
                <a:cs typeface="Consolas" pitchFamily="34" charset="-120"/>
              </a:rPr>
              <a:t>Console.WriteLine(await agent.RunAsync("서울은 지금 몇 시야?"));</a:t>
            </a:r>
            <a:endParaRPr lang="en-US" sz="1150" dirty="0"/>
          </a:p>
        </p:txBody>
      </p:sp>
      <p:sp>
        <p:nvSpPr>
          <p:cNvPr id="16" name="Text 14"/>
          <p:cNvSpPr/>
          <p:nvPr/>
        </p:nvSpPr>
        <p:spPr>
          <a:xfrm>
            <a:off x="548640" y="5806440"/>
            <a:ext cx="11064240" cy="457200"/>
          </a:xfrm>
          <a:prstGeom prst="rect">
            <a:avLst/>
          </a:prstGeom>
          <a:noFill/>
          <a:ln/>
        </p:spPr>
        <p:txBody>
          <a:bodyPr wrap="square" lIns="0" tIns="0" rIns="0" bIns="0" rtlCol="0" anchor="ctr"/>
          <a:lstStyle/>
          <a:p>
            <a:pPr marL="0" indent="0" algn="l">
              <a:buNone/>
            </a:pPr>
            <a:r>
              <a:rPr lang="en-US" sz="1250" dirty="0">
                <a:solidFill>
                  <a:srgbClr val="6C7180"/>
                </a:solidFill>
                <a:latin typeface="Malgun Gothic" pitchFamily="34" charset="0"/>
                <a:ea typeface="Malgun Gothic" pitchFamily="34" charset="-122"/>
                <a:cs typeface="Malgun Gothic" pitchFamily="34" charset="-120"/>
              </a:rPr>
              <a:t>도구는 그냥 C# </a:t>
            </a:r>
            <a:r>
              <a:rPr lang="en-US" sz="1250" dirty="0" err="1">
                <a:solidFill>
                  <a:srgbClr val="6C7180"/>
                </a:solidFill>
                <a:latin typeface="Malgun Gothic" pitchFamily="34" charset="0"/>
                <a:ea typeface="Malgun Gothic" pitchFamily="34" charset="-122"/>
                <a:cs typeface="Malgun Gothic" pitchFamily="34" charset="-120"/>
              </a:rPr>
              <a:t>메서드</a:t>
            </a:r>
            <a:r>
              <a:rPr lang="ko-KR" altLang="en-US" sz="1250" dirty="0">
                <a:solidFill>
                  <a:srgbClr val="6C7180"/>
                </a:solidFill>
                <a:latin typeface="Malgun Gothic" pitchFamily="34" charset="0"/>
                <a:ea typeface="Malgun Gothic" pitchFamily="34" charset="-122"/>
                <a:cs typeface="Malgun Gothic" pitchFamily="34" charset="-120"/>
              </a:rPr>
              <a:t>일 뿐입니다</a:t>
            </a:r>
            <a:r>
              <a:rPr lang="en-US" altLang="ko-KR" sz="1250" dirty="0">
                <a:solidFill>
                  <a:srgbClr val="6C7180"/>
                </a:solidFill>
                <a:latin typeface="Malgun Gothic" pitchFamily="34" charset="0"/>
                <a:ea typeface="Malgun Gothic" pitchFamily="34" charset="-122"/>
                <a:cs typeface="Malgun Gothic" pitchFamily="34" charset="-120"/>
              </a:rPr>
              <a:t>.</a:t>
            </a:r>
            <a:r>
              <a:rPr lang="en-US" sz="1250" dirty="0">
                <a:solidFill>
                  <a:srgbClr val="6C7180"/>
                </a:solidFill>
                <a:latin typeface="Malgun Gothic" pitchFamily="34" charset="0"/>
                <a:ea typeface="Malgun Gothic" pitchFamily="34" charset="-122"/>
                <a:cs typeface="Malgun Gothic" pitchFamily="34" charset="-120"/>
              </a:rPr>
              <a:t> [Description]으로 설명을 붙이고 </a:t>
            </a:r>
            <a:r>
              <a:rPr lang="en-US" sz="1250" dirty="0" err="1">
                <a:solidFill>
                  <a:srgbClr val="6C7180"/>
                </a:solidFill>
                <a:latin typeface="Malgun Gothic" pitchFamily="34" charset="0"/>
                <a:ea typeface="Malgun Gothic" pitchFamily="34" charset="-122"/>
                <a:cs typeface="Malgun Gothic" pitchFamily="34" charset="-120"/>
              </a:rPr>
              <a:t>AIFunctionFactory.Create로</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포장합니다</a:t>
            </a:r>
            <a:r>
              <a:rPr lang="en-US" sz="1250" dirty="0">
                <a:solidFill>
                  <a:srgbClr val="6C7180"/>
                </a:solidFill>
                <a:latin typeface="Malgun Gothic" pitchFamily="34" charset="0"/>
                <a:ea typeface="Malgun Gothic" pitchFamily="34" charset="-122"/>
                <a:cs typeface="Malgun Gothic" pitchFamily="34" charset="-120"/>
              </a:rPr>
              <a:t>. CreateAIAgentAsync는 Foundry에 스키마를 저장하고, </a:t>
            </a:r>
            <a:r>
              <a:rPr lang="en-US" sz="1250" dirty="0" err="1">
                <a:solidFill>
                  <a:srgbClr val="6C7180"/>
                </a:solidFill>
                <a:latin typeface="Malgun Gothic" pitchFamily="34" charset="0"/>
                <a:ea typeface="Malgun Gothic" pitchFamily="34" charset="-122"/>
                <a:cs typeface="Malgun Gothic" pitchFamily="34" charset="-120"/>
              </a:rPr>
              <a:t>구현은</a:t>
            </a:r>
            <a:r>
              <a:rPr lang="en-US" sz="1250" dirty="0">
                <a:solidFill>
                  <a:srgbClr val="6C7180"/>
                </a:solidFill>
                <a:latin typeface="Malgun Gothic" pitchFamily="34" charset="0"/>
                <a:ea typeface="Malgun Gothic" pitchFamily="34" charset="-122"/>
                <a:cs typeface="Malgun Gothic" pitchFamily="34" charset="-120"/>
              </a:rPr>
              <a:t> 우리가 </a:t>
            </a:r>
            <a:r>
              <a:rPr lang="en-US" sz="1250" dirty="0" err="1">
                <a:solidFill>
                  <a:srgbClr val="6C7180"/>
                </a:solidFill>
                <a:latin typeface="Malgun Gothic" pitchFamily="34" charset="0"/>
                <a:ea typeface="Malgun Gothic" pitchFamily="34" charset="-122"/>
                <a:cs typeface="Malgun Gothic" pitchFamily="34" charset="-120"/>
              </a:rPr>
              <a:t>만든</a:t>
            </a:r>
            <a:r>
              <a:rPr lang="en-US" sz="1250" dirty="0">
                <a:solidFill>
                  <a:srgbClr val="6C7180"/>
                </a:solidFill>
                <a:latin typeface="Malgun Gothic" pitchFamily="34" charset="0"/>
                <a:ea typeface="Malgun Gothic" pitchFamily="34" charset="-122"/>
                <a:cs typeface="Malgun Gothic" pitchFamily="34" charset="-120"/>
              </a:rPr>
              <a:t> </a:t>
            </a:r>
            <a:r>
              <a:rPr lang="en-US" sz="1250" dirty="0" err="1">
                <a:solidFill>
                  <a:srgbClr val="6C7180"/>
                </a:solidFill>
                <a:latin typeface="Malgun Gothic" pitchFamily="34" charset="0"/>
                <a:ea typeface="Malgun Gothic" pitchFamily="34" charset="-122"/>
                <a:cs typeface="Malgun Gothic" pitchFamily="34" charset="-120"/>
              </a:rPr>
              <a:t>메서드</a:t>
            </a:r>
            <a:r>
              <a:rPr lang="ko-KR" altLang="en-US" sz="1250" dirty="0">
                <a:solidFill>
                  <a:srgbClr val="6C7180"/>
                </a:solidFill>
                <a:latin typeface="Malgun Gothic" pitchFamily="34" charset="0"/>
                <a:ea typeface="Malgun Gothic" pitchFamily="34" charset="-122"/>
                <a:cs typeface="Malgun Gothic" pitchFamily="34" charset="-120"/>
              </a:rPr>
              <a:t>를 사용합니다</a:t>
            </a:r>
            <a:r>
              <a:rPr lang="en-US" altLang="ko-KR"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그리고 이 도구를</a:t>
            </a:r>
            <a:r>
              <a:rPr lang="en-US" sz="1250" dirty="0">
                <a:solidFill>
                  <a:srgbClr val="6C7180"/>
                </a:solidFill>
                <a:latin typeface="Malgun Gothic" pitchFamily="34" charset="0"/>
                <a:ea typeface="Malgun Gothic" pitchFamily="34" charset="-122"/>
                <a:cs typeface="Malgun Gothic" pitchFamily="34" charset="-120"/>
              </a:rPr>
              <a:t> 클라우드 모델이 </a:t>
            </a:r>
            <a:r>
              <a:rPr lang="en-US" sz="1250" dirty="0" err="1">
                <a:solidFill>
                  <a:srgbClr val="6C7180"/>
                </a:solidFill>
                <a:latin typeface="Malgun Gothic" pitchFamily="34" charset="0"/>
                <a:ea typeface="Malgun Gothic" pitchFamily="34" charset="-122"/>
                <a:cs typeface="Malgun Gothic" pitchFamily="34" charset="-120"/>
              </a:rPr>
              <a:t>손에</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쥐고 사용할 수 </a:t>
            </a:r>
            <a:r>
              <a:rPr lang="ko-KR" altLang="en-US" sz="1250" dirty="0" err="1">
                <a:solidFill>
                  <a:srgbClr val="6C7180"/>
                </a:solidFill>
                <a:latin typeface="Malgun Gothic" pitchFamily="34" charset="0"/>
                <a:ea typeface="Malgun Gothic" pitchFamily="34" charset="-122"/>
                <a:cs typeface="Malgun Gothic" pitchFamily="34" charset="-120"/>
              </a:rPr>
              <a:t>있습니</a:t>
            </a:r>
            <a:r>
              <a:rPr lang="en-US" sz="1250" dirty="0">
                <a:solidFill>
                  <a:srgbClr val="6C7180"/>
                </a:solidFill>
                <a:latin typeface="Malgun Gothic" pitchFamily="34" charset="0"/>
                <a:ea typeface="Malgun Gothic" pitchFamily="34" charset="-122"/>
                <a:cs typeface="Malgun Gothic" pitchFamily="34" charset="-120"/>
              </a:rPr>
              <a:t>다.</a:t>
            </a:r>
            <a:endParaRPr lang="en-US" sz="1250" dirty="0"/>
          </a:p>
        </p:txBody>
      </p:sp>
    </p:spTree>
  </p:cSld>
  <p:clrMapOvr>
    <a:masterClrMapping/>
  </p:clrMapOvr>
  <p:transition spd="med">
    <p:wip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ko-KR" altLang="en-US" sz="2500" b="1" dirty="0">
                <a:solidFill>
                  <a:srgbClr val="1F2330"/>
                </a:solidFill>
                <a:latin typeface="Batang" pitchFamily="34" charset="0"/>
                <a:ea typeface="Batang" pitchFamily="34" charset="-122"/>
                <a:cs typeface="Batang" pitchFamily="34" charset="-120"/>
              </a:rPr>
              <a:t>mcp.json에 설정을 넣고, 바이브 코딩을 시작하세요</a:t>
            </a:r>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28</a:t>
            </a:r>
            <a:endParaRPr lang="en-US" sz="900" dirty="0"/>
          </a:p>
        </p:txBody>
      </p:sp>
      <p:sp>
        <p:nvSpPr>
          <p:cNvPr id="13" name="CodePanel">
            <a:extLst>
              <a:ext uri="{FF2B5EF4-FFF2-40B4-BE49-F238E27FC236}">
                <a16:creationId xmlns:a16="http://schemas.microsoft.com/office/drawing/2014/main" id="{FC7D4327-F0D3-4F8F-A328-4107680F98D5}"/>
              </a:ext>
            </a:extLst>
          </p:cNvPr>
          <p:cNvSpPr/>
          <p:nvPr/>
        </p:nvSpPr>
        <p:spPr>
          <a:xfrm>
            <a:off x="546100" y="2184400"/>
            <a:ext cx="6921500" cy="4013200"/>
          </a:xfrm>
          <a:prstGeom prst="roundRect">
            <a:avLst/>
          </a:prstGeom>
          <a:solidFill>
            <a:srgbClr val="1F23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93450A57-AA0C-41A0-AFD2-1205BF5FF5DB}"/>
              </a:ext>
            </a:extLst>
          </p:cNvPr>
          <p:cNvSpPr txBox="1"/>
          <p:nvPr/>
        </p:nvSpPr>
        <p:spPr>
          <a:xfrm>
            <a:off x="762000" y="2311400"/>
            <a:ext cx="2540000" cy="228600"/>
          </a:xfrm>
          <a:prstGeom prst="rect">
            <a:avLst/>
          </a:prstGeom>
          <a:noFill/>
        </p:spPr>
        <p:txBody>
          <a:bodyPr vertOverflow="overflow" vert="horz" wrap="none" rtlCol="0" anchor="t">
            <a:noAutofit/>
          </a:bodyPr>
          <a:lstStyle/>
          <a:p>
            <a:pPr algn="l"/>
            <a:r>
              <a:rPr lang="en-US" altLang="ko-KR" sz="1100" b="1">
                <a:solidFill>
                  <a:srgbClr val="A9823F"/>
                </a:solidFill>
                <a:latin typeface="Consolas"/>
              </a:rPr>
              <a:t>mcp.json</a:t>
            </a:r>
            <a:endParaRPr lang="ko-KR" altLang="en-US" sz="1100" b="1">
              <a:solidFill>
                <a:srgbClr val="A9823F"/>
              </a:solidFill>
              <a:latin typeface="Consolas"/>
            </a:endParaRPr>
          </a:p>
        </p:txBody>
      </p:sp>
      <p:sp>
        <p:nvSpPr>
          <p:cNvPr id="15" name="CodeText">
            <a:extLst>
              <a:ext uri="{FF2B5EF4-FFF2-40B4-BE49-F238E27FC236}">
                <a16:creationId xmlns:a16="http://schemas.microsoft.com/office/drawing/2014/main" id="{CA296A52-F1E2-49C6-A2D0-404FCCF36DBE}"/>
              </a:ext>
            </a:extLst>
          </p:cNvPr>
          <p:cNvSpPr txBox="1"/>
          <p:nvPr/>
        </p:nvSpPr>
        <p:spPr>
          <a:xfrm>
            <a:off x="762000" y="2641600"/>
            <a:ext cx="6540500" cy="3454400"/>
          </a:xfrm>
          <a:prstGeom prst="rect">
            <a:avLst/>
          </a:prstGeom>
          <a:noFill/>
        </p:spPr>
        <p:txBody>
          <a:bodyPr vertOverflow="overflow" vert="horz" wrap="none" rtlCol="0" anchor="t" anchorCtr="0">
            <a:noAutofit/>
          </a:bodyPr>
          <a:lstStyle/>
          <a:p>
            <a:pPr algn="l"/>
            <a:r>
              <a:rPr lang="en-US" altLang="ko-KR" sz="1000" dirty="0">
                <a:solidFill>
                  <a:srgbClr val="ECE7D8"/>
                </a:solidFill>
                <a:latin typeface="Consolas"/>
              </a:rPr>
              <a:t>{
  "servers": {
    "brave-search": {
      "command": "</a:t>
            </a:r>
            <a:r>
              <a:rPr lang="en-US" altLang="ko-KR" sz="1000" dirty="0" err="1">
                <a:solidFill>
                  <a:srgbClr val="ECE7D8"/>
                </a:solidFill>
                <a:latin typeface="Consolas"/>
              </a:rPr>
              <a:t>npx</a:t>
            </a:r>
            <a:r>
              <a:rPr lang="en-US" altLang="ko-KR" sz="1000" dirty="0">
                <a:solidFill>
                  <a:srgbClr val="ECE7D8"/>
                </a:solidFill>
                <a:latin typeface="Consolas"/>
              </a:rPr>
              <a:t>",
      "</a:t>
            </a:r>
            <a:r>
              <a:rPr lang="en-US" altLang="ko-KR" sz="1000" dirty="0" err="1">
                <a:solidFill>
                  <a:srgbClr val="ECE7D8"/>
                </a:solidFill>
                <a:latin typeface="Consolas"/>
              </a:rPr>
              <a:t>args</a:t>
            </a:r>
            <a:r>
              <a:rPr lang="en-US" altLang="ko-KR" sz="1000" dirty="0">
                <a:solidFill>
                  <a:srgbClr val="ECE7D8"/>
                </a:solidFill>
                <a:latin typeface="Consolas"/>
              </a:rPr>
              <a:t>": ["-y", "@brave/brave-search-</a:t>
            </a:r>
            <a:r>
              <a:rPr lang="en-US" altLang="ko-KR" sz="1000" dirty="0" err="1">
                <a:solidFill>
                  <a:srgbClr val="ECE7D8"/>
                </a:solidFill>
                <a:latin typeface="Consolas"/>
              </a:rPr>
              <a:t>mcp</a:t>
            </a:r>
            <a:r>
              <a:rPr lang="en-US" altLang="ko-KR" sz="1000" dirty="0">
                <a:solidFill>
                  <a:srgbClr val="ECE7D8"/>
                </a:solidFill>
                <a:latin typeface="Consolas"/>
              </a:rPr>
              <a:t>-server", "--transport", "</a:t>
            </a:r>
            <a:r>
              <a:rPr lang="en-US" altLang="ko-KR" sz="1000" dirty="0" err="1">
                <a:solidFill>
                  <a:srgbClr val="ECE7D8"/>
                </a:solidFill>
                <a:latin typeface="Consolas"/>
              </a:rPr>
              <a:t>stdio</a:t>
            </a:r>
            <a:r>
              <a:rPr lang="en-US" altLang="ko-KR" sz="1000" dirty="0">
                <a:solidFill>
                  <a:srgbClr val="ECE7D8"/>
                </a:solidFill>
                <a:latin typeface="Consolas"/>
              </a:rPr>
              <a:t>"],
      "env": { "BRAVE_API_KEY": "${</a:t>
            </a:r>
            <a:r>
              <a:rPr lang="en-US" altLang="ko-KR" sz="1000" dirty="0" err="1">
                <a:solidFill>
                  <a:srgbClr val="ECE7D8"/>
                </a:solidFill>
                <a:latin typeface="Consolas"/>
              </a:rPr>
              <a:t>input:brave_api_key</a:t>
            </a:r>
            <a:r>
              <a:rPr lang="en-US" altLang="ko-KR" sz="1000" dirty="0">
                <a:solidFill>
                  <a:srgbClr val="ECE7D8"/>
                </a:solidFill>
                <a:latin typeface="Consolas"/>
              </a:rPr>
              <a:t>}" },
      "type": "</a:t>
            </a:r>
            <a:r>
              <a:rPr lang="en-US" altLang="ko-KR" sz="1000" dirty="0" err="1">
                <a:solidFill>
                  <a:srgbClr val="ECE7D8"/>
                </a:solidFill>
                <a:latin typeface="Consolas"/>
              </a:rPr>
              <a:t>stdio</a:t>
            </a:r>
            <a:r>
              <a:rPr lang="en-US" altLang="ko-KR" sz="1000" dirty="0">
                <a:solidFill>
                  <a:srgbClr val="ECE7D8"/>
                </a:solidFill>
                <a:latin typeface="Consolas"/>
              </a:rPr>
              <a:t>"
    },
    "</a:t>
            </a:r>
            <a:r>
              <a:rPr lang="en-US" altLang="ko-KR" sz="1000" dirty="0" err="1">
                <a:solidFill>
                  <a:srgbClr val="ECE7D8"/>
                </a:solidFill>
                <a:latin typeface="Consolas"/>
              </a:rPr>
              <a:t>handmirrormcp</a:t>
            </a:r>
            <a:r>
              <a:rPr lang="en-US" altLang="ko-KR" sz="1000" dirty="0">
                <a:solidFill>
                  <a:srgbClr val="ECE7D8"/>
                </a:solidFill>
                <a:latin typeface="Consolas"/>
              </a:rPr>
              <a:t>": {
      "type": "</a:t>
            </a:r>
            <a:r>
              <a:rPr lang="en-US" altLang="ko-KR" sz="1000" dirty="0" err="1">
                <a:solidFill>
                  <a:srgbClr val="ECE7D8"/>
                </a:solidFill>
                <a:latin typeface="Consolas"/>
              </a:rPr>
              <a:t>stdio</a:t>
            </a:r>
            <a:r>
              <a:rPr lang="en-US" altLang="ko-KR" sz="1000" dirty="0">
                <a:solidFill>
                  <a:srgbClr val="ECE7D8"/>
                </a:solidFill>
                <a:latin typeface="Consolas"/>
              </a:rPr>
              <a:t>", "command": "</a:t>
            </a:r>
            <a:r>
              <a:rPr lang="en-US" altLang="ko-KR" sz="1000" dirty="0" err="1">
                <a:solidFill>
                  <a:srgbClr val="ECE7D8"/>
                </a:solidFill>
                <a:latin typeface="Consolas"/>
              </a:rPr>
              <a:t>dnx</a:t>
            </a:r>
            <a:r>
              <a:rPr lang="en-US" altLang="ko-KR" sz="1000" dirty="0">
                <a:solidFill>
                  <a:srgbClr val="ECE7D8"/>
                </a:solidFill>
                <a:latin typeface="Consolas"/>
              </a:rPr>
              <a:t>",
      "</a:t>
            </a:r>
            <a:r>
              <a:rPr lang="en-US" altLang="ko-KR" sz="1000" dirty="0" err="1">
                <a:solidFill>
                  <a:srgbClr val="ECE7D8"/>
                </a:solidFill>
                <a:latin typeface="Consolas"/>
              </a:rPr>
              <a:t>args</a:t>
            </a:r>
            <a:r>
              <a:rPr lang="en-US" altLang="ko-KR" sz="1000" dirty="0">
                <a:solidFill>
                  <a:srgbClr val="ECE7D8"/>
                </a:solidFill>
                <a:latin typeface="Consolas"/>
              </a:rPr>
              <a:t>": ["HandMirrorMcp@0.1.1", "--yes"]
    },
    "</a:t>
            </a:r>
            <a:r>
              <a:rPr lang="en-US" altLang="ko-KR" sz="1000" dirty="0" err="1">
                <a:solidFill>
                  <a:srgbClr val="ECE7D8"/>
                </a:solidFill>
                <a:latin typeface="Consolas"/>
              </a:rPr>
              <a:t>microsoft</a:t>
            </a:r>
            <a:r>
              <a:rPr lang="en-US" altLang="ko-KR" sz="1000" dirty="0">
                <a:solidFill>
                  <a:srgbClr val="ECE7D8"/>
                </a:solidFill>
                <a:latin typeface="Consolas"/>
              </a:rPr>
              <a:t>-learn": {
      "type": "http", "</a:t>
            </a:r>
            <a:r>
              <a:rPr lang="en-US" altLang="ko-KR" sz="1000" dirty="0" err="1">
                <a:solidFill>
                  <a:srgbClr val="ECE7D8"/>
                </a:solidFill>
                <a:latin typeface="Consolas"/>
              </a:rPr>
              <a:t>url</a:t>
            </a:r>
            <a:r>
              <a:rPr lang="en-US" altLang="ko-KR" sz="1000" dirty="0">
                <a:solidFill>
                  <a:srgbClr val="ECE7D8"/>
                </a:solidFill>
                <a:latin typeface="Consolas"/>
              </a:rPr>
              <a:t>": "https://learn.microsoft.com/</a:t>
            </a:r>
            <a:r>
              <a:rPr lang="en-US" altLang="ko-KR" sz="1000" dirty="0" err="1">
                <a:solidFill>
                  <a:srgbClr val="ECE7D8"/>
                </a:solidFill>
                <a:latin typeface="Consolas"/>
              </a:rPr>
              <a:t>api</a:t>
            </a:r>
            <a:r>
              <a:rPr lang="en-US" altLang="ko-KR" sz="1000" dirty="0">
                <a:solidFill>
                  <a:srgbClr val="ECE7D8"/>
                </a:solidFill>
                <a:latin typeface="Consolas"/>
              </a:rPr>
              <a:t>/</a:t>
            </a:r>
            <a:r>
              <a:rPr lang="en-US" altLang="ko-KR" sz="1000" dirty="0" err="1">
                <a:solidFill>
                  <a:srgbClr val="ECE7D8"/>
                </a:solidFill>
                <a:latin typeface="Consolas"/>
              </a:rPr>
              <a:t>mcp</a:t>
            </a:r>
            <a:r>
              <a:rPr lang="en-US" altLang="ko-KR" sz="1000" dirty="0">
                <a:solidFill>
                  <a:srgbClr val="ECE7D8"/>
                </a:solidFill>
                <a:latin typeface="Consolas"/>
              </a:rPr>
              <a:t>"
    }
  },
  "inputs": [
    { "id": "</a:t>
            </a:r>
            <a:r>
              <a:rPr lang="en-US" altLang="ko-KR" sz="1000" dirty="0" err="1">
                <a:solidFill>
                  <a:srgbClr val="ECE7D8"/>
                </a:solidFill>
                <a:latin typeface="Consolas"/>
              </a:rPr>
              <a:t>brave_api_key</a:t>
            </a:r>
            <a:r>
              <a:rPr lang="en-US" altLang="ko-KR" sz="1000" dirty="0">
                <a:solidFill>
                  <a:srgbClr val="ECE7D8"/>
                </a:solidFill>
                <a:latin typeface="Consolas"/>
              </a:rPr>
              <a:t>", "type": "</a:t>
            </a:r>
            <a:r>
              <a:rPr lang="en-US" altLang="ko-KR" sz="1000" dirty="0" err="1">
                <a:solidFill>
                  <a:srgbClr val="ECE7D8"/>
                </a:solidFill>
                <a:latin typeface="Consolas"/>
              </a:rPr>
              <a:t>promptString</a:t>
            </a:r>
            <a:r>
              <a:rPr lang="en-US" altLang="ko-KR" sz="1000" dirty="0">
                <a:solidFill>
                  <a:srgbClr val="ECE7D8"/>
                </a:solidFill>
                <a:latin typeface="Consolas"/>
              </a:rPr>
              <a:t>",
      "description": "Brave Search API Key" }
  ]
}</a:t>
            </a:r>
            <a:endParaRPr lang="ko-KR" altLang="en-US" sz="1000" dirty="0">
              <a:solidFill>
                <a:srgbClr val="ECE7D8"/>
              </a:solidFill>
              <a:latin typeface="Consolas"/>
            </a:endParaRPr>
          </a:p>
        </p:txBody>
      </p:sp>
      <p:sp>
        <p:nvSpPr>
          <p:cNvPr id="16" name="TextBox 15">
            <a:extLst>
              <a:ext uri="{FF2B5EF4-FFF2-40B4-BE49-F238E27FC236}">
                <a16:creationId xmlns:a16="http://schemas.microsoft.com/office/drawing/2014/main" id="{289F3636-B251-4A91-AB5F-ACBBE7992F91}"/>
              </a:ext>
            </a:extLst>
          </p:cNvPr>
          <p:cNvSpPr txBox="1"/>
          <p:nvPr/>
        </p:nvSpPr>
        <p:spPr>
          <a:xfrm>
            <a:off x="7747000" y="2311400"/>
            <a:ext cx="3962400" cy="304800"/>
          </a:xfrm>
          <a:prstGeom prst="rect">
            <a:avLst/>
          </a:prstGeom>
          <a:noFill/>
        </p:spPr>
        <p:txBody>
          <a:bodyPr vertOverflow="overflow" vert="horz" wrap="none" rtlCol="0" anchor="t">
            <a:noAutofit/>
          </a:bodyPr>
          <a:lstStyle/>
          <a:p>
            <a:pPr algn="l"/>
            <a:r>
              <a:rPr lang="ko-KR" altLang="en-US" sz="1300" b="1">
                <a:solidFill>
                  <a:srgbClr val="A9823F"/>
                </a:solidFill>
                <a:latin typeface="Malgun Gothic"/>
                <a:ea typeface="Malgun Gothic"/>
              </a:rPr>
              <a:t>이렇게 시작하세요</a:t>
            </a:r>
          </a:p>
        </p:txBody>
      </p:sp>
      <p:sp>
        <p:nvSpPr>
          <p:cNvPr id="17" name="Steps">
            <a:extLst>
              <a:ext uri="{FF2B5EF4-FFF2-40B4-BE49-F238E27FC236}">
                <a16:creationId xmlns:a16="http://schemas.microsoft.com/office/drawing/2014/main" id="{51482993-F5DF-4873-800D-5E4DEF2B96A6}"/>
              </a:ext>
            </a:extLst>
          </p:cNvPr>
          <p:cNvSpPr txBox="1"/>
          <p:nvPr/>
        </p:nvSpPr>
        <p:spPr>
          <a:xfrm>
            <a:off x="7747000" y="2717800"/>
            <a:ext cx="3962400" cy="2819400"/>
          </a:xfrm>
          <a:prstGeom prst="rect">
            <a:avLst/>
          </a:prstGeom>
          <a:noFill/>
        </p:spPr>
        <p:txBody>
          <a:bodyPr vertOverflow="overflow" vert="horz" wrap="square" rtlCol="0" anchor="t" anchorCtr="0">
            <a:noAutofit/>
          </a:bodyPr>
          <a:lstStyle/>
          <a:p>
            <a:pPr algn="l"/>
            <a:r>
              <a:rPr lang="en-US" altLang="ko-KR" sz="1300" dirty="0">
                <a:solidFill>
                  <a:srgbClr val="1F2330"/>
                </a:solidFill>
                <a:latin typeface="Malgun Gothic"/>
                <a:ea typeface="Malgun Gothic"/>
              </a:rPr>
              <a:t>1   VS Code </a:t>
            </a:r>
            <a:r>
              <a:rPr lang="ko-KR" altLang="en-US" sz="1300" dirty="0">
                <a:solidFill>
                  <a:srgbClr val="1F2330"/>
                </a:solidFill>
                <a:latin typeface="Malgun Gothic"/>
                <a:ea typeface="Malgun Gothic"/>
              </a:rPr>
              <a:t>작업 폴더에 </a:t>
            </a:r>
            <a:r>
              <a:rPr lang="en-US" altLang="ko-KR" sz="1300" dirty="0">
                <a:solidFill>
                  <a:srgbClr val="1F2330"/>
                </a:solidFill>
                <a:latin typeface="Malgun Gothic"/>
                <a:ea typeface="Malgun Gothic"/>
              </a:rPr>
              <a:t>.</a:t>
            </a:r>
            <a:r>
              <a:rPr lang="en-US" altLang="ko-KR" sz="1300" dirty="0" err="1">
                <a:solidFill>
                  <a:srgbClr val="1F2330"/>
                </a:solidFill>
                <a:latin typeface="Malgun Gothic"/>
                <a:ea typeface="Malgun Gothic"/>
              </a:rPr>
              <a:t>vscode</a:t>
            </a:r>
            <a:r>
              <a:rPr lang="en-US" altLang="ko-KR" sz="1300" dirty="0">
                <a:solidFill>
                  <a:srgbClr val="1F2330"/>
                </a:solidFill>
                <a:latin typeface="Malgun Gothic"/>
                <a:ea typeface="Malgun Gothic"/>
              </a:rPr>
              <a:t>/</a:t>
            </a:r>
            <a:r>
              <a:rPr lang="en-US" altLang="ko-KR" sz="1300" dirty="0" err="1">
                <a:solidFill>
                  <a:srgbClr val="1F2330"/>
                </a:solidFill>
                <a:latin typeface="Malgun Gothic"/>
                <a:ea typeface="Malgun Gothic"/>
              </a:rPr>
              <a:t>mcp.json</a:t>
            </a:r>
            <a:r>
              <a:rPr lang="en-US" altLang="ko-KR" sz="1300" dirty="0">
                <a:solidFill>
                  <a:srgbClr val="1F2330"/>
                </a:solidFill>
                <a:latin typeface="Malgun Gothic"/>
                <a:ea typeface="Malgun Gothic"/>
              </a:rPr>
              <a:t> </a:t>
            </a:r>
            <a:r>
              <a:rPr lang="ko-KR" altLang="en-US" sz="1300" dirty="0">
                <a:solidFill>
                  <a:srgbClr val="1F2330"/>
                </a:solidFill>
                <a:latin typeface="Malgun Gothic"/>
                <a:ea typeface="Malgun Gothic"/>
              </a:rPr>
              <a:t>파일을 만듭니다</a:t>
            </a:r>
            <a:r>
              <a:rPr lang="en-US" altLang="ko-KR" sz="1300" dirty="0">
                <a:solidFill>
                  <a:srgbClr val="1F2330"/>
                </a:solidFill>
                <a:latin typeface="Malgun Gothic"/>
                <a:ea typeface="Malgun Gothic"/>
              </a:rPr>
              <a:t>.
2   </a:t>
            </a:r>
            <a:r>
              <a:rPr lang="ko-KR" altLang="en-US" sz="1300" dirty="0">
                <a:solidFill>
                  <a:srgbClr val="1F2330"/>
                </a:solidFill>
                <a:latin typeface="Malgun Gothic"/>
                <a:ea typeface="Malgun Gothic"/>
              </a:rPr>
              <a:t>위 설정을 </a:t>
            </a:r>
            <a:r>
              <a:rPr lang="ko-KR" altLang="en-US" sz="1300" dirty="0" err="1">
                <a:solidFill>
                  <a:srgbClr val="1F2330"/>
                </a:solidFill>
                <a:latin typeface="Malgun Gothic"/>
                <a:ea typeface="Malgun Gothic"/>
              </a:rPr>
              <a:t>붙여넣고</a:t>
            </a:r>
            <a:r>
              <a:rPr lang="en-US" altLang="ko-KR" sz="1300" dirty="0">
                <a:solidFill>
                  <a:srgbClr val="1F2330"/>
                </a:solidFill>
                <a:latin typeface="Malgun Gothic"/>
                <a:ea typeface="Malgun Gothic"/>
              </a:rPr>
              <a:t>, Brave API </a:t>
            </a:r>
            <a:r>
              <a:rPr lang="ko-KR" altLang="en-US" sz="1300" dirty="0">
                <a:solidFill>
                  <a:srgbClr val="1F2330"/>
                </a:solidFill>
                <a:latin typeface="Malgun Gothic"/>
                <a:ea typeface="Malgun Gothic"/>
              </a:rPr>
              <a:t>키를 입력합니다</a:t>
            </a:r>
            <a:r>
              <a:rPr lang="en-US" altLang="ko-KR" sz="1300" dirty="0">
                <a:solidFill>
                  <a:srgbClr val="1F2330"/>
                </a:solidFill>
                <a:latin typeface="Malgun Gothic"/>
                <a:ea typeface="Malgun Gothic"/>
              </a:rPr>
              <a:t>.
3   </a:t>
            </a:r>
            <a:r>
              <a:rPr lang="ko-KR" altLang="en-US" sz="1300" dirty="0">
                <a:solidFill>
                  <a:srgbClr val="1F2330"/>
                </a:solidFill>
                <a:latin typeface="Malgun Gothic"/>
                <a:ea typeface="Malgun Gothic"/>
              </a:rPr>
              <a:t>검색 </a:t>
            </a:r>
            <a:r>
              <a:rPr lang="en-US" altLang="ko-KR" sz="1300" dirty="0">
                <a:solidFill>
                  <a:srgbClr val="1F2330"/>
                </a:solidFill>
                <a:latin typeface="Malgun Gothic"/>
                <a:ea typeface="Malgun Gothic"/>
              </a:rPr>
              <a:t>· </a:t>
            </a:r>
            <a:r>
              <a:rPr lang="ko-KR" altLang="en-US" sz="1300" dirty="0" err="1">
                <a:solidFill>
                  <a:srgbClr val="1F2330"/>
                </a:solidFill>
                <a:latin typeface="Malgun Gothic"/>
                <a:ea typeface="Malgun Gothic"/>
              </a:rPr>
              <a:t>핸드미러</a:t>
            </a:r>
            <a:r>
              <a:rPr lang="ko-KR" altLang="en-US" sz="1300" dirty="0">
                <a:solidFill>
                  <a:srgbClr val="1F2330"/>
                </a:solidFill>
                <a:latin typeface="Malgun Gothic"/>
                <a:ea typeface="Malgun Gothic"/>
              </a:rPr>
              <a:t> </a:t>
            </a:r>
            <a:r>
              <a:rPr lang="en-US" altLang="ko-KR" sz="1300" dirty="0">
                <a:solidFill>
                  <a:srgbClr val="1F2330"/>
                </a:solidFill>
                <a:latin typeface="Malgun Gothic"/>
                <a:ea typeface="Malgun Gothic"/>
              </a:rPr>
              <a:t>· MS Learn — </a:t>
            </a:r>
            <a:r>
              <a:rPr lang="ko-KR" altLang="en-US" sz="1300" dirty="0">
                <a:solidFill>
                  <a:srgbClr val="1F2330"/>
                </a:solidFill>
                <a:latin typeface="Malgun Gothic"/>
                <a:ea typeface="Malgun Gothic"/>
              </a:rPr>
              <a:t>세 서버가 켜집니다</a:t>
            </a:r>
            <a:r>
              <a:rPr lang="en-US" altLang="ko-KR" sz="1300" dirty="0">
                <a:solidFill>
                  <a:srgbClr val="1F2330"/>
                </a:solidFill>
                <a:latin typeface="Malgun Gothic"/>
                <a:ea typeface="Malgun Gothic"/>
              </a:rPr>
              <a:t>.
4   Copilot </a:t>
            </a:r>
            <a:r>
              <a:rPr lang="ko-KR" altLang="en-US" sz="1300" dirty="0">
                <a:solidFill>
                  <a:srgbClr val="1F2330"/>
                </a:solidFill>
                <a:latin typeface="Malgun Gothic"/>
                <a:ea typeface="Malgun Gothic"/>
              </a:rPr>
              <a:t>에이전트 모드로 </a:t>
            </a:r>
            <a:r>
              <a:rPr lang="ko-KR" altLang="en-US" sz="1300" dirty="0" err="1">
                <a:solidFill>
                  <a:srgbClr val="1F2330"/>
                </a:solidFill>
                <a:latin typeface="Malgun Gothic"/>
                <a:ea typeface="Malgun Gothic"/>
              </a:rPr>
              <a:t>바이브</a:t>
            </a:r>
            <a:r>
              <a:rPr lang="ko-KR" altLang="en-US" sz="1300" dirty="0">
                <a:solidFill>
                  <a:srgbClr val="1F2330"/>
                </a:solidFill>
                <a:latin typeface="Malgun Gothic"/>
                <a:ea typeface="Malgun Gothic"/>
              </a:rPr>
              <a:t> 코딩을 시작합니다</a:t>
            </a:r>
            <a:r>
              <a:rPr lang="en-US" altLang="ko-KR" sz="1300" dirty="0">
                <a:solidFill>
                  <a:srgbClr val="1F2330"/>
                </a:solidFill>
                <a:latin typeface="Malgun Gothic"/>
                <a:ea typeface="Malgun Gothic"/>
              </a:rPr>
              <a:t>.</a:t>
            </a:r>
            <a:endParaRPr lang="ko-KR" altLang="en-US" sz="1300" dirty="0">
              <a:solidFill>
                <a:srgbClr val="1F2330"/>
              </a:solidFill>
              <a:latin typeface="Malgun Gothic"/>
              <a:ea typeface="Malgun Gothic"/>
            </a:endParaRPr>
          </a:p>
        </p:txBody>
      </p:sp>
      <p:sp>
        <p:nvSpPr>
          <p:cNvPr id="18" name="Rec">
            <a:extLst>
              <a:ext uri="{FF2B5EF4-FFF2-40B4-BE49-F238E27FC236}">
                <a16:creationId xmlns:a16="http://schemas.microsoft.com/office/drawing/2014/main" id="{45DE7373-D093-4830-9F15-A0343986D25C}"/>
              </a:ext>
            </a:extLst>
          </p:cNvPr>
          <p:cNvSpPr txBox="1"/>
          <p:nvPr/>
        </p:nvSpPr>
        <p:spPr>
          <a:xfrm>
            <a:off x="7747000" y="5715000"/>
            <a:ext cx="3962400" cy="508000"/>
          </a:xfrm>
          <a:prstGeom prst="rect">
            <a:avLst/>
          </a:prstGeom>
          <a:noFill/>
        </p:spPr>
        <p:txBody>
          <a:bodyPr vertOverflow="overflow" vert="horz" wrap="square" rtlCol="0" anchor="t">
            <a:noAutofit/>
          </a:bodyPr>
          <a:lstStyle/>
          <a:p>
            <a:pPr algn="l"/>
            <a:r>
              <a:rPr lang="ko-KR" altLang="en-US" sz="1200" i="1">
                <a:solidFill>
                  <a:srgbClr val="A9823F"/>
                </a:solidFill>
                <a:latin typeface="Malgun Gothic"/>
                <a:ea typeface="Malgun Gothic"/>
              </a:rPr>
              <a:t>준비는 끝났습니다</a:t>
            </a:r>
            <a:r>
              <a:rPr lang="en-US" altLang="ko-KR" sz="1200" i="1">
                <a:solidFill>
                  <a:srgbClr val="A9823F"/>
                </a:solidFill>
                <a:latin typeface="Malgun Gothic"/>
                <a:ea typeface="Malgun Gothic"/>
              </a:rPr>
              <a:t>. </a:t>
            </a:r>
            <a:r>
              <a:rPr lang="ko-KR" altLang="en-US" sz="1200" i="1">
                <a:solidFill>
                  <a:srgbClr val="A9823F"/>
                </a:solidFill>
                <a:latin typeface="Malgun Gothic"/>
                <a:ea typeface="Malgun Gothic"/>
              </a:rPr>
              <a:t>이제 당신의 카덴차를 연주할 차례입니다</a:t>
            </a:r>
            <a:r>
              <a:rPr lang="en-US" altLang="ko-KR" sz="1200" i="1">
                <a:solidFill>
                  <a:srgbClr val="A9823F"/>
                </a:solidFill>
                <a:latin typeface="Malgun Gothic"/>
                <a:ea typeface="Malgun Gothic"/>
              </a:rPr>
              <a:t>.</a:t>
            </a:r>
            <a:endParaRPr lang="ko-KR" altLang="en-US" sz="1200" i="1">
              <a:solidFill>
                <a:srgbClr val="A9823F"/>
              </a:solidFill>
              <a:latin typeface="Malgun Gothic"/>
              <a:ea typeface="Malgun Gothic"/>
            </a:endParaRPr>
          </a:p>
        </p:txBody>
      </p:sp>
      <p:sp>
        <p:nvSpPr>
          <p:cNvPr id="20" name="Shape 6">
            <a:extLst>
              <a:ext uri="{FF2B5EF4-FFF2-40B4-BE49-F238E27FC236}">
                <a16:creationId xmlns:a16="http://schemas.microsoft.com/office/drawing/2014/main" id="{131998F5-1E10-FFF7-AF3A-2815DDCECB1B}"/>
              </a:ext>
            </a:extLst>
          </p:cNvPr>
          <p:cNvSpPr/>
          <p:nvPr/>
        </p:nvSpPr>
        <p:spPr>
          <a:xfrm>
            <a:off x="566928" y="603504"/>
            <a:ext cx="310896" cy="41148"/>
          </a:xfrm>
          <a:prstGeom prst="rect">
            <a:avLst/>
          </a:prstGeom>
          <a:solidFill>
            <a:srgbClr val="8A1C2B"/>
          </a:solidFill>
          <a:ln/>
        </p:spPr>
        <p:txBody>
          <a:bodyPr/>
          <a:lstStyle/>
          <a:p>
            <a:endParaRPr lang="ko-KR" altLang="en-US"/>
          </a:p>
        </p:txBody>
      </p:sp>
      <p:sp>
        <p:nvSpPr>
          <p:cNvPr id="22" name="Text 7">
            <a:extLst>
              <a:ext uri="{FF2B5EF4-FFF2-40B4-BE49-F238E27FC236}">
                <a16:creationId xmlns:a16="http://schemas.microsoft.com/office/drawing/2014/main" id="{A66023A0-8C11-74C9-DE91-813CCBF8010E}"/>
              </a:ext>
            </a:extLst>
          </p:cNvPr>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라이브  ·  COPILOT</a:t>
            </a:r>
            <a:endParaRPr lang="en-US" sz="1250" dirty="0"/>
          </a:p>
        </p:txBody>
      </p:sp>
    </p:spTree>
    <p:extLst>
      <p:ext uri="{BB962C8B-B14F-4D97-AF65-F5344CB8AC3E}">
        <p14:creationId xmlns:p14="http://schemas.microsoft.com/office/powerpoint/2010/main" val="2625169973"/>
      </p:ext>
    </p:extLst>
  </p:cSld>
  <p:clrMapOvr>
    <a:masterClrMapping/>
  </p:clrMapOvr>
  <p:transition spd="med">
    <p:wipe/>
  </p:transition>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라이브  ·  COPILOT</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한 줄에서 호스팅까지</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6C7180"/>
                </a:solidFill>
                <a:latin typeface="Consolas" pitchFamily="34" charset="0"/>
                <a:ea typeface="Consolas" pitchFamily="34" charset="-122"/>
                <a:cs typeface="Consolas" pitchFamily="34" charset="-120"/>
              </a:rPr>
              <a:t>25</a:t>
            </a:r>
            <a:endParaRPr lang="en-US" sz="900" dirty="0"/>
          </a:p>
        </p:txBody>
      </p:sp>
      <p:sp>
        <p:nvSpPr>
          <p:cNvPr id="13" name="Shape 11"/>
          <p:cNvSpPr/>
          <p:nvPr/>
        </p:nvSpPr>
        <p:spPr>
          <a:xfrm>
            <a:off x="548640" y="1847088"/>
            <a:ext cx="11064240" cy="3429000"/>
          </a:xfrm>
          <a:prstGeom prst="rect">
            <a:avLst/>
          </a:prstGeom>
          <a:solidFill>
            <a:srgbClr val="F1ECDE"/>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1847088"/>
            <a:ext cx="64008" cy="3429000"/>
          </a:xfrm>
          <a:prstGeom prst="rect">
            <a:avLst/>
          </a:prstGeom>
          <a:solidFill>
            <a:srgbClr val="8A1C2B"/>
          </a:solidFill>
          <a:ln/>
        </p:spPr>
        <p:txBody>
          <a:bodyPr/>
          <a:lstStyle/>
          <a:p>
            <a:endParaRPr lang="ko-KR" altLang="en-US"/>
          </a:p>
        </p:txBody>
      </p:sp>
      <p:sp>
        <p:nvSpPr>
          <p:cNvPr id="15" name="Text 13"/>
          <p:cNvSpPr/>
          <p:nvPr/>
        </p:nvSpPr>
        <p:spPr>
          <a:xfrm>
            <a:off x="804672" y="1975104"/>
            <a:ext cx="10607040" cy="3172968"/>
          </a:xfrm>
          <a:prstGeom prst="rect">
            <a:avLst/>
          </a:prstGeom>
          <a:noFill/>
          <a:ln/>
        </p:spPr>
        <p:txBody>
          <a:bodyPr wrap="square" lIns="0" tIns="0" rIns="0" bIns="0" rtlCol="0" anchor="t"/>
          <a:lstStyle/>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#:sdk Microsoft.NET.Sdk.Web</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#:package Microsoft.Agents.AI.Foundry.Hosting@1.0.0</a:t>
            </a:r>
            <a:endParaRPr lang="en-US" sz="1200" dirty="0"/>
          </a:p>
          <a:p>
            <a:pPr marL="0" indent="0" algn="l">
              <a:lnSpc>
                <a:spcPct val="132000"/>
              </a:lnSpc>
              <a:buNone/>
            </a:pPr>
            <a:r>
              <a:rPr lang="en-US" sz="1200" dirty="0">
                <a:solidFill>
                  <a:srgbClr val="6C7180"/>
                </a:solidFill>
                <a:latin typeface="Consolas" pitchFamily="34" charset="0"/>
                <a:ea typeface="Consolas" pitchFamily="34" charset="-122"/>
                <a:cs typeface="Consolas" pitchFamily="34" charset="-120"/>
              </a:rPr>
              <a:t>// + Microsoft.Agents.AI, Azure.AI.Projects, Azure.Identity</a:t>
            </a:r>
            <a:endParaRPr lang="en-US" sz="1200" dirty="0"/>
          </a:p>
          <a:p>
            <a:pPr marL="0" indent="0" algn="l">
              <a:lnSpc>
                <a:spcPct val="132000"/>
              </a:lnSpc>
              <a:buNone/>
            </a:pPr>
            <a:r>
              <a:rPr lang="en-US" sz="1200" dirty="0">
                <a:solidFill>
                  <a:srgbClr val="6C7180"/>
                </a:solidFill>
                <a:latin typeface="Consolas" pitchFamily="34" charset="0"/>
                <a:ea typeface="Consolas" pitchFamily="34" charset="-122"/>
                <a:cs typeface="Consolas" pitchFamily="34" charset="-120"/>
              </a:rPr>
              <a:t>using Microsoft.Agents.AI.Foundry.Hosting;</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AIAgent agent = new AIProjectClient(new Uri(endpoint), new DefaultAzureCredential())</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.AsAIAgent(model: deployment, name: "HostedAgent");</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 </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var builder = WebApplication.CreateBuilder(args);</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builder.Services.AddFoundryResponses(agent);</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var app = builder.Build();</a:t>
            </a:r>
            <a:endParaRPr lang="en-US" sz="1200" dirty="0"/>
          </a:p>
          <a:p>
            <a:pPr marL="0" indent="0" algn="l">
              <a:lnSpc>
                <a:spcPct val="132000"/>
              </a:lnSpc>
              <a:buNone/>
            </a:pPr>
            <a:r>
              <a:rPr lang="en-US" sz="1200" b="1" dirty="0">
                <a:solidFill>
                  <a:srgbClr val="8A1C2B"/>
                </a:solidFill>
                <a:latin typeface="Consolas" pitchFamily="34" charset="0"/>
                <a:ea typeface="Consolas" pitchFamily="34" charset="-122"/>
                <a:cs typeface="Consolas" pitchFamily="34" charset="-120"/>
              </a:rPr>
              <a:t>app.MapFoundryResponses();</a:t>
            </a:r>
            <a:endParaRPr lang="en-US" sz="1200" dirty="0"/>
          </a:p>
          <a:p>
            <a:pPr marL="0" indent="0" algn="l">
              <a:lnSpc>
                <a:spcPct val="132000"/>
              </a:lnSpc>
              <a:buNone/>
            </a:pPr>
            <a:r>
              <a:rPr lang="en-US" sz="1200" dirty="0">
                <a:solidFill>
                  <a:srgbClr val="1F2330"/>
                </a:solidFill>
                <a:latin typeface="Consolas" pitchFamily="34" charset="0"/>
                <a:ea typeface="Consolas" pitchFamily="34" charset="-122"/>
                <a:cs typeface="Consolas" pitchFamily="34" charset="-120"/>
              </a:rPr>
              <a:t>app.Run();</a:t>
            </a:r>
            <a:endParaRPr lang="en-US" sz="1200" dirty="0"/>
          </a:p>
        </p:txBody>
      </p:sp>
      <p:sp>
        <p:nvSpPr>
          <p:cNvPr id="16" name="Text 14"/>
          <p:cNvSpPr/>
          <p:nvPr/>
        </p:nvSpPr>
        <p:spPr>
          <a:xfrm>
            <a:off x="566928" y="5440680"/>
            <a:ext cx="10972800" cy="365760"/>
          </a:xfrm>
          <a:prstGeom prst="rect">
            <a:avLst/>
          </a:prstGeom>
          <a:noFill/>
          <a:ln/>
        </p:spPr>
        <p:txBody>
          <a:bodyPr wrap="square" lIns="0" tIns="0" rIns="0" bIns="0" rtlCol="0" anchor="ctr"/>
          <a:lstStyle/>
          <a:p>
            <a:pPr marL="0" indent="0">
              <a:buNone/>
            </a:pPr>
            <a:r>
              <a:rPr lang="en-US" sz="1250" b="1" dirty="0">
                <a:solidFill>
                  <a:srgbClr val="A9823F"/>
                </a:solidFill>
                <a:latin typeface="Consolas" pitchFamily="34" charset="0"/>
                <a:ea typeface="Consolas" pitchFamily="34" charset="-122"/>
                <a:cs typeface="Consolas" pitchFamily="34" charset="-120"/>
              </a:rPr>
              <a:t>$ dotnet publish hosted-agent.cs -r linux-x64 -c Release</a:t>
            </a:r>
            <a:endParaRPr lang="en-US" sz="1250" dirty="0"/>
          </a:p>
        </p:txBody>
      </p:sp>
      <p:sp>
        <p:nvSpPr>
          <p:cNvPr id="17" name="Text 15"/>
          <p:cNvSpPr/>
          <p:nvPr/>
        </p:nvSpPr>
        <p:spPr>
          <a:xfrm>
            <a:off x="548640" y="5870448"/>
            <a:ext cx="11064240" cy="411480"/>
          </a:xfrm>
          <a:prstGeom prst="rect">
            <a:avLst/>
          </a:prstGeom>
          <a:noFill/>
          <a:ln/>
        </p:spPr>
        <p:txBody>
          <a:bodyPr wrap="square" lIns="0" tIns="0" rIns="0" bIns="0" rtlCol="0" anchor="ctr"/>
          <a:lstStyle/>
          <a:p>
            <a:pPr marL="0" indent="0" algn="l">
              <a:buNone/>
            </a:pPr>
            <a:r>
              <a:rPr lang="en-US" sz="1300" i="1" dirty="0">
                <a:solidFill>
                  <a:srgbClr val="8A1C2B"/>
                </a:solidFill>
                <a:latin typeface="Malgun Gothic" pitchFamily="34" charset="0"/>
                <a:ea typeface="Malgun Gothic" pitchFamily="34" charset="-122"/>
                <a:cs typeface="Malgun Gothic" pitchFamily="34" charset="-120"/>
              </a:rPr>
              <a:t>두 줄이면 OpenAI 호환 Responses </a:t>
            </a:r>
            <a:r>
              <a:rPr lang="en-US" sz="1300" i="1" dirty="0" err="1">
                <a:solidFill>
                  <a:srgbClr val="8A1C2B"/>
                </a:solidFill>
                <a:latin typeface="Malgun Gothic" pitchFamily="34" charset="0"/>
                <a:ea typeface="Malgun Gothic" pitchFamily="34" charset="-122"/>
                <a:cs typeface="Malgun Gothic" pitchFamily="34" charset="-120"/>
              </a:rPr>
              <a:t>엔드포인트</a:t>
            </a:r>
            <a:r>
              <a:rPr lang="ko-KR" altLang="en-US" sz="1300" i="1" dirty="0">
                <a:solidFill>
                  <a:srgbClr val="8A1C2B"/>
                </a:solidFill>
                <a:latin typeface="Malgun Gothic" pitchFamily="34" charset="0"/>
                <a:ea typeface="Malgun Gothic" pitchFamily="34" charset="-122"/>
                <a:cs typeface="Malgun Gothic" pitchFamily="34" charset="-120"/>
              </a:rPr>
              <a:t>가 만들어집니다</a:t>
            </a:r>
            <a:r>
              <a:rPr lang="en-US" sz="1300" i="1" dirty="0">
                <a:solidFill>
                  <a:srgbClr val="8A1C2B"/>
                </a:solidFill>
                <a:latin typeface="Malgun Gothic" pitchFamily="34" charset="0"/>
                <a:ea typeface="Malgun Gothic" pitchFamily="34" charset="-122"/>
                <a:cs typeface="Malgun Gothic" pitchFamily="34" charset="-120"/>
              </a:rPr>
              <a:t>. 프로토타입은 단일 파일, 운영은 </a:t>
            </a:r>
            <a:r>
              <a:rPr lang="en-US" sz="1300" i="1" dirty="0" err="1">
                <a:solidFill>
                  <a:srgbClr val="8A1C2B"/>
                </a:solidFill>
                <a:latin typeface="Malgun Gothic" pitchFamily="34" charset="0"/>
                <a:ea typeface="Malgun Gothic" pitchFamily="34" charset="-122"/>
                <a:cs typeface="Malgun Gothic" pitchFamily="34" charset="-120"/>
              </a:rPr>
              <a:t>호스팅된</a:t>
            </a:r>
            <a:r>
              <a:rPr lang="en-US" sz="1300" i="1" dirty="0">
                <a:solidFill>
                  <a:srgbClr val="8A1C2B"/>
                </a:solidFill>
                <a:latin typeface="Malgun Gothic" pitchFamily="34" charset="0"/>
                <a:ea typeface="Malgun Gothic" pitchFamily="34" charset="-122"/>
                <a:cs typeface="Malgun Gothic" pitchFamily="34" charset="-120"/>
              </a:rPr>
              <a:t> </a:t>
            </a:r>
            <a:r>
              <a:rPr lang="en-US" sz="1300" i="1" dirty="0" err="1">
                <a:solidFill>
                  <a:srgbClr val="8A1C2B"/>
                </a:solidFill>
                <a:latin typeface="Malgun Gothic" pitchFamily="34" charset="0"/>
                <a:ea typeface="Malgun Gothic" pitchFamily="34" charset="-122"/>
                <a:cs typeface="Malgun Gothic" pitchFamily="34" charset="-120"/>
              </a:rPr>
              <a:t>에이전트</a:t>
            </a:r>
            <a:r>
              <a:rPr lang="ko-KR" altLang="en-US" sz="1300" i="1" dirty="0">
                <a:solidFill>
                  <a:srgbClr val="8A1C2B"/>
                </a:solidFill>
                <a:latin typeface="Malgun Gothic" pitchFamily="34" charset="0"/>
                <a:ea typeface="Malgun Gothic" pitchFamily="34" charset="-122"/>
                <a:cs typeface="Malgun Gothic" pitchFamily="34" charset="-120"/>
              </a:rPr>
              <a:t>입니다</a:t>
            </a:r>
            <a:r>
              <a:rPr lang="en-US" altLang="ko-KR" sz="1300" i="1" dirty="0">
                <a:solidFill>
                  <a:srgbClr val="8A1C2B"/>
                </a:solidFill>
                <a:latin typeface="Malgun Gothic" pitchFamily="34" charset="0"/>
                <a:ea typeface="Malgun Gothic" pitchFamily="34" charset="-122"/>
                <a:cs typeface="Malgun Gothic" pitchFamily="34" charset="-120"/>
              </a:rPr>
              <a:t>.</a:t>
            </a:r>
            <a:endParaRPr lang="en-US" sz="1300" dirty="0"/>
          </a:p>
        </p:txBody>
      </p:sp>
    </p:spTree>
  </p:cSld>
  <p:clrMapOvr>
    <a:masterClrMapping/>
  </p:clrMapOvr>
  <p:transition spd="med">
    <p:wipe/>
  </p:transition>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ko-KR" altLang="en-US" sz="1250" b="1" kern="0" spc="250">
                <a:solidFill>
                  <a:srgbClr val="8A1C2B"/>
                </a:solidFill>
                <a:latin typeface="Malgun Gothic" pitchFamily="34" charset="0"/>
                <a:ea typeface="Malgun Gothic" pitchFamily="34" charset="-122"/>
                <a:cs typeface="Malgun Gothic" pitchFamily="34" charset="-120"/>
              </a:rPr>
              <a:t>7  ·  라이브  ·  COPILOT</a:t>
            </a:r>
            <a:endParaRPr lang="en-US" sz="125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ko-KR" altLang="en-US" sz="3300" b="1">
                <a:solidFill>
                  <a:srgbClr val="1F2330"/>
                </a:solidFill>
                <a:latin typeface="Batang" pitchFamily="34" charset="0"/>
                <a:ea typeface="Batang" pitchFamily="34" charset="-122"/>
                <a:cs typeface="Batang" pitchFamily="34" charset="-120"/>
              </a:rPr>
              <a:t>Copilot으로 즉석에서, 세 가지 데모</a:t>
            </a:r>
            <a:endParaRPr lang="en-US" sz="330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ko-KR" altLang="en-US" sz="900" kern="0" spc="100">
                <a:solidFill>
                  <a:srgbClr val="6C7180"/>
                </a:solidFill>
                <a:latin typeface="Malgun Gothic" pitchFamily="34" charset="0"/>
                <a:ea typeface="Malgun Gothic" pitchFamily="34" charset="-122"/>
                <a:cs typeface="Malgun Gothic" pitchFamily="34" charset="-120"/>
              </a:rPr>
              <a:t>코드로 연주하는 카덴차</a:t>
            </a:r>
            <a:endParaRPr lang="en-US" sz="90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26</a:t>
            </a:r>
            <a:endParaRPr lang="en-US" sz="900"/>
          </a:p>
        </p:txBody>
      </p:sp>
      <p:sp>
        <p:nvSpPr>
          <p:cNvPr id="13" name="Shape 11"/>
          <p:cNvSpPr/>
          <p:nvPr/>
        </p:nvSpPr>
        <p:spPr>
          <a:xfrm>
            <a:off x="548640"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148840"/>
            <a:ext cx="3538728" cy="64008"/>
          </a:xfrm>
          <a:prstGeom prst="rect">
            <a:avLst/>
          </a:prstGeom>
          <a:solidFill>
            <a:srgbClr val="8A1C2B"/>
          </a:solidFill>
          <a:ln/>
        </p:spPr>
        <p:txBody>
          <a:bodyPr/>
          <a:lstStyle/>
          <a:p>
            <a:endParaRPr lang="ko-KR" altLang="en-US"/>
          </a:p>
        </p:txBody>
      </p:sp>
      <p:sp>
        <p:nvSpPr>
          <p:cNvPr id="15" name="Text 13"/>
          <p:cNvSpPr/>
          <p:nvPr/>
        </p:nvSpPr>
        <p:spPr>
          <a:xfrm>
            <a:off x="804672" y="2350008"/>
            <a:ext cx="914400" cy="457200"/>
          </a:xfrm>
          <a:prstGeom prst="rect">
            <a:avLst/>
          </a:prstGeom>
          <a:noFill/>
          <a:ln/>
        </p:spPr>
        <p:txBody>
          <a:bodyPr wrap="square" lIns="0" tIns="0" rIns="0" bIns="0" rtlCol="0" anchor="ctr"/>
          <a:lstStyle/>
          <a:p>
            <a:pPr marL="0" indent="0" algn="l">
              <a:buNone/>
            </a:pPr>
            <a:r>
              <a:rPr lang="en-US" sz="2600" b="1">
                <a:solidFill>
                  <a:srgbClr val="8A1C2B"/>
                </a:solidFill>
                <a:latin typeface="Batang" pitchFamily="34" charset="0"/>
                <a:ea typeface="Batang" pitchFamily="34" charset="-122"/>
                <a:cs typeface="Batang" pitchFamily="34" charset="-120"/>
              </a:rPr>
              <a:t>1</a:t>
            </a:r>
            <a:endParaRPr lang="en-US" sz="2600"/>
          </a:p>
        </p:txBody>
      </p:sp>
      <p:sp>
        <p:nvSpPr>
          <p:cNvPr id="16" name="Text 14"/>
          <p:cNvSpPr/>
          <p:nvPr/>
        </p:nvSpPr>
        <p:spPr>
          <a:xfrm>
            <a:off x="804672" y="2862072"/>
            <a:ext cx="3026664" cy="457200"/>
          </a:xfrm>
          <a:prstGeom prst="rect">
            <a:avLst/>
          </a:prstGeom>
          <a:noFill/>
          <a:ln/>
        </p:spPr>
        <p:txBody>
          <a:bodyPr wrap="square" lIns="0" tIns="0" rIns="0" bIns="0" rtlCol="0" anchor="ctr"/>
          <a:lstStyle/>
          <a:p>
            <a:pPr marL="0" indent="0" algn="l">
              <a:buNone/>
            </a:pPr>
            <a:r>
              <a:rPr lang="en-US" altLang="ko-KR" sz="1550" b="1">
                <a:solidFill>
                  <a:srgbClr val="1F2330"/>
                </a:solidFill>
                <a:latin typeface="Malgun Gothic" pitchFamily="34" charset="0"/>
                <a:ea typeface="Malgun Gothic" pitchFamily="34" charset="-122"/>
                <a:cs typeface="Malgun Gothic" pitchFamily="34" charset="-120"/>
              </a:rPr>
              <a:t>naver.com HTTPS 핑</a:t>
            </a:r>
            <a:endParaRPr lang="en-US" sz="1550"/>
          </a:p>
        </p:txBody>
      </p:sp>
      <p:sp>
        <p:nvSpPr>
          <p:cNvPr id="17" name="Text 15"/>
          <p:cNvSpPr/>
          <p:nvPr/>
        </p:nvSpPr>
        <p:spPr>
          <a:xfrm>
            <a:off x="804672" y="3374136"/>
            <a:ext cx="3026664" cy="1874520"/>
          </a:xfrm>
          <a:prstGeom prst="rect">
            <a:avLst/>
          </a:prstGeom>
          <a:noFill/>
          <a:ln/>
        </p:spPr>
        <p:txBody>
          <a:bodyPr wrap="square" lIns="0" tIns="0" rIns="0" bIns="0" rtlCol="0" anchor="t"/>
          <a:lstStyle/>
          <a:p>
            <a:pPr marL="0" indent="0" algn="l">
              <a:lnSpc>
                <a:spcPct val="118000"/>
              </a:lnSpc>
              <a:buNone/>
            </a:pPr>
            <a:r>
              <a:rPr lang="ko-KR" altLang="en-US" sz="1250">
                <a:solidFill>
                  <a:srgbClr val="6C7180"/>
                </a:solidFill>
                <a:latin typeface="Malgun Gothic" pitchFamily="34" charset="0"/>
                <a:ea typeface="Malgun Gothic" pitchFamily="34" charset="-122"/>
                <a:cs typeface="Malgun Gothic" pitchFamily="34" charset="-120"/>
              </a:rPr>
              <a:t>1초 간격으로 5회, HTTPS로 naver.com에 핑을 보내 응답 시간을 측정합니다. 콘솔 변종 한 장이면 충분합니다.</a:t>
            </a:r>
            <a:endParaRPr lang="en-US" sz="1250"/>
          </a:p>
        </p:txBody>
      </p:sp>
      <p:sp>
        <p:nvSpPr>
          <p:cNvPr id="18" name="Text 16"/>
          <p:cNvSpPr/>
          <p:nvPr/>
        </p:nvSpPr>
        <p:spPr>
          <a:xfrm>
            <a:off x="804672" y="4846320"/>
            <a:ext cx="3026664" cy="411480"/>
          </a:xfrm>
          <a:prstGeom prst="rect">
            <a:avLst/>
          </a:prstGeom>
          <a:noFill/>
          <a:ln/>
        </p:spPr>
        <p:txBody>
          <a:bodyPr wrap="square" lIns="0" tIns="0" rIns="0" bIns="0" rtlCol="0" anchor="ctr"/>
          <a:lstStyle/>
          <a:p>
            <a:pPr marL="0" indent="0">
              <a:buNone/>
            </a:pPr>
            <a:r>
              <a:rPr lang="en-US" sz="1050" b="1">
                <a:solidFill>
                  <a:srgbClr val="8A1C2B"/>
                </a:solidFill>
                <a:latin typeface="Consolas" pitchFamily="34" charset="0"/>
                <a:ea typeface="Consolas" pitchFamily="34" charset="-122"/>
                <a:cs typeface="Consolas" pitchFamily="34" charset="-120"/>
              </a:rPr>
              <a:t>#:sdk Cadenza@1.0.15</a:t>
            </a:r>
            <a:endParaRPr lang="en-US" sz="1050"/>
          </a:p>
        </p:txBody>
      </p:sp>
      <p:sp>
        <p:nvSpPr>
          <p:cNvPr id="19" name="Shape 17"/>
          <p:cNvSpPr/>
          <p:nvPr/>
        </p:nvSpPr>
        <p:spPr>
          <a:xfrm>
            <a:off x="4315968"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0" name="Shape 18"/>
          <p:cNvSpPr/>
          <p:nvPr/>
        </p:nvSpPr>
        <p:spPr>
          <a:xfrm>
            <a:off x="4315968" y="2148840"/>
            <a:ext cx="3538728" cy="64008"/>
          </a:xfrm>
          <a:prstGeom prst="rect">
            <a:avLst/>
          </a:prstGeom>
          <a:solidFill>
            <a:srgbClr val="A9823F"/>
          </a:solidFill>
          <a:ln/>
        </p:spPr>
        <p:txBody>
          <a:bodyPr/>
          <a:lstStyle/>
          <a:p>
            <a:endParaRPr lang="ko-KR" altLang="en-US"/>
          </a:p>
        </p:txBody>
      </p:sp>
      <p:sp>
        <p:nvSpPr>
          <p:cNvPr id="21" name="Text 19"/>
          <p:cNvSpPr/>
          <p:nvPr/>
        </p:nvSpPr>
        <p:spPr>
          <a:xfrm>
            <a:off x="4572000" y="2350008"/>
            <a:ext cx="914400" cy="457200"/>
          </a:xfrm>
          <a:prstGeom prst="rect">
            <a:avLst/>
          </a:prstGeom>
          <a:noFill/>
          <a:ln/>
        </p:spPr>
        <p:txBody>
          <a:bodyPr wrap="square" lIns="0" tIns="0" rIns="0" bIns="0" rtlCol="0" anchor="ctr"/>
          <a:lstStyle/>
          <a:p>
            <a:pPr marL="0" indent="0" algn="l">
              <a:buNone/>
            </a:pPr>
            <a:r>
              <a:rPr lang="en-US" sz="2600" b="1">
                <a:solidFill>
                  <a:srgbClr val="A9823F"/>
                </a:solidFill>
                <a:latin typeface="Batang" pitchFamily="34" charset="0"/>
                <a:ea typeface="Batang" pitchFamily="34" charset="-122"/>
                <a:cs typeface="Batang" pitchFamily="34" charset="-120"/>
              </a:rPr>
              <a:t>2</a:t>
            </a:r>
            <a:endParaRPr lang="en-US" sz="2600"/>
          </a:p>
        </p:txBody>
      </p:sp>
      <p:sp>
        <p:nvSpPr>
          <p:cNvPr id="22" name="Text 20"/>
          <p:cNvSpPr/>
          <p:nvPr/>
        </p:nvSpPr>
        <p:spPr>
          <a:xfrm>
            <a:off x="4572000" y="2862072"/>
            <a:ext cx="3026664" cy="457200"/>
          </a:xfrm>
          <a:prstGeom prst="rect">
            <a:avLst/>
          </a:prstGeom>
          <a:noFill/>
          <a:ln/>
        </p:spPr>
        <p:txBody>
          <a:bodyPr wrap="square" lIns="0" tIns="0" rIns="0" bIns="0" rtlCol="0" anchor="ctr"/>
          <a:lstStyle/>
          <a:p>
            <a:pPr marL="0" indent="0" algn="l">
              <a:buNone/>
            </a:pPr>
            <a:r>
              <a:rPr lang="ko-KR" altLang="en-US" sz="1550" b="1">
                <a:solidFill>
                  <a:srgbClr val="1F2330"/>
                </a:solidFill>
                <a:latin typeface="Malgun Gothic" pitchFamily="34" charset="0"/>
                <a:ea typeface="Malgun Gothic" pitchFamily="34" charset="-122"/>
                <a:cs typeface="Malgun Gothic" pitchFamily="34" charset="-120"/>
              </a:rPr>
              <a:t>사칙연산 계산기 API</a:t>
            </a:r>
            <a:endParaRPr lang="en-US" sz="1550"/>
          </a:p>
        </p:txBody>
      </p:sp>
      <p:sp>
        <p:nvSpPr>
          <p:cNvPr id="23" name="Text 21"/>
          <p:cNvSpPr/>
          <p:nvPr/>
        </p:nvSpPr>
        <p:spPr>
          <a:xfrm>
            <a:off x="4572000" y="3374136"/>
            <a:ext cx="3026664" cy="1874520"/>
          </a:xfrm>
          <a:prstGeom prst="rect">
            <a:avLst/>
          </a:prstGeom>
          <a:noFill/>
          <a:ln/>
        </p:spPr>
        <p:txBody>
          <a:bodyPr wrap="square" lIns="0" tIns="0" rIns="0" bIns="0" rtlCol="0" anchor="t"/>
          <a:lstStyle/>
          <a:p>
            <a:pPr marL="0" indent="0" algn="l">
              <a:lnSpc>
                <a:spcPct val="118000"/>
              </a:lnSpc>
              <a:buNone/>
            </a:pPr>
            <a:r>
              <a:rPr lang="ko-KR" altLang="en-US" sz="1250">
                <a:solidFill>
                  <a:srgbClr val="6C7180"/>
                </a:solidFill>
                <a:latin typeface="Malgun Gothic" pitchFamily="34" charset="0"/>
                <a:ea typeface="Malgun Gothic" pitchFamily="34" charset="-122"/>
                <a:cs typeface="Malgun Gothic" pitchFamily="34" charset="-120"/>
              </a:rPr>
              <a:t>더하기·빼기·곱하기·나누기를 OpenAPI로 노출하고, 프론트엔드 HTML 페이지까지 한 파일에 담은 웹 사이트입니다.</a:t>
            </a:r>
            <a:endParaRPr lang="en-US" sz="1250"/>
          </a:p>
        </p:txBody>
      </p:sp>
      <p:sp>
        <p:nvSpPr>
          <p:cNvPr id="24" name="Text 22"/>
          <p:cNvSpPr/>
          <p:nvPr/>
        </p:nvSpPr>
        <p:spPr>
          <a:xfrm>
            <a:off x="4572000" y="4846320"/>
            <a:ext cx="3026664" cy="411480"/>
          </a:xfrm>
          <a:prstGeom prst="rect">
            <a:avLst/>
          </a:prstGeom>
          <a:noFill/>
          <a:ln/>
        </p:spPr>
        <p:txBody>
          <a:bodyPr wrap="square" lIns="0" tIns="0" rIns="0" bIns="0" rtlCol="0" anchor="ctr"/>
          <a:lstStyle/>
          <a:p>
            <a:pPr marL="0" indent="0">
              <a:buNone/>
            </a:pPr>
            <a:r>
              <a:rPr lang="en-US" sz="1050" b="1">
                <a:solidFill>
                  <a:srgbClr val="A9823F"/>
                </a:solidFill>
                <a:latin typeface="Consolas" pitchFamily="34" charset="0"/>
                <a:ea typeface="Consolas" pitchFamily="34" charset="-122"/>
                <a:cs typeface="Consolas" pitchFamily="34" charset="-120"/>
              </a:rPr>
              <a:t>#:sdk Cadenza.Web@1.0.15</a:t>
            </a:r>
            <a:endParaRPr lang="en-US" sz="1050"/>
          </a:p>
        </p:txBody>
      </p:sp>
      <p:sp>
        <p:nvSpPr>
          <p:cNvPr id="25" name="Shape 23"/>
          <p:cNvSpPr/>
          <p:nvPr/>
        </p:nvSpPr>
        <p:spPr>
          <a:xfrm>
            <a:off x="8083296"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6" name="Shape 24"/>
          <p:cNvSpPr/>
          <p:nvPr/>
        </p:nvSpPr>
        <p:spPr>
          <a:xfrm>
            <a:off x="8083296" y="2148840"/>
            <a:ext cx="3538728" cy="64008"/>
          </a:xfrm>
          <a:prstGeom prst="rect">
            <a:avLst/>
          </a:prstGeom>
          <a:solidFill>
            <a:srgbClr val="1F2330"/>
          </a:solidFill>
          <a:ln/>
        </p:spPr>
        <p:txBody>
          <a:bodyPr/>
          <a:lstStyle/>
          <a:p>
            <a:endParaRPr lang="ko-KR" altLang="en-US"/>
          </a:p>
        </p:txBody>
      </p:sp>
      <p:sp>
        <p:nvSpPr>
          <p:cNvPr id="27" name="Text 25"/>
          <p:cNvSpPr/>
          <p:nvPr/>
        </p:nvSpPr>
        <p:spPr>
          <a:xfrm>
            <a:off x="8339328" y="2350008"/>
            <a:ext cx="914400" cy="457200"/>
          </a:xfrm>
          <a:prstGeom prst="rect">
            <a:avLst/>
          </a:prstGeom>
          <a:noFill/>
          <a:ln/>
        </p:spPr>
        <p:txBody>
          <a:bodyPr wrap="square" lIns="0" tIns="0" rIns="0" bIns="0" rtlCol="0" anchor="ctr"/>
          <a:lstStyle/>
          <a:p>
            <a:pPr marL="0" indent="0" algn="l">
              <a:buNone/>
            </a:pPr>
            <a:r>
              <a:rPr lang="en-US" sz="2600" b="1">
                <a:solidFill>
                  <a:srgbClr val="1F2330"/>
                </a:solidFill>
                <a:latin typeface="Batang" pitchFamily="34" charset="0"/>
                <a:ea typeface="Batang" pitchFamily="34" charset="-122"/>
                <a:cs typeface="Batang" pitchFamily="34" charset="-120"/>
              </a:rPr>
              <a:t>3</a:t>
            </a:r>
            <a:endParaRPr lang="en-US" sz="2600"/>
          </a:p>
        </p:txBody>
      </p:sp>
      <p:sp>
        <p:nvSpPr>
          <p:cNvPr id="28" name="Text 26"/>
          <p:cNvSpPr/>
          <p:nvPr/>
        </p:nvSpPr>
        <p:spPr>
          <a:xfrm>
            <a:off x="8339328" y="2862072"/>
            <a:ext cx="3026664" cy="457200"/>
          </a:xfrm>
          <a:prstGeom prst="rect">
            <a:avLst/>
          </a:prstGeom>
          <a:noFill/>
          <a:ln/>
        </p:spPr>
        <p:txBody>
          <a:bodyPr wrap="square" lIns="0" tIns="0" rIns="0" bIns="0" rtlCol="0" anchor="ctr"/>
          <a:lstStyle/>
          <a:p>
            <a:pPr marL="0" indent="0" algn="l">
              <a:buNone/>
            </a:pPr>
            <a:r>
              <a:rPr lang="ko-KR" altLang="en-US" sz="1550" b="1">
                <a:solidFill>
                  <a:srgbClr val="1F2330"/>
                </a:solidFill>
                <a:latin typeface="Malgun Gothic" pitchFamily="34" charset="0"/>
                <a:ea typeface="Malgun Gothic" pitchFamily="34" charset="-122"/>
                <a:cs typeface="Malgun Gothic" pitchFamily="34" charset="-120"/>
              </a:rPr>
              <a:t>난수 도구 콘솔 에이전트</a:t>
            </a:r>
            <a:endParaRPr lang="en-US" sz="1550"/>
          </a:p>
        </p:txBody>
      </p:sp>
      <p:sp>
        <p:nvSpPr>
          <p:cNvPr id="29" name="Text 27"/>
          <p:cNvSpPr/>
          <p:nvPr/>
        </p:nvSpPr>
        <p:spPr>
          <a:xfrm>
            <a:off x="8339328" y="3374136"/>
            <a:ext cx="3026664" cy="1874520"/>
          </a:xfrm>
          <a:prstGeom prst="rect">
            <a:avLst/>
          </a:prstGeom>
          <a:noFill/>
          <a:ln/>
        </p:spPr>
        <p:txBody>
          <a:bodyPr wrap="square" lIns="0" tIns="0" rIns="0" bIns="0" rtlCol="0" anchor="t"/>
          <a:lstStyle/>
          <a:p>
            <a:pPr marL="0" indent="0" algn="l">
              <a:lnSpc>
                <a:spcPct val="118000"/>
              </a:lnSpc>
              <a:buNone/>
            </a:pPr>
            <a:r>
              <a:rPr lang="ko-KR" altLang="en-US" sz="1250">
                <a:solidFill>
                  <a:srgbClr val="6C7180"/>
                </a:solidFill>
                <a:latin typeface="Malgun Gothic" pitchFamily="34" charset="0"/>
                <a:ea typeface="Malgun Gothic" pitchFamily="34" charset="-122"/>
                <a:cs typeface="Malgun Gothic" pitchFamily="34" charset="-120"/>
              </a:rPr>
              <a:t>난수를 생성해 돌려주는 도구를 내장한 콘솔 AI 에이전트. 모델 접속 정보는 </a:t>
            </a:r>
            <a:r>
              <a:rPr lang="en-US" altLang="ko-KR" sz="1150">
                <a:solidFill>
                  <a:srgbClr val="1F2330"/>
                </a:solidFill>
                <a:latin typeface="Consolas" pitchFamily="34" charset="0"/>
                <a:ea typeface="Consolas" pitchFamily="34" charset="-122"/>
                <a:cs typeface="Consolas" pitchFamily="34" charset="-120"/>
              </a:rPr>
              <a:t>OPENAPI_ENDPOINT · MODEL · KEY</a:t>
            </a:r>
            <a:r>
              <a:rPr lang="ko-KR" altLang="en-US" sz="1250">
                <a:solidFill>
                  <a:srgbClr val="6C7180"/>
                </a:solidFill>
                <a:latin typeface="Malgun Gothic" pitchFamily="34" charset="0"/>
                <a:ea typeface="Malgun Gothic" pitchFamily="34" charset="-122"/>
                <a:cs typeface="Malgun Gothic" pitchFamily="34" charset="-120"/>
              </a:rPr>
              <a:t> 환경 변수로 받습니다.</a:t>
            </a:r>
            <a:endParaRPr lang="en-US" sz="1250"/>
          </a:p>
        </p:txBody>
      </p:sp>
      <p:sp>
        <p:nvSpPr>
          <p:cNvPr id="30" name="Text 28"/>
          <p:cNvSpPr/>
          <p:nvPr/>
        </p:nvSpPr>
        <p:spPr>
          <a:xfrm>
            <a:off x="8339328" y="4846320"/>
            <a:ext cx="3026664" cy="411480"/>
          </a:xfrm>
          <a:prstGeom prst="rect">
            <a:avLst/>
          </a:prstGeom>
          <a:noFill/>
          <a:ln/>
        </p:spPr>
        <p:txBody>
          <a:bodyPr wrap="square" lIns="0" tIns="0" rIns="0" bIns="0" rtlCol="0" anchor="ctr"/>
          <a:lstStyle/>
          <a:p>
            <a:pPr marL="0" indent="0">
              <a:buNone/>
            </a:pPr>
            <a:r>
              <a:rPr lang="en-US" sz="1050" b="1">
                <a:solidFill>
                  <a:srgbClr val="1F2330"/>
                </a:solidFill>
                <a:latin typeface="Consolas" pitchFamily="34" charset="0"/>
                <a:ea typeface="Consolas" pitchFamily="34" charset="-122"/>
                <a:cs typeface="Consolas" pitchFamily="34" charset="-120"/>
              </a:rPr>
              <a:t>#:sdk Cadenza.Agent@1.0.15</a:t>
            </a:r>
            <a:endParaRPr lang="en-US" sz="1050"/>
          </a:p>
        </p:txBody>
      </p:sp>
      <p:sp>
        <p:nvSpPr>
          <p:cNvPr id="31" name="Text 29"/>
          <p:cNvSpPr/>
          <p:nvPr/>
        </p:nvSpPr>
        <p:spPr>
          <a:xfrm>
            <a:off x="548640" y="5612640"/>
            <a:ext cx="11073384" cy="411480"/>
          </a:xfrm>
          <a:prstGeom prst="rect">
            <a:avLst/>
          </a:prstGeom>
          <a:noFill/>
          <a:ln/>
        </p:spPr>
        <p:txBody>
          <a:bodyPr wrap="square" lIns="0" tIns="0" rIns="0" bIns="0" rtlCol="0" anchor="ctr"/>
          <a:lstStyle/>
          <a:p>
            <a:pPr marL="0" indent="0" algn="ctr">
              <a:buNone/>
            </a:pPr>
            <a:r>
              <a:rPr lang="ko-KR" altLang="en-US" sz="1100" i="1">
                <a:solidFill>
                  <a:srgbClr val="6C7180"/>
                </a:solidFill>
                <a:latin typeface="Malgun Gothic" pitchFamily="34" charset="0"/>
                <a:ea typeface="Malgun Gothic" pitchFamily="34" charset="-122"/>
                <a:cs typeface="Malgun Gothic" pitchFamily="34" charset="-120"/>
              </a:rPr>
              <a:t>세 곡 모두 GitHub Copilot이 단일 파일로 받아 적고, 모델 접속 환경 변수는 Microsoft Foundry에서 가져옵니다.</a:t>
            </a:r>
            <a:endParaRPr lang="en-US" sz="1100"/>
          </a:p>
        </p:txBody>
      </p:sp>
      <p:sp>
        <p:nvSpPr>
          <p:cNvPr id="33" name="TextBox 32">
            <a:extLst>
              <a:ext uri="{FF2B5EF4-FFF2-40B4-BE49-F238E27FC236}">
                <a16:creationId xmlns:a16="http://schemas.microsoft.com/office/drawing/2014/main" id="{F900FFC8-3FD1-E046-F792-977A490F7077}"/>
              </a:ext>
            </a:extLst>
          </p:cNvPr>
          <p:cNvSpPr txBox="1"/>
          <p:nvPr/>
        </p:nvSpPr>
        <p:spPr>
          <a:xfrm>
            <a:off x="1751422" y="5952631"/>
            <a:ext cx="8689156" cy="338554"/>
          </a:xfrm>
          <a:prstGeom prst="rect">
            <a:avLst/>
          </a:prstGeom>
          <a:noFill/>
        </p:spPr>
        <p:txBody>
          <a:bodyPr wrap="square" anchor="ctr">
            <a:spAutoFit/>
          </a:bodyPr>
          <a:lstStyle/>
          <a:p>
            <a:pPr algn="ctr"/>
            <a:r>
              <a:rPr lang="ko-KR" altLang="en-US" sz="1600" dirty="0">
                <a:hlinkClick r:id="rId2"/>
              </a:rPr>
              <a:t>https://gist.github.com/rkttu/38c23d0f9faa7f5e38e6cb8d4ae61356#file-prompts-md</a:t>
            </a:r>
            <a:endParaRPr lang="ko-KR" altLang="en-US" sz="1600" dirty="0"/>
          </a:p>
        </p:txBody>
      </p:sp>
    </p:spTree>
  </p:cSld>
  <p:clrMapOvr>
    <a:masterClrMapping/>
  </p:clrMapOvr>
  <p:transition spd="med">
    <p:wipe/>
  </p:transition>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7  ·  클라우드로</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세 층이 하나로 겹쳤다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27</a:t>
            </a:r>
            <a:endParaRPr lang="en-US" sz="900" dirty="0"/>
          </a:p>
        </p:txBody>
      </p:sp>
      <p:sp>
        <p:nvSpPr>
          <p:cNvPr id="13" name="Shape 11"/>
          <p:cNvSpPr/>
          <p:nvPr/>
        </p:nvSpPr>
        <p:spPr>
          <a:xfrm>
            <a:off x="548640" y="2148840"/>
            <a:ext cx="11064240" cy="841248"/>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148840"/>
            <a:ext cx="1691640" cy="841248"/>
          </a:xfrm>
          <a:prstGeom prst="rect">
            <a:avLst/>
          </a:prstGeom>
          <a:solidFill>
            <a:srgbClr val="8A1C2B"/>
          </a:solidFill>
          <a:ln/>
        </p:spPr>
        <p:txBody>
          <a:bodyPr/>
          <a:lstStyle/>
          <a:p>
            <a:endParaRPr lang="ko-KR" altLang="en-US"/>
          </a:p>
        </p:txBody>
      </p:sp>
      <p:sp>
        <p:nvSpPr>
          <p:cNvPr id="15" name="Text 13"/>
          <p:cNvSpPr/>
          <p:nvPr/>
        </p:nvSpPr>
        <p:spPr>
          <a:xfrm>
            <a:off x="548640" y="2148840"/>
            <a:ext cx="1691640" cy="841248"/>
          </a:xfrm>
          <a:prstGeom prst="rect">
            <a:avLst/>
          </a:prstGeom>
          <a:noFill/>
          <a:ln/>
        </p:spPr>
        <p:txBody>
          <a:bodyPr wrap="square" lIns="0" tIns="0" rIns="0" bIns="0" rtlCol="0" anchor="ctr"/>
          <a:lstStyle/>
          <a:p>
            <a:pPr marL="0" indent="0" algn="ctr">
              <a:buNone/>
            </a:pPr>
            <a:r>
              <a:rPr lang="en-US" sz="2100" b="1" dirty="0">
                <a:solidFill>
                  <a:srgbClr val="FFFFFF"/>
                </a:solidFill>
                <a:latin typeface="Batang" pitchFamily="34" charset="0"/>
                <a:ea typeface="Batang" pitchFamily="34" charset="-122"/>
                <a:cs typeface="Batang" pitchFamily="34" charset="-120"/>
              </a:rPr>
              <a:t>작성</a:t>
            </a:r>
            <a:endParaRPr lang="en-US" sz="2100" dirty="0"/>
          </a:p>
        </p:txBody>
      </p:sp>
      <p:sp>
        <p:nvSpPr>
          <p:cNvPr id="16" name="Text 14"/>
          <p:cNvSpPr/>
          <p:nvPr/>
        </p:nvSpPr>
        <p:spPr>
          <a:xfrm>
            <a:off x="2468880" y="2148840"/>
            <a:ext cx="8961120" cy="841248"/>
          </a:xfrm>
          <a:prstGeom prst="rect">
            <a:avLst/>
          </a:prstGeom>
          <a:noFill/>
          <a:ln/>
        </p:spPr>
        <p:txBody>
          <a:bodyPr wrap="square" lIns="0" tIns="0" rIns="0" bIns="0" rtlCol="0" anchor="ctr"/>
          <a:lstStyle/>
          <a:p>
            <a:pPr marL="0" indent="0" algn="l">
              <a:lnSpc>
                <a:spcPct val="112000"/>
              </a:lnSpc>
              <a:buNone/>
            </a:pPr>
            <a:r>
              <a:rPr lang="ko-KR" altLang="en-US" sz="1450" dirty="0">
                <a:solidFill>
                  <a:srgbClr val="1F2330"/>
                </a:solidFill>
                <a:latin typeface="Malgun Gothic" pitchFamily="34" charset="0"/>
                <a:ea typeface="Malgun Gothic" pitchFamily="34" charset="-122"/>
                <a:cs typeface="Malgun Gothic" pitchFamily="34" charset="-120"/>
              </a:rPr>
              <a:t>원하는 내용만 말하면 </a:t>
            </a:r>
            <a:r>
              <a:rPr lang="en-US" sz="1450" dirty="0">
                <a:solidFill>
                  <a:srgbClr val="1F2330"/>
                </a:solidFill>
                <a:latin typeface="Malgun Gothic" pitchFamily="34" charset="0"/>
                <a:ea typeface="Malgun Gothic" pitchFamily="34" charset="-122"/>
                <a:cs typeface="Malgun Gothic" pitchFamily="34" charset="-120"/>
              </a:rPr>
              <a:t>GitHub Copilot이 </a:t>
            </a:r>
            <a:r>
              <a:rPr lang="en-US" sz="1450" dirty="0" err="1">
                <a:solidFill>
                  <a:srgbClr val="1F2330"/>
                </a:solidFill>
                <a:latin typeface="Malgun Gothic" pitchFamily="34" charset="0"/>
                <a:ea typeface="Malgun Gothic" pitchFamily="34" charset="-122"/>
                <a:cs typeface="Malgun Gothic" pitchFamily="34" charset="-120"/>
              </a:rPr>
              <a:t>단일</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파일</a:t>
            </a:r>
            <a:r>
              <a:rPr lang="en-US" sz="1450" dirty="0">
                <a:solidFill>
                  <a:srgbClr val="1F2330"/>
                </a:solidFill>
                <a:latin typeface="Malgun Gothic" pitchFamily="34" charset="0"/>
                <a:ea typeface="Malgun Gothic" pitchFamily="34" charset="-122"/>
                <a:cs typeface="Malgun Gothic" pitchFamily="34" charset="-120"/>
              </a:rPr>
              <a:t> </a:t>
            </a:r>
            <a:r>
              <a:rPr lang="ko-KR" altLang="en-US" sz="1450" dirty="0">
                <a:solidFill>
                  <a:srgbClr val="1F2330"/>
                </a:solidFill>
                <a:latin typeface="Malgun Gothic" pitchFamily="34" charset="0"/>
                <a:ea typeface="Malgun Gothic" pitchFamily="34" charset="-122"/>
                <a:cs typeface="Malgun Gothic" pitchFamily="34" charset="-120"/>
              </a:rPr>
              <a:t>기반 앱 코드를 써줍니다</a:t>
            </a:r>
            <a:r>
              <a:rPr lang="en-US" altLang="ko-KR" sz="1450" dirty="0">
                <a:solidFill>
                  <a:srgbClr val="1F2330"/>
                </a:solidFill>
                <a:latin typeface="Malgun Gothic" pitchFamily="34" charset="0"/>
                <a:ea typeface="Malgun Gothic" pitchFamily="34" charset="-122"/>
                <a:cs typeface="Malgun Gothic" pitchFamily="34" charset="-120"/>
              </a:rPr>
              <a:t>.</a:t>
            </a:r>
            <a:endParaRPr lang="en-US" sz="1450" dirty="0"/>
          </a:p>
        </p:txBody>
      </p:sp>
      <p:sp>
        <p:nvSpPr>
          <p:cNvPr id="17" name="Shape 15"/>
          <p:cNvSpPr/>
          <p:nvPr/>
        </p:nvSpPr>
        <p:spPr>
          <a:xfrm>
            <a:off x="548640" y="3108960"/>
            <a:ext cx="11064240" cy="841248"/>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8" name="Shape 16"/>
          <p:cNvSpPr/>
          <p:nvPr/>
        </p:nvSpPr>
        <p:spPr>
          <a:xfrm>
            <a:off x="548640" y="3108960"/>
            <a:ext cx="1691640" cy="841248"/>
          </a:xfrm>
          <a:prstGeom prst="rect">
            <a:avLst/>
          </a:prstGeom>
          <a:solidFill>
            <a:srgbClr val="A9823F"/>
          </a:solidFill>
          <a:ln/>
        </p:spPr>
        <p:txBody>
          <a:bodyPr/>
          <a:lstStyle/>
          <a:p>
            <a:endParaRPr lang="ko-KR" altLang="en-US"/>
          </a:p>
        </p:txBody>
      </p:sp>
      <p:sp>
        <p:nvSpPr>
          <p:cNvPr id="19" name="Text 17"/>
          <p:cNvSpPr/>
          <p:nvPr/>
        </p:nvSpPr>
        <p:spPr>
          <a:xfrm>
            <a:off x="548640" y="3108960"/>
            <a:ext cx="1691640" cy="841248"/>
          </a:xfrm>
          <a:prstGeom prst="rect">
            <a:avLst/>
          </a:prstGeom>
          <a:noFill/>
          <a:ln/>
        </p:spPr>
        <p:txBody>
          <a:bodyPr wrap="square" lIns="0" tIns="0" rIns="0" bIns="0" rtlCol="0" anchor="ctr"/>
          <a:lstStyle/>
          <a:p>
            <a:pPr marL="0" indent="0" algn="ctr">
              <a:buNone/>
            </a:pPr>
            <a:r>
              <a:rPr lang="en-US" sz="2100" b="1" dirty="0">
                <a:solidFill>
                  <a:srgbClr val="FFFFFF"/>
                </a:solidFill>
                <a:latin typeface="Batang" pitchFamily="34" charset="0"/>
                <a:ea typeface="Batang" pitchFamily="34" charset="-122"/>
                <a:cs typeface="Batang" pitchFamily="34" charset="-120"/>
              </a:rPr>
              <a:t>스택</a:t>
            </a:r>
            <a:endParaRPr lang="en-US" sz="2100" dirty="0"/>
          </a:p>
        </p:txBody>
      </p:sp>
      <p:sp>
        <p:nvSpPr>
          <p:cNvPr id="20" name="Text 18"/>
          <p:cNvSpPr/>
          <p:nvPr/>
        </p:nvSpPr>
        <p:spPr>
          <a:xfrm>
            <a:off x="2468880" y="3108960"/>
            <a:ext cx="8961120" cy="841248"/>
          </a:xfrm>
          <a:prstGeom prst="rect">
            <a:avLst/>
          </a:prstGeom>
          <a:noFill/>
          <a:ln/>
        </p:spPr>
        <p:txBody>
          <a:bodyPr wrap="square" lIns="0" tIns="0" rIns="0" bIns="0" rtlCol="0" anchor="ctr"/>
          <a:lstStyle/>
          <a:p>
            <a:pPr marL="0" indent="0" algn="l">
              <a:lnSpc>
                <a:spcPct val="112000"/>
              </a:lnSpc>
              <a:buNone/>
            </a:pPr>
            <a:r>
              <a:rPr lang="en-US" sz="1450" dirty="0">
                <a:solidFill>
                  <a:srgbClr val="1F2330"/>
                </a:solidFill>
                <a:latin typeface="Malgun Gothic" pitchFamily="34" charset="0"/>
                <a:ea typeface="Malgun Gothic" pitchFamily="34" charset="-122"/>
                <a:cs typeface="Malgun Gothic" pitchFamily="34" charset="-120"/>
              </a:rPr>
              <a:t>Agent Framework + Foundry — 프로덕션급 에이전트 프레임워크와 클라우드 </a:t>
            </a:r>
            <a:r>
              <a:rPr lang="en-US" sz="1450" dirty="0" err="1">
                <a:solidFill>
                  <a:srgbClr val="1F2330"/>
                </a:solidFill>
                <a:latin typeface="Malgun Gothic" pitchFamily="34" charset="0"/>
                <a:ea typeface="Malgun Gothic" pitchFamily="34" charset="-122"/>
                <a:cs typeface="Malgun Gothic" pitchFamily="34" charset="-120"/>
              </a:rPr>
              <a:t>모델</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플랫폼</a:t>
            </a:r>
            <a:r>
              <a:rPr lang="ko-KR" altLang="en-US" sz="1450" dirty="0">
                <a:solidFill>
                  <a:srgbClr val="1F2330"/>
                </a:solidFill>
                <a:latin typeface="Malgun Gothic" pitchFamily="34" charset="0"/>
                <a:ea typeface="Malgun Gothic" pitchFamily="34" charset="-122"/>
                <a:cs typeface="Malgun Gothic" pitchFamily="34" charset="-120"/>
              </a:rPr>
              <a:t>을 한번에</a:t>
            </a:r>
            <a:r>
              <a:rPr lang="en-US" altLang="ko-KR" sz="1450" dirty="0">
                <a:solidFill>
                  <a:srgbClr val="1F2330"/>
                </a:solidFill>
                <a:latin typeface="Malgun Gothic" pitchFamily="34" charset="0"/>
                <a:ea typeface="Malgun Gothic" pitchFamily="34" charset="-122"/>
                <a:cs typeface="Malgun Gothic" pitchFamily="34" charset="-120"/>
              </a:rPr>
              <a:t>!</a:t>
            </a:r>
            <a:endParaRPr lang="en-US" sz="1450" dirty="0"/>
          </a:p>
        </p:txBody>
      </p:sp>
      <p:sp>
        <p:nvSpPr>
          <p:cNvPr id="21" name="Shape 19"/>
          <p:cNvSpPr/>
          <p:nvPr/>
        </p:nvSpPr>
        <p:spPr>
          <a:xfrm>
            <a:off x="548640" y="4069080"/>
            <a:ext cx="11064240" cy="841248"/>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2" name="Shape 20"/>
          <p:cNvSpPr/>
          <p:nvPr/>
        </p:nvSpPr>
        <p:spPr>
          <a:xfrm>
            <a:off x="548640" y="4069080"/>
            <a:ext cx="1691640" cy="841248"/>
          </a:xfrm>
          <a:prstGeom prst="rect">
            <a:avLst/>
          </a:prstGeom>
          <a:solidFill>
            <a:srgbClr val="1F2330"/>
          </a:solidFill>
          <a:ln/>
        </p:spPr>
        <p:txBody>
          <a:bodyPr/>
          <a:lstStyle/>
          <a:p>
            <a:endParaRPr lang="ko-KR" altLang="en-US"/>
          </a:p>
        </p:txBody>
      </p:sp>
      <p:sp>
        <p:nvSpPr>
          <p:cNvPr id="23" name="Text 21"/>
          <p:cNvSpPr/>
          <p:nvPr/>
        </p:nvSpPr>
        <p:spPr>
          <a:xfrm>
            <a:off x="548640" y="4069080"/>
            <a:ext cx="1691640" cy="841248"/>
          </a:xfrm>
          <a:prstGeom prst="rect">
            <a:avLst/>
          </a:prstGeom>
          <a:noFill/>
          <a:ln/>
        </p:spPr>
        <p:txBody>
          <a:bodyPr wrap="square" lIns="0" tIns="0" rIns="0" bIns="0" rtlCol="0" anchor="ctr"/>
          <a:lstStyle/>
          <a:p>
            <a:pPr marL="0" indent="0" algn="ctr">
              <a:buNone/>
            </a:pPr>
            <a:r>
              <a:rPr lang="en-US" sz="2100" b="1" dirty="0">
                <a:solidFill>
                  <a:srgbClr val="FFFFFF"/>
                </a:solidFill>
                <a:latin typeface="Batang" pitchFamily="34" charset="0"/>
                <a:ea typeface="Batang" pitchFamily="34" charset="-122"/>
                <a:cs typeface="Batang" pitchFamily="34" charset="-120"/>
              </a:rPr>
              <a:t>형식</a:t>
            </a:r>
            <a:endParaRPr lang="en-US" sz="2100" dirty="0"/>
          </a:p>
        </p:txBody>
      </p:sp>
      <p:sp>
        <p:nvSpPr>
          <p:cNvPr id="24" name="Text 22"/>
          <p:cNvSpPr/>
          <p:nvPr/>
        </p:nvSpPr>
        <p:spPr>
          <a:xfrm>
            <a:off x="2468880" y="4069080"/>
            <a:ext cx="8961120" cy="841248"/>
          </a:xfrm>
          <a:prstGeom prst="rect">
            <a:avLst/>
          </a:prstGeom>
          <a:noFill/>
          <a:ln/>
        </p:spPr>
        <p:txBody>
          <a:bodyPr wrap="square" lIns="0" tIns="0" rIns="0" bIns="0" rtlCol="0" anchor="ctr"/>
          <a:lstStyle/>
          <a:p>
            <a:pPr marL="0" indent="0" algn="l">
              <a:lnSpc>
                <a:spcPct val="112000"/>
              </a:lnSpc>
              <a:buNone/>
            </a:pPr>
            <a:r>
              <a:rPr lang="en-US" sz="1450" dirty="0">
                <a:solidFill>
                  <a:srgbClr val="1F2330"/>
                </a:solidFill>
                <a:latin typeface="Malgun Gothic" pitchFamily="34" charset="0"/>
                <a:ea typeface="Malgun Gothic" pitchFamily="34" charset="-122"/>
                <a:cs typeface="Malgun Gothic" pitchFamily="34" charset="-120"/>
              </a:rPr>
              <a:t>.NET 10 file-based app — </a:t>
            </a:r>
            <a:r>
              <a:rPr lang="en-US" sz="1450" dirty="0" err="1">
                <a:solidFill>
                  <a:srgbClr val="1F2330"/>
                </a:solidFill>
                <a:latin typeface="Malgun Gothic" pitchFamily="34" charset="0"/>
                <a:ea typeface="Malgun Gothic" pitchFamily="34" charset="-122"/>
                <a:cs typeface="Malgun Gothic" pitchFamily="34" charset="-120"/>
              </a:rPr>
              <a:t>파일</a:t>
            </a:r>
            <a:r>
              <a:rPr lang="en-US" sz="1450" dirty="0">
                <a:solidFill>
                  <a:srgbClr val="1F2330"/>
                </a:solidFill>
                <a:latin typeface="Malgun Gothic" pitchFamily="34" charset="0"/>
                <a:ea typeface="Malgun Gothic" pitchFamily="34" charset="-122"/>
                <a:cs typeface="Malgun Gothic" pitchFamily="34" charset="-120"/>
              </a:rPr>
              <a:t> 한 </a:t>
            </a:r>
            <a:r>
              <a:rPr lang="ko-KR" altLang="en-US" sz="1450" dirty="0">
                <a:solidFill>
                  <a:srgbClr val="1F2330"/>
                </a:solidFill>
                <a:latin typeface="Malgun Gothic" pitchFamily="34" charset="0"/>
                <a:ea typeface="Malgun Gothic" pitchFamily="34" charset="-122"/>
                <a:cs typeface="Malgun Gothic" pitchFamily="34" charset="-120"/>
              </a:rPr>
              <a:t>개</a:t>
            </a:r>
            <a:r>
              <a:rPr lang="en-US" altLang="ko-KR" sz="1450" dirty="0">
                <a:solidFill>
                  <a:srgbClr val="1F2330"/>
                </a:solidFill>
                <a:latin typeface="Malgun Gothic" pitchFamily="34" charset="0"/>
                <a:ea typeface="Malgun Gothic" pitchFamily="34" charset="-122"/>
                <a:cs typeface="Malgun Gothic" pitchFamily="34" charset="-120"/>
              </a:rPr>
              <a:t>.</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특정</a:t>
            </a:r>
            <a:r>
              <a:rPr lang="en-US" sz="1450" dirty="0">
                <a:solidFill>
                  <a:srgbClr val="1F2330"/>
                </a:solidFill>
                <a:latin typeface="Malgun Gothic" pitchFamily="34" charset="0"/>
                <a:ea typeface="Malgun Gothic" pitchFamily="34" charset="-122"/>
                <a:cs typeface="Malgun Gothic" pitchFamily="34" charset="-120"/>
              </a:rPr>
              <a:t> </a:t>
            </a:r>
            <a:r>
              <a:rPr lang="ko-KR" altLang="en-US" sz="1450" dirty="0">
                <a:solidFill>
                  <a:srgbClr val="1F2330"/>
                </a:solidFill>
                <a:latin typeface="Malgun Gothic" pitchFamily="34" charset="0"/>
                <a:ea typeface="Malgun Gothic" pitchFamily="34" charset="-122"/>
                <a:cs typeface="Malgun Gothic" pitchFamily="34" charset="-120"/>
              </a:rPr>
              <a:t>도구</a:t>
            </a:r>
            <a:r>
              <a:rPr lang="en-US" sz="1450" dirty="0">
                <a:solidFill>
                  <a:srgbClr val="1F2330"/>
                </a:solidFill>
                <a:latin typeface="Malgun Gothic" pitchFamily="34" charset="0"/>
                <a:ea typeface="Malgun Gothic" pitchFamily="34" charset="-122"/>
                <a:cs typeface="Malgun Gothic" pitchFamily="34" charset="-120"/>
              </a:rPr>
              <a:t>가 아니라 .NET의 </a:t>
            </a:r>
            <a:r>
              <a:rPr lang="en-US" sz="1450" dirty="0" err="1">
                <a:solidFill>
                  <a:srgbClr val="1F2330"/>
                </a:solidFill>
                <a:latin typeface="Malgun Gothic" pitchFamily="34" charset="0"/>
                <a:ea typeface="Malgun Gothic" pitchFamily="34" charset="-122"/>
                <a:cs typeface="Malgun Gothic" pitchFamily="34" charset="-120"/>
              </a:rPr>
              <a:t>기본</a:t>
            </a:r>
            <a:r>
              <a:rPr lang="en-US" sz="1450" dirty="0">
                <a:solidFill>
                  <a:srgbClr val="1F2330"/>
                </a:solidFill>
                <a:latin typeface="Malgun Gothic" pitchFamily="34" charset="0"/>
                <a:ea typeface="Malgun Gothic" pitchFamily="34" charset="-122"/>
                <a:cs typeface="Malgun Gothic" pitchFamily="34" charset="-120"/>
              </a:rPr>
              <a:t> </a:t>
            </a:r>
            <a:r>
              <a:rPr lang="en-US" sz="1450" dirty="0" err="1">
                <a:solidFill>
                  <a:srgbClr val="1F2330"/>
                </a:solidFill>
                <a:latin typeface="Malgun Gothic" pitchFamily="34" charset="0"/>
                <a:ea typeface="Malgun Gothic" pitchFamily="34" charset="-122"/>
                <a:cs typeface="Malgun Gothic" pitchFamily="34" charset="-120"/>
              </a:rPr>
              <a:t>능력</a:t>
            </a:r>
            <a:r>
              <a:rPr lang="ko-KR" altLang="en-US" sz="1450" dirty="0">
                <a:solidFill>
                  <a:srgbClr val="1F2330"/>
                </a:solidFill>
                <a:latin typeface="Malgun Gothic" pitchFamily="34" charset="0"/>
                <a:ea typeface="Malgun Gothic" pitchFamily="34" charset="-122"/>
                <a:cs typeface="Malgun Gothic" pitchFamily="34" charset="-120"/>
              </a:rPr>
              <a:t>입니다</a:t>
            </a:r>
            <a:r>
              <a:rPr lang="en-US" sz="1450" dirty="0">
                <a:solidFill>
                  <a:srgbClr val="1F2330"/>
                </a:solidFill>
                <a:latin typeface="Malgun Gothic" pitchFamily="34" charset="0"/>
                <a:ea typeface="Malgun Gothic" pitchFamily="34" charset="-122"/>
                <a:cs typeface="Malgun Gothic" pitchFamily="34" charset="-120"/>
              </a:rPr>
              <a:t>.</a:t>
            </a:r>
            <a:endParaRPr lang="en-US" sz="1450" dirty="0"/>
          </a:p>
        </p:txBody>
      </p:sp>
      <p:sp>
        <p:nvSpPr>
          <p:cNvPr id="25" name="Text 23"/>
          <p:cNvSpPr/>
          <p:nvPr/>
        </p:nvSpPr>
        <p:spPr>
          <a:xfrm>
            <a:off x="548640" y="5120640"/>
            <a:ext cx="11064240" cy="411480"/>
          </a:xfrm>
          <a:prstGeom prst="rect">
            <a:avLst/>
          </a:prstGeom>
          <a:noFill/>
          <a:ln/>
        </p:spPr>
        <p:txBody>
          <a:bodyPr wrap="square" lIns="0" tIns="0" rIns="0" bIns="0" rtlCol="0" anchor="ctr"/>
          <a:lstStyle/>
          <a:p>
            <a:pPr marL="0" indent="0" algn="ctr">
              <a:buNone/>
            </a:pPr>
            <a:r>
              <a:rPr lang="en-US" sz="1350" i="1" dirty="0" err="1">
                <a:solidFill>
                  <a:srgbClr val="6C7180"/>
                </a:solidFill>
                <a:latin typeface="Malgun Gothic" pitchFamily="34" charset="0"/>
                <a:ea typeface="Malgun Gothic" pitchFamily="34" charset="-122"/>
                <a:cs typeface="Malgun Gothic" pitchFamily="34" charset="-120"/>
              </a:rPr>
              <a:t>단일</a:t>
            </a:r>
            <a:r>
              <a:rPr lang="en-US" sz="1350" i="1" dirty="0">
                <a:solidFill>
                  <a:srgbClr val="6C7180"/>
                </a:solidFill>
                <a:latin typeface="Malgun Gothic" pitchFamily="34" charset="0"/>
                <a:ea typeface="Malgun Gothic" pitchFamily="34" charset="-122"/>
                <a:cs typeface="Malgun Gothic" pitchFamily="34" charset="-120"/>
              </a:rPr>
              <a:t> 파일은 .NET 10의 기본기, Cadenza는 그 위의 한 </a:t>
            </a:r>
            <a:r>
              <a:rPr lang="en-US" sz="1350" i="1" dirty="0" err="1">
                <a:solidFill>
                  <a:srgbClr val="6C7180"/>
                </a:solidFill>
                <a:latin typeface="Malgun Gothic" pitchFamily="34" charset="0"/>
                <a:ea typeface="Malgun Gothic" pitchFamily="34" charset="-122"/>
                <a:cs typeface="Malgun Gothic" pitchFamily="34" charset="-120"/>
              </a:rPr>
              <a:t>표현일</a:t>
            </a:r>
            <a:r>
              <a:rPr lang="en-US" sz="1350" i="1" dirty="0">
                <a:solidFill>
                  <a:srgbClr val="6C7180"/>
                </a:solidFill>
                <a:latin typeface="Malgun Gothic" pitchFamily="34" charset="0"/>
                <a:ea typeface="Malgun Gothic" pitchFamily="34" charset="-122"/>
                <a:cs typeface="Malgun Gothic" pitchFamily="34" charset="-120"/>
              </a:rPr>
              <a:t> 뿐</a:t>
            </a:r>
            <a:r>
              <a:rPr lang="ko-KR" altLang="en-US" sz="1350" i="1" dirty="0">
                <a:solidFill>
                  <a:srgbClr val="6C7180"/>
                </a:solidFill>
                <a:latin typeface="Malgun Gothic" pitchFamily="34" charset="0"/>
                <a:ea typeface="Malgun Gothic" pitchFamily="34" charset="-122"/>
                <a:cs typeface="Malgun Gothic" pitchFamily="34" charset="-120"/>
              </a:rPr>
              <a:t>입니다</a:t>
            </a:r>
            <a:r>
              <a:rPr lang="en-US" sz="1350" i="1" dirty="0">
                <a:solidFill>
                  <a:srgbClr val="6C7180"/>
                </a:solidFill>
                <a:latin typeface="Malgun Gothic" pitchFamily="34" charset="0"/>
                <a:ea typeface="Malgun Gothic" pitchFamily="34" charset="-122"/>
                <a:cs typeface="Malgun Gothic" pitchFamily="34" charset="-120"/>
              </a:rPr>
              <a:t>.</a:t>
            </a:r>
            <a:endParaRPr lang="en-US" sz="1350" dirty="0"/>
          </a:p>
        </p:txBody>
      </p:sp>
      <p:sp>
        <p:nvSpPr>
          <p:cNvPr id="26" name="Text 24"/>
          <p:cNvSpPr/>
          <p:nvPr/>
        </p:nvSpPr>
        <p:spPr>
          <a:xfrm>
            <a:off x="548640" y="5577840"/>
            <a:ext cx="11064240" cy="685800"/>
          </a:xfrm>
          <a:prstGeom prst="rect">
            <a:avLst/>
          </a:prstGeom>
          <a:noFill/>
          <a:ln/>
        </p:spPr>
        <p:txBody>
          <a:bodyPr wrap="square" lIns="0" tIns="0" rIns="0" bIns="0" rtlCol="0" anchor="ctr"/>
          <a:lstStyle/>
          <a:p>
            <a:pPr marL="0" indent="0" algn="ctr">
              <a:lnSpc>
                <a:spcPct val="120000"/>
              </a:lnSpc>
              <a:buNone/>
            </a:pPr>
            <a:r>
              <a:rPr lang="en-US" sz="1450" b="1" dirty="0">
                <a:solidFill>
                  <a:srgbClr val="8A1C2B"/>
                </a:solidFill>
                <a:latin typeface="Malgun Gothic" pitchFamily="34" charset="0"/>
                <a:ea typeface="Malgun Gothic" pitchFamily="34" charset="-122"/>
                <a:cs typeface="Malgun Gothic" pitchFamily="34" charset="-120"/>
              </a:rPr>
              <a:t>로컬에서 클라우드까지, 그리고 Copilot이 악보를 대신 받아 적는다.</a:t>
            </a:r>
            <a:endParaRPr lang="en-US" sz="1450" dirty="0"/>
          </a:p>
          <a:p>
            <a:pPr marL="0" indent="0" algn="ctr">
              <a:lnSpc>
                <a:spcPct val="120000"/>
              </a:lnSpc>
              <a:buNone/>
            </a:pPr>
            <a:r>
              <a:rPr lang="en-US" sz="1450" b="1" dirty="0">
                <a:solidFill>
                  <a:srgbClr val="8A1C2B"/>
                </a:solidFill>
                <a:latin typeface="Malgun Gothic" pitchFamily="34" charset="0"/>
                <a:ea typeface="Malgun Gothic" pitchFamily="34" charset="-122"/>
                <a:cs typeface="Malgun Gothic" pitchFamily="34" charset="-120"/>
              </a:rPr>
              <a:t>무대 세팅에 시간을 쓰지 마세요 — 파일을 열고, 첫 줄을 적고, 바로 연주하세요.</a:t>
            </a:r>
            <a:endParaRPr lang="en-US" sz="1450" dirty="0"/>
          </a:p>
        </p:txBody>
      </p:sp>
    </p:spTree>
  </p:cSld>
  <p:clrMapOvr>
    <a:masterClrMapping/>
  </p:clrMapOvr>
  <p:transition spd="med">
    <p:wipe/>
  </p:transition>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10362895" y="502920"/>
            <a:ext cx="1234440" cy="0"/>
          </a:xfrm>
          <a:prstGeom prst="line">
            <a:avLst/>
          </a:prstGeom>
          <a:noFill/>
          <a:ln w="11430">
            <a:solidFill>
              <a:srgbClr val="D8D1BE"/>
            </a:solidFill>
            <a:prstDash val="solid"/>
          </a:ln>
        </p:spPr>
        <p:txBody>
          <a:bodyPr/>
          <a:lstStyle/>
          <a:p>
            <a:endParaRPr lang="ko-KR" altLang="en-US"/>
          </a:p>
        </p:txBody>
      </p:sp>
      <p:sp>
        <p:nvSpPr>
          <p:cNvPr id="3" name="Shape 1"/>
          <p:cNvSpPr/>
          <p:nvPr/>
        </p:nvSpPr>
        <p:spPr>
          <a:xfrm>
            <a:off x="10362895" y="580644"/>
            <a:ext cx="1234440" cy="0"/>
          </a:xfrm>
          <a:prstGeom prst="line">
            <a:avLst/>
          </a:prstGeom>
          <a:noFill/>
          <a:ln w="11430">
            <a:solidFill>
              <a:srgbClr val="D8D1BE"/>
            </a:solidFill>
            <a:prstDash val="solid"/>
          </a:ln>
        </p:spPr>
        <p:txBody>
          <a:bodyPr/>
          <a:lstStyle/>
          <a:p>
            <a:endParaRPr lang="ko-KR" altLang="en-US"/>
          </a:p>
        </p:txBody>
      </p:sp>
      <p:sp>
        <p:nvSpPr>
          <p:cNvPr id="4" name="Shape 2"/>
          <p:cNvSpPr/>
          <p:nvPr/>
        </p:nvSpPr>
        <p:spPr>
          <a:xfrm>
            <a:off x="10362895" y="658368"/>
            <a:ext cx="1234440" cy="0"/>
          </a:xfrm>
          <a:prstGeom prst="line">
            <a:avLst/>
          </a:prstGeom>
          <a:noFill/>
          <a:ln w="11430">
            <a:solidFill>
              <a:srgbClr val="D8D1BE"/>
            </a:solidFill>
            <a:prstDash val="solid"/>
          </a:ln>
        </p:spPr>
        <p:txBody>
          <a:bodyPr/>
          <a:lstStyle/>
          <a:p>
            <a:endParaRPr lang="ko-KR" altLang="en-US"/>
          </a:p>
        </p:txBody>
      </p:sp>
      <p:sp>
        <p:nvSpPr>
          <p:cNvPr id="5" name="Shape 3"/>
          <p:cNvSpPr/>
          <p:nvPr/>
        </p:nvSpPr>
        <p:spPr>
          <a:xfrm>
            <a:off x="10362895" y="736092"/>
            <a:ext cx="1234440" cy="0"/>
          </a:xfrm>
          <a:prstGeom prst="line">
            <a:avLst/>
          </a:prstGeom>
          <a:noFill/>
          <a:ln w="11430">
            <a:solidFill>
              <a:srgbClr val="D8D1BE"/>
            </a:solidFill>
            <a:prstDash val="solid"/>
          </a:ln>
        </p:spPr>
        <p:txBody>
          <a:bodyPr/>
          <a:lstStyle/>
          <a:p>
            <a:endParaRPr lang="ko-KR" altLang="en-US"/>
          </a:p>
        </p:txBody>
      </p:sp>
      <p:sp>
        <p:nvSpPr>
          <p:cNvPr id="6" name="Shape 4"/>
          <p:cNvSpPr/>
          <p:nvPr/>
        </p:nvSpPr>
        <p:spPr>
          <a:xfrm>
            <a:off x="10362895" y="813816"/>
            <a:ext cx="1234440" cy="0"/>
          </a:xfrm>
          <a:prstGeom prst="line">
            <a:avLst/>
          </a:prstGeom>
          <a:noFill/>
          <a:ln w="11430">
            <a:solidFill>
              <a:srgbClr val="D8D1BE"/>
            </a:solidFill>
            <a:prstDash val="solid"/>
          </a:ln>
        </p:spPr>
        <p:txBody>
          <a:bodyPr/>
          <a:lstStyle/>
          <a:p>
            <a:endParaRPr lang="ko-KR" altLang="en-US"/>
          </a:p>
        </p:txBody>
      </p:sp>
      <p:sp>
        <p:nvSpPr>
          <p:cNvPr id="7" name="Shape 5"/>
          <p:cNvSpPr/>
          <p:nvPr/>
        </p:nvSpPr>
        <p:spPr>
          <a:xfrm>
            <a:off x="11277295" y="525780"/>
            <a:ext cx="118872" cy="100584"/>
          </a:xfrm>
          <a:prstGeom prst="ellipse">
            <a:avLst/>
          </a:prstGeom>
          <a:solidFill>
            <a:srgbClr val="A9823F"/>
          </a:solidFill>
          <a:ln/>
        </p:spPr>
        <p:txBody>
          <a:bodyPr/>
          <a:lstStyle/>
          <a:p>
            <a:endParaRPr lang="ko-KR" altLang="en-US"/>
          </a:p>
        </p:txBody>
      </p:sp>
      <p:sp>
        <p:nvSpPr>
          <p:cNvPr id="8" name="Shape 6"/>
          <p:cNvSpPr/>
          <p:nvPr/>
        </p:nvSpPr>
        <p:spPr>
          <a:xfrm>
            <a:off x="566928" y="603504"/>
            <a:ext cx="310896" cy="41148"/>
          </a:xfrm>
          <a:prstGeom prst="rect">
            <a:avLst/>
          </a:prstGeom>
          <a:solidFill>
            <a:srgbClr val="8A1C2B"/>
          </a:solidFill>
          <a:ln/>
        </p:spPr>
        <p:txBody>
          <a:bodyPr/>
          <a:lstStyle/>
          <a:p>
            <a:endParaRPr lang="ko-KR" altLang="en-US"/>
          </a:p>
        </p:txBody>
      </p:sp>
      <p:sp>
        <p:nvSpPr>
          <p:cNvPr id="9" name="Text 7"/>
          <p:cNvSpPr/>
          <p:nvPr/>
        </p:nvSpPr>
        <p:spPr>
          <a:xfrm>
            <a:off x="566928" y="713232"/>
            <a:ext cx="8229600" cy="310896"/>
          </a:xfrm>
          <a:prstGeom prst="rect">
            <a:avLst/>
          </a:prstGeom>
          <a:noFill/>
          <a:ln/>
        </p:spPr>
        <p:txBody>
          <a:bodyPr wrap="square" lIns="0" tIns="0" rIns="0" bIns="0" rtlCol="0" anchor="ctr"/>
          <a:lstStyle/>
          <a:p>
            <a:pPr marL="0" indent="0" algn="l">
              <a:buNone/>
            </a:pPr>
            <a:r>
              <a:rPr lang="en-US" sz="1250" b="1" kern="0" spc="250" dirty="0">
                <a:solidFill>
                  <a:srgbClr val="8A1C2B"/>
                </a:solidFill>
                <a:latin typeface="Malgun Gothic" pitchFamily="34" charset="0"/>
                <a:ea typeface="Malgun Gothic" pitchFamily="34" charset="-122"/>
                <a:cs typeface="Malgun Gothic" pitchFamily="34" charset="-120"/>
              </a:rPr>
              <a:t>8  ·  생태계</a:t>
            </a:r>
            <a:endParaRPr lang="en-US" sz="1250" dirty="0"/>
          </a:p>
        </p:txBody>
      </p:sp>
      <p:sp>
        <p:nvSpPr>
          <p:cNvPr id="10" name="Text 8"/>
          <p:cNvSpPr/>
          <p:nvPr/>
        </p:nvSpPr>
        <p:spPr>
          <a:xfrm>
            <a:off x="548640" y="1078992"/>
            <a:ext cx="10058400" cy="868680"/>
          </a:xfrm>
          <a:prstGeom prst="rect">
            <a:avLst/>
          </a:prstGeom>
          <a:noFill/>
          <a:ln/>
        </p:spPr>
        <p:txBody>
          <a:bodyPr wrap="square" lIns="0" tIns="0" rIns="0" bIns="0" rtlCol="0" anchor="ctr"/>
          <a:lstStyle/>
          <a:p>
            <a:pPr marL="0" indent="0" algn="l">
              <a:buNone/>
            </a:pPr>
            <a:r>
              <a:rPr lang="en-US" sz="3300" b="1" dirty="0">
                <a:solidFill>
                  <a:srgbClr val="1F2330"/>
                </a:solidFill>
                <a:latin typeface="Batang" pitchFamily="34" charset="0"/>
                <a:ea typeface="Batang" pitchFamily="34" charset="-122"/>
                <a:cs typeface="Batang" pitchFamily="34" charset="-120"/>
              </a:rPr>
              <a:t>한 번 연주하고 끝이 아닙니다</a:t>
            </a:r>
            <a:endParaRPr lang="en-US" sz="3300" dirty="0"/>
          </a:p>
        </p:txBody>
      </p:sp>
      <p:sp>
        <p:nvSpPr>
          <p:cNvPr id="11" name="Text 9"/>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6C7180"/>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2" name="Text 10"/>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a:solidFill>
                  <a:srgbClr val="6C7180"/>
                </a:solidFill>
                <a:latin typeface="Consolas" pitchFamily="34" charset="0"/>
                <a:ea typeface="Consolas" pitchFamily="34" charset="-122"/>
                <a:cs typeface="Consolas" pitchFamily="34" charset="-120"/>
              </a:rPr>
              <a:t>28</a:t>
            </a:r>
            <a:endParaRPr lang="en-US" sz="900" dirty="0"/>
          </a:p>
        </p:txBody>
      </p:sp>
      <p:sp>
        <p:nvSpPr>
          <p:cNvPr id="13" name="Shape 11"/>
          <p:cNvSpPr/>
          <p:nvPr/>
        </p:nvSpPr>
        <p:spPr>
          <a:xfrm>
            <a:off x="548640"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14" name="Shape 12"/>
          <p:cNvSpPr/>
          <p:nvPr/>
        </p:nvSpPr>
        <p:spPr>
          <a:xfrm>
            <a:off x="548640" y="2148840"/>
            <a:ext cx="3538728" cy="64008"/>
          </a:xfrm>
          <a:prstGeom prst="rect">
            <a:avLst/>
          </a:prstGeom>
          <a:solidFill>
            <a:srgbClr val="8A1C2B"/>
          </a:solidFill>
          <a:ln/>
        </p:spPr>
        <p:txBody>
          <a:bodyPr/>
          <a:lstStyle/>
          <a:p>
            <a:endParaRPr lang="ko-KR" altLang="en-US"/>
          </a:p>
        </p:txBody>
      </p:sp>
      <p:sp>
        <p:nvSpPr>
          <p:cNvPr id="15" name="Text 13"/>
          <p:cNvSpPr/>
          <p:nvPr/>
        </p:nvSpPr>
        <p:spPr>
          <a:xfrm>
            <a:off x="804672" y="2350008"/>
            <a:ext cx="914400" cy="457200"/>
          </a:xfrm>
          <a:prstGeom prst="rect">
            <a:avLst/>
          </a:prstGeom>
          <a:noFill/>
          <a:ln/>
        </p:spPr>
        <p:txBody>
          <a:bodyPr wrap="square" lIns="0" tIns="0" rIns="0" bIns="0" rtlCol="0" anchor="ctr"/>
          <a:lstStyle/>
          <a:p>
            <a:pPr marL="0" indent="0" algn="l">
              <a:buNone/>
            </a:pPr>
            <a:r>
              <a:rPr lang="en-US" sz="2600" b="1" dirty="0">
                <a:solidFill>
                  <a:srgbClr val="8A1C2B"/>
                </a:solidFill>
                <a:latin typeface="Batang" pitchFamily="34" charset="0"/>
                <a:ea typeface="Batang" pitchFamily="34" charset="-122"/>
                <a:cs typeface="Batang" pitchFamily="34" charset="-120"/>
              </a:rPr>
              <a:t>1</a:t>
            </a:r>
            <a:endParaRPr lang="en-US" sz="2600" dirty="0"/>
          </a:p>
        </p:txBody>
      </p:sp>
      <p:sp>
        <p:nvSpPr>
          <p:cNvPr id="16" name="Text 14"/>
          <p:cNvSpPr/>
          <p:nvPr/>
        </p:nvSpPr>
        <p:spPr>
          <a:xfrm>
            <a:off x="804672"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단일 바이너리 배포</a:t>
            </a:r>
            <a:endParaRPr lang="en-US" sz="1550" dirty="0"/>
          </a:p>
        </p:txBody>
      </p:sp>
      <p:sp>
        <p:nvSpPr>
          <p:cNvPr id="17" name="Text 15"/>
          <p:cNvSpPr/>
          <p:nvPr/>
        </p:nvSpPr>
        <p:spPr>
          <a:xfrm>
            <a:off x="804672" y="3374136"/>
            <a:ext cx="3026664" cy="1874520"/>
          </a:xfrm>
          <a:prstGeom prst="rect">
            <a:avLst/>
          </a:prstGeom>
          <a:noFill/>
          <a:ln/>
        </p:spPr>
        <p:txBody>
          <a:bodyPr wrap="square" lIns="0" tIns="0" rIns="0" bIns="0" rtlCol="0" anchor="t"/>
          <a:lstStyle/>
          <a:p>
            <a:pPr marL="0" indent="0" algn="l">
              <a:lnSpc>
                <a:spcPct val="118000"/>
              </a:lnSpc>
              <a:buNone/>
            </a:pPr>
            <a:r>
              <a:rPr lang="en-US" sz="1250" dirty="0">
                <a:solidFill>
                  <a:srgbClr val="6C7180"/>
                </a:solidFill>
                <a:latin typeface="Malgun Gothic" pitchFamily="34" charset="0"/>
                <a:ea typeface="Malgun Gothic" pitchFamily="34" charset="-122"/>
                <a:cs typeface="Malgun Gothic" pitchFamily="34" charset="-120"/>
              </a:rPr>
              <a:t>Cadenza</a:t>
            </a:r>
            <a:r>
              <a:rPr lang="ko-KR" altLang="en-US" sz="1250" dirty="0">
                <a:solidFill>
                  <a:srgbClr val="6C7180"/>
                </a:solidFill>
                <a:latin typeface="Malgun Gothic" pitchFamily="34" charset="0"/>
                <a:ea typeface="Malgun Gothic" pitchFamily="34" charset="-122"/>
                <a:cs typeface="Malgun Gothic" pitchFamily="34" charset="-120"/>
              </a:rPr>
              <a:t>의 기본 설정은 자체적으로 </a:t>
            </a:r>
            <a:r>
              <a:rPr lang="ko-KR" altLang="en-US" sz="1250" dirty="0" err="1">
                <a:solidFill>
                  <a:srgbClr val="6C7180"/>
                </a:solidFill>
                <a:latin typeface="Malgun Gothic" pitchFamily="34" charset="0"/>
                <a:ea typeface="Malgun Gothic" pitchFamily="34" charset="-122"/>
                <a:cs typeface="Malgun Gothic" pitchFamily="34" charset="-120"/>
              </a:rPr>
              <a:t>완결성있는</a:t>
            </a:r>
            <a:r>
              <a:rPr lang="ko-KR" altLang="en-US" sz="1250" dirty="0">
                <a:solidFill>
                  <a:srgbClr val="6C7180"/>
                </a:solidFill>
                <a:latin typeface="Malgun Gothic" pitchFamily="34" charset="0"/>
                <a:ea typeface="Malgun Gothic" pitchFamily="34" charset="-122"/>
                <a:cs typeface="Malgun Gothic" pitchFamily="34" charset="-120"/>
              </a:rPr>
              <a:t> 애플리케이션으로 빌드하는 것입니다</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err="1">
                <a:solidFill>
                  <a:srgbClr val="6C7180"/>
                </a:solidFill>
                <a:latin typeface="Malgun Gothic" pitchFamily="34" charset="0"/>
                <a:ea typeface="Malgun Gothic" pitchFamily="34" charset="-122"/>
                <a:cs typeface="Malgun Gothic" pitchFamily="34" charset="-120"/>
              </a:rPr>
              <a:t>빌드된</a:t>
            </a:r>
            <a:r>
              <a:rPr lang="ko-KR" altLang="en-US" sz="1250" dirty="0">
                <a:solidFill>
                  <a:srgbClr val="6C7180"/>
                </a:solidFill>
                <a:latin typeface="Malgun Gothic" pitchFamily="34" charset="0"/>
                <a:ea typeface="Malgun Gothic" pitchFamily="34" charset="-122"/>
                <a:cs typeface="Malgun Gothic" pitchFamily="34" charset="-120"/>
              </a:rPr>
              <a:t> 바이너리를 </a:t>
            </a:r>
            <a:r>
              <a:rPr lang="en-US" sz="1250" dirty="0" err="1">
                <a:solidFill>
                  <a:srgbClr val="6C7180"/>
                </a:solidFill>
                <a:latin typeface="Malgun Gothic" pitchFamily="34" charset="0"/>
                <a:ea typeface="Malgun Gothic" pitchFamily="34" charset="-122"/>
                <a:cs typeface="Malgun Gothic" pitchFamily="34" charset="-120"/>
              </a:rPr>
              <a:t>받는</a:t>
            </a:r>
            <a:r>
              <a:rPr lang="en-US" sz="1250" dirty="0">
                <a:solidFill>
                  <a:srgbClr val="6C7180"/>
                </a:solidFill>
                <a:latin typeface="Malgun Gothic" pitchFamily="34" charset="0"/>
                <a:ea typeface="Malgun Gothic" pitchFamily="34" charset="-122"/>
                <a:cs typeface="Malgun Gothic" pitchFamily="34" charset="-120"/>
              </a:rPr>
              <a:t> 사람은 .NET</a:t>
            </a:r>
            <a:r>
              <a:rPr lang="ko-KR" altLang="en-US" sz="1250" dirty="0">
                <a:solidFill>
                  <a:srgbClr val="6C7180"/>
                </a:solidFill>
                <a:latin typeface="Malgun Gothic" pitchFamily="34" charset="0"/>
                <a:ea typeface="Malgun Gothic" pitchFamily="34" charset="-122"/>
                <a:cs typeface="Malgun Gothic" pitchFamily="34" charset="-120"/>
              </a:rPr>
              <a:t>을</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설치할 필요가 없습니다</a:t>
            </a:r>
            <a:r>
              <a:rPr lang="en-US" altLang="ko-KR" sz="1250" dirty="0">
                <a:solidFill>
                  <a:srgbClr val="6C7180"/>
                </a:solidFill>
                <a:latin typeface="Malgun Gothic" pitchFamily="34" charset="0"/>
                <a:ea typeface="Malgun Gothic" pitchFamily="34" charset="-122"/>
                <a:cs typeface="Malgun Gothic" pitchFamily="34" charset="-120"/>
              </a:rPr>
              <a:t>.</a:t>
            </a:r>
            <a:endParaRPr lang="en-US" sz="1250" dirty="0"/>
          </a:p>
        </p:txBody>
      </p:sp>
      <p:sp>
        <p:nvSpPr>
          <p:cNvPr id="18" name="Text 16"/>
          <p:cNvSpPr/>
          <p:nvPr/>
        </p:nvSpPr>
        <p:spPr>
          <a:xfrm>
            <a:off x="804672" y="4846320"/>
            <a:ext cx="3026664" cy="411480"/>
          </a:xfrm>
          <a:prstGeom prst="rect">
            <a:avLst/>
          </a:prstGeom>
          <a:noFill/>
          <a:ln/>
        </p:spPr>
        <p:txBody>
          <a:bodyPr wrap="square" lIns="0" tIns="0" rIns="0" bIns="0" rtlCol="0" anchor="ctr"/>
          <a:lstStyle/>
          <a:p>
            <a:pPr marL="0" indent="0">
              <a:buNone/>
            </a:pPr>
            <a:r>
              <a:rPr lang="en-US" sz="1050" b="1" dirty="0">
                <a:solidFill>
                  <a:srgbClr val="8A1C2B"/>
                </a:solidFill>
                <a:latin typeface="Consolas" pitchFamily="34" charset="0"/>
                <a:ea typeface="Consolas" pitchFamily="34" charset="-122"/>
                <a:cs typeface="Consolas" pitchFamily="34" charset="-120"/>
              </a:rPr>
              <a:t>dotnet publish app.cs -r linux-x64</a:t>
            </a:r>
            <a:endParaRPr lang="en-US" sz="1050" dirty="0"/>
          </a:p>
        </p:txBody>
      </p:sp>
      <p:sp>
        <p:nvSpPr>
          <p:cNvPr id="19" name="Shape 17"/>
          <p:cNvSpPr/>
          <p:nvPr/>
        </p:nvSpPr>
        <p:spPr>
          <a:xfrm>
            <a:off x="4315968"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0" name="Shape 18"/>
          <p:cNvSpPr/>
          <p:nvPr/>
        </p:nvSpPr>
        <p:spPr>
          <a:xfrm>
            <a:off x="4315968" y="2148840"/>
            <a:ext cx="3538728" cy="64008"/>
          </a:xfrm>
          <a:prstGeom prst="rect">
            <a:avLst/>
          </a:prstGeom>
          <a:solidFill>
            <a:srgbClr val="A9823F"/>
          </a:solidFill>
          <a:ln/>
        </p:spPr>
        <p:txBody>
          <a:bodyPr/>
          <a:lstStyle/>
          <a:p>
            <a:endParaRPr lang="ko-KR" altLang="en-US"/>
          </a:p>
        </p:txBody>
      </p:sp>
      <p:sp>
        <p:nvSpPr>
          <p:cNvPr id="21" name="Text 19"/>
          <p:cNvSpPr/>
          <p:nvPr/>
        </p:nvSpPr>
        <p:spPr>
          <a:xfrm>
            <a:off x="4572000" y="2350008"/>
            <a:ext cx="914400" cy="457200"/>
          </a:xfrm>
          <a:prstGeom prst="rect">
            <a:avLst/>
          </a:prstGeom>
          <a:noFill/>
          <a:ln/>
        </p:spPr>
        <p:txBody>
          <a:bodyPr wrap="square" lIns="0" tIns="0" rIns="0" bIns="0" rtlCol="0" anchor="ctr"/>
          <a:lstStyle/>
          <a:p>
            <a:pPr marL="0" indent="0" algn="l">
              <a:buNone/>
            </a:pPr>
            <a:r>
              <a:rPr lang="en-US" sz="2600" b="1" dirty="0">
                <a:solidFill>
                  <a:srgbClr val="A9823F"/>
                </a:solidFill>
                <a:latin typeface="Batang" pitchFamily="34" charset="0"/>
                <a:ea typeface="Batang" pitchFamily="34" charset="-122"/>
                <a:cs typeface="Batang" pitchFamily="34" charset="-120"/>
              </a:rPr>
              <a:t>2</a:t>
            </a:r>
            <a:endParaRPr lang="en-US" sz="2600" dirty="0"/>
          </a:p>
        </p:txBody>
      </p:sp>
      <p:sp>
        <p:nvSpPr>
          <p:cNvPr id="22" name="Text 20"/>
          <p:cNvSpPr/>
          <p:nvPr/>
        </p:nvSpPr>
        <p:spPr>
          <a:xfrm>
            <a:off x="4572000"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dotnet new 템플릿</a:t>
            </a:r>
            <a:endParaRPr lang="en-US" sz="1550" dirty="0"/>
          </a:p>
        </p:txBody>
      </p:sp>
      <p:sp>
        <p:nvSpPr>
          <p:cNvPr id="23" name="Text 21"/>
          <p:cNvSpPr/>
          <p:nvPr/>
        </p:nvSpPr>
        <p:spPr>
          <a:xfrm>
            <a:off x="4572000" y="3374136"/>
            <a:ext cx="3026664" cy="1874520"/>
          </a:xfrm>
          <a:prstGeom prst="rect">
            <a:avLst/>
          </a:prstGeom>
          <a:noFill/>
          <a:ln/>
        </p:spPr>
        <p:txBody>
          <a:bodyPr wrap="square" lIns="0" tIns="0" rIns="0" bIns="0" rtlCol="0" anchor="t"/>
          <a:lstStyle/>
          <a:p>
            <a:pPr marL="0" indent="0" algn="l">
              <a:lnSpc>
                <a:spcPct val="118000"/>
              </a:lnSpc>
              <a:buNone/>
            </a:pPr>
            <a:r>
              <a:rPr lang="en-US" sz="1250" dirty="0">
                <a:solidFill>
                  <a:srgbClr val="6C7180"/>
                </a:solidFill>
                <a:latin typeface="Malgun Gothic" pitchFamily="34" charset="0"/>
                <a:ea typeface="Malgun Gothic" pitchFamily="34" charset="-122"/>
                <a:cs typeface="Malgun Gothic" pitchFamily="34" charset="-120"/>
              </a:rPr>
              <a:t>다섯 </a:t>
            </a:r>
            <a:r>
              <a:rPr lang="en-US" sz="1250" dirty="0" err="1">
                <a:solidFill>
                  <a:srgbClr val="6C7180"/>
                </a:solidFill>
                <a:latin typeface="Malgun Gothic" pitchFamily="34" charset="0"/>
                <a:ea typeface="Malgun Gothic" pitchFamily="34" charset="-122"/>
                <a:cs typeface="Malgun Gothic" pitchFamily="34" charset="-120"/>
              </a:rPr>
              <a:t>변종</a:t>
            </a:r>
            <a:r>
              <a:rPr lang="en-US" sz="1250" dirty="0">
                <a:solidFill>
                  <a:srgbClr val="6C7180"/>
                </a:solidFill>
                <a:latin typeface="Malgun Gothic" pitchFamily="34" charset="0"/>
                <a:ea typeface="Malgun Gothic" pitchFamily="34" charset="-122"/>
                <a:cs typeface="Malgun Gothic" pitchFamily="34" charset="-120"/>
              </a:rPr>
              <a:t> </a:t>
            </a:r>
            <a:r>
              <a:rPr lang="en-US" sz="1250" dirty="0" err="1">
                <a:solidFill>
                  <a:srgbClr val="6C7180"/>
                </a:solidFill>
                <a:latin typeface="Malgun Gothic" pitchFamily="34" charset="0"/>
                <a:ea typeface="Malgun Gothic" pitchFamily="34" charset="-122"/>
                <a:cs typeface="Malgun Gothic" pitchFamily="34" charset="-120"/>
              </a:rPr>
              <a:t>전부</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모두 시작 템플릿을 제공합니다</a:t>
            </a:r>
            <a:r>
              <a:rPr lang="en-US" sz="1250" dirty="0">
                <a:solidFill>
                  <a:srgbClr val="6C7180"/>
                </a:solidFill>
                <a:latin typeface="Malgun Gothic" pitchFamily="34" charset="0"/>
                <a:ea typeface="Malgun Gothic" pitchFamily="34" charset="-122"/>
                <a:cs typeface="Malgun Gothic" pitchFamily="34" charset="-120"/>
              </a:rPr>
              <a:t>. SDK 버전이 </a:t>
            </a:r>
            <a:r>
              <a:rPr lang="en-US" sz="1250" dirty="0" err="1">
                <a:solidFill>
                  <a:srgbClr val="6C7180"/>
                </a:solidFill>
                <a:latin typeface="Malgun Gothic" pitchFamily="34" charset="0"/>
                <a:ea typeface="Malgun Gothic" pitchFamily="34" charset="-122"/>
                <a:cs typeface="Malgun Gothic" pitchFamily="34" charset="-120"/>
              </a:rPr>
              <a:t>미리</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고정되어</a:t>
            </a:r>
            <a:r>
              <a:rPr lang="en-US" sz="1250" dirty="0">
                <a:solidFill>
                  <a:srgbClr val="6C7180"/>
                </a:solidFill>
                <a:latin typeface="Malgun Gothic" pitchFamily="34" charset="0"/>
                <a:ea typeface="Malgun Gothic" pitchFamily="34" charset="-122"/>
                <a:cs typeface="Malgun Gothic" pitchFamily="34" charset="-120"/>
              </a:rPr>
              <a:t> 있고 기본 패턴이 채워진 파일 한 </a:t>
            </a:r>
            <a:r>
              <a:rPr lang="en-US" sz="1250" dirty="0" err="1">
                <a:solidFill>
                  <a:srgbClr val="6C7180"/>
                </a:solidFill>
                <a:latin typeface="Malgun Gothic" pitchFamily="34" charset="0"/>
                <a:ea typeface="Malgun Gothic" pitchFamily="34" charset="-122"/>
                <a:cs typeface="Malgun Gothic" pitchFamily="34" charset="-120"/>
              </a:rPr>
              <a:t>장이</a:t>
            </a:r>
            <a:r>
              <a:rPr lang="en-US" sz="1250" dirty="0">
                <a:solidFill>
                  <a:srgbClr val="6C7180"/>
                </a:solidFill>
                <a:latin typeface="Malgun Gothic" pitchFamily="34" charset="0"/>
                <a:ea typeface="Malgun Gothic" pitchFamily="34" charset="-122"/>
                <a:cs typeface="Malgun Gothic" pitchFamily="34" charset="-120"/>
              </a:rPr>
              <a:t> 생</a:t>
            </a:r>
            <a:r>
              <a:rPr lang="ko-KR" altLang="en-US" sz="1250" dirty="0">
                <a:solidFill>
                  <a:srgbClr val="6C7180"/>
                </a:solidFill>
                <a:latin typeface="Malgun Gothic" pitchFamily="34" charset="0"/>
                <a:ea typeface="Malgun Gothic" pitchFamily="34" charset="-122"/>
                <a:cs typeface="Malgun Gothic" pitchFamily="34" charset="-120"/>
              </a:rPr>
              <a:t>깁니다</a:t>
            </a:r>
            <a:r>
              <a:rPr lang="en-US" sz="1250" dirty="0">
                <a:solidFill>
                  <a:srgbClr val="6C7180"/>
                </a:solidFill>
                <a:latin typeface="Malgun Gothic" pitchFamily="34" charset="0"/>
                <a:ea typeface="Malgun Gothic" pitchFamily="34" charset="-122"/>
                <a:cs typeface="Malgun Gothic" pitchFamily="34" charset="-120"/>
              </a:rPr>
              <a:t>.</a:t>
            </a:r>
            <a:endParaRPr lang="en-US" sz="1250" dirty="0"/>
          </a:p>
        </p:txBody>
      </p:sp>
      <p:sp>
        <p:nvSpPr>
          <p:cNvPr id="24" name="Text 22"/>
          <p:cNvSpPr/>
          <p:nvPr/>
        </p:nvSpPr>
        <p:spPr>
          <a:xfrm>
            <a:off x="4572000" y="4846320"/>
            <a:ext cx="3026664" cy="411480"/>
          </a:xfrm>
          <a:prstGeom prst="rect">
            <a:avLst/>
          </a:prstGeom>
          <a:noFill/>
          <a:ln/>
        </p:spPr>
        <p:txBody>
          <a:bodyPr wrap="square" lIns="0" tIns="0" rIns="0" bIns="0" rtlCol="0" anchor="ctr"/>
          <a:lstStyle/>
          <a:p>
            <a:pPr marL="0" indent="0">
              <a:buNone/>
            </a:pPr>
            <a:r>
              <a:rPr lang="en-US" sz="1050" b="1" dirty="0">
                <a:solidFill>
                  <a:srgbClr val="A9823F"/>
                </a:solidFill>
                <a:latin typeface="Consolas" pitchFamily="34" charset="0"/>
                <a:ea typeface="Consolas" pitchFamily="34" charset="-122"/>
                <a:cs typeface="Consolas" pitchFamily="34" charset="-120"/>
              </a:rPr>
              <a:t>dotnet new cadenza-web -n myapi</a:t>
            </a:r>
            <a:endParaRPr lang="en-US" sz="1050" dirty="0"/>
          </a:p>
        </p:txBody>
      </p:sp>
      <p:sp>
        <p:nvSpPr>
          <p:cNvPr id="25" name="Shape 23"/>
          <p:cNvSpPr/>
          <p:nvPr/>
        </p:nvSpPr>
        <p:spPr>
          <a:xfrm>
            <a:off x="8083296" y="2148840"/>
            <a:ext cx="3538728" cy="3246120"/>
          </a:xfrm>
          <a:prstGeom prst="rect">
            <a:avLst/>
          </a:prstGeom>
          <a:solidFill>
            <a:srgbClr val="FFFFFF"/>
          </a:solidFill>
          <a:ln w="12700">
            <a:solidFill>
              <a:srgbClr val="D8D1BE"/>
            </a:solidFill>
            <a:prstDash val="solid"/>
          </a:ln>
          <a:effectLst>
            <a:outerShdw blurRad="88900" dist="38100" dir="8100000" algn="bl" rotWithShape="0">
              <a:srgbClr val="000000">
                <a:alpha val="10000"/>
              </a:srgbClr>
            </a:outerShdw>
          </a:effectLst>
        </p:spPr>
        <p:txBody>
          <a:bodyPr/>
          <a:lstStyle/>
          <a:p>
            <a:endParaRPr lang="ko-KR" altLang="en-US"/>
          </a:p>
        </p:txBody>
      </p:sp>
      <p:sp>
        <p:nvSpPr>
          <p:cNvPr id="26" name="Shape 24"/>
          <p:cNvSpPr/>
          <p:nvPr/>
        </p:nvSpPr>
        <p:spPr>
          <a:xfrm>
            <a:off x="8083296" y="2148840"/>
            <a:ext cx="3538728" cy="64008"/>
          </a:xfrm>
          <a:prstGeom prst="rect">
            <a:avLst/>
          </a:prstGeom>
          <a:solidFill>
            <a:srgbClr val="1F2330"/>
          </a:solidFill>
          <a:ln/>
        </p:spPr>
        <p:txBody>
          <a:bodyPr/>
          <a:lstStyle/>
          <a:p>
            <a:endParaRPr lang="ko-KR" altLang="en-US"/>
          </a:p>
        </p:txBody>
      </p:sp>
      <p:sp>
        <p:nvSpPr>
          <p:cNvPr id="27" name="Text 25"/>
          <p:cNvSpPr/>
          <p:nvPr/>
        </p:nvSpPr>
        <p:spPr>
          <a:xfrm>
            <a:off x="8339328" y="2350008"/>
            <a:ext cx="914400" cy="457200"/>
          </a:xfrm>
          <a:prstGeom prst="rect">
            <a:avLst/>
          </a:prstGeom>
          <a:noFill/>
          <a:ln/>
        </p:spPr>
        <p:txBody>
          <a:bodyPr wrap="square" lIns="0" tIns="0" rIns="0" bIns="0" rtlCol="0" anchor="ctr"/>
          <a:lstStyle/>
          <a:p>
            <a:pPr marL="0" indent="0" algn="l">
              <a:buNone/>
            </a:pPr>
            <a:r>
              <a:rPr lang="en-US" sz="2600" b="1" dirty="0">
                <a:solidFill>
                  <a:srgbClr val="1F2330"/>
                </a:solidFill>
                <a:latin typeface="Batang" pitchFamily="34" charset="0"/>
                <a:ea typeface="Batang" pitchFamily="34" charset="-122"/>
                <a:cs typeface="Batang" pitchFamily="34" charset="-120"/>
              </a:rPr>
              <a:t>3</a:t>
            </a:r>
            <a:endParaRPr lang="en-US" sz="2600" dirty="0"/>
          </a:p>
        </p:txBody>
      </p:sp>
      <p:sp>
        <p:nvSpPr>
          <p:cNvPr id="28" name="Text 26"/>
          <p:cNvSpPr/>
          <p:nvPr/>
        </p:nvSpPr>
        <p:spPr>
          <a:xfrm>
            <a:off x="8339328" y="2862072"/>
            <a:ext cx="3026664" cy="457200"/>
          </a:xfrm>
          <a:prstGeom prst="rect">
            <a:avLst/>
          </a:prstGeom>
          <a:noFill/>
          <a:ln/>
        </p:spPr>
        <p:txBody>
          <a:bodyPr wrap="square" lIns="0" tIns="0" rIns="0" bIns="0" rtlCol="0" anchor="t"/>
          <a:lstStyle/>
          <a:p>
            <a:pPr marL="0" indent="0" algn="l">
              <a:buNone/>
            </a:pPr>
            <a:r>
              <a:rPr lang="en-US" sz="1550" b="1" dirty="0">
                <a:solidFill>
                  <a:srgbClr val="1F2330"/>
                </a:solidFill>
                <a:latin typeface="Malgun Gothic" pitchFamily="34" charset="0"/>
                <a:ea typeface="Malgun Gothic" pitchFamily="34" charset="-122"/>
                <a:cs typeface="Malgun Gothic" pitchFamily="34" charset="-120"/>
              </a:rPr>
              <a:t>AI 에이전트가 아는 SDK</a:t>
            </a:r>
            <a:endParaRPr lang="en-US" sz="1550" dirty="0"/>
          </a:p>
        </p:txBody>
      </p:sp>
      <p:sp>
        <p:nvSpPr>
          <p:cNvPr id="29" name="Text 27"/>
          <p:cNvSpPr/>
          <p:nvPr/>
        </p:nvSpPr>
        <p:spPr>
          <a:xfrm>
            <a:off x="8339328" y="3374136"/>
            <a:ext cx="3026664" cy="1874520"/>
          </a:xfrm>
          <a:prstGeom prst="rect">
            <a:avLst/>
          </a:prstGeom>
          <a:noFill/>
          <a:ln/>
        </p:spPr>
        <p:txBody>
          <a:bodyPr wrap="square" lIns="0" tIns="0" rIns="0" bIns="0" rtlCol="0" anchor="t"/>
          <a:lstStyle/>
          <a:p>
            <a:pPr marL="0" indent="0" algn="l">
              <a:lnSpc>
                <a:spcPct val="118000"/>
              </a:lnSpc>
              <a:buNone/>
            </a:pPr>
            <a:r>
              <a:rPr lang="en-US" sz="1250" dirty="0">
                <a:solidFill>
                  <a:srgbClr val="6C7180"/>
                </a:solidFill>
                <a:latin typeface="Malgun Gothic" pitchFamily="34" charset="0"/>
                <a:ea typeface="Malgun Gothic" pitchFamily="34" charset="-122"/>
                <a:cs typeface="Malgun Gothic" pitchFamily="34" charset="-120"/>
              </a:rPr>
              <a:t>Copilot, Cursor, Claude Code, Antigravity, Continue </a:t>
            </a:r>
            <a:r>
              <a:rPr lang="ko-KR" altLang="en-US" sz="1250" dirty="0">
                <a:solidFill>
                  <a:srgbClr val="6C7180"/>
                </a:solidFill>
                <a:latin typeface="Malgun Gothic" pitchFamily="34" charset="0"/>
                <a:ea typeface="Malgun Gothic" pitchFamily="34" charset="-122"/>
                <a:cs typeface="Malgun Gothic" pitchFamily="34" charset="-120"/>
              </a:rPr>
              <a:t>등 여러 </a:t>
            </a:r>
            <a:r>
              <a:rPr lang="en-US" altLang="ko-KR" sz="1250" dirty="0">
                <a:solidFill>
                  <a:srgbClr val="6C7180"/>
                </a:solidFill>
                <a:latin typeface="Malgun Gothic" pitchFamily="34" charset="0"/>
                <a:ea typeface="Malgun Gothic" pitchFamily="34" charset="-122"/>
                <a:cs typeface="Malgun Gothic" pitchFamily="34" charset="-120"/>
              </a:rPr>
              <a:t>AI </a:t>
            </a:r>
            <a:r>
              <a:rPr lang="ko-KR" altLang="en-US" sz="1250" dirty="0">
                <a:solidFill>
                  <a:srgbClr val="6C7180"/>
                </a:solidFill>
                <a:latin typeface="Malgun Gothic" pitchFamily="34" charset="0"/>
                <a:ea typeface="Malgun Gothic" pitchFamily="34" charset="-122"/>
                <a:cs typeface="Malgun Gothic" pitchFamily="34" charset="-120"/>
              </a:rPr>
              <a:t>코드 에이전트가</a:t>
            </a:r>
            <a:r>
              <a:rPr lang="en-US" sz="1250" dirty="0">
                <a:solidFill>
                  <a:srgbClr val="6C7180"/>
                </a:solidFill>
                <a:latin typeface="Malgun Gothic" pitchFamily="34" charset="0"/>
                <a:ea typeface="Malgun Gothic" pitchFamily="34" charset="-122"/>
                <a:cs typeface="Malgun Gothic" pitchFamily="34" charset="-120"/>
              </a:rPr>
              <a:t> 인식하는 </a:t>
            </a:r>
            <a:r>
              <a:rPr lang="en-US" sz="1250" dirty="0" err="1">
                <a:solidFill>
                  <a:srgbClr val="6C7180"/>
                </a:solidFill>
                <a:latin typeface="Malgun Gothic" pitchFamily="34" charset="0"/>
                <a:ea typeface="Malgun Gothic" pitchFamily="34" charset="-122"/>
                <a:cs typeface="Malgun Gothic" pitchFamily="34" charset="-120"/>
              </a:rPr>
              <a:t>경로에</a:t>
            </a:r>
            <a:r>
              <a:rPr lang="en-US" sz="1250" dirty="0">
                <a:solidFill>
                  <a:srgbClr val="6C7180"/>
                </a:solidFill>
                <a:latin typeface="Malgun Gothic" pitchFamily="34" charset="0"/>
                <a:ea typeface="Malgun Gothic" pitchFamily="34" charset="-122"/>
                <a:cs typeface="Malgun Gothic" pitchFamily="34" charset="-120"/>
              </a:rPr>
              <a:t> </a:t>
            </a:r>
            <a:r>
              <a:rPr lang="ko-KR" altLang="en-US" sz="1250" dirty="0">
                <a:solidFill>
                  <a:srgbClr val="6C7180"/>
                </a:solidFill>
                <a:latin typeface="Malgun Gothic" pitchFamily="34" charset="0"/>
                <a:ea typeface="Malgun Gothic" pitchFamily="34" charset="-122"/>
                <a:cs typeface="Malgun Gothic" pitchFamily="34" charset="-120"/>
              </a:rPr>
              <a:t>스킬 파일을 넣습니다</a:t>
            </a:r>
            <a:r>
              <a:rPr lang="en-US" sz="1250" dirty="0">
                <a:solidFill>
                  <a:srgbClr val="6C7180"/>
                </a:solidFill>
                <a:latin typeface="Malgun Gothic" pitchFamily="34" charset="0"/>
                <a:ea typeface="Malgun Gothic" pitchFamily="34" charset="-122"/>
                <a:cs typeface="Malgun Gothic" pitchFamily="34" charset="-120"/>
              </a:rPr>
              <a:t>. </a:t>
            </a:r>
            <a:r>
              <a:rPr lang="en-US" sz="1250" dirty="0" err="1">
                <a:solidFill>
                  <a:srgbClr val="6C7180"/>
                </a:solidFill>
                <a:latin typeface="Malgun Gothic" pitchFamily="34" charset="0"/>
                <a:ea typeface="Malgun Gothic" pitchFamily="34" charset="-122"/>
                <a:cs typeface="Malgun Gothic" pitchFamily="34" charset="-120"/>
              </a:rPr>
              <a:t>사람</a:t>
            </a:r>
            <a:r>
              <a:rPr lang="ko-KR" altLang="en-US" sz="1250" dirty="0">
                <a:solidFill>
                  <a:srgbClr val="6C7180"/>
                </a:solidFill>
                <a:latin typeface="Malgun Gothic" pitchFamily="34" charset="0"/>
                <a:ea typeface="Malgun Gothic" pitchFamily="34" charset="-122"/>
                <a:cs typeface="Malgun Gothic" pitchFamily="34" charset="-120"/>
              </a:rPr>
              <a:t>에게 쓰기</a:t>
            </a:r>
            <a:r>
              <a:rPr lang="en-US" sz="1250" dirty="0">
                <a:solidFill>
                  <a:srgbClr val="6C7180"/>
                </a:solidFill>
                <a:latin typeface="Malgun Gothic" pitchFamily="34" charset="0"/>
                <a:ea typeface="Malgun Gothic" pitchFamily="34" charset="-122"/>
                <a:cs typeface="Malgun Gothic" pitchFamily="34" charset="-120"/>
              </a:rPr>
              <a:t> 쉬운 </a:t>
            </a:r>
            <a:r>
              <a:rPr lang="en-US" sz="1250" dirty="0" err="1">
                <a:solidFill>
                  <a:srgbClr val="6C7180"/>
                </a:solidFill>
                <a:latin typeface="Malgun Gothic" pitchFamily="34" charset="0"/>
                <a:ea typeface="Malgun Gothic" pitchFamily="34" charset="-122"/>
                <a:cs typeface="Malgun Gothic" pitchFamily="34" charset="-120"/>
              </a:rPr>
              <a:t>SDK가</a:t>
            </a:r>
            <a:r>
              <a:rPr lang="en-US" sz="1250" dirty="0">
                <a:solidFill>
                  <a:srgbClr val="6C7180"/>
                </a:solidFill>
                <a:latin typeface="Malgun Gothic" pitchFamily="34" charset="0"/>
                <a:ea typeface="Malgun Gothic" pitchFamily="34" charset="-122"/>
                <a:cs typeface="Malgun Gothic" pitchFamily="34" charset="-120"/>
              </a:rPr>
              <a:t> AI</a:t>
            </a:r>
            <a:r>
              <a:rPr lang="ko-KR" altLang="en-US" sz="1250" dirty="0">
                <a:solidFill>
                  <a:srgbClr val="6C7180"/>
                </a:solidFill>
                <a:latin typeface="Malgun Gothic" pitchFamily="34" charset="0"/>
                <a:ea typeface="Malgun Gothic" pitchFamily="34" charset="-122"/>
                <a:cs typeface="Malgun Gothic" pitchFamily="34" charset="-120"/>
              </a:rPr>
              <a:t>에게</a:t>
            </a:r>
            <a:r>
              <a:rPr lang="en-US" sz="1250" dirty="0">
                <a:solidFill>
                  <a:srgbClr val="6C7180"/>
                </a:solidFill>
                <a:latin typeface="Malgun Gothic" pitchFamily="34" charset="0"/>
                <a:ea typeface="Malgun Gothic" pitchFamily="34" charset="-122"/>
                <a:cs typeface="Malgun Gothic" pitchFamily="34" charset="-120"/>
              </a:rPr>
              <a:t>도 </a:t>
            </a:r>
            <a:r>
              <a:rPr lang="ko-KR" altLang="en-US" sz="1250" dirty="0">
                <a:solidFill>
                  <a:srgbClr val="6C7180"/>
                </a:solidFill>
                <a:latin typeface="Malgun Gothic" pitchFamily="34" charset="0"/>
                <a:ea typeface="Malgun Gothic" pitchFamily="34" charset="-122"/>
                <a:cs typeface="Malgun Gothic" pitchFamily="34" charset="-120"/>
              </a:rPr>
              <a:t>쓰기 </a:t>
            </a:r>
            <a:r>
              <a:rPr lang="en-US" sz="1250" dirty="0" err="1">
                <a:solidFill>
                  <a:srgbClr val="6C7180"/>
                </a:solidFill>
                <a:latin typeface="Malgun Gothic" pitchFamily="34" charset="0"/>
                <a:ea typeface="Malgun Gothic" pitchFamily="34" charset="-122"/>
                <a:cs typeface="Malgun Gothic" pitchFamily="34" charset="-120"/>
              </a:rPr>
              <a:t>쉬운</a:t>
            </a:r>
            <a:r>
              <a:rPr lang="en-US" sz="1250" dirty="0">
                <a:solidFill>
                  <a:srgbClr val="6C7180"/>
                </a:solidFill>
                <a:latin typeface="Malgun Gothic" pitchFamily="34" charset="0"/>
                <a:ea typeface="Malgun Gothic" pitchFamily="34" charset="-122"/>
                <a:cs typeface="Malgun Gothic" pitchFamily="34" charset="-120"/>
              </a:rPr>
              <a:t> SDK</a:t>
            </a:r>
            <a:r>
              <a:rPr lang="ko-KR" altLang="en-US" sz="1250" dirty="0">
                <a:solidFill>
                  <a:srgbClr val="6C7180"/>
                </a:solidFill>
                <a:latin typeface="Malgun Gothic" pitchFamily="34" charset="0"/>
                <a:ea typeface="Malgun Gothic" pitchFamily="34" charset="-122"/>
                <a:cs typeface="Malgun Gothic" pitchFamily="34" charset="-120"/>
              </a:rPr>
              <a:t>입니다</a:t>
            </a:r>
            <a:r>
              <a:rPr lang="en-US" altLang="ko-KR" sz="1250" dirty="0">
                <a:solidFill>
                  <a:srgbClr val="6C7180"/>
                </a:solidFill>
                <a:latin typeface="Malgun Gothic" pitchFamily="34" charset="0"/>
                <a:ea typeface="Malgun Gothic" pitchFamily="34" charset="-122"/>
                <a:cs typeface="Malgun Gothic" pitchFamily="34" charset="-120"/>
              </a:rPr>
              <a:t>.</a:t>
            </a:r>
            <a:endParaRPr lang="en-US" sz="1250" dirty="0"/>
          </a:p>
        </p:txBody>
      </p:sp>
      <p:sp>
        <p:nvSpPr>
          <p:cNvPr id="30" name="Text 28"/>
          <p:cNvSpPr/>
          <p:nvPr/>
        </p:nvSpPr>
        <p:spPr>
          <a:xfrm>
            <a:off x="8339328" y="4846320"/>
            <a:ext cx="3026664" cy="411480"/>
          </a:xfrm>
          <a:prstGeom prst="rect">
            <a:avLst/>
          </a:prstGeom>
          <a:noFill/>
          <a:ln/>
        </p:spPr>
        <p:txBody>
          <a:bodyPr wrap="square" lIns="0" tIns="0" rIns="0" bIns="0" rtlCol="0" anchor="ctr"/>
          <a:lstStyle/>
          <a:p>
            <a:pPr marL="0" indent="0">
              <a:buNone/>
            </a:pPr>
            <a:r>
              <a:rPr lang="en-US" sz="1050" b="1" i="1" dirty="0">
                <a:solidFill>
                  <a:srgbClr val="1F2330"/>
                </a:solidFill>
                <a:latin typeface="Malgun Gothic" pitchFamily="34" charset="0"/>
                <a:ea typeface="Malgun Gothic" pitchFamily="34" charset="-122"/>
                <a:cs typeface="Malgun Gothic" pitchFamily="34" charset="-120"/>
              </a:rPr>
              <a:t>“Cadenza로 </a:t>
            </a:r>
            <a:r>
              <a:rPr lang="en-US" sz="1050" b="1" i="1" dirty="0" err="1">
                <a:solidFill>
                  <a:srgbClr val="1F2330"/>
                </a:solidFill>
                <a:latin typeface="Malgun Gothic" pitchFamily="34" charset="0"/>
                <a:ea typeface="Malgun Gothic" pitchFamily="34" charset="-122"/>
                <a:cs typeface="Malgun Gothic" pitchFamily="34" charset="-120"/>
              </a:rPr>
              <a:t>워커</a:t>
            </a:r>
            <a:r>
              <a:rPr lang="en-US" sz="1050" b="1" i="1" dirty="0">
                <a:solidFill>
                  <a:srgbClr val="1F2330"/>
                </a:solidFill>
                <a:latin typeface="Malgun Gothic" pitchFamily="34" charset="0"/>
                <a:ea typeface="Malgun Gothic" pitchFamily="34" charset="-122"/>
                <a:cs typeface="Malgun Gothic" pitchFamily="34" charset="-120"/>
              </a:rPr>
              <a:t> </a:t>
            </a:r>
            <a:r>
              <a:rPr lang="en-US" sz="1050" b="1" i="1" dirty="0" err="1">
                <a:solidFill>
                  <a:srgbClr val="1F2330"/>
                </a:solidFill>
                <a:latin typeface="Malgun Gothic" pitchFamily="34" charset="0"/>
                <a:ea typeface="Malgun Gothic" pitchFamily="34" charset="-122"/>
                <a:cs typeface="Malgun Gothic" pitchFamily="34" charset="-120"/>
              </a:rPr>
              <a:t>만들어줘</a:t>
            </a:r>
            <a:r>
              <a:rPr lang="en-US" sz="1050" b="1" i="1" dirty="0">
                <a:solidFill>
                  <a:srgbClr val="1F2330"/>
                </a:solidFill>
                <a:latin typeface="Malgun Gothic" pitchFamily="34" charset="0"/>
                <a:ea typeface="Malgun Gothic" pitchFamily="34" charset="-122"/>
                <a:cs typeface="Malgun Gothic" pitchFamily="34" charset="-120"/>
              </a:rPr>
              <a:t>”</a:t>
            </a:r>
            <a:endParaRPr lang="en-US" sz="1050" dirty="0"/>
          </a:p>
        </p:txBody>
      </p:sp>
    </p:spTree>
  </p:cSld>
  <p:clrMapOvr>
    <a:masterClrMapping/>
  </p:clrMapOvr>
  <p:transition spd="med">
    <p:wipe/>
  </p:transition>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171A23"/>
        </a:solidFill>
        <a:effectLst/>
      </p:bgPr>
    </p:bg>
    <p:spTree>
      <p:nvGrpSpPr>
        <p:cNvPr id="1" name=""/>
        <p:cNvGrpSpPr/>
        <p:nvPr/>
      </p:nvGrpSpPr>
      <p:grpSpPr>
        <a:xfrm>
          <a:off x="0" y="0"/>
          <a:ext cx="0" cy="0"/>
          <a:chOff x="0" y="0"/>
          <a:chExt cx="0" cy="0"/>
        </a:xfrm>
      </p:grpSpPr>
      <p:sp>
        <p:nvSpPr>
          <p:cNvPr id="2" name="Shape 0"/>
          <p:cNvSpPr/>
          <p:nvPr/>
        </p:nvSpPr>
        <p:spPr>
          <a:xfrm>
            <a:off x="822960" y="1325880"/>
            <a:ext cx="10545775" cy="0"/>
          </a:xfrm>
          <a:prstGeom prst="line">
            <a:avLst/>
          </a:prstGeom>
          <a:noFill/>
          <a:ln w="9525">
            <a:solidFill>
              <a:srgbClr val="30343F"/>
            </a:solidFill>
            <a:prstDash val="solid"/>
          </a:ln>
        </p:spPr>
        <p:txBody>
          <a:bodyPr/>
          <a:lstStyle/>
          <a:p>
            <a:endParaRPr lang="ko-KR" altLang="en-US"/>
          </a:p>
        </p:txBody>
      </p:sp>
      <p:sp>
        <p:nvSpPr>
          <p:cNvPr id="3" name="Shape 1"/>
          <p:cNvSpPr/>
          <p:nvPr/>
        </p:nvSpPr>
        <p:spPr>
          <a:xfrm>
            <a:off x="822960" y="1472184"/>
            <a:ext cx="10545775" cy="0"/>
          </a:xfrm>
          <a:prstGeom prst="line">
            <a:avLst/>
          </a:prstGeom>
          <a:noFill/>
          <a:ln w="9525">
            <a:solidFill>
              <a:srgbClr val="30343F"/>
            </a:solidFill>
            <a:prstDash val="solid"/>
          </a:ln>
        </p:spPr>
        <p:txBody>
          <a:bodyPr/>
          <a:lstStyle/>
          <a:p>
            <a:endParaRPr lang="ko-KR" altLang="en-US"/>
          </a:p>
        </p:txBody>
      </p:sp>
      <p:sp>
        <p:nvSpPr>
          <p:cNvPr id="4" name="Shape 2"/>
          <p:cNvSpPr/>
          <p:nvPr/>
        </p:nvSpPr>
        <p:spPr>
          <a:xfrm>
            <a:off x="822960" y="1618488"/>
            <a:ext cx="10545775" cy="0"/>
          </a:xfrm>
          <a:prstGeom prst="line">
            <a:avLst/>
          </a:prstGeom>
          <a:noFill/>
          <a:ln w="9525">
            <a:solidFill>
              <a:srgbClr val="30343F"/>
            </a:solidFill>
            <a:prstDash val="solid"/>
          </a:ln>
        </p:spPr>
        <p:txBody>
          <a:bodyPr/>
          <a:lstStyle/>
          <a:p>
            <a:endParaRPr lang="ko-KR" altLang="en-US"/>
          </a:p>
        </p:txBody>
      </p:sp>
      <p:sp>
        <p:nvSpPr>
          <p:cNvPr id="5" name="Shape 3"/>
          <p:cNvSpPr/>
          <p:nvPr/>
        </p:nvSpPr>
        <p:spPr>
          <a:xfrm>
            <a:off x="822960" y="1764792"/>
            <a:ext cx="10545775" cy="0"/>
          </a:xfrm>
          <a:prstGeom prst="line">
            <a:avLst/>
          </a:prstGeom>
          <a:noFill/>
          <a:ln w="9525">
            <a:solidFill>
              <a:srgbClr val="30343F"/>
            </a:solidFill>
            <a:prstDash val="solid"/>
          </a:ln>
        </p:spPr>
        <p:txBody>
          <a:bodyPr/>
          <a:lstStyle/>
          <a:p>
            <a:endParaRPr lang="ko-KR" altLang="en-US"/>
          </a:p>
        </p:txBody>
      </p:sp>
      <p:sp>
        <p:nvSpPr>
          <p:cNvPr id="6" name="Shape 4"/>
          <p:cNvSpPr/>
          <p:nvPr/>
        </p:nvSpPr>
        <p:spPr>
          <a:xfrm>
            <a:off x="822960" y="1911096"/>
            <a:ext cx="10545775" cy="0"/>
          </a:xfrm>
          <a:prstGeom prst="line">
            <a:avLst/>
          </a:prstGeom>
          <a:noFill/>
          <a:ln w="9525">
            <a:solidFill>
              <a:srgbClr val="30343F"/>
            </a:solidFill>
            <a:prstDash val="solid"/>
          </a:ln>
        </p:spPr>
        <p:txBody>
          <a:bodyPr/>
          <a:lstStyle/>
          <a:p>
            <a:endParaRPr lang="ko-KR" altLang="en-US"/>
          </a:p>
        </p:txBody>
      </p:sp>
      <p:sp>
        <p:nvSpPr>
          <p:cNvPr id="8" name="Text 6"/>
          <p:cNvSpPr/>
          <p:nvPr/>
        </p:nvSpPr>
        <p:spPr>
          <a:xfrm>
            <a:off x="736600" y="1930400"/>
            <a:ext cx="10693400" cy="635000"/>
          </a:xfrm>
          <a:prstGeom prst="rect">
            <a:avLst/>
          </a:prstGeom>
          <a:noFill/>
          <a:ln/>
        </p:spPr>
        <p:txBody>
          <a:bodyPr wrap="square" lIns="0" tIns="0" rIns="0" bIns="0" rtlCol="0" anchor="ctr"/>
          <a:lstStyle/>
          <a:p>
            <a:pPr marL="0" indent="0" algn="ctr">
              <a:buNone/>
            </a:pPr>
            <a:r>
              <a:rPr lang="ko-KR" altLang="en-US" sz="2800" b="1" i="1" dirty="0">
                <a:solidFill>
                  <a:srgbClr val="ECE7D8"/>
                </a:solidFill>
                <a:latin typeface="Batang" pitchFamily="34" charset="0"/>
                <a:ea typeface="Batang" pitchFamily="34" charset="-122"/>
                <a:cs typeface="Batang" pitchFamily="34" charset="-120"/>
              </a:rPr>
              <a:t>전체 코드 받아보기</a:t>
            </a:r>
          </a:p>
        </p:txBody>
      </p:sp>
      <p:sp>
        <p:nvSpPr>
          <p:cNvPr id="13" name="Text 11"/>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9AA0AD"/>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4" name="Text 12"/>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9AA0AD"/>
                </a:solidFill>
                <a:latin typeface="Consolas" pitchFamily="34" charset="0"/>
                <a:ea typeface="Consolas" pitchFamily="34" charset="-122"/>
                <a:cs typeface="Consolas" pitchFamily="34" charset="-120"/>
              </a:rPr>
              <a:t>30</a:t>
            </a:r>
            <a:endParaRPr lang="en-US" sz="900" dirty="0"/>
          </a:p>
        </p:txBody>
      </p:sp>
      <p:sp>
        <p:nvSpPr>
          <p:cNvPr id="15" name="QRCard">
            <a:extLst>
              <a:ext uri="{FF2B5EF4-FFF2-40B4-BE49-F238E27FC236}">
                <a16:creationId xmlns:a16="http://schemas.microsoft.com/office/drawing/2014/main" id="{CC3E6135-D1B5-4CA2-9548-688B3A4A3DEE}"/>
              </a:ext>
            </a:extLst>
          </p:cNvPr>
          <p:cNvSpPr/>
          <p:nvPr/>
        </p:nvSpPr>
        <p:spPr>
          <a:xfrm>
            <a:off x="4572000" y="2667000"/>
            <a:ext cx="3048000" cy="3048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QRCaption">
            <a:extLst>
              <a:ext uri="{FF2B5EF4-FFF2-40B4-BE49-F238E27FC236}">
                <a16:creationId xmlns:a16="http://schemas.microsoft.com/office/drawing/2014/main" id="{C195261C-C436-4AEF-A619-95363207F4D4}"/>
              </a:ext>
            </a:extLst>
          </p:cNvPr>
          <p:cNvSpPr txBox="1"/>
          <p:nvPr/>
        </p:nvSpPr>
        <p:spPr>
          <a:xfrm>
            <a:off x="1651000" y="5867400"/>
            <a:ext cx="8890000" cy="355600"/>
          </a:xfrm>
          <a:prstGeom prst="rect">
            <a:avLst/>
          </a:prstGeom>
          <a:noFill/>
        </p:spPr>
        <p:txBody>
          <a:bodyPr vertOverflow="overflow" vert="horz" wrap="square" rtlCol="0" anchor="t">
            <a:noAutofit/>
          </a:bodyPr>
          <a:lstStyle/>
          <a:p>
            <a:pPr algn="ctr"/>
            <a:r>
              <a:rPr lang="ko-KR" altLang="en-US" sz="1400" dirty="0">
                <a:solidFill>
                  <a:srgbClr val="9AA0AD"/>
                </a:solidFill>
                <a:latin typeface="Malgun Gothic"/>
                <a:ea typeface="Malgun Gothic"/>
              </a:rPr>
              <a:t>휴대폰 카메라로 </a:t>
            </a:r>
            <a:r>
              <a:rPr lang="en-US" altLang="ko-KR" sz="1400" dirty="0">
                <a:solidFill>
                  <a:srgbClr val="9AA0AD"/>
                </a:solidFill>
                <a:latin typeface="Malgun Gothic"/>
                <a:ea typeface="Malgun Gothic"/>
              </a:rPr>
              <a:t>QR</a:t>
            </a:r>
            <a:r>
              <a:rPr lang="ko-KR" altLang="en-US" sz="1400" dirty="0">
                <a:solidFill>
                  <a:srgbClr val="9AA0AD"/>
                </a:solidFill>
                <a:latin typeface="Malgun Gothic"/>
                <a:ea typeface="Malgun Gothic"/>
              </a:rPr>
              <a:t>을 스캔하면 전체 코드 샘플</a:t>
            </a:r>
            <a:r>
              <a:rPr lang="en-US" altLang="ko-KR" sz="1400" dirty="0">
                <a:solidFill>
                  <a:srgbClr val="9AA0AD"/>
                </a:solidFill>
                <a:latin typeface="Malgun Gothic"/>
                <a:ea typeface="Malgun Gothic"/>
              </a:rPr>
              <a:t>(Gist)</a:t>
            </a:r>
            <a:r>
              <a:rPr lang="ko-KR" altLang="en-US" sz="1400" dirty="0">
                <a:solidFill>
                  <a:srgbClr val="9AA0AD"/>
                </a:solidFill>
                <a:latin typeface="Malgun Gothic"/>
                <a:ea typeface="Malgun Gothic"/>
              </a:rPr>
              <a:t>로 이동합니다</a:t>
            </a:r>
            <a:r>
              <a:rPr lang="en-US" altLang="ko-KR" sz="1400" dirty="0">
                <a:solidFill>
                  <a:srgbClr val="9AA0AD"/>
                </a:solidFill>
                <a:latin typeface="Malgun Gothic"/>
                <a:ea typeface="Malgun Gothic"/>
              </a:rPr>
              <a:t>.</a:t>
            </a:r>
            <a:endParaRPr lang="ko-KR" altLang="en-US" sz="1400" dirty="0">
              <a:solidFill>
                <a:srgbClr val="9AA0AD"/>
              </a:solidFill>
              <a:latin typeface="Malgun Gothic"/>
              <a:ea typeface="Malgun Gothic"/>
            </a:endParaRPr>
          </a:p>
        </p:txBody>
      </p:sp>
      <p:pic>
        <p:nvPicPr>
          <p:cNvPr id="17" name="Copied Picture 17" descr="QRCode">
            <a:extLst>
              <a:ext uri="{FF2B5EF4-FFF2-40B4-BE49-F238E27FC236}">
                <a16:creationId xmlns:a16="http://schemas.microsoft.com/office/drawing/2014/main" id="{DBB0C1DF-EE40-9863-14CD-A6106A102E5B}"/>
              </a:ext>
            </a:extLst>
          </p:cNvPr>
          <p:cNvPicPr>
            <a:picLocks noChangeAspect="1"/>
          </p:cNvPicPr>
          <p:nvPr/>
        </p:nvPicPr>
        <p:blipFill>
          <a:blip r:embed="rId3"/>
          <a:stretch>
            <a:fillRect/>
          </a:stretch>
        </p:blipFill>
        <p:spPr>
          <a:xfrm>
            <a:off x="4826000" y="2921000"/>
            <a:ext cx="2540000" cy="2540000"/>
          </a:xfrm>
          <a:prstGeom prst="rect">
            <a:avLst/>
          </a:prstGeom>
        </p:spPr>
      </p:pic>
      <p:sp>
        <p:nvSpPr>
          <p:cNvPr id="10" name="Text 5">
            <a:extLst>
              <a:ext uri="{FF2B5EF4-FFF2-40B4-BE49-F238E27FC236}">
                <a16:creationId xmlns:a16="http://schemas.microsoft.com/office/drawing/2014/main" id="{9C3DD4B1-45CA-1A7A-AB7D-C31BC6E77DB5}"/>
              </a:ext>
            </a:extLst>
          </p:cNvPr>
          <p:cNvSpPr/>
          <p:nvPr/>
        </p:nvSpPr>
        <p:spPr>
          <a:xfrm>
            <a:off x="822960" y="777240"/>
            <a:ext cx="7315200" cy="365760"/>
          </a:xfrm>
          <a:prstGeom prst="rect">
            <a:avLst/>
          </a:prstGeom>
          <a:noFill/>
          <a:ln/>
        </p:spPr>
        <p:txBody>
          <a:bodyPr wrap="square" lIns="0" tIns="0" rIns="0" bIns="0" rtlCol="0" anchor="ctr"/>
          <a:lstStyle/>
          <a:p>
            <a:pPr marL="0" indent="0">
              <a:buNone/>
            </a:pPr>
            <a:r>
              <a:rPr lang="en-US" sz="1300" b="1" kern="0" spc="300" dirty="0">
                <a:solidFill>
                  <a:srgbClr val="A9823F"/>
                </a:solidFill>
                <a:latin typeface="Malgun Gothic" pitchFamily="34" charset="0"/>
                <a:ea typeface="Malgun Gothic" pitchFamily="34" charset="-122"/>
                <a:cs typeface="Malgun Gothic" pitchFamily="34" charset="-120"/>
              </a:rPr>
              <a:t>9  ·  마무리</a:t>
            </a:r>
            <a:endParaRPr lang="en-US" sz="1300" dirty="0"/>
          </a:p>
        </p:txBody>
      </p:sp>
    </p:spTree>
    <p:extLst>
      <p:ext uri="{BB962C8B-B14F-4D97-AF65-F5344CB8AC3E}">
        <p14:creationId xmlns:p14="http://schemas.microsoft.com/office/powerpoint/2010/main" val="557557302"/>
      </p:ext>
    </p:extLst>
  </p:cSld>
  <p:clrMapOvr>
    <a:masterClrMapping/>
  </p:clrMapOvr>
  <p:transition spd="med">
    <p:wipe/>
  </p:transition>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171A23"/>
        </a:solidFill>
        <a:effectLst/>
      </p:bgPr>
    </p:bg>
    <p:spTree>
      <p:nvGrpSpPr>
        <p:cNvPr id="1" name=""/>
        <p:cNvGrpSpPr/>
        <p:nvPr/>
      </p:nvGrpSpPr>
      <p:grpSpPr>
        <a:xfrm>
          <a:off x="0" y="0"/>
          <a:ext cx="0" cy="0"/>
          <a:chOff x="0" y="0"/>
          <a:chExt cx="0" cy="0"/>
        </a:xfrm>
      </p:grpSpPr>
      <p:sp>
        <p:nvSpPr>
          <p:cNvPr id="2" name="Shape 0"/>
          <p:cNvSpPr/>
          <p:nvPr/>
        </p:nvSpPr>
        <p:spPr>
          <a:xfrm>
            <a:off x="822960" y="1325880"/>
            <a:ext cx="10545775" cy="0"/>
          </a:xfrm>
          <a:prstGeom prst="line">
            <a:avLst/>
          </a:prstGeom>
          <a:noFill/>
          <a:ln w="9525">
            <a:solidFill>
              <a:srgbClr val="30343F"/>
            </a:solidFill>
            <a:prstDash val="solid"/>
          </a:ln>
        </p:spPr>
        <p:txBody>
          <a:bodyPr/>
          <a:lstStyle/>
          <a:p>
            <a:endParaRPr lang="ko-KR" altLang="en-US"/>
          </a:p>
        </p:txBody>
      </p:sp>
      <p:sp>
        <p:nvSpPr>
          <p:cNvPr id="3" name="Shape 1"/>
          <p:cNvSpPr/>
          <p:nvPr/>
        </p:nvSpPr>
        <p:spPr>
          <a:xfrm>
            <a:off x="822960" y="1472184"/>
            <a:ext cx="10545775" cy="0"/>
          </a:xfrm>
          <a:prstGeom prst="line">
            <a:avLst/>
          </a:prstGeom>
          <a:noFill/>
          <a:ln w="9525">
            <a:solidFill>
              <a:srgbClr val="30343F"/>
            </a:solidFill>
            <a:prstDash val="solid"/>
          </a:ln>
        </p:spPr>
        <p:txBody>
          <a:bodyPr/>
          <a:lstStyle/>
          <a:p>
            <a:endParaRPr lang="ko-KR" altLang="en-US"/>
          </a:p>
        </p:txBody>
      </p:sp>
      <p:sp>
        <p:nvSpPr>
          <p:cNvPr id="4" name="Shape 2"/>
          <p:cNvSpPr/>
          <p:nvPr/>
        </p:nvSpPr>
        <p:spPr>
          <a:xfrm>
            <a:off x="822960" y="1618488"/>
            <a:ext cx="10545775" cy="0"/>
          </a:xfrm>
          <a:prstGeom prst="line">
            <a:avLst/>
          </a:prstGeom>
          <a:noFill/>
          <a:ln w="9525">
            <a:solidFill>
              <a:srgbClr val="30343F"/>
            </a:solidFill>
            <a:prstDash val="solid"/>
          </a:ln>
        </p:spPr>
        <p:txBody>
          <a:bodyPr/>
          <a:lstStyle/>
          <a:p>
            <a:endParaRPr lang="ko-KR" altLang="en-US"/>
          </a:p>
        </p:txBody>
      </p:sp>
      <p:sp>
        <p:nvSpPr>
          <p:cNvPr id="5" name="Shape 3"/>
          <p:cNvSpPr/>
          <p:nvPr/>
        </p:nvSpPr>
        <p:spPr>
          <a:xfrm>
            <a:off x="822960" y="1764792"/>
            <a:ext cx="10545775" cy="0"/>
          </a:xfrm>
          <a:prstGeom prst="line">
            <a:avLst/>
          </a:prstGeom>
          <a:noFill/>
          <a:ln w="9525">
            <a:solidFill>
              <a:srgbClr val="30343F"/>
            </a:solidFill>
            <a:prstDash val="solid"/>
          </a:ln>
        </p:spPr>
        <p:txBody>
          <a:bodyPr/>
          <a:lstStyle/>
          <a:p>
            <a:endParaRPr lang="ko-KR" altLang="en-US"/>
          </a:p>
        </p:txBody>
      </p:sp>
      <p:sp>
        <p:nvSpPr>
          <p:cNvPr id="6" name="Shape 4"/>
          <p:cNvSpPr/>
          <p:nvPr/>
        </p:nvSpPr>
        <p:spPr>
          <a:xfrm>
            <a:off x="822960" y="1911096"/>
            <a:ext cx="10545775" cy="0"/>
          </a:xfrm>
          <a:prstGeom prst="line">
            <a:avLst/>
          </a:prstGeom>
          <a:noFill/>
          <a:ln w="9525">
            <a:solidFill>
              <a:srgbClr val="30343F"/>
            </a:solidFill>
            <a:prstDash val="solid"/>
          </a:ln>
        </p:spPr>
        <p:txBody>
          <a:bodyPr/>
          <a:lstStyle/>
          <a:p>
            <a:endParaRPr lang="ko-KR" altLang="en-US"/>
          </a:p>
        </p:txBody>
      </p:sp>
      <p:sp>
        <p:nvSpPr>
          <p:cNvPr id="7" name="Text 5"/>
          <p:cNvSpPr/>
          <p:nvPr/>
        </p:nvSpPr>
        <p:spPr>
          <a:xfrm>
            <a:off x="822960" y="777240"/>
            <a:ext cx="7315200" cy="365760"/>
          </a:xfrm>
          <a:prstGeom prst="rect">
            <a:avLst/>
          </a:prstGeom>
          <a:noFill/>
          <a:ln/>
        </p:spPr>
        <p:txBody>
          <a:bodyPr wrap="square" lIns="0" tIns="0" rIns="0" bIns="0" rtlCol="0" anchor="ctr"/>
          <a:lstStyle/>
          <a:p>
            <a:pPr marL="0" indent="0">
              <a:buNone/>
            </a:pPr>
            <a:r>
              <a:rPr lang="en-US" sz="1300" b="1" kern="0" spc="300" dirty="0">
                <a:solidFill>
                  <a:srgbClr val="A9823F"/>
                </a:solidFill>
                <a:latin typeface="Malgun Gothic" pitchFamily="34" charset="0"/>
                <a:ea typeface="Malgun Gothic" pitchFamily="34" charset="-122"/>
                <a:cs typeface="Malgun Gothic" pitchFamily="34" charset="-120"/>
              </a:rPr>
              <a:t>9  ·  마무리</a:t>
            </a:r>
            <a:endParaRPr lang="en-US" sz="1300" dirty="0"/>
          </a:p>
        </p:txBody>
      </p:sp>
      <p:sp>
        <p:nvSpPr>
          <p:cNvPr id="8" name="Text 6"/>
          <p:cNvSpPr/>
          <p:nvPr/>
        </p:nvSpPr>
        <p:spPr>
          <a:xfrm>
            <a:off x="731520" y="2011680"/>
            <a:ext cx="10698480" cy="1554480"/>
          </a:xfrm>
          <a:prstGeom prst="rect">
            <a:avLst/>
          </a:prstGeom>
          <a:noFill/>
          <a:ln/>
        </p:spPr>
        <p:txBody>
          <a:bodyPr wrap="square" lIns="0" tIns="0" rIns="0" bIns="0" rtlCol="0" anchor="ctr"/>
          <a:lstStyle/>
          <a:p>
            <a:pPr marL="0" indent="0" algn="ctr">
              <a:lnSpc>
                <a:spcPct val="112000"/>
              </a:lnSpc>
              <a:buNone/>
            </a:pPr>
            <a:r>
              <a:rPr lang="en-US" sz="3600" b="1" i="1" dirty="0">
                <a:solidFill>
                  <a:srgbClr val="ECE7D8"/>
                </a:solidFill>
                <a:latin typeface="Batang" pitchFamily="34" charset="0"/>
                <a:ea typeface="Batang" pitchFamily="34" charset="-122"/>
                <a:cs typeface="Batang" pitchFamily="34" charset="-120"/>
              </a:rPr>
              <a:t>No orchestra. No project.</a:t>
            </a:r>
            <a:endParaRPr lang="en-US" sz="3600" dirty="0"/>
          </a:p>
          <a:p>
            <a:pPr marL="0" indent="0" algn="ctr">
              <a:lnSpc>
                <a:spcPct val="112000"/>
              </a:lnSpc>
              <a:buNone/>
            </a:pPr>
            <a:r>
              <a:rPr lang="en-US" sz="3600" b="1" i="1" dirty="0">
                <a:solidFill>
                  <a:srgbClr val="ECE7D8"/>
                </a:solidFill>
                <a:latin typeface="Batang" pitchFamily="34" charset="0"/>
                <a:ea typeface="Batang" pitchFamily="34" charset="-122"/>
                <a:cs typeface="Batang" pitchFamily="34" charset="-120"/>
              </a:rPr>
              <a:t>Just one file, playing solo.</a:t>
            </a:r>
            <a:endParaRPr lang="en-US" sz="3600" dirty="0"/>
          </a:p>
        </p:txBody>
      </p:sp>
      <p:sp>
        <p:nvSpPr>
          <p:cNvPr id="9" name="Text 7"/>
          <p:cNvSpPr/>
          <p:nvPr/>
        </p:nvSpPr>
        <p:spPr>
          <a:xfrm>
            <a:off x="1097280" y="3886200"/>
            <a:ext cx="9966960" cy="914400"/>
          </a:xfrm>
          <a:prstGeom prst="rect">
            <a:avLst/>
          </a:prstGeom>
          <a:noFill/>
          <a:ln/>
        </p:spPr>
        <p:txBody>
          <a:bodyPr wrap="square" lIns="0" tIns="0" rIns="0" bIns="0" rtlCol="0" anchor="ctr"/>
          <a:lstStyle/>
          <a:p>
            <a:pPr marL="0" indent="0" algn="ctr">
              <a:lnSpc>
                <a:spcPct val="125000"/>
              </a:lnSpc>
              <a:buNone/>
            </a:pPr>
            <a:r>
              <a:rPr lang="en-US" sz="1600" dirty="0">
                <a:solidFill>
                  <a:srgbClr val="9AA0AD"/>
                </a:solidFill>
                <a:latin typeface="Malgun Gothic" pitchFamily="34" charset="0"/>
                <a:ea typeface="Malgun Gothic" pitchFamily="34" charset="-122"/>
                <a:cs typeface="Malgun Gothic" pitchFamily="34" charset="-120"/>
              </a:rPr>
              <a:t>아이디어가 떠오른 그 순간, 무대를 차리느라 첫 음을 놓치지 마십시오.</a:t>
            </a:r>
            <a:endParaRPr lang="en-US" sz="1600" dirty="0"/>
          </a:p>
          <a:p>
            <a:pPr marL="0" indent="0" algn="ctr">
              <a:lnSpc>
                <a:spcPct val="125000"/>
              </a:lnSpc>
              <a:buNone/>
            </a:pPr>
            <a:r>
              <a:rPr lang="en-US" sz="1600" dirty="0">
                <a:solidFill>
                  <a:srgbClr val="9AA0AD"/>
                </a:solidFill>
                <a:latin typeface="Malgun Gothic" pitchFamily="34" charset="0"/>
                <a:ea typeface="Malgun Gothic" pitchFamily="34" charset="-122"/>
                <a:cs typeface="Malgun Gothic" pitchFamily="34" charset="-120"/>
              </a:rPr>
              <a:t>파일 한 장을 열고, 첫 줄에 무대를 적고, 바로 연주를 시작하세요.</a:t>
            </a:r>
            <a:endParaRPr lang="en-US" sz="1600" dirty="0"/>
          </a:p>
        </p:txBody>
      </p:sp>
      <p:sp>
        <p:nvSpPr>
          <p:cNvPr id="10" name="Shape 8"/>
          <p:cNvSpPr/>
          <p:nvPr/>
        </p:nvSpPr>
        <p:spPr>
          <a:xfrm>
            <a:off x="4160520" y="5120640"/>
            <a:ext cx="3840480" cy="548640"/>
          </a:xfrm>
          <a:prstGeom prst="rect">
            <a:avLst/>
          </a:prstGeom>
          <a:solidFill>
            <a:srgbClr val="23262F"/>
          </a:solidFill>
          <a:ln w="12700">
            <a:solidFill>
              <a:srgbClr val="A9823F"/>
            </a:solidFill>
            <a:prstDash val="solid"/>
          </a:ln>
        </p:spPr>
        <p:txBody>
          <a:bodyPr/>
          <a:lstStyle/>
          <a:p>
            <a:endParaRPr lang="ko-KR" altLang="en-US"/>
          </a:p>
        </p:txBody>
      </p:sp>
      <p:sp>
        <p:nvSpPr>
          <p:cNvPr id="11" name="Text 9"/>
          <p:cNvSpPr/>
          <p:nvPr/>
        </p:nvSpPr>
        <p:spPr>
          <a:xfrm>
            <a:off x="4160520" y="5120640"/>
            <a:ext cx="3840480" cy="548640"/>
          </a:xfrm>
          <a:prstGeom prst="rect">
            <a:avLst/>
          </a:prstGeom>
          <a:noFill/>
          <a:ln/>
        </p:spPr>
        <p:txBody>
          <a:bodyPr wrap="square" lIns="0" tIns="0" rIns="0" bIns="0" rtlCol="0" anchor="ctr"/>
          <a:lstStyle/>
          <a:p>
            <a:pPr marL="0" indent="0" algn="ctr">
              <a:buNone/>
            </a:pPr>
            <a:r>
              <a:rPr lang="en-US" sz="1500" b="1" dirty="0">
                <a:solidFill>
                  <a:srgbClr val="A9823F"/>
                </a:solidFill>
                <a:latin typeface="Consolas" pitchFamily="34" charset="0"/>
                <a:ea typeface="Consolas" pitchFamily="34" charset="-122"/>
                <a:cs typeface="Consolas" pitchFamily="34" charset="-120"/>
              </a:rPr>
              <a:t>github.com/rkttu/cadenza</a:t>
            </a:r>
            <a:endParaRPr lang="en-US" sz="1500" dirty="0"/>
          </a:p>
        </p:txBody>
      </p:sp>
      <p:sp>
        <p:nvSpPr>
          <p:cNvPr id="12" name="Text 10"/>
          <p:cNvSpPr/>
          <p:nvPr/>
        </p:nvSpPr>
        <p:spPr>
          <a:xfrm>
            <a:off x="731520" y="5806440"/>
            <a:ext cx="10698480" cy="365760"/>
          </a:xfrm>
          <a:prstGeom prst="rect">
            <a:avLst/>
          </a:prstGeom>
          <a:noFill/>
          <a:ln/>
        </p:spPr>
        <p:txBody>
          <a:bodyPr wrap="square" lIns="0" tIns="0" rIns="0" bIns="0" rtlCol="0" anchor="ctr"/>
          <a:lstStyle/>
          <a:p>
            <a:pPr marL="0" indent="0" algn="ctr">
              <a:buNone/>
            </a:pPr>
            <a:r>
              <a:rPr lang="en-US" sz="1300" dirty="0" err="1">
                <a:solidFill>
                  <a:srgbClr val="9AA0AD"/>
                </a:solidFill>
                <a:latin typeface="Malgun Gothic" pitchFamily="34" charset="0"/>
                <a:ea typeface="Malgun Gothic" pitchFamily="34" charset="-122"/>
                <a:cs typeface="Malgun Gothic" pitchFamily="34" charset="-120"/>
              </a:rPr>
              <a:t>들어주셔서</a:t>
            </a:r>
            <a:r>
              <a:rPr lang="en-US" sz="1300" dirty="0">
                <a:solidFill>
                  <a:srgbClr val="9AA0AD"/>
                </a:solidFill>
                <a:latin typeface="Malgun Gothic" pitchFamily="34" charset="0"/>
                <a:ea typeface="Malgun Gothic" pitchFamily="34" charset="-122"/>
                <a:cs typeface="Malgun Gothic" pitchFamily="34" charset="-120"/>
              </a:rPr>
              <a:t> </a:t>
            </a:r>
            <a:r>
              <a:rPr lang="en-US" sz="1300" dirty="0" err="1">
                <a:solidFill>
                  <a:srgbClr val="9AA0AD"/>
                </a:solidFill>
                <a:latin typeface="Malgun Gothic" pitchFamily="34" charset="0"/>
                <a:ea typeface="Malgun Gothic" pitchFamily="34" charset="-122"/>
                <a:cs typeface="Malgun Gothic" pitchFamily="34" charset="-120"/>
              </a:rPr>
              <a:t>감사합니다</a:t>
            </a:r>
            <a:r>
              <a:rPr lang="en-US" sz="1300" dirty="0">
                <a:solidFill>
                  <a:srgbClr val="9AA0AD"/>
                </a:solidFill>
                <a:latin typeface="Malgun Gothic" pitchFamily="34" charset="0"/>
                <a:ea typeface="Malgun Gothic" pitchFamily="34" charset="-122"/>
                <a:cs typeface="Malgun Gothic" pitchFamily="34" charset="-120"/>
              </a:rPr>
              <a:t>.</a:t>
            </a:r>
            <a:endParaRPr lang="en-US" sz="1300" dirty="0"/>
          </a:p>
        </p:txBody>
      </p:sp>
      <p:sp>
        <p:nvSpPr>
          <p:cNvPr id="13" name="Text 11"/>
          <p:cNvSpPr/>
          <p:nvPr/>
        </p:nvSpPr>
        <p:spPr>
          <a:xfrm>
            <a:off x="548640" y="6355080"/>
            <a:ext cx="5486400" cy="274320"/>
          </a:xfrm>
          <a:prstGeom prst="rect">
            <a:avLst/>
          </a:prstGeom>
          <a:noFill/>
          <a:ln/>
        </p:spPr>
        <p:txBody>
          <a:bodyPr wrap="square" lIns="0" tIns="0" rIns="0" bIns="0" rtlCol="0" anchor="ctr"/>
          <a:lstStyle/>
          <a:p>
            <a:pPr marL="0" indent="0" algn="l">
              <a:buNone/>
            </a:pPr>
            <a:r>
              <a:rPr lang="en-US" sz="900" kern="0" spc="100" dirty="0">
                <a:solidFill>
                  <a:srgbClr val="9AA0AD"/>
                </a:solidFill>
                <a:latin typeface="Malgun Gothic" pitchFamily="34" charset="0"/>
                <a:ea typeface="Malgun Gothic" pitchFamily="34" charset="-122"/>
                <a:cs typeface="Malgun Gothic" pitchFamily="34" charset="-120"/>
              </a:rPr>
              <a:t>코드로 연주하는 카덴차</a:t>
            </a:r>
            <a:endParaRPr lang="en-US" sz="900" dirty="0"/>
          </a:p>
        </p:txBody>
      </p:sp>
      <p:sp>
        <p:nvSpPr>
          <p:cNvPr id="14" name="Text 12"/>
          <p:cNvSpPr/>
          <p:nvPr/>
        </p:nvSpPr>
        <p:spPr>
          <a:xfrm>
            <a:off x="10271455" y="6355080"/>
            <a:ext cx="1371600" cy="274320"/>
          </a:xfrm>
          <a:prstGeom prst="rect">
            <a:avLst/>
          </a:prstGeom>
          <a:noFill/>
          <a:ln/>
        </p:spPr>
        <p:txBody>
          <a:bodyPr wrap="square" lIns="0" tIns="0" rIns="0" bIns="0" rtlCol="0" anchor="ctr"/>
          <a:lstStyle/>
          <a:p>
            <a:pPr marL="0" indent="0" algn="r">
              <a:buNone/>
            </a:pPr>
            <a:r>
              <a:rPr lang="en-US" sz="900" dirty="0">
                <a:solidFill>
                  <a:srgbClr val="9AA0AD"/>
                </a:solidFill>
                <a:latin typeface="Consolas" pitchFamily="34" charset="0"/>
                <a:ea typeface="Consolas" pitchFamily="34" charset="-122"/>
                <a:cs typeface="Consolas" pitchFamily="34" charset="-120"/>
              </a:rPr>
              <a:t>29</a:t>
            </a:r>
            <a:endParaRPr lang="en-US" sz="900" dirty="0"/>
          </a:p>
        </p:txBody>
      </p:sp>
    </p:spTree>
    <p:extLst>
      <p:ext uri="{BB962C8B-B14F-4D97-AF65-F5344CB8AC3E}">
        <p14:creationId xmlns:p14="http://schemas.microsoft.com/office/powerpoint/2010/main" val="410974466"/>
      </p:ext>
    </p:extLst>
  </p:cSld>
  <p:clrMapOvr>
    <a:masterClrMapping/>
  </p:clrMapOvr>
  <p:transition spd="med">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1F77F43-A25E-4A00-9742-FA1F5AB87DB3}">
  <we:reference id="wa200010001" version="1.0.0.1" store="en-US" storeType="OMEX"/>
  <we:alternateReferences>
    <we:reference id="WA200010001" version="1.0.0.1" store="" storeType="OMEX"/>
  </we:alternateReferences>
  <we:properties>
    <we:property name="claude.fileId" value="&quot;ec104bea-c942-4588-bf61-9691d6fc06b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3942</TotalTime>
  <Words>6695</Words>
  <Application>Microsoft Macintosh PowerPoint</Application>
  <PresentationFormat>와이드스크린</PresentationFormat>
  <Paragraphs>506</Paragraphs>
  <Slides>33</Slides>
  <Notes>30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33</vt:i4>
      </vt:variant>
    </vt:vector>
  </HeadingPairs>
  <TitlesOfParts>
    <vt:vector size="39" baseType="lpstr">
      <vt:lpstr>Malgun Gothic</vt:lpstr>
      <vt:lpstr>Batang</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정현 남</dc:creator>
  <cp:lastModifiedBy>정현 남</cp:lastModifiedBy>
  <cp:revision>2</cp:revision>
  <dcterms:created xsi:type="dcterms:W3CDTF">2026-06-16T05:58:29Z</dcterms:created>
  <dcterms:modified xsi:type="dcterms:W3CDTF">2026-06-21T07:28:34Z</dcterms:modified>
</cp:coreProperties>
</file>